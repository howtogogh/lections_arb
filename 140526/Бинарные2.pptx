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1" r:id="rId4"/>
    <p:sldId id="262" r:id="rId5"/>
    <p:sldId id="263" r:id="rId6"/>
    <p:sldId id="258" r:id="rId7"/>
    <p:sldId id="264" r:id="rId8"/>
    <p:sldId id="259" r:id="rId9"/>
    <p:sldId id="265" r:id="rId10"/>
    <p:sldId id="266" r:id="rId11"/>
    <p:sldId id="267" r:id="rId12"/>
    <p:sldId id="268" r:id="rId13"/>
    <p:sldId id="260" r:id="rId14"/>
    <p:sldId id="269" r:id="rId15"/>
    <p:sldId id="270" r:id="rId16"/>
    <p:sldId id="271" r:id="rId17"/>
    <p:sldId id="272" r:id="rId18"/>
    <p:sldId id="273" r:id="rId19"/>
    <p:sldId id="274" r:id="rId20"/>
    <p:sldId id="276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genia" initials="E" lastIdx="1" clrIdx="0">
    <p:extLst>
      <p:ext uri="{19B8F6BF-5375-455C-9EA6-DF929625EA0E}">
        <p15:presenceInfo xmlns:p15="http://schemas.microsoft.com/office/powerpoint/2012/main" userId="Eugeni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66"/>
    <a:srgbClr val="00808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3979" autoAdjust="0"/>
  </p:normalViewPr>
  <p:slideViewPr>
    <p:cSldViewPr snapToGrid="0">
      <p:cViewPr varScale="1">
        <p:scale>
          <a:sx n="65" d="100"/>
          <a:sy n="65" d="100"/>
        </p:scale>
        <p:origin x="3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10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8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20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4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9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25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10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10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8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20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4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9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25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10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 custLinFactNeighborX="-1569" custLinFactNeighborY="653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8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20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4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9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57A709EF-8392-42BC-8B5F-72771B70844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D370629-5039-40AC-A185-2289AE27355E}">
      <dgm:prSet phldrT="[Текст]">
        <dgm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dirty="0" smtClean="0"/>
            <a:t>25</a:t>
          </a:r>
          <a:endParaRPr lang="ru-RU" dirty="0"/>
        </a:p>
      </dgm:t>
    </dgm:pt>
    <dgm:pt modelId="{F27D2FAF-E9A7-4A7E-B319-DF9B131B3D4E}" type="parTrans" cxnId="{FB1C71BA-92C1-4950-AFCD-20B291D0618B}">
      <dgm:prSet/>
      <dgm:spPr/>
      <dgm:t>
        <a:bodyPr/>
        <a:lstStyle/>
        <a:p>
          <a:endParaRPr lang="ru-RU"/>
        </a:p>
      </dgm:t>
    </dgm:pt>
    <dgm:pt modelId="{CDECA3F9-3AF7-473D-A776-8E8397D6A760}" type="sibTrans" cxnId="{FB1C71BA-92C1-4950-AFCD-20B291D0618B}">
      <dgm:prSet/>
      <dgm:spPr/>
      <dgm:t>
        <a:bodyPr/>
        <a:lstStyle/>
        <a:p>
          <a:endParaRPr lang="ru-RU"/>
        </a:p>
      </dgm:t>
    </dgm:pt>
    <dgm:pt modelId="{D03E252F-5EC9-4D95-AFBD-653E77E967B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7AF9549D-20A3-4773-853E-E6900F4FC365}" type="parTrans" cxnId="{9356E26C-B2E9-4809-8E83-F511D6777420}">
      <dgm:prSet/>
      <dgm:spPr/>
      <dgm:t>
        <a:bodyPr/>
        <a:lstStyle/>
        <a:p>
          <a:endParaRPr lang="ru-RU"/>
        </a:p>
      </dgm:t>
    </dgm:pt>
    <dgm:pt modelId="{1DD72BAB-8103-4F19-9FA3-871252797377}" type="sibTrans" cxnId="{9356E26C-B2E9-4809-8E83-F511D6777420}">
      <dgm:prSet/>
      <dgm:spPr/>
      <dgm:t>
        <a:bodyPr/>
        <a:lstStyle/>
        <a:p>
          <a:endParaRPr lang="ru-RU"/>
        </a:p>
      </dgm:t>
    </dgm:pt>
    <dgm:pt modelId="{DC2138ED-239A-4F1B-86A4-AD97589C9BDC}">
      <dgm:prSet phldrT="[Текст]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dirty="0" smtClean="0"/>
            <a:t>NULL</a:t>
          </a:r>
          <a:endParaRPr lang="ru-RU" dirty="0"/>
        </a:p>
      </dgm:t>
    </dgm:pt>
    <dgm:pt modelId="{6BE6CD0A-D503-4D87-80AF-E2A79F03D525}" type="sibTrans" cxnId="{B5107F4E-02FF-4263-9126-72E4903A1DEB}">
      <dgm:prSet/>
      <dgm:spPr/>
      <dgm:t>
        <a:bodyPr/>
        <a:lstStyle/>
        <a:p>
          <a:endParaRPr lang="ru-RU"/>
        </a:p>
      </dgm:t>
    </dgm:pt>
    <dgm:pt modelId="{8565FC8A-0C28-4272-8906-6F0B98B77F93}" type="parTrans" cxnId="{B5107F4E-02FF-4263-9126-72E4903A1DEB}">
      <dgm:prSet/>
      <dgm:spPr/>
      <dgm:t>
        <a:bodyPr/>
        <a:lstStyle/>
        <a:p>
          <a:endParaRPr lang="ru-RU"/>
        </a:p>
      </dgm:t>
    </dgm:pt>
    <dgm:pt modelId="{D8508B10-38E8-4552-BD04-D2AC43ED14BC}" type="pres">
      <dgm:prSet presAssocID="{57A709EF-8392-42BC-8B5F-72771B70844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30E17D8-D666-4BBD-B8E3-C11DC37503CE}" type="pres">
      <dgm:prSet presAssocID="{DD370629-5039-40AC-A185-2289AE27355E}" presName="node" presStyleLbl="node1" presStyleIdx="0" presStyleCnt="3" custScaleX="21005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F500CEB-9217-4065-BC46-91704EFB9BFF}" type="pres">
      <dgm:prSet presAssocID="{CDECA3F9-3AF7-473D-A776-8E8397D6A760}" presName="sibTrans" presStyleCnt="0"/>
      <dgm:spPr/>
    </dgm:pt>
    <dgm:pt modelId="{0CD5362C-705F-4820-AD9A-FD42E7B406EA}" type="pres">
      <dgm:prSet presAssocID="{DC2138ED-239A-4F1B-86A4-AD97589C9BDC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1D5610-2050-45FD-A80B-AA8B388D5077}" type="pres">
      <dgm:prSet presAssocID="{6BE6CD0A-D503-4D87-80AF-E2A79F03D525}" presName="sibTrans" presStyleCnt="0"/>
      <dgm:spPr/>
    </dgm:pt>
    <dgm:pt modelId="{58AB59D3-55C7-400A-BEFA-CC28FC8BF51F}" type="pres">
      <dgm:prSet presAssocID="{D03E252F-5EC9-4D95-AFBD-653E77E967B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B1C71BA-92C1-4950-AFCD-20B291D0618B}" srcId="{57A709EF-8392-42BC-8B5F-72771B708443}" destId="{DD370629-5039-40AC-A185-2289AE27355E}" srcOrd="0" destOrd="0" parTransId="{F27D2FAF-E9A7-4A7E-B319-DF9B131B3D4E}" sibTransId="{CDECA3F9-3AF7-473D-A776-8E8397D6A760}"/>
    <dgm:cxn modelId="{830D0C3E-3515-4DB6-A5C9-89F7444225EC}" type="presOf" srcId="{57A709EF-8392-42BC-8B5F-72771B708443}" destId="{D8508B10-38E8-4552-BD04-D2AC43ED14BC}" srcOrd="0" destOrd="0" presId="urn:microsoft.com/office/officeart/2005/8/layout/default"/>
    <dgm:cxn modelId="{9356E26C-B2E9-4809-8E83-F511D6777420}" srcId="{57A709EF-8392-42BC-8B5F-72771B708443}" destId="{D03E252F-5EC9-4D95-AFBD-653E77E967BC}" srcOrd="2" destOrd="0" parTransId="{7AF9549D-20A3-4773-853E-E6900F4FC365}" sibTransId="{1DD72BAB-8103-4F19-9FA3-871252797377}"/>
    <dgm:cxn modelId="{B5107F4E-02FF-4263-9126-72E4903A1DEB}" srcId="{57A709EF-8392-42BC-8B5F-72771B708443}" destId="{DC2138ED-239A-4F1B-86A4-AD97589C9BDC}" srcOrd="1" destOrd="0" parTransId="{8565FC8A-0C28-4272-8906-6F0B98B77F93}" sibTransId="{6BE6CD0A-D503-4D87-80AF-E2A79F03D525}"/>
    <dgm:cxn modelId="{3E750881-9AF8-4F7A-BD66-4180812BBB95}" type="presOf" srcId="{DD370629-5039-40AC-A185-2289AE27355E}" destId="{430E17D8-D666-4BBD-B8E3-C11DC37503CE}" srcOrd="0" destOrd="0" presId="urn:microsoft.com/office/officeart/2005/8/layout/default"/>
    <dgm:cxn modelId="{BE5BE2B1-F464-44A4-923F-F0DD3171505B}" type="presOf" srcId="{D03E252F-5EC9-4D95-AFBD-653E77E967BC}" destId="{58AB59D3-55C7-400A-BEFA-CC28FC8BF51F}" srcOrd="0" destOrd="0" presId="urn:microsoft.com/office/officeart/2005/8/layout/default"/>
    <dgm:cxn modelId="{FF77BF64-ADD4-4A13-87AA-48E3C4E8C5DB}" type="presOf" srcId="{DC2138ED-239A-4F1B-86A4-AD97589C9BDC}" destId="{0CD5362C-705F-4820-AD9A-FD42E7B406EA}" srcOrd="0" destOrd="0" presId="urn:microsoft.com/office/officeart/2005/8/layout/default"/>
    <dgm:cxn modelId="{5356F69F-1D22-4AD3-9E87-5518C1D61DED}" type="presParOf" srcId="{D8508B10-38E8-4552-BD04-D2AC43ED14BC}" destId="{430E17D8-D666-4BBD-B8E3-C11DC37503CE}" srcOrd="0" destOrd="0" presId="urn:microsoft.com/office/officeart/2005/8/layout/default"/>
    <dgm:cxn modelId="{ABDC9D15-FF45-4EC4-AF8C-70E238067935}" type="presParOf" srcId="{D8508B10-38E8-4552-BD04-D2AC43ED14BC}" destId="{4F500CEB-9217-4065-BC46-91704EFB9BFF}" srcOrd="1" destOrd="0" presId="urn:microsoft.com/office/officeart/2005/8/layout/default"/>
    <dgm:cxn modelId="{81EAB552-0853-4042-A177-904BE2BDABE9}" type="presParOf" srcId="{D8508B10-38E8-4552-BD04-D2AC43ED14BC}" destId="{0CD5362C-705F-4820-AD9A-FD42E7B406EA}" srcOrd="2" destOrd="0" presId="urn:microsoft.com/office/officeart/2005/8/layout/default"/>
    <dgm:cxn modelId="{978046FF-B0DF-48B7-9A78-6D24EB5FBC59}" type="presParOf" srcId="{D8508B10-38E8-4552-BD04-D2AC43ED14BC}" destId="{F41D5610-2050-45FD-A80B-AA8B388D5077}" srcOrd="3" destOrd="0" presId="urn:microsoft.com/office/officeart/2005/8/layout/default"/>
    <dgm:cxn modelId="{79DA81B8-0851-453E-BBEE-FD460C3E3B1F}" type="presParOf" srcId="{D8508B10-38E8-4552-BD04-D2AC43ED14BC}" destId="{58AB59D3-55C7-400A-BEFA-CC28FC8BF51F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3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10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8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20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4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9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25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10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10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8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20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4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9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25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0" y="29737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10</a:t>
          </a:r>
          <a:endParaRPr lang="ru-RU" sz="3000" kern="1200" dirty="0"/>
        </a:p>
      </dsp:txBody>
      <dsp:txXfrm>
        <a:off x="0" y="29737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8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20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4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9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0E17D8-D666-4BBD-B8E3-C11DC37503CE}">
      <dsp:nvSpPr>
        <dsp:cNvPr id="0" name=""/>
        <dsp:cNvSpPr/>
      </dsp:nvSpPr>
      <dsp:spPr>
        <a:xfrm>
          <a:off x="1" y="254355"/>
          <a:ext cx="2303202" cy="657898"/>
        </a:xfrm>
        <a:prstGeom prst="rect">
          <a:avLst/>
        </a:prstGeom>
        <a:solidFill>
          <a:schemeClr val="accent6"/>
        </a:solidFill>
        <a:ln w="12700" cap="flat" cmpd="sng" algn="ctr">
          <a:solidFill>
            <a:schemeClr val="accent6">
              <a:shade val="50000"/>
            </a:schemeClr>
          </a:solidFill>
          <a:prstDash val="solid"/>
          <a:miter lim="800000"/>
        </a:ln>
        <a:effectLst/>
      </dsp:spPr>
      <dsp:style>
        <a:lnRef idx="2">
          <a:schemeClr val="accent6">
            <a:shade val="50000"/>
          </a:schemeClr>
        </a:lnRef>
        <a:fillRef idx="1">
          <a:schemeClr val="accent6"/>
        </a:fillRef>
        <a:effectRef idx="0">
          <a:schemeClr val="accent6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000" kern="1200" dirty="0" smtClean="0"/>
            <a:t>25</a:t>
          </a:r>
          <a:endParaRPr lang="ru-RU" sz="3000" kern="1200" dirty="0"/>
        </a:p>
      </dsp:txBody>
      <dsp:txXfrm>
        <a:off x="1" y="254355"/>
        <a:ext cx="2303202" cy="657898"/>
      </dsp:txXfrm>
    </dsp:sp>
    <dsp:sp modelId="{0CD5362C-705F-4820-AD9A-FD42E7B406EA}">
      <dsp:nvSpPr>
        <dsp:cNvPr id="0" name=""/>
        <dsp:cNvSpPr/>
      </dsp:nvSpPr>
      <dsp:spPr>
        <a:xfrm>
          <a:off x="281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281" y="1021903"/>
        <a:ext cx="1096496" cy="657898"/>
      </dsp:txXfrm>
    </dsp:sp>
    <dsp:sp modelId="{58AB59D3-55C7-400A-BEFA-CC28FC8BF51F}">
      <dsp:nvSpPr>
        <dsp:cNvPr id="0" name=""/>
        <dsp:cNvSpPr/>
      </dsp:nvSpPr>
      <dsp:spPr>
        <a:xfrm>
          <a:off x="1206427" y="1021903"/>
          <a:ext cx="1096496" cy="657898"/>
        </a:xfrm>
        <a:prstGeom prst="rect">
          <a:avLst/>
        </a:prstGeom>
        <a:gradFill rotWithShape="1">
          <a:gsLst>
            <a:gs pos="0">
              <a:schemeClr val="accent6">
                <a:lumMod val="110000"/>
                <a:satMod val="105000"/>
                <a:tint val="67000"/>
              </a:schemeClr>
            </a:gs>
            <a:gs pos="50000">
              <a:schemeClr val="accent6">
                <a:lumMod val="105000"/>
                <a:satMod val="103000"/>
                <a:tint val="73000"/>
              </a:schemeClr>
            </a:gs>
            <a:gs pos="100000">
              <a:schemeClr val="accent6">
                <a:lumMod val="105000"/>
                <a:satMod val="109000"/>
                <a:tint val="81000"/>
              </a:schemeClr>
            </a:gs>
          </a:gsLst>
          <a:lin ang="5400000" scaled="0"/>
        </a:gradFill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NULL</a:t>
          </a:r>
          <a:endParaRPr lang="ru-RU" sz="3000" kern="1200" dirty="0"/>
        </a:p>
      </dsp:txBody>
      <dsp:txXfrm>
        <a:off x="1206427" y="1021903"/>
        <a:ext cx="1096496" cy="6578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27B751-FDFA-4288-8545-51349C885DA8}" type="datetimeFigureOut">
              <a:rPr lang="ru-RU" smtClean="0"/>
              <a:t>23.05.2016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632C9-A230-47A9-939C-35D3E8B04A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1075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632C9-A230-47A9-939C-35D3E8B04A22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2506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632C9-A230-47A9-939C-35D3E8B04A22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2573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632C9-A230-47A9-939C-35D3E8B04A2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026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B81A-F8EA-432E-B61A-E2958E0847E5}" type="datetimeFigureOut">
              <a:rPr lang="ru-RU" smtClean="0"/>
              <a:t>23.05.2016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230-17B4-48F4-9722-D9F381B47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85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B81A-F8EA-432E-B61A-E2958E0847E5}" type="datetimeFigureOut">
              <a:rPr lang="ru-RU" smtClean="0"/>
              <a:t>23.05.2016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230-17B4-48F4-9722-D9F381B47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796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B81A-F8EA-432E-B61A-E2958E0847E5}" type="datetimeFigureOut">
              <a:rPr lang="ru-RU" smtClean="0"/>
              <a:t>23.05.2016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230-17B4-48F4-9722-D9F381B47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626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B81A-F8EA-432E-B61A-E2958E0847E5}" type="datetimeFigureOut">
              <a:rPr lang="ru-RU" smtClean="0"/>
              <a:t>23.05.2016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230-17B4-48F4-9722-D9F381B47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22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B81A-F8EA-432E-B61A-E2958E0847E5}" type="datetimeFigureOut">
              <a:rPr lang="ru-RU" smtClean="0"/>
              <a:t>23.05.2016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230-17B4-48F4-9722-D9F381B47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984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B81A-F8EA-432E-B61A-E2958E0847E5}" type="datetimeFigureOut">
              <a:rPr lang="ru-RU" smtClean="0"/>
              <a:t>23.05.2016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230-17B4-48F4-9722-D9F381B47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5952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B81A-F8EA-432E-B61A-E2958E0847E5}" type="datetimeFigureOut">
              <a:rPr lang="ru-RU" smtClean="0"/>
              <a:t>23.05.2016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230-17B4-48F4-9722-D9F381B47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562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B81A-F8EA-432E-B61A-E2958E0847E5}" type="datetimeFigureOut">
              <a:rPr lang="ru-RU" smtClean="0"/>
              <a:t>23.05.2016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230-17B4-48F4-9722-D9F381B47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059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B81A-F8EA-432E-B61A-E2958E0847E5}" type="datetimeFigureOut">
              <a:rPr lang="ru-RU" smtClean="0"/>
              <a:t>23.05.2016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230-17B4-48F4-9722-D9F381B47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7808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B81A-F8EA-432E-B61A-E2958E0847E5}" type="datetimeFigureOut">
              <a:rPr lang="ru-RU" smtClean="0"/>
              <a:t>23.05.2016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230-17B4-48F4-9722-D9F381B47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2634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1B81A-F8EA-432E-B61A-E2958E0847E5}" type="datetimeFigureOut">
              <a:rPr lang="ru-RU" smtClean="0"/>
              <a:t>23.05.2016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3230-17B4-48F4-9722-D9F381B47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595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1B81A-F8EA-432E-B61A-E2958E0847E5}" type="datetimeFigureOut">
              <a:rPr lang="ru-RU" smtClean="0"/>
              <a:t>23.05.2016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B03230-17B4-48F4-9722-D9F381B47EE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0967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26" Type="http://schemas.microsoft.com/office/2007/relationships/diagramDrawing" Target="../diagrams/drawing5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5" Type="http://schemas.openxmlformats.org/officeDocument/2006/relationships/diagramColors" Target="../diagrams/colors5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29" Type="http://schemas.openxmlformats.org/officeDocument/2006/relationships/diagramQuickStyle" Target="../diagrams/quickStyle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diagramQuickStyle" Target="../diagrams/quickStyle5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23" Type="http://schemas.openxmlformats.org/officeDocument/2006/relationships/diagramLayout" Target="../diagrams/layout5.xml"/><Relationship Id="rId28" Type="http://schemas.openxmlformats.org/officeDocument/2006/relationships/diagramLayout" Target="../diagrams/layout6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31" Type="http://schemas.microsoft.com/office/2007/relationships/diagramDrawing" Target="../diagrams/drawing6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diagramData" Target="../diagrams/data5.xml"/><Relationship Id="rId27" Type="http://schemas.openxmlformats.org/officeDocument/2006/relationships/diagramData" Target="../diagrams/data6.xml"/><Relationship Id="rId30" Type="http://schemas.openxmlformats.org/officeDocument/2006/relationships/diagramColors" Target="../diagrams/colors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13" Type="http://schemas.openxmlformats.org/officeDocument/2006/relationships/diagramLayout" Target="../diagrams/layout10.xml"/><Relationship Id="rId18" Type="http://schemas.openxmlformats.org/officeDocument/2006/relationships/diagramLayout" Target="../diagrams/layout11.xml"/><Relationship Id="rId26" Type="http://schemas.microsoft.com/office/2007/relationships/diagramDrawing" Target="../diagrams/drawing12.xml"/><Relationship Id="rId3" Type="http://schemas.openxmlformats.org/officeDocument/2006/relationships/diagramLayout" Target="../diagrams/layout8.xml"/><Relationship Id="rId21" Type="http://schemas.microsoft.com/office/2007/relationships/diagramDrawing" Target="../diagrams/drawing11.xml"/><Relationship Id="rId7" Type="http://schemas.openxmlformats.org/officeDocument/2006/relationships/diagramData" Target="../diagrams/data9.xml"/><Relationship Id="rId12" Type="http://schemas.openxmlformats.org/officeDocument/2006/relationships/diagramData" Target="../diagrams/data10.xml"/><Relationship Id="rId17" Type="http://schemas.openxmlformats.org/officeDocument/2006/relationships/diagramData" Target="../diagrams/data11.xml"/><Relationship Id="rId25" Type="http://schemas.openxmlformats.org/officeDocument/2006/relationships/diagramColors" Target="../diagrams/colors12.xml"/><Relationship Id="rId2" Type="http://schemas.openxmlformats.org/officeDocument/2006/relationships/diagramData" Target="../diagrams/data8.xml"/><Relationship Id="rId16" Type="http://schemas.microsoft.com/office/2007/relationships/diagramDrawing" Target="../diagrams/drawing10.xml"/><Relationship Id="rId20" Type="http://schemas.openxmlformats.org/officeDocument/2006/relationships/diagramColors" Target="../diagrams/colors11.xml"/><Relationship Id="rId29" Type="http://schemas.openxmlformats.org/officeDocument/2006/relationships/diagramQuickStyle" Target="../diagrams/quickStyle1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24" Type="http://schemas.openxmlformats.org/officeDocument/2006/relationships/diagramQuickStyle" Target="../diagrams/quickStyle12.xml"/><Relationship Id="rId5" Type="http://schemas.openxmlformats.org/officeDocument/2006/relationships/diagramColors" Target="../diagrams/colors8.xml"/><Relationship Id="rId15" Type="http://schemas.openxmlformats.org/officeDocument/2006/relationships/diagramColors" Target="../diagrams/colors10.xml"/><Relationship Id="rId23" Type="http://schemas.openxmlformats.org/officeDocument/2006/relationships/diagramLayout" Target="../diagrams/layout12.xml"/><Relationship Id="rId28" Type="http://schemas.openxmlformats.org/officeDocument/2006/relationships/diagramLayout" Target="../diagrams/layout13.xml"/><Relationship Id="rId10" Type="http://schemas.openxmlformats.org/officeDocument/2006/relationships/diagramColors" Target="../diagrams/colors9.xml"/><Relationship Id="rId19" Type="http://schemas.openxmlformats.org/officeDocument/2006/relationships/diagramQuickStyle" Target="../diagrams/quickStyle11.xml"/><Relationship Id="rId31" Type="http://schemas.microsoft.com/office/2007/relationships/diagramDrawing" Target="../diagrams/drawing13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Relationship Id="rId14" Type="http://schemas.openxmlformats.org/officeDocument/2006/relationships/diagramQuickStyle" Target="../diagrams/quickStyle10.xml"/><Relationship Id="rId22" Type="http://schemas.openxmlformats.org/officeDocument/2006/relationships/diagramData" Target="../diagrams/data12.xml"/><Relationship Id="rId27" Type="http://schemas.openxmlformats.org/officeDocument/2006/relationships/diagramData" Target="../diagrams/data13.xml"/><Relationship Id="rId30" Type="http://schemas.openxmlformats.org/officeDocument/2006/relationships/diagramColors" Target="../diagrams/colors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5.xml"/><Relationship Id="rId13" Type="http://schemas.openxmlformats.org/officeDocument/2006/relationships/diagramLayout" Target="../diagrams/layout16.xml"/><Relationship Id="rId18" Type="http://schemas.openxmlformats.org/officeDocument/2006/relationships/diagramLayout" Target="../diagrams/layout17.xml"/><Relationship Id="rId26" Type="http://schemas.microsoft.com/office/2007/relationships/diagramDrawing" Target="../diagrams/drawing18.xml"/><Relationship Id="rId3" Type="http://schemas.openxmlformats.org/officeDocument/2006/relationships/diagramLayout" Target="../diagrams/layout14.xml"/><Relationship Id="rId21" Type="http://schemas.microsoft.com/office/2007/relationships/diagramDrawing" Target="../diagrams/drawing17.xml"/><Relationship Id="rId7" Type="http://schemas.openxmlformats.org/officeDocument/2006/relationships/diagramData" Target="../diagrams/data15.xml"/><Relationship Id="rId12" Type="http://schemas.openxmlformats.org/officeDocument/2006/relationships/diagramData" Target="../diagrams/data16.xml"/><Relationship Id="rId17" Type="http://schemas.openxmlformats.org/officeDocument/2006/relationships/diagramData" Target="../diagrams/data17.xml"/><Relationship Id="rId25" Type="http://schemas.openxmlformats.org/officeDocument/2006/relationships/diagramColors" Target="../diagrams/colors18.xml"/><Relationship Id="rId2" Type="http://schemas.openxmlformats.org/officeDocument/2006/relationships/diagramData" Target="../diagrams/data14.xml"/><Relationship Id="rId16" Type="http://schemas.microsoft.com/office/2007/relationships/diagramDrawing" Target="../diagrams/drawing16.xml"/><Relationship Id="rId20" Type="http://schemas.openxmlformats.org/officeDocument/2006/relationships/diagramColors" Target="../diagrams/colors17.xml"/><Relationship Id="rId29" Type="http://schemas.openxmlformats.org/officeDocument/2006/relationships/diagramQuickStyle" Target="../diagrams/quickStyle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11" Type="http://schemas.microsoft.com/office/2007/relationships/diagramDrawing" Target="../diagrams/drawing15.xml"/><Relationship Id="rId24" Type="http://schemas.openxmlformats.org/officeDocument/2006/relationships/diagramQuickStyle" Target="../diagrams/quickStyle18.xml"/><Relationship Id="rId5" Type="http://schemas.openxmlformats.org/officeDocument/2006/relationships/diagramColors" Target="../diagrams/colors14.xml"/><Relationship Id="rId15" Type="http://schemas.openxmlformats.org/officeDocument/2006/relationships/diagramColors" Target="../diagrams/colors16.xml"/><Relationship Id="rId23" Type="http://schemas.openxmlformats.org/officeDocument/2006/relationships/diagramLayout" Target="../diagrams/layout18.xml"/><Relationship Id="rId28" Type="http://schemas.openxmlformats.org/officeDocument/2006/relationships/diagramLayout" Target="../diagrams/layout19.xml"/><Relationship Id="rId10" Type="http://schemas.openxmlformats.org/officeDocument/2006/relationships/diagramColors" Target="../diagrams/colors15.xml"/><Relationship Id="rId19" Type="http://schemas.openxmlformats.org/officeDocument/2006/relationships/diagramQuickStyle" Target="../diagrams/quickStyle17.xml"/><Relationship Id="rId31" Type="http://schemas.microsoft.com/office/2007/relationships/diagramDrawing" Target="../diagrams/drawing19.xml"/><Relationship Id="rId4" Type="http://schemas.openxmlformats.org/officeDocument/2006/relationships/diagramQuickStyle" Target="../diagrams/quickStyle14.xml"/><Relationship Id="rId9" Type="http://schemas.openxmlformats.org/officeDocument/2006/relationships/diagramQuickStyle" Target="../diagrams/quickStyle15.xml"/><Relationship Id="rId14" Type="http://schemas.openxmlformats.org/officeDocument/2006/relationships/diagramQuickStyle" Target="../diagrams/quickStyle16.xml"/><Relationship Id="rId22" Type="http://schemas.openxmlformats.org/officeDocument/2006/relationships/diagramData" Target="../diagrams/data18.xml"/><Relationship Id="rId27" Type="http://schemas.openxmlformats.org/officeDocument/2006/relationships/diagramData" Target="../diagrams/data19.xml"/><Relationship Id="rId30" Type="http://schemas.openxmlformats.org/officeDocument/2006/relationships/diagramColors" Target="../diagrams/colors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2736"/>
            <a:ext cx="12321309" cy="693073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100701" y="2900218"/>
            <a:ext cx="3144488" cy="2189018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/>
                </a:solidFill>
                <a:latin typeface="Five Minutes" panose="02000506000000020004" pitchFamily="50" charset="0"/>
              </a:rPr>
              <a:t>Бинарные</a:t>
            </a:r>
            <a:br>
              <a:rPr lang="ru-RU" dirty="0" smtClean="0">
                <a:solidFill>
                  <a:schemeClr val="bg1"/>
                </a:solidFill>
                <a:latin typeface="Five Minutes" panose="02000506000000020004" pitchFamily="50" charset="0"/>
              </a:rPr>
            </a:br>
            <a:r>
              <a:rPr lang="ru-RU" dirty="0" smtClean="0">
                <a:solidFill>
                  <a:schemeClr val="bg1"/>
                </a:solidFill>
                <a:latin typeface="Five Minutes" panose="02000506000000020004" pitchFamily="50" charset="0"/>
              </a:rPr>
              <a:t>деревья</a:t>
            </a:r>
            <a:endParaRPr lang="ru-RU" dirty="0">
              <a:solidFill>
                <a:schemeClr val="bg1"/>
              </a:solidFill>
              <a:latin typeface="Five Minutes" panose="02000506000000020004" pitchFamily="50" charset="0"/>
            </a:endParaRPr>
          </a:p>
        </p:txBody>
      </p:sp>
      <p:sp>
        <p:nvSpPr>
          <p:cNvPr id="5" name="TextBox 4">
            <a:hlinkClick r:id="rId3" action="ppaction://hlinksldjump"/>
          </p:cNvPr>
          <p:cNvSpPr txBox="1"/>
          <p:nvPr/>
        </p:nvSpPr>
        <p:spPr>
          <a:xfrm>
            <a:off x="744741" y="942982"/>
            <a:ext cx="3823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solidFill>
                  <a:schemeClr val="bg1"/>
                </a:solidFill>
                <a:latin typeface="London" panose="02000506000000020004" pitchFamily="50" charset="0"/>
              </a:rPr>
              <a:t>Определение бинарного дерева</a:t>
            </a:r>
            <a:endParaRPr lang="ru-RU" sz="3200" dirty="0">
              <a:solidFill>
                <a:schemeClr val="bg1"/>
              </a:solidFill>
              <a:latin typeface="London" panose="02000506000000020004" pitchFamily="50" charset="0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743134" y="2106035"/>
            <a:ext cx="3823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solidFill>
                  <a:schemeClr val="bg1"/>
                </a:solidFill>
                <a:latin typeface="London" panose="02000506000000020004" pitchFamily="50" charset="0"/>
              </a:rPr>
              <a:t>Создание бинарного дерева поиска</a:t>
            </a:r>
            <a:endParaRPr lang="ru-RU" sz="3200" dirty="0">
              <a:solidFill>
                <a:schemeClr val="bg1"/>
              </a:solidFill>
              <a:latin typeface="London" panose="02000506000000020004" pitchFamily="50" charset="0"/>
            </a:endParaRPr>
          </a:p>
        </p:txBody>
      </p:sp>
      <p:sp>
        <p:nvSpPr>
          <p:cNvPr id="11" name="TextBox 10">
            <a:hlinkClick r:id="rId5" action="ppaction://hlinksldjump"/>
          </p:cNvPr>
          <p:cNvSpPr txBox="1"/>
          <p:nvPr/>
        </p:nvSpPr>
        <p:spPr>
          <a:xfrm>
            <a:off x="743136" y="3299568"/>
            <a:ext cx="382385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solidFill>
                  <a:schemeClr val="bg1"/>
                </a:solidFill>
                <a:latin typeface="London" panose="02000506000000020004" pitchFamily="50" charset="0"/>
              </a:rPr>
              <a:t>Вставка элемента в бинарное дерево поиска</a:t>
            </a:r>
            <a:endParaRPr lang="ru-RU" sz="3200" dirty="0">
              <a:solidFill>
                <a:schemeClr val="bg1"/>
              </a:solidFill>
              <a:latin typeface="London" panose="02000506000000020004" pitchFamily="50" charset="0"/>
            </a:endParaRPr>
          </a:p>
        </p:txBody>
      </p:sp>
      <p:sp>
        <p:nvSpPr>
          <p:cNvPr id="12" name="TextBox 11">
            <a:hlinkClick r:id="rId6" action="ppaction://hlinksldjump"/>
          </p:cNvPr>
          <p:cNvSpPr txBox="1"/>
          <p:nvPr/>
        </p:nvSpPr>
        <p:spPr>
          <a:xfrm>
            <a:off x="743137" y="4945494"/>
            <a:ext cx="38238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 smtClean="0">
                <a:solidFill>
                  <a:schemeClr val="bg1"/>
                </a:solidFill>
                <a:latin typeface="London" panose="02000506000000020004" pitchFamily="50" charset="0"/>
              </a:rPr>
              <a:t>Обход бинарного дерева поиска</a:t>
            </a:r>
            <a:endParaRPr lang="ru-RU" sz="3200" dirty="0">
              <a:solidFill>
                <a:schemeClr val="bg1"/>
              </a:solidFill>
              <a:latin typeface="London" panose="02000506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119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  <p:bldP spid="5" grpId="0"/>
      <p:bldP spid="10" grpId="0"/>
      <p:bldP spid="11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765812"/>
            <a:ext cx="10953750" cy="521017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221456"/>
            <a:ext cx="10515600" cy="2852737"/>
          </a:xfrm>
        </p:spPr>
        <p:txBody>
          <a:bodyPr>
            <a:normAutofit/>
          </a:bodyPr>
          <a:lstStyle/>
          <a:p>
            <a:r>
              <a:rPr lang="ru-RU" sz="8000" dirty="0" smtClean="0">
                <a:latin typeface="Five Minutes" panose="02000506000000020004" pitchFamily="50" charset="0"/>
              </a:rPr>
              <a:t>Определение бинарного </a:t>
            </a:r>
            <a:br>
              <a:rPr lang="ru-RU" sz="8000" dirty="0" smtClean="0">
                <a:latin typeface="Five Minutes" panose="02000506000000020004" pitchFamily="50" charset="0"/>
              </a:rPr>
            </a:br>
            <a:r>
              <a:rPr lang="ru-RU" sz="8000" dirty="0" smtClean="0">
                <a:latin typeface="Five Minutes" panose="02000506000000020004" pitchFamily="50" charset="0"/>
              </a:rPr>
              <a:t>дерева</a:t>
            </a:r>
            <a:endParaRPr lang="ru-RU" sz="8000" dirty="0">
              <a:latin typeface="Five Minutes" panose="02000506000000020004" pitchFamily="50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TextBox 8">
            <a:hlinkClick r:id="" action="ppaction://hlinkshowjump?jump=firstslide"/>
          </p:cNvPr>
          <p:cNvSpPr txBox="1"/>
          <p:nvPr/>
        </p:nvSpPr>
        <p:spPr>
          <a:xfrm>
            <a:off x="5608997" y="6445496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4683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smtClean="0">
                <a:latin typeface="Five Minutes" panose="02000506000000020004" pitchFamily="50" charset="0"/>
              </a:rPr>
              <a:t>Бинарное дерево — это </a:t>
            </a:r>
            <a:endParaRPr lang="ru-RU" sz="6600" dirty="0">
              <a:latin typeface="Five Minutes" panose="02000506000000020004" pitchFamily="50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Иерархическая структура данных, в которых каждый узел имеет не более двух потомков</a:t>
            </a:r>
            <a:endParaRPr lang="en-US" dirty="0" smtClean="0">
              <a:latin typeface="Five Minutes" panose="02000506000000020004" pitchFamily="50" charset="0"/>
            </a:endParaRPr>
          </a:p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Дерево в </a:t>
            </a:r>
            <a:r>
              <a:rPr lang="en-US" dirty="0" smtClean="0">
                <a:latin typeface="Five Minutes" panose="02000506000000020004" pitchFamily="50" charset="0"/>
              </a:rPr>
              <a:t>C++ </a:t>
            </a:r>
            <a:r>
              <a:rPr lang="ru-RU" dirty="0" smtClean="0">
                <a:latin typeface="Five Minutes" panose="02000506000000020004" pitchFamily="50" charset="0"/>
              </a:rPr>
              <a:t>похоже на обычное дерево</a:t>
            </a:r>
          </a:p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В данном примере будем рассматривать бинарное дерево поиска</a:t>
            </a:r>
            <a:endParaRPr lang="ru-RU" dirty="0">
              <a:latin typeface="Five Minutes" panose="02000506000000020004" pitchFamily="50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566802332"/>
              </p:ext>
            </p:extLst>
          </p:nvPr>
        </p:nvGraphicFramePr>
        <p:xfrm>
          <a:off x="6870290" y="1501162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11602063"/>
              </p:ext>
            </p:extLst>
          </p:nvPr>
        </p:nvGraphicFramePr>
        <p:xfrm>
          <a:off x="5547851" y="3108737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7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87108040"/>
              </p:ext>
            </p:extLst>
          </p:nvPr>
        </p:nvGraphicFramePr>
        <p:xfrm>
          <a:off x="8114071" y="3108736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8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61337947"/>
              </p:ext>
            </p:extLst>
          </p:nvPr>
        </p:nvGraphicFramePr>
        <p:xfrm>
          <a:off x="4349547" y="4714195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9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5849000"/>
              </p:ext>
            </p:extLst>
          </p:nvPr>
        </p:nvGraphicFramePr>
        <p:xfrm>
          <a:off x="6870290" y="4714196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0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0173529"/>
              </p:ext>
            </p:extLst>
          </p:nvPr>
        </p:nvGraphicFramePr>
        <p:xfrm>
          <a:off x="9377517" y="4714194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cxnSp>
        <p:nvCxnSpPr>
          <p:cNvPr id="12" name="Прямая со стрелкой 11"/>
          <p:cNvCxnSpPr/>
          <p:nvPr/>
        </p:nvCxnSpPr>
        <p:spPr>
          <a:xfrm flipH="1">
            <a:off x="6489290" y="2871019"/>
            <a:ext cx="727587" cy="639097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flipH="1">
            <a:off x="5147187" y="4531241"/>
            <a:ext cx="727587" cy="639097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8852103" y="2826775"/>
            <a:ext cx="716526" cy="608544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10078679" y="4517548"/>
            <a:ext cx="716526" cy="608544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>
            <a:off x="7535195" y="4475949"/>
            <a:ext cx="716526" cy="608544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" name="TextBox 14">
            <a:hlinkClick r:id="" action="ppaction://hlinkshowjump?jump=firstslide"/>
          </p:cNvPr>
          <p:cNvSpPr txBox="1"/>
          <p:nvPr/>
        </p:nvSpPr>
        <p:spPr>
          <a:xfrm>
            <a:off x="10357977" y="10362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645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Graphic spid="5" grpId="0">
        <p:bldAsOne/>
      </p:bldGraphic>
      <p:bldGraphic spid="6" grpId="0">
        <p:bldAsOne/>
      </p:bldGraphic>
      <p:bldGraphic spid="7" grpId="0">
        <p:bldAsOne/>
      </p:bldGraphic>
      <p:bldGraphic spid="8" grpId="0">
        <p:bldAsOne/>
      </p:bldGraphic>
      <p:bldGraphic spid="9" grpId="0">
        <p:bldAsOne/>
      </p:bldGraphic>
      <p:bldGraphic spid="10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smtClean="0">
                <a:latin typeface="Five Minutes" panose="02000506000000020004" pitchFamily="50" charset="0"/>
              </a:rPr>
              <a:t>Элемент дерева</a:t>
            </a:r>
            <a:endParaRPr lang="ru-RU" sz="6600" dirty="0">
              <a:latin typeface="Five Minutes" panose="02000506000000020004" pitchFamily="50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600252"/>
            <a:ext cx="11039169" cy="4351338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Каждый элемент дерева является структурой, состоящей из трех полей</a:t>
            </a:r>
            <a:endParaRPr lang="en-US" dirty="0">
              <a:latin typeface="Five Minutes" panose="02000506000000020004" pitchFamily="50" charset="0"/>
            </a:endParaRPr>
          </a:p>
          <a:p>
            <a:r>
              <a:rPr lang="ru-RU" dirty="0" smtClean="0">
                <a:latin typeface="Five Minutes" panose="02000506000000020004" pitchFamily="50" charset="0"/>
              </a:rPr>
              <a:t>Значение элемента</a:t>
            </a:r>
          </a:p>
          <a:p>
            <a:r>
              <a:rPr lang="ru-RU" dirty="0" smtClean="0">
                <a:latin typeface="Five Minutes" panose="02000506000000020004" pitchFamily="50" charset="0"/>
              </a:rPr>
              <a:t>Ссылка на левого потомка</a:t>
            </a:r>
          </a:p>
          <a:p>
            <a:r>
              <a:rPr lang="ru-RU" dirty="0" smtClean="0">
                <a:latin typeface="Five Minutes" panose="02000506000000020004" pitchFamily="50" charset="0"/>
              </a:rPr>
              <a:t>Ссылка на правого потомка</a:t>
            </a:r>
          </a:p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Если потомка нет, то</a:t>
            </a:r>
            <a:r>
              <a:rPr lang="en-US" dirty="0" smtClean="0">
                <a:latin typeface="Five Minutes" panose="02000506000000020004" pitchFamily="50" charset="0"/>
              </a:rPr>
              <a:t> </a:t>
            </a:r>
            <a:r>
              <a:rPr lang="ru-RU" dirty="0" smtClean="0">
                <a:latin typeface="Five Minutes" panose="02000506000000020004" pitchFamily="50" charset="0"/>
              </a:rPr>
              <a:t>элемент содержит  ссылку на нуль </a:t>
            </a:r>
            <a:r>
              <a:rPr lang="en-US" dirty="0" smtClean="0">
                <a:latin typeface="Five Minutes" panose="02000506000000020004" pitchFamily="50" charset="0"/>
              </a:rPr>
              <a:t>(NULL)</a:t>
            </a:r>
          </a:p>
          <a:p>
            <a:pPr marL="0" indent="0">
              <a:buNone/>
            </a:pPr>
            <a:endParaRPr lang="en-US" dirty="0">
              <a:latin typeface="Five Minutes" panose="02000506000000020004" pitchFamily="50" charset="0"/>
            </a:endParaRPr>
          </a:p>
          <a:p>
            <a:pPr marL="0" indent="0">
              <a:buNone/>
            </a:pPr>
            <a:endParaRPr lang="en-US" dirty="0" smtClean="0">
              <a:latin typeface="Five Minutes" panose="02000506000000020004" pitchFamily="50" charset="0"/>
            </a:endParaRPr>
          </a:p>
          <a:p>
            <a:pPr marL="0" indent="0">
              <a:buNone/>
            </a:pPr>
            <a:r>
              <a:rPr lang="en-US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data;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 left;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 right;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endParaRPr lang="en-US" dirty="0" smtClean="0">
              <a:latin typeface="Five Minutes" panose="02000506000000020004" pitchFamily="50" charset="0"/>
            </a:endParaRP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066399365"/>
              </p:ext>
            </p:extLst>
          </p:nvPr>
        </p:nvGraphicFramePr>
        <p:xfrm>
          <a:off x="838200" y="4700774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12" name="Прямая со стрелкой 11"/>
          <p:cNvCxnSpPr/>
          <p:nvPr/>
        </p:nvCxnSpPr>
        <p:spPr>
          <a:xfrm flipH="1">
            <a:off x="457200" y="6070631"/>
            <a:ext cx="727587" cy="639097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2820013" y="6026387"/>
            <a:ext cx="716526" cy="608544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grpSp>
        <p:nvGrpSpPr>
          <p:cNvPr id="20" name="Группа 19"/>
          <p:cNvGrpSpPr/>
          <p:nvPr/>
        </p:nvGrpSpPr>
        <p:grpSpPr>
          <a:xfrm>
            <a:off x="4004194" y="4960162"/>
            <a:ext cx="2303202" cy="657898"/>
            <a:chOff x="1" y="254355"/>
            <a:chExt cx="2303202" cy="657898"/>
          </a:xfrm>
        </p:grpSpPr>
        <p:sp>
          <p:nvSpPr>
            <p:cNvPr id="27" name="Прямоугольник 26"/>
            <p:cNvSpPr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28" name="TextBox 27"/>
            <p:cNvSpPr txBox="1"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3000" kern="1200" dirty="0" smtClean="0"/>
                <a:t>4</a:t>
              </a:r>
              <a:endParaRPr lang="ru-RU" sz="3000" kern="1200" dirty="0"/>
            </a:p>
          </p:txBody>
        </p:sp>
      </p:grpSp>
      <p:grpSp>
        <p:nvGrpSpPr>
          <p:cNvPr id="21" name="Группа 20"/>
          <p:cNvGrpSpPr/>
          <p:nvPr/>
        </p:nvGrpSpPr>
        <p:grpSpPr>
          <a:xfrm>
            <a:off x="4004474" y="5727710"/>
            <a:ext cx="1096496" cy="657898"/>
            <a:chOff x="281" y="1021903"/>
            <a:chExt cx="1096496" cy="657898"/>
          </a:xfrm>
        </p:grpSpPr>
        <p:sp>
          <p:nvSpPr>
            <p:cNvPr id="25" name="Прямоугольник 24"/>
            <p:cNvSpPr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26" name="TextBox 25"/>
            <p:cNvSpPr txBox="1"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000" kern="1200" dirty="0" smtClean="0"/>
                <a:t>NULL</a:t>
              </a:r>
              <a:endParaRPr lang="ru-RU" sz="3000" kern="1200" dirty="0"/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5210620" y="5727710"/>
            <a:ext cx="1096496" cy="657898"/>
            <a:chOff x="1206427" y="1021903"/>
            <a:chExt cx="1096496" cy="657898"/>
          </a:xfrm>
        </p:grpSpPr>
        <p:sp>
          <p:nvSpPr>
            <p:cNvPr id="23" name="Прямоугольник 22"/>
            <p:cNvSpPr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24" name="TextBox 23"/>
            <p:cNvSpPr txBox="1"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000" kern="1200" dirty="0" smtClean="0"/>
                <a:t>NULL</a:t>
              </a:r>
              <a:endParaRPr lang="ru-RU" sz="3000" kern="1200" dirty="0"/>
            </a:p>
          </p:txBody>
        </p:sp>
      </p:grpSp>
      <p:sp>
        <p:nvSpPr>
          <p:cNvPr id="16" name="TextBox 15">
            <a:hlinkClick r:id="" action="ppaction://hlinkshowjump?jump=firstslide"/>
          </p:cNvPr>
          <p:cNvSpPr txBox="1"/>
          <p:nvPr/>
        </p:nvSpPr>
        <p:spPr>
          <a:xfrm>
            <a:off x="10357977" y="10362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44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5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 tmFilter="0, 0; .2, .5; .8, .5; 1, 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5" dur="250" autoRev="1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0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5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 tmFilter="0, 0; .2, .5; .8, .5; 1, 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0" dur="250" autoRev="1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5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Graphic spid="5" grpId="0">
        <p:bldAsOne/>
      </p:bldGraphic>
      <p:bldGraphic spid="5" grpId="1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smtClean="0">
                <a:latin typeface="Five Minutes" panose="02000506000000020004" pitchFamily="50" charset="0"/>
              </a:rPr>
              <a:t>Поддеревья</a:t>
            </a:r>
            <a:endParaRPr lang="ru-RU" sz="6600" dirty="0">
              <a:latin typeface="Five Minutes" panose="02000506000000020004" pitchFamily="50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600252"/>
            <a:ext cx="11039169" cy="3077369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У элемента дерева могут быть свои поддеревья</a:t>
            </a:r>
          </a:p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Это может быть левое поддерево</a:t>
            </a:r>
          </a:p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И правое поддерево</a:t>
            </a:r>
          </a:p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Элементы левого поддерева меньше, чем рассматриваемый элемент</a:t>
            </a:r>
          </a:p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А элементы правого - больше</a:t>
            </a:r>
          </a:p>
          <a:p>
            <a:pPr marL="0" indent="0">
              <a:buNone/>
            </a:pPr>
            <a:endParaRPr lang="ru-RU" dirty="0" smtClean="0">
              <a:latin typeface="Five Minutes" panose="02000506000000020004" pitchFamily="50" charset="0"/>
            </a:endParaRPr>
          </a:p>
        </p:txBody>
      </p:sp>
      <p:graphicFrame>
        <p:nvGraphicFramePr>
          <p:cNvPr id="17" name="Объект 4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02250123"/>
              </p:ext>
            </p:extLst>
          </p:nvPr>
        </p:nvGraphicFramePr>
        <p:xfrm>
          <a:off x="7177551" y="365125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8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3130626"/>
              </p:ext>
            </p:extLst>
          </p:nvPr>
        </p:nvGraphicFramePr>
        <p:xfrm>
          <a:off x="5855112" y="1972700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9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3260637"/>
              </p:ext>
            </p:extLst>
          </p:nvPr>
        </p:nvGraphicFramePr>
        <p:xfrm>
          <a:off x="8421332" y="1972699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29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81485570"/>
              </p:ext>
            </p:extLst>
          </p:nvPr>
        </p:nvGraphicFramePr>
        <p:xfrm>
          <a:off x="4656808" y="3578158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30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0197882"/>
              </p:ext>
            </p:extLst>
          </p:nvPr>
        </p:nvGraphicFramePr>
        <p:xfrm>
          <a:off x="7177551" y="3578159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31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6978158"/>
              </p:ext>
            </p:extLst>
          </p:nvPr>
        </p:nvGraphicFramePr>
        <p:xfrm>
          <a:off x="9684778" y="3578157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cxnSp>
        <p:nvCxnSpPr>
          <p:cNvPr id="32" name="Прямая со стрелкой 31"/>
          <p:cNvCxnSpPr/>
          <p:nvPr/>
        </p:nvCxnSpPr>
        <p:spPr>
          <a:xfrm flipH="1">
            <a:off x="6796551" y="1734982"/>
            <a:ext cx="727587" cy="639097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/>
          <p:nvPr/>
        </p:nvCxnSpPr>
        <p:spPr>
          <a:xfrm flipH="1">
            <a:off x="5454448" y="3395204"/>
            <a:ext cx="727587" cy="639097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4" name="Прямая со стрелкой 33"/>
          <p:cNvCxnSpPr/>
          <p:nvPr/>
        </p:nvCxnSpPr>
        <p:spPr>
          <a:xfrm>
            <a:off x="9159364" y="1690738"/>
            <a:ext cx="716526" cy="608544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10385940" y="3381511"/>
            <a:ext cx="716526" cy="608544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6" name="Прямая со стрелкой 35"/>
          <p:cNvCxnSpPr/>
          <p:nvPr/>
        </p:nvCxnSpPr>
        <p:spPr>
          <a:xfrm>
            <a:off x="7842456" y="3339912"/>
            <a:ext cx="716526" cy="608544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255047" y="5349553"/>
            <a:ext cx="938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Five Minutes" panose="02000506000000020004" pitchFamily="50" charset="0"/>
              </a:rPr>
              <a:t>Правое поддерево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357784" y="5349553"/>
            <a:ext cx="994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>
                <a:latin typeface="Five Minutes" panose="02000506000000020004" pitchFamily="50" charset="0"/>
              </a:rPr>
              <a:t>Левое поддерево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8200" y="4827639"/>
            <a:ext cx="37454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Wingdings" panose="05000000000000000000" pitchFamily="2" charset="2"/>
              </a:rPr>
              <a:t>F</a:t>
            </a:r>
            <a:r>
              <a:rPr lang="ru-RU" sz="2800" dirty="0" smtClean="0">
                <a:latin typeface="Five Minutes" panose="02000506000000020004" pitchFamily="50" charset="0"/>
              </a:rPr>
              <a:t>Назовите поддеревья каждого элемента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78302" y="892625"/>
            <a:ext cx="15227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Five Minutes" panose="02000506000000020004" pitchFamily="50" charset="0"/>
              </a:rPr>
              <a:t>Рассматриваемый элемент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20" name="TextBox 19">
            <a:hlinkClick r:id="" action="ppaction://hlinkshowjump?jump=firstslide"/>
          </p:cNvPr>
          <p:cNvSpPr txBox="1"/>
          <p:nvPr/>
        </p:nvSpPr>
        <p:spPr>
          <a:xfrm>
            <a:off x="10357977" y="10362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0516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0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0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0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1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1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2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3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5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4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2" dur="500" fill="hold"/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13" dur="500" fill="hold"/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14" dur="500" fill="hold"/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15" dur="500" fill="hold"/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7" dur="500" fill="hold"/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18" dur="500" fill="hold"/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19" dur="500" fill="hold"/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20" dur="500" fill="hold"/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2" dur="500" fill="hold"/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23" dur="500" fill="hold"/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24" dur="500" fill="hold"/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27" dur="500" fill="hold"/>
                                        <p:tgtEl>
                                          <p:spTgt spid="2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28" dur="500" fill="hold"/>
                                        <p:tgtEl>
                                          <p:spTgt spid="2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29" dur="500" fill="hold"/>
                                        <p:tgtEl>
                                          <p:spTgt spid="2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30" dur="500" fill="hold"/>
                                        <p:tgtEl>
                                          <p:spTgt spid="2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2" dur="500" fill="hold"/>
                                        <p:tgtEl>
                                          <p:spTgt spid="2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3" dur="500" fill="hold"/>
                                        <p:tgtEl>
                                          <p:spTgt spid="2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4" dur="500" fill="hold"/>
                                        <p:tgtEl>
                                          <p:spTgt spid="2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35" dur="500" fill="hold"/>
                                        <p:tgtEl>
                                          <p:spTgt spid="2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37" dur="500" fill="hold"/>
                                        <p:tgtEl>
                                          <p:spTgt spid="2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8" dur="500" fill="hold"/>
                                        <p:tgtEl>
                                          <p:spTgt spid="2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39" dur="500" fill="hold"/>
                                        <p:tgtEl>
                                          <p:spTgt spid="2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40" dur="500" fill="hold"/>
                                        <p:tgtEl>
                                          <p:spTgt spid="2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2" dur="500" fill="hold"/>
                                        <p:tgtEl>
                                          <p:spTgt spid="30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3" dur="500" fill="hold"/>
                                        <p:tgtEl>
                                          <p:spTgt spid="30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4" dur="500" fill="hold"/>
                                        <p:tgtEl>
                                          <p:spTgt spid="30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45" dur="500" fill="hold"/>
                                        <p:tgtEl>
                                          <p:spTgt spid="30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47" dur="500" fill="hold"/>
                                        <p:tgtEl>
                                          <p:spTgt spid="30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8" dur="500" fill="hold"/>
                                        <p:tgtEl>
                                          <p:spTgt spid="30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49" dur="500" fill="hold"/>
                                        <p:tgtEl>
                                          <p:spTgt spid="30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0" dur="500" fill="hold"/>
                                        <p:tgtEl>
                                          <p:spTgt spid="30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30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2" dur="500" fill="hold"/>
                                        <p:tgtEl>
                                          <p:spTgt spid="30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3" dur="500" fill="hold"/>
                                        <p:tgtEl>
                                          <p:spTgt spid="30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4" dur="500" fill="hold"/>
                                        <p:tgtEl>
                                          <p:spTgt spid="30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55" dur="500" fill="hold"/>
                                        <p:tgtEl>
                                          <p:spTgt spid="30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6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30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6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animClr clrSpc="hsl" dir="cw">
                                      <p:cBhvr>
                                        <p:cTn id="16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12549" l="25098"/>
                                      </p:by>
                                    </p:animClr>
                                    <p:set>
                                      <p:cBhvr>
                                        <p:cTn id="16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0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4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4" dur="500" fill="hold"/>
                                        <p:tgtEl>
                                          <p:spTgt spid="1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5" dur="500" fill="hold"/>
                                        <p:tgtEl>
                                          <p:spTgt spid="1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76" dur="500" fill="hold"/>
                                        <p:tgtEl>
                                          <p:spTgt spid="1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77" dur="500" fill="hold"/>
                                        <p:tgtEl>
                                          <p:spTgt spid="1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79" dur="500" fill="hold"/>
                                        <p:tgtEl>
                                          <p:spTgt spid="1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0" dur="500" fill="hold"/>
                                        <p:tgtEl>
                                          <p:spTgt spid="1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1" dur="500" fill="hold"/>
                                        <p:tgtEl>
                                          <p:spTgt spid="1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82" dur="500" fill="hold"/>
                                        <p:tgtEl>
                                          <p:spTgt spid="1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4" dur="500" fill="hold"/>
                                        <p:tgtEl>
                                          <p:spTgt spid="1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5" dur="500" fill="hold"/>
                                        <p:tgtEl>
                                          <p:spTgt spid="1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86" dur="500" fill="hold"/>
                                        <p:tgtEl>
                                          <p:spTgt spid="1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87" dur="500" fill="hold"/>
                                        <p:tgtEl>
                                          <p:spTgt spid="1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89" dur="500" fill="hold"/>
                                        <p:tgtEl>
                                          <p:spTgt spid="31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90" dur="500" fill="hold"/>
                                        <p:tgtEl>
                                          <p:spTgt spid="31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91" dur="500" fill="hold"/>
                                        <p:tgtEl>
                                          <p:spTgt spid="31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2" dur="500" fill="hold"/>
                                        <p:tgtEl>
                                          <p:spTgt spid="31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94" dur="500" fill="hold"/>
                                        <p:tgtEl>
                                          <p:spTgt spid="31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95" dur="500" fill="hold"/>
                                        <p:tgtEl>
                                          <p:spTgt spid="31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196" dur="500" fill="hold"/>
                                        <p:tgtEl>
                                          <p:spTgt spid="31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197" dur="500" fill="hold"/>
                                        <p:tgtEl>
                                          <p:spTgt spid="31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24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99" dur="500" fill="hold"/>
                                        <p:tgtEl>
                                          <p:spTgt spid="31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00" dur="500" fill="hold"/>
                                        <p:tgtEl>
                                          <p:spTgt spid="31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01" dur="500" fill="hold"/>
                                        <p:tgtEl>
                                          <p:spTgt spid="31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02" dur="500" fill="hold"/>
                                        <p:tgtEl>
                                          <p:spTgt spid="31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24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0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0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animClr clrSpc="hsl" dir="cw">
                                      <p:cBhvr>
                                        <p:cTn id="2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0" s="-12549" l="-25098"/>
                                      </p:by>
                                    </p:animClr>
                                    <p:set>
                                      <p:cBhvr>
                                        <p:cTn id="20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6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0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1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22" presetClass="entr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6" dur="500"/>
                                        <p:tgtEl>
                                          <p:spTgt spid="1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9" dur="500"/>
                                        <p:tgtEl>
                                          <p:spTgt spid="1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500"/>
                                        <p:tgtEl>
                                          <p:spTgt spid="1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5" dur="500"/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8" dur="500"/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1" dur="500"/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4" dur="500"/>
                                        <p:tgtEl>
                                          <p:spTgt spid="29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5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7" dur="500"/>
                                        <p:tgtEl>
                                          <p:spTgt spid="29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8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0" dur="500"/>
                                        <p:tgtEl>
                                          <p:spTgt spid="29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1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3" dur="500"/>
                                        <p:tgtEl>
                                          <p:spTgt spid="30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4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6" dur="500"/>
                                        <p:tgtEl>
                                          <p:spTgt spid="30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7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500"/>
                                        <p:tgtEl>
                                          <p:spTgt spid="30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31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00"/>
                                        <p:tgtEl>
                                          <p:spTgt spid="31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8" dur="500"/>
                                        <p:tgtEl>
                                          <p:spTgt spid="31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Graphic spid="17" grpId="0">
        <p:bldAsOne/>
      </p:bldGraphic>
      <p:bldGraphic spid="17" grpId="1">
        <p:bldAsOne/>
      </p:bldGraphic>
      <p:bldGraphic spid="17" grpId="2">
        <p:bldAsOne/>
      </p:bldGraphic>
      <p:bldGraphic spid="18" grpId="0">
        <p:bldSub>
          <a:bldDgm/>
        </p:bldSub>
      </p:bldGraphic>
      <p:bldGraphic spid="18" grpId="1">
        <p:bldSub>
          <a:bldDgm/>
        </p:bldSub>
      </p:bldGraphic>
      <p:bldGraphic spid="18" grpId="2">
        <p:bldSub>
          <a:bldDgm/>
        </p:bldSub>
      </p:bldGraphic>
      <p:bldGraphic spid="19" grpId="0">
        <p:bldSub>
          <a:bldDgm/>
        </p:bldSub>
      </p:bldGraphic>
      <p:bldGraphic spid="19" grpId="1">
        <p:bldSub>
          <a:bldDgm/>
        </p:bldSub>
      </p:bldGraphic>
      <p:bldGraphic spid="19" grpId="2">
        <p:bldSub>
          <a:bldDgm/>
        </p:bldSub>
      </p:bldGraphic>
      <p:bldGraphic spid="29" grpId="0">
        <p:bldSub>
          <a:bldDgm/>
        </p:bldSub>
      </p:bldGraphic>
      <p:bldGraphic spid="29" grpId="1">
        <p:bldSub>
          <a:bldDgm/>
        </p:bldSub>
      </p:bldGraphic>
      <p:bldGraphic spid="29" grpId="2">
        <p:bldSub>
          <a:bldDgm/>
        </p:bldSub>
      </p:bldGraphic>
      <p:bldGraphic spid="30" grpId="0">
        <p:bldSub>
          <a:bldDgm/>
        </p:bldSub>
      </p:bldGraphic>
      <p:bldGraphic spid="30" grpId="1">
        <p:bldSub>
          <a:bldDgm/>
        </p:bldSub>
      </p:bldGraphic>
      <p:bldGraphic spid="30" grpId="2">
        <p:bldSub>
          <a:bldDgm/>
        </p:bldSub>
      </p:bldGraphic>
      <p:bldGraphic spid="31" grpId="0">
        <p:bldSub>
          <a:bldDgm/>
        </p:bldSub>
      </p:bldGraphic>
      <p:bldGraphic spid="31" grpId="1">
        <p:bldSub>
          <a:bldDgm/>
        </p:bldSub>
      </p:bldGraphic>
      <p:bldGraphic spid="31" grpId="2">
        <p:bldSub>
          <a:bldDgm/>
        </p:bldSub>
      </p:bldGraphic>
      <p:bldP spid="8" grpId="0"/>
      <p:bldP spid="8" grpId="1"/>
      <p:bldP spid="37" grpId="0"/>
      <p:bldP spid="37" grpId="1"/>
      <p:bldP spid="10" grpId="0"/>
      <p:bldP spid="39" grpId="0"/>
      <p:bldP spid="3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765812"/>
            <a:ext cx="10953750" cy="521017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221456"/>
            <a:ext cx="10515600" cy="2852737"/>
          </a:xfrm>
        </p:spPr>
        <p:txBody>
          <a:bodyPr>
            <a:normAutofit/>
          </a:bodyPr>
          <a:lstStyle/>
          <a:p>
            <a:r>
              <a:rPr lang="ru-RU" sz="8000" dirty="0" smtClean="0">
                <a:latin typeface="Five Minutes" panose="02000506000000020004" pitchFamily="50" charset="0"/>
              </a:rPr>
              <a:t>Создание бинарного дерева поиска</a:t>
            </a:r>
            <a:endParaRPr lang="ru-RU" sz="8000" dirty="0">
              <a:latin typeface="Five Minutes" panose="02000506000000020004" pitchFamily="50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TextBox 8">
            <a:hlinkClick r:id="" action="ppaction://hlinkshowjump?jump=firstslide"/>
          </p:cNvPr>
          <p:cNvSpPr txBox="1"/>
          <p:nvPr/>
        </p:nvSpPr>
        <p:spPr>
          <a:xfrm>
            <a:off x="5608997" y="6445496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90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874342" cy="1325563"/>
          </a:xfrm>
        </p:spPr>
        <p:txBody>
          <a:bodyPr>
            <a:normAutofit/>
          </a:bodyPr>
          <a:lstStyle/>
          <a:p>
            <a:r>
              <a:rPr lang="ru-RU" sz="6600" dirty="0" smtClean="0">
                <a:latin typeface="Five Minutes" panose="02000506000000020004" pitchFamily="50" charset="0"/>
              </a:rPr>
              <a:t>Создадим дерево</a:t>
            </a:r>
            <a:endParaRPr lang="ru-RU" sz="6600" dirty="0">
              <a:latin typeface="Five Minutes" panose="02000506000000020004" pitchFamily="50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59541" y="1690688"/>
            <a:ext cx="6127956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create_tree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300" dirty="0" err="1" smtClean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23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300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* &amp;</a:t>
            </a:r>
            <a:r>
              <a:rPr lang="en-US" sz="23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tree_top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ru-RU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300" dirty="0" err="1" smtClean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tree_top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3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300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x;</a:t>
            </a: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3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3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x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3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3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push_tree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300" dirty="0" err="1" smtClean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tree_top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, x);</a:t>
            </a: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ru-RU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986" y="1506022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>
                <a:latin typeface="Five Minutes" panose="02000506000000020004" pitchFamily="50" charset="0"/>
              </a:rPr>
              <a:t>Текстовый файл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10" name="Объект 9"/>
          <p:cNvSpPr>
            <a:spLocks noGrp="1"/>
          </p:cNvSpPr>
          <p:nvPr>
            <p:ph sz="half" idx="1"/>
          </p:nvPr>
        </p:nvSpPr>
        <p:spPr>
          <a:xfrm>
            <a:off x="6887497" y="2209190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Будем читать данные из файла,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tree_top</a:t>
            </a:r>
            <a:r>
              <a:rPr lang="en-US" dirty="0" smtClean="0">
                <a:latin typeface="Five Minutes" panose="02000506000000020004" pitchFamily="50" charset="0"/>
              </a:rPr>
              <a:t> – </a:t>
            </a:r>
            <a:r>
              <a:rPr lang="ru-RU" dirty="0" smtClean="0">
                <a:latin typeface="Five Minutes" panose="02000506000000020004" pitchFamily="50" charset="0"/>
              </a:rPr>
              <a:t>корень дерева</a:t>
            </a:r>
          </a:p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Даем адресу корня значение </a:t>
            </a:r>
            <a:r>
              <a:rPr lang="en-US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endParaRPr lang="en-US" dirty="0" smtClean="0">
              <a:latin typeface="Five Minutes" panose="02000506000000020004" pitchFamily="50" charset="0"/>
            </a:endParaRPr>
          </a:p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Создаем переменную</a:t>
            </a:r>
            <a:r>
              <a:rPr lang="en-US" dirty="0" smtClean="0">
                <a:latin typeface="Five Minutes" panose="02000506000000020004" pitchFamily="50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ru-RU" dirty="0" smtClean="0">
                <a:latin typeface="Five Minutes" panose="02000506000000020004" pitchFamily="50" charset="0"/>
              </a:rPr>
              <a:t>, в которую будем считывать числа из файла</a:t>
            </a:r>
          </a:p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Считываем из файла очередную переменную</a:t>
            </a:r>
            <a:r>
              <a:rPr lang="en-US" dirty="0" smtClean="0">
                <a:latin typeface="Five Minutes" panose="02000506000000020004" pitchFamily="50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endParaRPr lang="ru-RU" dirty="0" smtClean="0">
              <a:latin typeface="Five Minutes" panose="02000506000000020004" pitchFamily="50" charset="0"/>
            </a:endParaRPr>
          </a:p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Кладем ее в наше дерево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6496664" y="629265"/>
            <a:ext cx="1248697" cy="7275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12</a:t>
            </a:r>
            <a:endParaRPr lang="ru-RU" sz="4800" dirty="0"/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7907593" y="623266"/>
            <a:ext cx="1248697" cy="7275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15</a:t>
            </a:r>
            <a:endParaRPr lang="ru-RU" sz="4800" dirty="0"/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9318522" y="629265"/>
            <a:ext cx="1248697" cy="7275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10</a:t>
            </a:r>
            <a:endParaRPr lang="ru-RU" sz="4800" dirty="0"/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10729451" y="623266"/>
            <a:ext cx="1248697" cy="72758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6</a:t>
            </a:r>
            <a:endParaRPr lang="ru-RU" sz="4800" dirty="0"/>
          </a:p>
        </p:txBody>
      </p:sp>
      <p:sp>
        <p:nvSpPr>
          <p:cNvPr id="13" name="Стрелка вниз 12"/>
          <p:cNvSpPr/>
          <p:nvPr/>
        </p:nvSpPr>
        <p:spPr>
          <a:xfrm>
            <a:off x="6786715" y="149942"/>
            <a:ext cx="668593" cy="442807"/>
          </a:xfrm>
          <a:prstGeom prst="downArrow">
            <a:avLst/>
          </a:prstGeom>
          <a:solidFill>
            <a:srgbClr val="008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1516626" y="6114252"/>
            <a:ext cx="9212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dirty="0" smtClean="0">
                <a:latin typeface="Five Minutes" panose="02000506000000020004" pitchFamily="50" charset="0"/>
              </a:rPr>
              <a:t>Рассмотрим подробнее функцию     </a:t>
            </a:r>
            <a:r>
              <a:rPr lang="en-US" sz="28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push_tree</a:t>
            </a:r>
            <a:r>
              <a:rPr lang="ru-RU" sz="2800" dirty="0" smtClean="0"/>
              <a:t> </a:t>
            </a:r>
            <a:endParaRPr lang="ru-RU" sz="2800" dirty="0"/>
          </a:p>
        </p:txBody>
      </p:sp>
      <p:sp>
        <p:nvSpPr>
          <p:cNvPr id="18" name="TextBox 17">
            <a:hlinkClick r:id="" action="ppaction://hlinkshowjump?jump=firstslide"/>
          </p:cNvPr>
          <p:cNvSpPr txBox="1"/>
          <p:nvPr/>
        </p:nvSpPr>
        <p:spPr>
          <a:xfrm>
            <a:off x="10357977" y="10362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344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 tmFilter="0, 0; .2, .5; .8, .5; 1, 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1" dur="250" autoRev="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 tmFilter="0, 0; .2, .5; .8, .5; 1, 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" autoRev="1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 tmFilter="0, 0; .2, .5; .8, .5; 1, 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8" dur="250" autoRev="1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 tmFilter="0, 0; .2, .5; .8, .5; 1, 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 tmFilter="0, 0; .2, .5; .8, .5; 1, 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3" dur="250" autoRev="1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 tmFilter="0, 0; .2, .5; .8, .5; 1, 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8" dur="250" autoRev="1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 tmFilter="0, 0; .2, .5; .8, .5; 1, 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8" dur="250" autoRev="1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 tmFilter="0, 0; .2, .5; .8, .5; 1, 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250" autoRev="1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 tmFilter="0, 0; .2, .5; .8, .5; 1, 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" dur="250" autoRev="1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 tmFilter="0, 0; .2, .5; .8, .5; 1, 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3" dur="250" autoRev="1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4.81481E-6 L 0.11042 -0.0007 " pathEditMode="relative" rAng="0" ptsTypes="AA">
                                      <p:cBhvr>
                                        <p:cTn id="137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21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 tmFilter="0, 0; .2, .5; .8, .5; 1, 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2" dur="250" autoRev="1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6" dur="500" tmFilter="0, 0; .2, .5; .8, .5; 1, 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7" dur="250" autoRev="1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 tmFilter="0, 0; .2, .5; .8, .5; 1, 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2" dur="250" autoRev="1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 tmFilter="0, 0; .2, .5; .8, .5; 1, 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7" dur="250" autoRev="1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042 -0.0007 L 0.2362 -0.0007 " pathEditMode="relative" rAng="0" ptsTypes="AA">
                                      <p:cBhvr>
                                        <p:cTn id="16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8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 tmFilter="0, 0; .2, .5; .8, .5; 1, 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6" dur="250" autoRev="1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 tmFilter="0, 0; .2, .5; .8, .5; 1, 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1" dur="250" autoRev="1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5" dur="500" tmFilter="0, 0; .2, .5; .8, .5; 1, 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6" dur="250" autoRev="1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 tmFilter="0, 0; .2, .5; .8, .5; 1, 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1" dur="250" autoRev="1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62 -0.0007 L 0.34506 -0.0007 " pathEditMode="relative" rAng="0" ptsTypes="AA">
                                      <p:cBhvr>
                                        <p:cTn id="18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 tmFilter="0, 0; .2, .5; .8, .5; 1, 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0" dur="250" autoRev="1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 tmFilter="0, 0; .2, .5; .8, .5; 1, 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5" dur="250" autoRev="1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  <p:bldP spid="9" grpId="0"/>
      <p:bldP spid="10" grpId="0" uiExpand="1" build="p"/>
      <p:bldP spid="11" grpId="0" animBg="1"/>
      <p:bldP spid="29" grpId="0" animBg="1"/>
      <p:bldP spid="30" grpId="0" animBg="1"/>
      <p:bldP spid="31" grpId="0" animBg="1"/>
      <p:bldP spid="13" grpId="0" animBg="1"/>
      <p:bldP spid="13" grpId="1" animBg="1"/>
      <p:bldP spid="13" grpId="2" animBg="1"/>
      <p:bldP spid="13" grpId="3" animBg="1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765812"/>
            <a:ext cx="10953750" cy="521017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221456"/>
            <a:ext cx="10515600" cy="2852737"/>
          </a:xfrm>
        </p:spPr>
        <p:txBody>
          <a:bodyPr>
            <a:normAutofit/>
          </a:bodyPr>
          <a:lstStyle/>
          <a:p>
            <a:r>
              <a:rPr lang="ru-RU" sz="8000" dirty="0" smtClean="0">
                <a:latin typeface="Five Minutes" panose="02000506000000020004" pitchFamily="50" charset="0"/>
              </a:rPr>
              <a:t>Вставка элемента в бинарное дерево поиска</a:t>
            </a:r>
            <a:endParaRPr lang="ru-RU" sz="8000" dirty="0">
              <a:latin typeface="Five Minutes" panose="02000506000000020004" pitchFamily="50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TextBox 8">
            <a:hlinkClick r:id="" action="ppaction://hlinkshowjump?jump=firstslide"/>
          </p:cNvPr>
          <p:cNvSpPr txBox="1"/>
          <p:nvPr/>
        </p:nvSpPr>
        <p:spPr>
          <a:xfrm>
            <a:off x="5608997" y="6445496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239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smtClean="0">
                <a:latin typeface="Five Minutes" panose="02000506000000020004" pitchFamily="50" charset="0"/>
              </a:rPr>
              <a:t>Добавим элемент в дерево</a:t>
            </a:r>
            <a:endParaRPr lang="ru-RU" sz="6600" dirty="0">
              <a:latin typeface="Five Minutes" panose="02000506000000020004" pitchFamily="50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199" y="1533372"/>
            <a:ext cx="827630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push_tree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300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* &amp;</a:t>
            </a:r>
            <a:r>
              <a:rPr lang="en-US" sz="23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tree_top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3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ru-RU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300" dirty="0" err="1" smtClean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*p, *m;</a:t>
            </a: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3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b;</a:t>
            </a: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3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3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tree_top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sz="23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endParaRPr lang="ru-RU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300" dirty="0">
                <a:solidFill>
                  <a:srgbClr val="00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m-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&gt;data = </a:t>
            </a:r>
            <a:r>
              <a:rPr lang="en-US" sz="23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m-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&gt;left = </a:t>
            </a:r>
            <a:r>
              <a:rPr lang="en-US" sz="23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m-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&gt;right = </a:t>
            </a:r>
            <a:r>
              <a:rPr lang="en-US" sz="23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300" dirty="0" err="1" smtClean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tree_top</a:t>
            </a:r>
            <a:r>
              <a:rPr lang="en-US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= m;</a:t>
            </a:r>
          </a:p>
          <a:p>
            <a:pPr marL="0" indent="0">
              <a:buNone/>
            </a:pPr>
            <a:r>
              <a:rPr lang="ru-RU" sz="23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 …</a:t>
            </a:r>
            <a:endParaRPr lang="ru-RU" sz="23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Объект 9"/>
          <p:cNvSpPr txBox="1">
            <a:spLocks/>
          </p:cNvSpPr>
          <p:nvPr/>
        </p:nvSpPr>
        <p:spPr>
          <a:xfrm>
            <a:off x="6754169" y="2243603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17" name="TextBox 16">
            <a:hlinkClick r:id="" action="ppaction://hlinkshowjump?jump=firstslide"/>
          </p:cNvPr>
          <p:cNvSpPr txBox="1"/>
          <p:nvPr/>
        </p:nvSpPr>
        <p:spPr>
          <a:xfrm>
            <a:off x="10357977" y="10362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870732" y="934842"/>
            <a:ext cx="27793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400" dirty="0" smtClean="0">
                <a:latin typeface="Five Minutes" panose="02000506000000020004" pitchFamily="50" charset="0"/>
              </a:rPr>
              <a:t>Х = 12 – первый элемент</a:t>
            </a:r>
          </a:p>
          <a:p>
            <a:pPr algn="r"/>
            <a:r>
              <a:rPr lang="en-US" sz="2400" dirty="0" err="1">
                <a:latin typeface="Five Minutes" panose="02000506000000020004" pitchFamily="50" charset="0"/>
              </a:rPr>
              <a:t>t</a:t>
            </a:r>
            <a:r>
              <a:rPr lang="en-US" sz="2400" dirty="0" err="1" smtClean="0">
                <a:latin typeface="Five Minutes" panose="02000506000000020004" pitchFamily="50" charset="0"/>
              </a:rPr>
              <a:t>ree_top</a:t>
            </a:r>
            <a:r>
              <a:rPr lang="en-US" sz="2400" dirty="0" smtClean="0">
                <a:latin typeface="Five Minutes" panose="02000506000000020004" pitchFamily="50" charset="0"/>
              </a:rPr>
              <a:t> = 0</a:t>
            </a:r>
            <a:endParaRPr lang="ru-RU" sz="2400" dirty="0">
              <a:latin typeface="Five Minutes" panose="02000506000000020004" pitchFamily="50" charset="0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8328912" y="3118712"/>
            <a:ext cx="2196223" cy="627340"/>
            <a:chOff x="1" y="254355"/>
            <a:chExt cx="2303202" cy="657898"/>
          </a:xfrm>
        </p:grpSpPr>
        <p:sp>
          <p:nvSpPr>
            <p:cNvPr id="31" name="Прямоугольник 30"/>
            <p:cNvSpPr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32" name="TextBox 31"/>
            <p:cNvSpPr txBox="1"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25" name="Группа 24"/>
          <p:cNvGrpSpPr/>
          <p:nvPr/>
        </p:nvGrpSpPr>
        <p:grpSpPr>
          <a:xfrm>
            <a:off x="8329179" y="3850609"/>
            <a:ext cx="1045566" cy="627340"/>
            <a:chOff x="281" y="1021903"/>
            <a:chExt cx="1096496" cy="657898"/>
          </a:xfrm>
        </p:grpSpPr>
        <p:sp>
          <p:nvSpPr>
            <p:cNvPr id="29" name="Прямоугольник 28"/>
            <p:cNvSpPr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30" name="TextBox 29"/>
            <p:cNvSpPr txBox="1"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26" name="Группа 25"/>
          <p:cNvGrpSpPr/>
          <p:nvPr/>
        </p:nvGrpSpPr>
        <p:grpSpPr>
          <a:xfrm>
            <a:off x="9479569" y="3850609"/>
            <a:ext cx="1045566" cy="627340"/>
            <a:chOff x="1206427" y="1021903"/>
            <a:chExt cx="1096496" cy="657898"/>
          </a:xfrm>
        </p:grpSpPr>
        <p:sp>
          <p:nvSpPr>
            <p:cNvPr id="27" name="Прямоугольник 26"/>
            <p:cNvSpPr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28" name="TextBox 27"/>
            <p:cNvSpPr txBox="1"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8694715" y="2443848"/>
            <a:ext cx="1663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Five Minutes" panose="02000506000000020004" pitchFamily="50" charset="0"/>
              </a:rPr>
              <a:t>Ссылка на </a:t>
            </a:r>
            <a:r>
              <a:rPr lang="en-US" sz="2400" dirty="0">
                <a:latin typeface="Five Minutes" panose="02000506000000020004" pitchFamily="50" charset="0"/>
              </a:rPr>
              <a:t>m</a:t>
            </a:r>
            <a:endParaRPr lang="ru-RU" sz="2400" dirty="0">
              <a:latin typeface="Five Minutes" panose="02000506000000020004" pitchFamily="50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88188" y="2749380"/>
            <a:ext cx="1506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Five Minutes" panose="02000506000000020004" pitchFamily="50" charset="0"/>
              </a:rPr>
              <a:t>t</a:t>
            </a:r>
            <a:r>
              <a:rPr lang="en-US" dirty="0" err="1" smtClean="0">
                <a:latin typeface="Five Minutes" panose="02000506000000020004" pitchFamily="50" charset="0"/>
              </a:rPr>
              <a:t>ree_top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194084" y="4641029"/>
            <a:ext cx="34412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Five Minutes" panose="02000506000000020004" pitchFamily="50" charset="0"/>
              </a:rPr>
              <a:t>Признак </a:t>
            </a:r>
            <a:r>
              <a:rPr lang="en-US" sz="2400" dirty="0" smtClean="0">
                <a:latin typeface="Five Minutes" panose="02000506000000020004" pitchFamily="50" charset="0"/>
              </a:rPr>
              <a:t>b</a:t>
            </a:r>
            <a:r>
              <a:rPr lang="ru-RU" sz="2400" dirty="0" smtClean="0">
                <a:latin typeface="Five Minutes" panose="02000506000000020004" pitchFamily="50" charset="0"/>
              </a:rPr>
              <a:t> будет</a:t>
            </a:r>
            <a:r>
              <a:rPr lang="en-US" sz="2400" dirty="0" smtClean="0">
                <a:latin typeface="Five Minutes" panose="02000506000000020004" pitchFamily="50" charset="0"/>
              </a:rPr>
              <a:t> </a:t>
            </a:r>
            <a:r>
              <a:rPr lang="ru-RU" sz="2400" dirty="0" smtClean="0">
                <a:latin typeface="Five Minutes" panose="02000506000000020004" pitchFamily="50" charset="0"/>
              </a:rPr>
              <a:t>отвечать за то, добавлен ли элемент в дерево</a:t>
            </a:r>
            <a:endParaRPr lang="ru-RU" sz="2400" dirty="0">
              <a:latin typeface="Five Minutes" panose="02000506000000020004" pitchFamily="50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158747" y="3162634"/>
            <a:ext cx="78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</a:rPr>
              <a:t>12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194084" y="5362686"/>
            <a:ext cx="27618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Five Minutes" panose="02000506000000020004" pitchFamily="50" charset="0"/>
              </a:rPr>
              <a:t>Если дерево пустое</a:t>
            </a:r>
            <a:endParaRPr lang="ru-RU" sz="2400" dirty="0">
              <a:latin typeface="Five Minutes" panose="02000506000000020004" pitchFamily="50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439173" y="3932001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47" name="TextBox 46"/>
          <p:cNvSpPr txBox="1"/>
          <p:nvPr/>
        </p:nvSpPr>
        <p:spPr>
          <a:xfrm>
            <a:off x="9581937" y="3932001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48" name="TextBox 47"/>
          <p:cNvSpPr txBox="1"/>
          <p:nvPr/>
        </p:nvSpPr>
        <p:spPr>
          <a:xfrm>
            <a:off x="8194084" y="5765820"/>
            <a:ext cx="3005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Five Minutes" panose="02000506000000020004" pitchFamily="50" charset="0"/>
              </a:rPr>
              <a:t>Первый элемент – корень дерева</a:t>
            </a:r>
            <a:endParaRPr lang="ru-RU" sz="2400" dirty="0">
              <a:latin typeface="Five Minutes" panose="02000506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35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0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0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0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 tmFilter="0, 0; .2, .5; .8, .5; 1, 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250" autoRev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 tmFilter="0, 0; .2, .5; .8, .5; 1, 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" dur="250" autoRev="1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 tmFilter="0, 0; .2, .5; .8, .5; 1, 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6" dur="250" autoRev="1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 tmFilter="0, 0; .2, .5; .8, .5; 1, 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" dur="250" autoRev="1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  <p:bldP spid="6" grpId="0"/>
      <p:bldP spid="8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257" y="102842"/>
            <a:ext cx="8276303" cy="699604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7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tree_top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7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endParaRPr lang="ru-RU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7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7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&gt;= m-&gt;data)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  <a:endParaRPr lang="ru-RU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7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(m-&gt;right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17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{</a:t>
            </a:r>
            <a:endParaRPr lang="en-US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m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= m-&gt;right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7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17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ru-RU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sz="1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p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700" dirty="0">
                <a:solidFill>
                  <a:srgbClr val="00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700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p-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&gt;data = </a:t>
            </a:r>
            <a:r>
              <a:rPr lang="en-US" sz="17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p-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&gt;left = </a:t>
            </a:r>
            <a:r>
              <a:rPr lang="en-US" sz="17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p-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&gt;right = </a:t>
            </a:r>
            <a:r>
              <a:rPr lang="en-US" sz="17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m-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&gt;right = p;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b 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7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ru-RU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7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}…</a:t>
            </a:r>
            <a:endParaRPr lang="ru-RU" sz="17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71500" y="408236"/>
            <a:ext cx="56939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Five Minutes" panose="02000506000000020004" pitchFamily="50" charset="0"/>
              </a:rPr>
              <a:t>Если же в дереве есть элемент(ы),</a:t>
            </a:r>
          </a:p>
          <a:p>
            <a:r>
              <a:rPr lang="ru-RU" sz="2800" dirty="0" smtClean="0">
                <a:latin typeface="Five Minutes" panose="02000506000000020004" pitchFamily="50" charset="0"/>
              </a:rPr>
              <a:t>то последующие добавляются таким образом</a:t>
            </a:r>
          </a:p>
        </p:txBody>
      </p:sp>
      <p:sp>
        <p:nvSpPr>
          <p:cNvPr id="12" name="TextBox 11">
            <a:hlinkClick r:id="" action="ppaction://hlinkshowjump?jump=firstslide"/>
          </p:cNvPr>
          <p:cNvSpPr txBox="1"/>
          <p:nvPr/>
        </p:nvSpPr>
        <p:spPr>
          <a:xfrm>
            <a:off x="10357977" y="10362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8372657" y="2245854"/>
            <a:ext cx="2196223" cy="627340"/>
            <a:chOff x="1" y="254355"/>
            <a:chExt cx="2303202" cy="657898"/>
          </a:xfrm>
        </p:grpSpPr>
        <p:sp>
          <p:nvSpPr>
            <p:cNvPr id="14" name="Прямоугольник 13"/>
            <p:cNvSpPr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15" name="TextBox 14"/>
            <p:cNvSpPr txBox="1"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16" name="Группа 15"/>
          <p:cNvGrpSpPr/>
          <p:nvPr/>
        </p:nvGrpSpPr>
        <p:grpSpPr>
          <a:xfrm>
            <a:off x="8372924" y="2977751"/>
            <a:ext cx="1045566" cy="627340"/>
            <a:chOff x="281" y="1021903"/>
            <a:chExt cx="1096496" cy="657898"/>
          </a:xfrm>
        </p:grpSpPr>
        <p:sp>
          <p:nvSpPr>
            <p:cNvPr id="20" name="Прямоугольник 19"/>
            <p:cNvSpPr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21" name="TextBox 20"/>
            <p:cNvSpPr txBox="1"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22" name="Группа 21"/>
          <p:cNvGrpSpPr/>
          <p:nvPr/>
        </p:nvGrpSpPr>
        <p:grpSpPr>
          <a:xfrm>
            <a:off x="9523314" y="2977751"/>
            <a:ext cx="1045566" cy="627340"/>
            <a:chOff x="1206427" y="1021903"/>
            <a:chExt cx="1096496" cy="657898"/>
          </a:xfrm>
        </p:grpSpPr>
        <p:sp>
          <p:nvSpPr>
            <p:cNvPr id="24" name="Прямоугольник 23"/>
            <p:cNvSpPr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28" name="TextBox 27"/>
            <p:cNvSpPr txBox="1"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8482918" y="3059143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31" name="TextBox 30"/>
          <p:cNvSpPr txBox="1"/>
          <p:nvPr/>
        </p:nvSpPr>
        <p:spPr>
          <a:xfrm>
            <a:off x="9625682" y="3059143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32" name="TextBox 31"/>
          <p:cNvSpPr txBox="1"/>
          <p:nvPr/>
        </p:nvSpPr>
        <p:spPr>
          <a:xfrm>
            <a:off x="9202492" y="2289776"/>
            <a:ext cx="78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</a:rPr>
              <a:t>12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978630" y="1898483"/>
            <a:ext cx="120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Five Minutes" panose="02000506000000020004" pitchFamily="50" charset="0"/>
              </a:rPr>
              <a:t>tree_top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07640" y="1670825"/>
            <a:ext cx="276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Five Minutes" panose="02000506000000020004" pitchFamily="50" charset="0"/>
              </a:rPr>
              <a:t>m </a:t>
            </a:r>
            <a:r>
              <a:rPr lang="ru-RU" dirty="0" smtClean="0">
                <a:latin typeface="Five Minutes" panose="02000506000000020004" pitchFamily="50" charset="0"/>
              </a:rPr>
              <a:t>указывает на корень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216876" y="4925956"/>
            <a:ext cx="428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Five Minutes" panose="02000506000000020004" pitchFamily="50" charset="0"/>
              </a:rPr>
              <a:t>Элемент не добавлен</a:t>
            </a:r>
            <a:endParaRPr lang="ru-RU" sz="2400" dirty="0">
              <a:latin typeface="Five Minutes" panose="02000506000000020004" pitchFamily="50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16777" y="5279527"/>
            <a:ext cx="4286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Five Minutes" panose="02000506000000020004" pitchFamily="50" charset="0"/>
              </a:rPr>
              <a:t>Пока элемент не добавлен, будем искать его место в дереве</a:t>
            </a:r>
            <a:endParaRPr lang="ru-RU" sz="2400" dirty="0">
              <a:latin typeface="Five Minutes" panose="02000506000000020004" pitchFamily="50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616393" y="1313182"/>
            <a:ext cx="21643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latin typeface="Five Minutes" panose="02000506000000020004" pitchFamily="50" charset="0"/>
              </a:rPr>
              <a:t>X = 1</a:t>
            </a:r>
            <a:r>
              <a:rPr lang="ru-RU" sz="2000" dirty="0" smtClean="0">
                <a:latin typeface="Five Minutes" panose="02000506000000020004" pitchFamily="50" charset="0"/>
              </a:rPr>
              <a:t>5</a:t>
            </a:r>
            <a:r>
              <a:rPr lang="en-US" sz="2000" dirty="0" smtClean="0">
                <a:latin typeface="Five Minutes" panose="02000506000000020004" pitchFamily="50" charset="0"/>
              </a:rPr>
              <a:t> – </a:t>
            </a:r>
            <a:r>
              <a:rPr lang="ru-RU" sz="2000" dirty="0" smtClean="0">
                <a:latin typeface="Five Minutes" panose="02000506000000020004" pitchFamily="50" charset="0"/>
              </a:rPr>
              <a:t>второй элемент</a:t>
            </a:r>
            <a:endParaRPr lang="ru-RU" sz="2000" dirty="0">
              <a:latin typeface="Five Minutes" panose="02000506000000020004" pitchFamily="50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14295" y="6002423"/>
            <a:ext cx="22557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>
                <a:latin typeface="Five Minutes" panose="02000506000000020004" pitchFamily="50" charset="0"/>
              </a:rPr>
              <a:t>Правых элементов нет</a:t>
            </a:r>
            <a:endParaRPr lang="ru-RU" sz="2400" dirty="0">
              <a:latin typeface="Five Minutes" panose="02000506000000020004" pitchFamily="50" charset="0"/>
            </a:endParaRPr>
          </a:p>
        </p:txBody>
      </p:sp>
      <p:grpSp>
        <p:nvGrpSpPr>
          <p:cNvPr id="34" name="Группа 33"/>
          <p:cNvGrpSpPr/>
          <p:nvPr/>
        </p:nvGrpSpPr>
        <p:grpSpPr>
          <a:xfrm>
            <a:off x="9503367" y="3690616"/>
            <a:ext cx="2196223" cy="627340"/>
            <a:chOff x="1" y="254355"/>
            <a:chExt cx="2303202" cy="657898"/>
          </a:xfrm>
        </p:grpSpPr>
        <p:sp>
          <p:nvSpPr>
            <p:cNvPr id="35" name="Прямоугольник 34"/>
            <p:cNvSpPr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36" name="TextBox 35"/>
            <p:cNvSpPr txBox="1"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37" name="Группа 36"/>
          <p:cNvGrpSpPr/>
          <p:nvPr/>
        </p:nvGrpSpPr>
        <p:grpSpPr>
          <a:xfrm>
            <a:off x="9503634" y="4422513"/>
            <a:ext cx="1045566" cy="627340"/>
            <a:chOff x="281" y="1021903"/>
            <a:chExt cx="1096496" cy="657898"/>
          </a:xfrm>
        </p:grpSpPr>
        <p:sp>
          <p:nvSpPr>
            <p:cNvPr id="38" name="Прямоугольник 37"/>
            <p:cNvSpPr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39" name="TextBox 38"/>
            <p:cNvSpPr txBox="1"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40" name="Группа 39"/>
          <p:cNvGrpSpPr/>
          <p:nvPr/>
        </p:nvGrpSpPr>
        <p:grpSpPr>
          <a:xfrm>
            <a:off x="10654024" y="4422513"/>
            <a:ext cx="1045566" cy="627340"/>
            <a:chOff x="1206427" y="1021903"/>
            <a:chExt cx="1096496" cy="657898"/>
          </a:xfrm>
        </p:grpSpPr>
        <p:sp>
          <p:nvSpPr>
            <p:cNvPr id="41" name="Прямоугольник 40"/>
            <p:cNvSpPr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42" name="TextBox 41"/>
            <p:cNvSpPr txBox="1"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0756392" y="4503905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44" name="TextBox 43"/>
          <p:cNvSpPr txBox="1"/>
          <p:nvPr/>
        </p:nvSpPr>
        <p:spPr>
          <a:xfrm>
            <a:off x="9606269" y="4510853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0366661" y="3761314"/>
            <a:ext cx="574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</a:rPr>
              <a:t>15</a:t>
            </a:r>
            <a:endParaRPr lang="ru-RU" sz="2800" dirty="0">
              <a:solidFill>
                <a:schemeClr val="bg1"/>
              </a:solidFill>
            </a:endParaRPr>
          </a:p>
        </p:txBody>
      </p:sp>
      <p:cxnSp>
        <p:nvCxnSpPr>
          <p:cNvPr id="45" name="Прямая со стрелкой 44"/>
          <p:cNvCxnSpPr/>
          <p:nvPr/>
        </p:nvCxnSpPr>
        <p:spPr>
          <a:xfrm>
            <a:off x="10402061" y="3454231"/>
            <a:ext cx="503926" cy="490758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211808" y="6356090"/>
            <a:ext cx="42868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Five Minutes" panose="02000506000000020004" pitchFamily="50" charset="0"/>
              </a:rPr>
              <a:t>Элемент добавлен</a:t>
            </a:r>
            <a:endParaRPr lang="ru-RU" sz="2400" dirty="0">
              <a:latin typeface="Five Minutes" panose="02000506000000020004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78630" y="4187086"/>
            <a:ext cx="301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ve Minutes" panose="02000506000000020004" pitchFamily="50" charset="0"/>
              </a:rPr>
              <a:t>p</a:t>
            </a:r>
            <a:endParaRPr lang="ru-RU" sz="2400" dirty="0">
              <a:latin typeface="Five Minutes" panose="02000506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6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1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1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 tmFilter="0, 0; .2, .5; .8, .5; 1, 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1" dur="250" autoRev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6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9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 tmFilter="0, 0; .2, .5; .8, .5; 1, 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4" dur="250" autoRev="1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9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 tmFilter="0, 0; .2, .5; .8, .5; 1, 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9" dur="250" autoRev="1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 tmFilter="0, 0; .2, .5; .8, .5; 1, 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4" dur="250" autoRev="1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 tmFilter="0, 0; .2, .5; .8, .5; 1, 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3" dur="250" autoRev="1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2" dur="500" tmFilter="0, 0; .2, .5; .8, .5; 1, 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3" dur="250" autoRev="1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 tmFilter="0, 0; .2, .5; .8, .5; 1, 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3" dur="250" autoRev="1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2" dur="500" tmFilter="0, 0; .2, .5; .8, .5; 1, 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3" dur="250" autoRev="1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>
                      <p:stCondLst>
                        <p:cond delay="indefinite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 tmFilter="0, 0; .2, .5; .8, .5; 1, 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5" dur="250" autoRev="1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30" grpId="0"/>
      <p:bldP spid="31" grpId="0"/>
      <p:bldP spid="31" grpId="1"/>
      <p:bldP spid="31" grpId="2"/>
      <p:bldP spid="32" grpId="0"/>
      <p:bldP spid="32" grpId="1"/>
      <p:bldP spid="2" grpId="0"/>
      <p:bldP spid="4" grpId="0"/>
      <p:bldP spid="5" grpId="0"/>
      <p:bldP spid="33" grpId="0"/>
      <p:bldP spid="7" grpId="0"/>
      <p:bldP spid="7" grpId="1"/>
      <p:bldP spid="8" grpId="0"/>
      <p:bldP spid="43" grpId="0"/>
      <p:bldP spid="44" grpId="0"/>
      <p:bldP spid="10" grpId="0"/>
      <p:bldP spid="46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257" y="161836"/>
            <a:ext cx="8276303" cy="6996048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(m-&gt;left) </a:t>
            </a:r>
            <a:endParaRPr lang="ru-RU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m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m-&gt;left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US" sz="24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p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>
                <a:solidFill>
                  <a:srgbClr val="00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p-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&gt;data =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p-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&gt;left = </a:t>
            </a:r>
            <a:r>
              <a:rPr lang="en-US" sz="2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p-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&gt;right = </a:t>
            </a:r>
            <a:r>
              <a:rPr lang="en-US" sz="2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m-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&gt;left = p;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b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24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597446" y="410639"/>
            <a:ext cx="48079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latin typeface="Five Minutes" panose="02000506000000020004" pitchFamily="50" charset="0"/>
              </a:rPr>
              <a:t>Если же элемент меньше, то добавим его в левое поддерево</a:t>
            </a:r>
          </a:p>
          <a:p>
            <a:r>
              <a:rPr lang="ru-RU" sz="2800" dirty="0" smtClean="0">
                <a:latin typeface="Five Minutes" panose="02000506000000020004" pitchFamily="50" charset="0"/>
              </a:rPr>
              <a:t>Х = 10 – третий элемент</a:t>
            </a:r>
            <a:endParaRPr lang="ru-RU" sz="2800" dirty="0">
              <a:latin typeface="Five Minutes" panose="02000506000000020004" pitchFamily="50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97446" y="5670486"/>
            <a:ext cx="4807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Five Minutes" panose="02000506000000020004" pitchFamily="50" charset="0"/>
              </a:rPr>
              <a:t>Признак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lang="en-US" sz="2400" dirty="0">
                <a:latin typeface="Five Minutes" panose="02000506000000020004" pitchFamily="50" charset="0"/>
              </a:rPr>
              <a:t> </a:t>
            </a:r>
            <a:r>
              <a:rPr lang="ru-RU" sz="2400" dirty="0">
                <a:latin typeface="Five Minutes" panose="02000506000000020004" pitchFamily="50" charset="0"/>
              </a:rPr>
              <a:t>– элемент добавлен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7446" y="6085551"/>
            <a:ext cx="4807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Five Minutes" panose="02000506000000020004" pitchFamily="50" charset="0"/>
              </a:rPr>
              <a:t>Цикл будет повторяться до тех пор, пока элемент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ru-RU" sz="2400" dirty="0" smtClean="0">
                <a:latin typeface="Five Minutes" panose="02000506000000020004" pitchFamily="50" charset="0"/>
              </a:rPr>
              <a:t> не будет добавлен в дерево</a:t>
            </a:r>
            <a:endParaRPr lang="ru-RU" sz="2400" dirty="0">
              <a:latin typeface="Five Minutes" panose="02000506000000020004" pitchFamily="50" charset="0"/>
            </a:endParaRPr>
          </a:p>
        </p:txBody>
      </p:sp>
      <p:sp>
        <p:nvSpPr>
          <p:cNvPr id="8" name="TextBox 7">
            <a:hlinkClick r:id="" action="ppaction://hlinkshowjump?jump=firstslide"/>
          </p:cNvPr>
          <p:cNvSpPr txBox="1"/>
          <p:nvPr/>
        </p:nvSpPr>
        <p:spPr>
          <a:xfrm>
            <a:off x="10357977" y="10362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8372657" y="2245854"/>
            <a:ext cx="2196223" cy="627340"/>
            <a:chOff x="1" y="254355"/>
            <a:chExt cx="2303202" cy="657898"/>
          </a:xfrm>
        </p:grpSpPr>
        <p:sp>
          <p:nvSpPr>
            <p:cNvPr id="10" name="Прямоугольник 9"/>
            <p:cNvSpPr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11" name="TextBox 10"/>
            <p:cNvSpPr txBox="1"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12" name="Группа 11"/>
          <p:cNvGrpSpPr/>
          <p:nvPr/>
        </p:nvGrpSpPr>
        <p:grpSpPr>
          <a:xfrm>
            <a:off x="8372924" y="2977751"/>
            <a:ext cx="1045566" cy="627340"/>
            <a:chOff x="281" y="1021903"/>
            <a:chExt cx="1096496" cy="657898"/>
          </a:xfrm>
        </p:grpSpPr>
        <p:sp>
          <p:nvSpPr>
            <p:cNvPr id="17" name="Прямоугольник 16"/>
            <p:cNvSpPr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18" name="TextBox 17"/>
            <p:cNvSpPr txBox="1"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19" name="Группа 18"/>
          <p:cNvGrpSpPr/>
          <p:nvPr/>
        </p:nvGrpSpPr>
        <p:grpSpPr>
          <a:xfrm>
            <a:off x="9523314" y="2977751"/>
            <a:ext cx="1045566" cy="627340"/>
            <a:chOff x="1206427" y="1021903"/>
            <a:chExt cx="1096496" cy="657898"/>
          </a:xfrm>
        </p:grpSpPr>
        <p:sp>
          <p:nvSpPr>
            <p:cNvPr id="20" name="Прямоугольник 19"/>
            <p:cNvSpPr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21" name="TextBox 20"/>
            <p:cNvSpPr txBox="1"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8482918" y="3059143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24" name="TextBox 23"/>
          <p:cNvSpPr txBox="1"/>
          <p:nvPr/>
        </p:nvSpPr>
        <p:spPr>
          <a:xfrm>
            <a:off x="9202492" y="2289776"/>
            <a:ext cx="78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</a:rPr>
              <a:t>12</a:t>
            </a:r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978630" y="1898483"/>
            <a:ext cx="120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Five Minutes" panose="02000506000000020004" pitchFamily="50" charset="0"/>
              </a:rPr>
              <a:t>tree_top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607640" y="1670825"/>
            <a:ext cx="2762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Five Minutes" panose="02000506000000020004" pitchFamily="50" charset="0"/>
              </a:rPr>
              <a:t>m </a:t>
            </a:r>
            <a:r>
              <a:rPr lang="ru-RU" dirty="0" smtClean="0">
                <a:latin typeface="Five Minutes" panose="02000506000000020004" pitchFamily="50" charset="0"/>
              </a:rPr>
              <a:t>указывает на корень</a:t>
            </a:r>
            <a:endParaRPr lang="ru-RU" dirty="0">
              <a:latin typeface="Five Minutes" panose="02000506000000020004" pitchFamily="50" charset="0"/>
            </a:endParaRPr>
          </a:p>
        </p:txBody>
      </p:sp>
      <p:grpSp>
        <p:nvGrpSpPr>
          <p:cNvPr id="27" name="Группа 26"/>
          <p:cNvGrpSpPr/>
          <p:nvPr/>
        </p:nvGrpSpPr>
        <p:grpSpPr>
          <a:xfrm>
            <a:off x="9503367" y="3690616"/>
            <a:ext cx="2196223" cy="627340"/>
            <a:chOff x="1" y="254355"/>
            <a:chExt cx="2303202" cy="657898"/>
          </a:xfrm>
        </p:grpSpPr>
        <p:sp>
          <p:nvSpPr>
            <p:cNvPr id="28" name="Прямоугольник 27"/>
            <p:cNvSpPr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29" name="TextBox 28"/>
            <p:cNvSpPr txBox="1"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30" name="Группа 29"/>
          <p:cNvGrpSpPr/>
          <p:nvPr/>
        </p:nvGrpSpPr>
        <p:grpSpPr>
          <a:xfrm>
            <a:off x="9503634" y="4422513"/>
            <a:ext cx="1045566" cy="627340"/>
            <a:chOff x="281" y="1021903"/>
            <a:chExt cx="1096496" cy="657898"/>
          </a:xfrm>
        </p:grpSpPr>
        <p:sp>
          <p:nvSpPr>
            <p:cNvPr id="31" name="Прямоугольник 30"/>
            <p:cNvSpPr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32" name="TextBox 31"/>
            <p:cNvSpPr txBox="1"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33" name="Группа 32"/>
          <p:cNvGrpSpPr/>
          <p:nvPr/>
        </p:nvGrpSpPr>
        <p:grpSpPr>
          <a:xfrm>
            <a:off x="10654024" y="4422513"/>
            <a:ext cx="1045566" cy="627340"/>
            <a:chOff x="1206427" y="1021903"/>
            <a:chExt cx="1096496" cy="657898"/>
          </a:xfrm>
        </p:grpSpPr>
        <p:sp>
          <p:nvSpPr>
            <p:cNvPr id="34" name="Прямоугольник 33"/>
            <p:cNvSpPr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35" name="TextBox 34"/>
            <p:cNvSpPr txBox="1"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sp>
        <p:nvSpPr>
          <p:cNvPr id="36" name="TextBox 35"/>
          <p:cNvSpPr txBox="1"/>
          <p:nvPr/>
        </p:nvSpPr>
        <p:spPr>
          <a:xfrm>
            <a:off x="10756392" y="4503905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9606269" y="4510853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10366661" y="3761314"/>
            <a:ext cx="574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</a:rPr>
              <a:t>15</a:t>
            </a:r>
            <a:endParaRPr lang="ru-RU" sz="2800" dirty="0">
              <a:solidFill>
                <a:schemeClr val="bg1"/>
              </a:solidFill>
            </a:endParaRPr>
          </a:p>
        </p:txBody>
      </p:sp>
      <p:cxnSp>
        <p:nvCxnSpPr>
          <p:cNvPr id="39" name="Прямая со стрелкой 38"/>
          <p:cNvCxnSpPr/>
          <p:nvPr/>
        </p:nvCxnSpPr>
        <p:spPr>
          <a:xfrm>
            <a:off x="10402061" y="3454231"/>
            <a:ext cx="503926" cy="490758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97446" y="4191680"/>
            <a:ext cx="301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Five Minutes" panose="02000506000000020004" pitchFamily="50" charset="0"/>
              </a:rPr>
              <a:t>p</a:t>
            </a:r>
            <a:endParaRPr lang="ru-RU" sz="2400" dirty="0">
              <a:latin typeface="Five Minutes" panose="02000506000000020004" pitchFamily="50" charset="0"/>
            </a:endParaRPr>
          </a:p>
        </p:txBody>
      </p:sp>
      <p:grpSp>
        <p:nvGrpSpPr>
          <p:cNvPr id="41" name="Группа 40"/>
          <p:cNvGrpSpPr/>
          <p:nvPr/>
        </p:nvGrpSpPr>
        <p:grpSpPr>
          <a:xfrm>
            <a:off x="7208960" y="3698707"/>
            <a:ext cx="2196223" cy="627340"/>
            <a:chOff x="1" y="254355"/>
            <a:chExt cx="2303202" cy="657898"/>
          </a:xfrm>
        </p:grpSpPr>
        <p:sp>
          <p:nvSpPr>
            <p:cNvPr id="42" name="Прямоугольник 41"/>
            <p:cNvSpPr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43" name="TextBox 42"/>
            <p:cNvSpPr txBox="1"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44" name="Группа 43"/>
          <p:cNvGrpSpPr/>
          <p:nvPr/>
        </p:nvGrpSpPr>
        <p:grpSpPr>
          <a:xfrm>
            <a:off x="7209227" y="4430604"/>
            <a:ext cx="1045566" cy="627340"/>
            <a:chOff x="281" y="1021903"/>
            <a:chExt cx="1096496" cy="657898"/>
          </a:xfrm>
        </p:grpSpPr>
        <p:sp>
          <p:nvSpPr>
            <p:cNvPr id="45" name="Прямоугольник 44"/>
            <p:cNvSpPr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46" name="TextBox 45"/>
            <p:cNvSpPr txBox="1"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47" name="Группа 46"/>
          <p:cNvGrpSpPr/>
          <p:nvPr/>
        </p:nvGrpSpPr>
        <p:grpSpPr>
          <a:xfrm>
            <a:off x="8359617" y="4430604"/>
            <a:ext cx="1045566" cy="627340"/>
            <a:chOff x="1206427" y="1021903"/>
            <a:chExt cx="1096496" cy="657898"/>
          </a:xfrm>
        </p:grpSpPr>
        <p:sp>
          <p:nvSpPr>
            <p:cNvPr id="48" name="Прямоугольник 47"/>
            <p:cNvSpPr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49" name="TextBox 48"/>
            <p:cNvSpPr txBox="1"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8461985" y="4511996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51" name="TextBox 50"/>
          <p:cNvSpPr txBox="1"/>
          <p:nvPr/>
        </p:nvSpPr>
        <p:spPr>
          <a:xfrm>
            <a:off x="7311862" y="4518944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52" name="TextBox 51"/>
          <p:cNvSpPr txBox="1"/>
          <p:nvPr/>
        </p:nvSpPr>
        <p:spPr>
          <a:xfrm>
            <a:off x="8072254" y="3769405"/>
            <a:ext cx="574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</a:rPr>
              <a:t>10</a:t>
            </a:r>
            <a:endParaRPr lang="ru-RU" sz="2800" dirty="0">
              <a:solidFill>
                <a:schemeClr val="bg1"/>
              </a:solidFill>
            </a:endParaRPr>
          </a:p>
        </p:txBody>
      </p:sp>
      <p:cxnSp>
        <p:nvCxnSpPr>
          <p:cNvPr id="53" name="Прямая со стрелкой 52"/>
          <p:cNvCxnSpPr/>
          <p:nvPr/>
        </p:nvCxnSpPr>
        <p:spPr>
          <a:xfrm flipH="1">
            <a:off x="8157833" y="3464070"/>
            <a:ext cx="482989" cy="436712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597446" y="5242176"/>
            <a:ext cx="4807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>
                <a:latin typeface="Five Minutes" panose="02000506000000020004" pitchFamily="50" charset="0"/>
              </a:rPr>
              <a:t>Слева элементов нет</a:t>
            </a:r>
            <a:endParaRPr lang="ru-RU" sz="2400" dirty="0">
              <a:latin typeface="Five Minutes" panose="02000506000000020004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797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1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 tmFilter="0, 0; .2, .5; .8, .5; 1, 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6" dur="250" autoRev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 tmFilter="0, 0; .2, .5; .8, .5; 1, 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1" dur="250" autoRev="1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 tmFilter="0, 0; .2, .5; .8, .5; 1, 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0" dur="250" autoRev="1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 tmFilter="0, 0; .2, .5; .8, .5; 1, 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0" dur="250" autoRev="1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 tmFilter="0, 0; .2, .5; .8, .5; 1, 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0" dur="250" autoRev="1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 tmFilter="0, 0; .2, .5; .8, .5; 1, 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0" dur="250" autoRev="1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 tmFilter="0, 0; .2, .5; .8, .5; 1, 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2" dur="250" autoRev="1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  <p:bldP spid="15" grpId="0"/>
      <p:bldP spid="16" grpId="0"/>
      <p:bldP spid="22" grpId="0"/>
      <p:bldP spid="22" grpId="1"/>
      <p:bldP spid="22" grpId="2"/>
      <p:bldP spid="25" grpId="0"/>
      <p:bldP spid="26" grpId="0"/>
      <p:bldP spid="36" grpId="0"/>
      <p:bldP spid="37" grpId="0"/>
      <p:bldP spid="38" grpId="0"/>
      <p:bldP spid="40" grpId="0"/>
      <p:bldP spid="50" grpId="0"/>
      <p:bldP spid="51" grpId="0"/>
      <p:bldP spid="52" grpId="0"/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590" y="395488"/>
            <a:ext cx="2036117" cy="1325563"/>
          </a:xfrm>
        </p:spPr>
        <p:txBody>
          <a:bodyPr>
            <a:normAutofit/>
          </a:bodyPr>
          <a:lstStyle/>
          <a:p>
            <a:r>
              <a:rPr lang="ru-RU" sz="6600" dirty="0" smtClean="0">
                <a:latin typeface="Five Minutes" panose="02000506000000020004" pitchFamily="50" charset="0"/>
              </a:rPr>
              <a:t>Пример</a:t>
            </a:r>
            <a:endParaRPr lang="ru-RU" sz="6600" dirty="0">
              <a:latin typeface="Five Minutes" panose="02000506000000020004" pitchFamily="50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11775" y="1304163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>
                <a:latin typeface="Five Minutes" panose="02000506000000020004" pitchFamily="50" charset="0"/>
              </a:rPr>
              <a:t>Текстовый файл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2924880" y="604401"/>
            <a:ext cx="861697" cy="50209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10</a:t>
            </a:r>
            <a:endParaRPr lang="ru-RU" sz="4800" dirty="0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3862772" y="598402"/>
            <a:ext cx="861697" cy="50209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8</a:t>
            </a:r>
            <a:endParaRPr lang="ru-RU" sz="4800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799693" y="598401"/>
            <a:ext cx="861697" cy="50209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20</a:t>
            </a:r>
            <a:endParaRPr lang="ru-RU" sz="4800" dirty="0"/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736614" y="593161"/>
            <a:ext cx="861697" cy="50209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11</a:t>
            </a:r>
            <a:endParaRPr lang="ru-RU" sz="4800" dirty="0"/>
          </a:p>
        </p:txBody>
      </p:sp>
      <p:sp>
        <p:nvSpPr>
          <p:cNvPr id="9" name="Стрелка вниз 8"/>
          <p:cNvSpPr/>
          <p:nvPr/>
        </p:nvSpPr>
        <p:spPr>
          <a:xfrm>
            <a:off x="3050262" y="160184"/>
            <a:ext cx="668593" cy="442807"/>
          </a:xfrm>
          <a:prstGeom prst="downArrow">
            <a:avLst/>
          </a:prstGeom>
          <a:solidFill>
            <a:srgbClr val="008000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Скругленный прямоугольник 34"/>
          <p:cNvSpPr/>
          <p:nvPr/>
        </p:nvSpPr>
        <p:spPr>
          <a:xfrm>
            <a:off x="6673535" y="604401"/>
            <a:ext cx="861697" cy="50209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4</a:t>
            </a:r>
            <a:endParaRPr lang="ru-RU" sz="4800" dirty="0"/>
          </a:p>
        </p:txBody>
      </p:sp>
      <p:sp>
        <p:nvSpPr>
          <p:cNvPr id="36" name="Скругленный прямоугольник 35"/>
          <p:cNvSpPr/>
          <p:nvPr/>
        </p:nvSpPr>
        <p:spPr>
          <a:xfrm>
            <a:off x="7610456" y="593161"/>
            <a:ext cx="861697" cy="50209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25</a:t>
            </a:r>
            <a:endParaRPr lang="ru-RU" sz="4800" dirty="0"/>
          </a:p>
        </p:txBody>
      </p:sp>
      <p:sp>
        <p:nvSpPr>
          <p:cNvPr id="38" name="TextBox 37"/>
          <p:cNvSpPr txBox="1"/>
          <p:nvPr/>
        </p:nvSpPr>
        <p:spPr>
          <a:xfrm>
            <a:off x="9107659" y="1962542"/>
            <a:ext cx="4134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Five Minutes" panose="02000506000000020004" pitchFamily="50" charset="0"/>
              </a:rPr>
              <a:t>Первый элемент – корень дерева</a:t>
            </a:r>
            <a:endParaRPr lang="ru-RU" sz="2000" dirty="0">
              <a:latin typeface="Five Minutes" panose="02000506000000020004" pitchFamily="50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963744" y="2275372"/>
            <a:ext cx="5693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 smtClean="0">
                <a:latin typeface="Five Minutes" panose="02000506000000020004" pitchFamily="50" charset="0"/>
              </a:rPr>
              <a:t>8 </a:t>
            </a:r>
            <a:r>
              <a:rPr lang="en-US" sz="2000" dirty="0" smtClean="0">
                <a:latin typeface="Five Minutes" panose="02000506000000020004" pitchFamily="50" charset="0"/>
              </a:rPr>
              <a:t>&lt; 10</a:t>
            </a:r>
            <a:r>
              <a:rPr lang="ru-RU" sz="2000" dirty="0" smtClean="0">
                <a:latin typeface="Five Minutes" panose="02000506000000020004" pitchFamily="50" charset="0"/>
              </a:rPr>
              <a:t>,</a:t>
            </a:r>
            <a:r>
              <a:rPr lang="en-US" sz="2000" dirty="0" smtClean="0">
                <a:latin typeface="Five Minutes" panose="02000506000000020004" pitchFamily="50" charset="0"/>
              </a:rPr>
              <a:t> </a:t>
            </a:r>
            <a:r>
              <a:rPr lang="ru-RU" sz="2000" dirty="0" smtClean="0">
                <a:latin typeface="Five Minutes" panose="02000506000000020004" pitchFamily="50" charset="0"/>
              </a:rPr>
              <a:t>левый потомок отсутствует, добавляем</a:t>
            </a:r>
          </a:p>
        </p:txBody>
      </p:sp>
      <p:sp>
        <p:nvSpPr>
          <p:cNvPr id="41" name="Скругленный прямоугольник 40"/>
          <p:cNvSpPr/>
          <p:nvPr/>
        </p:nvSpPr>
        <p:spPr>
          <a:xfrm>
            <a:off x="8548348" y="593160"/>
            <a:ext cx="861697" cy="50209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23</a:t>
            </a:r>
            <a:endParaRPr lang="ru-RU" sz="4800" dirty="0"/>
          </a:p>
        </p:txBody>
      </p:sp>
      <p:sp>
        <p:nvSpPr>
          <p:cNvPr id="42" name="Скругленный прямоугольник 41"/>
          <p:cNvSpPr/>
          <p:nvPr/>
        </p:nvSpPr>
        <p:spPr>
          <a:xfrm>
            <a:off x="9466804" y="593160"/>
            <a:ext cx="861697" cy="50209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5</a:t>
            </a:r>
            <a:endParaRPr lang="ru-RU" sz="4800" dirty="0"/>
          </a:p>
        </p:txBody>
      </p:sp>
      <p:sp>
        <p:nvSpPr>
          <p:cNvPr id="43" name="Скругленный прямоугольник 42"/>
          <p:cNvSpPr/>
          <p:nvPr/>
        </p:nvSpPr>
        <p:spPr>
          <a:xfrm>
            <a:off x="10379832" y="604400"/>
            <a:ext cx="861697" cy="50209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30</a:t>
            </a:r>
            <a:endParaRPr lang="ru-RU" sz="4800" dirty="0"/>
          </a:p>
        </p:txBody>
      </p:sp>
      <p:grpSp>
        <p:nvGrpSpPr>
          <p:cNvPr id="73" name="Группа 72"/>
          <p:cNvGrpSpPr/>
          <p:nvPr/>
        </p:nvGrpSpPr>
        <p:grpSpPr>
          <a:xfrm>
            <a:off x="2803009" y="1799046"/>
            <a:ext cx="1722936" cy="1053343"/>
            <a:chOff x="2899289" y="1759735"/>
            <a:chExt cx="1722936" cy="1053343"/>
          </a:xfrm>
        </p:grpSpPr>
        <p:grpSp>
          <p:nvGrpSpPr>
            <p:cNvPr id="64" name="Группа 63"/>
            <p:cNvGrpSpPr/>
            <p:nvPr/>
          </p:nvGrpSpPr>
          <p:grpSpPr>
            <a:xfrm>
              <a:off x="2899289" y="1759735"/>
              <a:ext cx="1722936" cy="492148"/>
              <a:chOff x="1" y="254355"/>
              <a:chExt cx="2303202" cy="657898"/>
            </a:xfrm>
          </p:grpSpPr>
          <p:sp>
            <p:nvSpPr>
              <p:cNvPr id="71" name="Прямоугольник 70"/>
              <p:cNvSpPr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sp>
          <p:sp>
            <p:nvSpPr>
              <p:cNvPr id="72" name="TextBox 71"/>
              <p:cNvSpPr txBox="1"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3000" kern="1200" dirty="0" smtClean="0"/>
                  <a:t>10</a:t>
                </a:r>
                <a:endParaRPr lang="ru-RU" sz="3000" kern="1200" dirty="0"/>
              </a:p>
            </p:txBody>
          </p:sp>
        </p:grpSp>
        <p:grpSp>
          <p:nvGrpSpPr>
            <p:cNvPr id="65" name="Группа 64"/>
            <p:cNvGrpSpPr/>
            <p:nvPr/>
          </p:nvGrpSpPr>
          <p:grpSpPr>
            <a:xfrm>
              <a:off x="2905877" y="2320930"/>
              <a:ext cx="820246" cy="492148"/>
              <a:chOff x="281" y="1021903"/>
              <a:chExt cx="1096496" cy="657898"/>
            </a:xfrm>
          </p:grpSpPr>
          <p:sp>
            <p:nvSpPr>
              <p:cNvPr id="69" name="Прямоугольник 68"/>
              <p:cNvSpPr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70" name="TextBox 69"/>
              <p:cNvSpPr txBox="1"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  <p:grpSp>
          <p:nvGrpSpPr>
            <p:cNvPr id="66" name="Группа 65"/>
            <p:cNvGrpSpPr/>
            <p:nvPr/>
          </p:nvGrpSpPr>
          <p:grpSpPr>
            <a:xfrm>
              <a:off x="3801979" y="2320930"/>
              <a:ext cx="820246" cy="492148"/>
              <a:chOff x="1206427" y="1021903"/>
              <a:chExt cx="1096496" cy="657898"/>
            </a:xfrm>
          </p:grpSpPr>
          <p:sp>
            <p:nvSpPr>
              <p:cNvPr id="67" name="Прямоугольник 66"/>
              <p:cNvSpPr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68" name="TextBox 67"/>
              <p:cNvSpPr txBox="1"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</p:grpSp>
      <p:grpSp>
        <p:nvGrpSpPr>
          <p:cNvPr id="74" name="Группа 73"/>
          <p:cNvGrpSpPr/>
          <p:nvPr/>
        </p:nvGrpSpPr>
        <p:grpSpPr>
          <a:xfrm>
            <a:off x="1897347" y="2882125"/>
            <a:ext cx="1722936" cy="1053343"/>
            <a:chOff x="2899289" y="1759735"/>
            <a:chExt cx="1722936" cy="1053343"/>
          </a:xfrm>
        </p:grpSpPr>
        <p:grpSp>
          <p:nvGrpSpPr>
            <p:cNvPr id="75" name="Группа 74"/>
            <p:cNvGrpSpPr/>
            <p:nvPr/>
          </p:nvGrpSpPr>
          <p:grpSpPr>
            <a:xfrm>
              <a:off x="2899289" y="1759735"/>
              <a:ext cx="1722936" cy="492148"/>
              <a:chOff x="1" y="254355"/>
              <a:chExt cx="2303202" cy="657898"/>
            </a:xfrm>
          </p:grpSpPr>
          <p:sp>
            <p:nvSpPr>
              <p:cNvPr id="82" name="Прямоугольник 81"/>
              <p:cNvSpPr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sp>
          <p:sp>
            <p:nvSpPr>
              <p:cNvPr id="83" name="TextBox 82"/>
              <p:cNvSpPr txBox="1"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3000" kern="1200" dirty="0" smtClean="0"/>
                  <a:t>8</a:t>
                </a:r>
                <a:endParaRPr lang="ru-RU" sz="3000" kern="1200" dirty="0"/>
              </a:p>
            </p:txBody>
          </p:sp>
        </p:grpSp>
        <p:grpSp>
          <p:nvGrpSpPr>
            <p:cNvPr id="76" name="Группа 75"/>
            <p:cNvGrpSpPr/>
            <p:nvPr/>
          </p:nvGrpSpPr>
          <p:grpSpPr>
            <a:xfrm>
              <a:off x="2905877" y="2320930"/>
              <a:ext cx="820246" cy="492148"/>
              <a:chOff x="281" y="1021903"/>
              <a:chExt cx="1096496" cy="657898"/>
            </a:xfrm>
          </p:grpSpPr>
          <p:sp>
            <p:nvSpPr>
              <p:cNvPr id="80" name="Прямоугольник 79"/>
              <p:cNvSpPr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81" name="TextBox 80"/>
              <p:cNvSpPr txBox="1"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  <p:grpSp>
          <p:nvGrpSpPr>
            <p:cNvPr id="77" name="Группа 76"/>
            <p:cNvGrpSpPr/>
            <p:nvPr/>
          </p:nvGrpSpPr>
          <p:grpSpPr>
            <a:xfrm>
              <a:off x="3801979" y="2320930"/>
              <a:ext cx="820246" cy="492148"/>
              <a:chOff x="1206427" y="1021903"/>
              <a:chExt cx="1096496" cy="657898"/>
            </a:xfrm>
          </p:grpSpPr>
          <p:sp>
            <p:nvSpPr>
              <p:cNvPr id="78" name="Прямоугольник 77"/>
              <p:cNvSpPr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79" name="TextBox 78"/>
              <p:cNvSpPr txBox="1"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</p:grpSp>
      <p:grpSp>
        <p:nvGrpSpPr>
          <p:cNvPr id="94" name="Группа 93"/>
          <p:cNvGrpSpPr/>
          <p:nvPr/>
        </p:nvGrpSpPr>
        <p:grpSpPr>
          <a:xfrm>
            <a:off x="3696139" y="2882125"/>
            <a:ext cx="1722936" cy="1053343"/>
            <a:chOff x="2899289" y="1759735"/>
            <a:chExt cx="1722936" cy="1053343"/>
          </a:xfrm>
        </p:grpSpPr>
        <p:grpSp>
          <p:nvGrpSpPr>
            <p:cNvPr id="95" name="Группа 94"/>
            <p:cNvGrpSpPr/>
            <p:nvPr/>
          </p:nvGrpSpPr>
          <p:grpSpPr>
            <a:xfrm>
              <a:off x="2899289" y="1759735"/>
              <a:ext cx="1722936" cy="492148"/>
              <a:chOff x="1" y="254355"/>
              <a:chExt cx="2303202" cy="657898"/>
            </a:xfrm>
          </p:grpSpPr>
          <p:sp>
            <p:nvSpPr>
              <p:cNvPr id="102" name="Прямоугольник 101"/>
              <p:cNvSpPr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sp>
          <p:sp>
            <p:nvSpPr>
              <p:cNvPr id="103" name="TextBox 102"/>
              <p:cNvSpPr txBox="1"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3000" kern="1200" dirty="0" smtClean="0"/>
                  <a:t>20</a:t>
                </a:r>
                <a:endParaRPr lang="ru-RU" sz="3000" kern="1200" dirty="0"/>
              </a:p>
            </p:txBody>
          </p:sp>
        </p:grpSp>
        <p:grpSp>
          <p:nvGrpSpPr>
            <p:cNvPr id="96" name="Группа 95"/>
            <p:cNvGrpSpPr/>
            <p:nvPr/>
          </p:nvGrpSpPr>
          <p:grpSpPr>
            <a:xfrm>
              <a:off x="2905877" y="2320930"/>
              <a:ext cx="820246" cy="492148"/>
              <a:chOff x="281" y="1021903"/>
              <a:chExt cx="1096496" cy="657898"/>
            </a:xfrm>
          </p:grpSpPr>
          <p:sp>
            <p:nvSpPr>
              <p:cNvPr id="100" name="Прямоугольник 99"/>
              <p:cNvSpPr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01" name="TextBox 100"/>
              <p:cNvSpPr txBox="1"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  <p:grpSp>
          <p:nvGrpSpPr>
            <p:cNvPr id="97" name="Группа 96"/>
            <p:cNvGrpSpPr/>
            <p:nvPr/>
          </p:nvGrpSpPr>
          <p:grpSpPr>
            <a:xfrm>
              <a:off x="3801979" y="2320930"/>
              <a:ext cx="820246" cy="492148"/>
              <a:chOff x="1206427" y="1021903"/>
              <a:chExt cx="1096496" cy="657898"/>
            </a:xfrm>
          </p:grpSpPr>
          <p:sp>
            <p:nvSpPr>
              <p:cNvPr id="98" name="Прямоугольник 97"/>
              <p:cNvSpPr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99" name="TextBox 98"/>
              <p:cNvSpPr txBox="1"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</p:grpSp>
      <p:grpSp>
        <p:nvGrpSpPr>
          <p:cNvPr id="104" name="Группа 103"/>
          <p:cNvGrpSpPr/>
          <p:nvPr/>
        </p:nvGrpSpPr>
        <p:grpSpPr>
          <a:xfrm>
            <a:off x="1001245" y="4004515"/>
            <a:ext cx="1722936" cy="1053343"/>
            <a:chOff x="2899289" y="1759735"/>
            <a:chExt cx="1722936" cy="1053343"/>
          </a:xfrm>
        </p:grpSpPr>
        <p:grpSp>
          <p:nvGrpSpPr>
            <p:cNvPr id="105" name="Группа 104"/>
            <p:cNvGrpSpPr/>
            <p:nvPr/>
          </p:nvGrpSpPr>
          <p:grpSpPr>
            <a:xfrm>
              <a:off x="2899289" y="1759735"/>
              <a:ext cx="1722936" cy="492148"/>
              <a:chOff x="1" y="254355"/>
              <a:chExt cx="2303202" cy="657898"/>
            </a:xfrm>
          </p:grpSpPr>
          <p:sp>
            <p:nvSpPr>
              <p:cNvPr id="112" name="Прямоугольник 111"/>
              <p:cNvSpPr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sp>
          <p:sp>
            <p:nvSpPr>
              <p:cNvPr id="113" name="TextBox 112"/>
              <p:cNvSpPr txBox="1"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3000" kern="1200" dirty="0" smtClean="0"/>
                  <a:t>4</a:t>
                </a:r>
                <a:endParaRPr lang="ru-RU" sz="3000" kern="1200" dirty="0"/>
              </a:p>
            </p:txBody>
          </p:sp>
        </p:grpSp>
        <p:grpSp>
          <p:nvGrpSpPr>
            <p:cNvPr id="106" name="Группа 105"/>
            <p:cNvGrpSpPr/>
            <p:nvPr/>
          </p:nvGrpSpPr>
          <p:grpSpPr>
            <a:xfrm>
              <a:off x="2905877" y="2320930"/>
              <a:ext cx="820246" cy="492148"/>
              <a:chOff x="281" y="1021903"/>
              <a:chExt cx="1096496" cy="657898"/>
            </a:xfrm>
          </p:grpSpPr>
          <p:sp>
            <p:nvSpPr>
              <p:cNvPr id="110" name="Прямоугольник 109"/>
              <p:cNvSpPr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11" name="TextBox 110"/>
              <p:cNvSpPr txBox="1"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  <p:grpSp>
          <p:nvGrpSpPr>
            <p:cNvPr id="107" name="Группа 106"/>
            <p:cNvGrpSpPr/>
            <p:nvPr/>
          </p:nvGrpSpPr>
          <p:grpSpPr>
            <a:xfrm>
              <a:off x="3801979" y="2320930"/>
              <a:ext cx="820246" cy="492148"/>
              <a:chOff x="1206427" y="1021903"/>
              <a:chExt cx="1096496" cy="657898"/>
            </a:xfrm>
          </p:grpSpPr>
          <p:sp>
            <p:nvSpPr>
              <p:cNvPr id="108" name="Прямоугольник 107"/>
              <p:cNvSpPr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09" name="TextBox 108"/>
              <p:cNvSpPr txBox="1"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</p:grpSp>
      <p:grpSp>
        <p:nvGrpSpPr>
          <p:cNvPr id="124" name="Группа 123"/>
          <p:cNvGrpSpPr/>
          <p:nvPr/>
        </p:nvGrpSpPr>
        <p:grpSpPr>
          <a:xfrm>
            <a:off x="2800037" y="4004515"/>
            <a:ext cx="1722936" cy="1053343"/>
            <a:chOff x="2899289" y="1759735"/>
            <a:chExt cx="1722936" cy="1053343"/>
          </a:xfrm>
        </p:grpSpPr>
        <p:grpSp>
          <p:nvGrpSpPr>
            <p:cNvPr id="125" name="Группа 124"/>
            <p:cNvGrpSpPr/>
            <p:nvPr/>
          </p:nvGrpSpPr>
          <p:grpSpPr>
            <a:xfrm>
              <a:off x="2899289" y="1759735"/>
              <a:ext cx="1722936" cy="492148"/>
              <a:chOff x="1" y="254355"/>
              <a:chExt cx="2303202" cy="657898"/>
            </a:xfrm>
          </p:grpSpPr>
          <p:sp>
            <p:nvSpPr>
              <p:cNvPr id="132" name="Прямоугольник 131"/>
              <p:cNvSpPr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sp>
          <p:sp>
            <p:nvSpPr>
              <p:cNvPr id="133" name="TextBox 132"/>
              <p:cNvSpPr txBox="1"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3000" dirty="0" smtClean="0"/>
                  <a:t>11</a:t>
                </a:r>
                <a:endParaRPr lang="ru-RU" sz="3000" kern="1200" dirty="0"/>
              </a:p>
            </p:txBody>
          </p:sp>
        </p:grpSp>
        <p:grpSp>
          <p:nvGrpSpPr>
            <p:cNvPr id="126" name="Группа 125"/>
            <p:cNvGrpSpPr/>
            <p:nvPr/>
          </p:nvGrpSpPr>
          <p:grpSpPr>
            <a:xfrm>
              <a:off x="2905877" y="2320930"/>
              <a:ext cx="820246" cy="492148"/>
              <a:chOff x="281" y="1021903"/>
              <a:chExt cx="1096496" cy="657898"/>
            </a:xfrm>
          </p:grpSpPr>
          <p:sp>
            <p:nvSpPr>
              <p:cNvPr id="130" name="Прямоугольник 129"/>
              <p:cNvSpPr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31" name="TextBox 130"/>
              <p:cNvSpPr txBox="1"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  <p:grpSp>
          <p:nvGrpSpPr>
            <p:cNvPr id="127" name="Группа 126"/>
            <p:cNvGrpSpPr/>
            <p:nvPr/>
          </p:nvGrpSpPr>
          <p:grpSpPr>
            <a:xfrm>
              <a:off x="3801979" y="2320930"/>
              <a:ext cx="820246" cy="492148"/>
              <a:chOff x="1206427" y="1021903"/>
              <a:chExt cx="1096496" cy="657898"/>
            </a:xfrm>
          </p:grpSpPr>
          <p:sp>
            <p:nvSpPr>
              <p:cNvPr id="128" name="Прямоугольник 127"/>
              <p:cNvSpPr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29" name="TextBox 128"/>
              <p:cNvSpPr txBox="1"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</p:grpSp>
      <p:grpSp>
        <p:nvGrpSpPr>
          <p:cNvPr id="134" name="Группа 133"/>
          <p:cNvGrpSpPr/>
          <p:nvPr/>
        </p:nvGrpSpPr>
        <p:grpSpPr>
          <a:xfrm>
            <a:off x="4614192" y="4004515"/>
            <a:ext cx="1722936" cy="1053343"/>
            <a:chOff x="2899289" y="1759735"/>
            <a:chExt cx="1722936" cy="1053343"/>
          </a:xfrm>
        </p:grpSpPr>
        <p:grpSp>
          <p:nvGrpSpPr>
            <p:cNvPr id="135" name="Группа 134"/>
            <p:cNvGrpSpPr/>
            <p:nvPr/>
          </p:nvGrpSpPr>
          <p:grpSpPr>
            <a:xfrm>
              <a:off x="2899289" y="1759735"/>
              <a:ext cx="1722936" cy="492148"/>
              <a:chOff x="1" y="254355"/>
              <a:chExt cx="2303202" cy="657898"/>
            </a:xfrm>
          </p:grpSpPr>
          <p:sp>
            <p:nvSpPr>
              <p:cNvPr id="142" name="Прямоугольник 141"/>
              <p:cNvSpPr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sp>
          <p:sp>
            <p:nvSpPr>
              <p:cNvPr id="143" name="TextBox 142"/>
              <p:cNvSpPr txBox="1"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3000" kern="1200" dirty="0" smtClean="0"/>
                  <a:t>25</a:t>
                </a:r>
                <a:endParaRPr lang="ru-RU" sz="3000" kern="1200" dirty="0"/>
              </a:p>
            </p:txBody>
          </p:sp>
        </p:grpSp>
        <p:grpSp>
          <p:nvGrpSpPr>
            <p:cNvPr id="136" name="Группа 135"/>
            <p:cNvGrpSpPr/>
            <p:nvPr/>
          </p:nvGrpSpPr>
          <p:grpSpPr>
            <a:xfrm>
              <a:off x="2905877" y="2320930"/>
              <a:ext cx="820246" cy="492148"/>
              <a:chOff x="281" y="1021903"/>
              <a:chExt cx="1096496" cy="657898"/>
            </a:xfrm>
          </p:grpSpPr>
          <p:sp>
            <p:nvSpPr>
              <p:cNvPr id="140" name="Прямоугольник 139"/>
              <p:cNvSpPr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41" name="TextBox 140"/>
              <p:cNvSpPr txBox="1"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  <p:grpSp>
          <p:nvGrpSpPr>
            <p:cNvPr id="137" name="Группа 136"/>
            <p:cNvGrpSpPr/>
            <p:nvPr/>
          </p:nvGrpSpPr>
          <p:grpSpPr>
            <a:xfrm>
              <a:off x="3801979" y="2320930"/>
              <a:ext cx="820246" cy="492148"/>
              <a:chOff x="1206427" y="1021903"/>
              <a:chExt cx="1096496" cy="657898"/>
            </a:xfrm>
          </p:grpSpPr>
          <p:sp>
            <p:nvSpPr>
              <p:cNvPr id="138" name="Прямоугольник 137"/>
              <p:cNvSpPr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39" name="TextBox 138"/>
              <p:cNvSpPr txBox="1"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</p:grpSp>
      <p:grpSp>
        <p:nvGrpSpPr>
          <p:cNvPr id="144" name="Группа 143"/>
          <p:cNvGrpSpPr/>
          <p:nvPr/>
        </p:nvGrpSpPr>
        <p:grpSpPr>
          <a:xfrm>
            <a:off x="96678" y="5135225"/>
            <a:ext cx="1722936" cy="1053343"/>
            <a:chOff x="2899289" y="1759735"/>
            <a:chExt cx="1722936" cy="1053343"/>
          </a:xfrm>
        </p:grpSpPr>
        <p:grpSp>
          <p:nvGrpSpPr>
            <p:cNvPr id="145" name="Группа 144"/>
            <p:cNvGrpSpPr/>
            <p:nvPr/>
          </p:nvGrpSpPr>
          <p:grpSpPr>
            <a:xfrm>
              <a:off x="2899289" y="1759735"/>
              <a:ext cx="1722936" cy="492148"/>
              <a:chOff x="1" y="254355"/>
              <a:chExt cx="2303202" cy="657898"/>
            </a:xfrm>
          </p:grpSpPr>
          <p:sp>
            <p:nvSpPr>
              <p:cNvPr id="152" name="Прямоугольник 151"/>
              <p:cNvSpPr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sp>
          <p:sp>
            <p:nvSpPr>
              <p:cNvPr id="153" name="TextBox 152"/>
              <p:cNvSpPr txBox="1"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3000" dirty="0"/>
                  <a:t>2</a:t>
                </a:r>
                <a:endParaRPr lang="ru-RU" sz="3000" kern="1200" dirty="0"/>
              </a:p>
            </p:txBody>
          </p:sp>
        </p:grpSp>
        <p:grpSp>
          <p:nvGrpSpPr>
            <p:cNvPr id="146" name="Группа 145"/>
            <p:cNvGrpSpPr/>
            <p:nvPr/>
          </p:nvGrpSpPr>
          <p:grpSpPr>
            <a:xfrm>
              <a:off x="2905877" y="2320930"/>
              <a:ext cx="820246" cy="492148"/>
              <a:chOff x="281" y="1021903"/>
              <a:chExt cx="1096496" cy="657898"/>
            </a:xfrm>
          </p:grpSpPr>
          <p:sp>
            <p:nvSpPr>
              <p:cNvPr id="150" name="Прямоугольник 149"/>
              <p:cNvSpPr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51" name="TextBox 150"/>
              <p:cNvSpPr txBox="1"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  <p:grpSp>
          <p:nvGrpSpPr>
            <p:cNvPr id="147" name="Группа 146"/>
            <p:cNvGrpSpPr/>
            <p:nvPr/>
          </p:nvGrpSpPr>
          <p:grpSpPr>
            <a:xfrm>
              <a:off x="3801979" y="2320930"/>
              <a:ext cx="820246" cy="492148"/>
              <a:chOff x="1206427" y="1021903"/>
              <a:chExt cx="1096496" cy="657898"/>
            </a:xfrm>
          </p:grpSpPr>
          <p:sp>
            <p:nvSpPr>
              <p:cNvPr id="148" name="Прямоугольник 147"/>
              <p:cNvSpPr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49" name="TextBox 148"/>
              <p:cNvSpPr txBox="1"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</p:grpSp>
      <p:grpSp>
        <p:nvGrpSpPr>
          <p:cNvPr id="154" name="Группа 153"/>
          <p:cNvGrpSpPr/>
          <p:nvPr/>
        </p:nvGrpSpPr>
        <p:grpSpPr>
          <a:xfrm>
            <a:off x="1895470" y="5126905"/>
            <a:ext cx="1722936" cy="1053343"/>
            <a:chOff x="2899289" y="1759735"/>
            <a:chExt cx="1722936" cy="1053343"/>
          </a:xfrm>
        </p:grpSpPr>
        <p:grpSp>
          <p:nvGrpSpPr>
            <p:cNvPr id="155" name="Группа 154"/>
            <p:cNvGrpSpPr/>
            <p:nvPr/>
          </p:nvGrpSpPr>
          <p:grpSpPr>
            <a:xfrm>
              <a:off x="2899289" y="1759735"/>
              <a:ext cx="1722936" cy="492148"/>
              <a:chOff x="1" y="254355"/>
              <a:chExt cx="2303202" cy="657898"/>
            </a:xfrm>
          </p:grpSpPr>
          <p:sp>
            <p:nvSpPr>
              <p:cNvPr id="162" name="Прямоугольник 161"/>
              <p:cNvSpPr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sp>
          <p:sp>
            <p:nvSpPr>
              <p:cNvPr id="163" name="TextBox 162"/>
              <p:cNvSpPr txBox="1"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3000" kern="1200" dirty="0" smtClean="0"/>
                  <a:t>5</a:t>
                </a:r>
                <a:endParaRPr lang="ru-RU" sz="3000" kern="1200" dirty="0"/>
              </a:p>
            </p:txBody>
          </p:sp>
        </p:grpSp>
        <p:grpSp>
          <p:nvGrpSpPr>
            <p:cNvPr id="156" name="Группа 155"/>
            <p:cNvGrpSpPr/>
            <p:nvPr/>
          </p:nvGrpSpPr>
          <p:grpSpPr>
            <a:xfrm>
              <a:off x="2905877" y="2320930"/>
              <a:ext cx="820246" cy="492148"/>
              <a:chOff x="281" y="1021903"/>
              <a:chExt cx="1096496" cy="657898"/>
            </a:xfrm>
          </p:grpSpPr>
          <p:sp>
            <p:nvSpPr>
              <p:cNvPr id="160" name="Прямоугольник 159"/>
              <p:cNvSpPr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61" name="TextBox 160"/>
              <p:cNvSpPr txBox="1"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  <p:grpSp>
          <p:nvGrpSpPr>
            <p:cNvPr id="157" name="Группа 156"/>
            <p:cNvGrpSpPr/>
            <p:nvPr/>
          </p:nvGrpSpPr>
          <p:grpSpPr>
            <a:xfrm>
              <a:off x="3801979" y="2320930"/>
              <a:ext cx="820246" cy="492148"/>
              <a:chOff x="1206427" y="1021903"/>
              <a:chExt cx="1096496" cy="657898"/>
            </a:xfrm>
          </p:grpSpPr>
          <p:sp>
            <p:nvSpPr>
              <p:cNvPr id="158" name="Прямоугольник 157"/>
              <p:cNvSpPr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59" name="TextBox 158"/>
              <p:cNvSpPr txBox="1"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</p:grpSp>
      <p:grpSp>
        <p:nvGrpSpPr>
          <p:cNvPr id="164" name="Группа 163"/>
          <p:cNvGrpSpPr/>
          <p:nvPr/>
        </p:nvGrpSpPr>
        <p:grpSpPr>
          <a:xfrm>
            <a:off x="3696139" y="5126905"/>
            <a:ext cx="1722936" cy="1053343"/>
            <a:chOff x="2899289" y="1759735"/>
            <a:chExt cx="1722936" cy="1053343"/>
          </a:xfrm>
        </p:grpSpPr>
        <p:grpSp>
          <p:nvGrpSpPr>
            <p:cNvPr id="165" name="Группа 164"/>
            <p:cNvGrpSpPr/>
            <p:nvPr/>
          </p:nvGrpSpPr>
          <p:grpSpPr>
            <a:xfrm>
              <a:off x="2899289" y="1759735"/>
              <a:ext cx="1722936" cy="492148"/>
              <a:chOff x="1" y="254355"/>
              <a:chExt cx="2303202" cy="657898"/>
            </a:xfrm>
          </p:grpSpPr>
          <p:sp>
            <p:nvSpPr>
              <p:cNvPr id="172" name="Прямоугольник 171"/>
              <p:cNvSpPr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sp>
          <p:sp>
            <p:nvSpPr>
              <p:cNvPr id="173" name="TextBox 172"/>
              <p:cNvSpPr txBox="1"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3000" kern="1200" dirty="0" smtClean="0"/>
                  <a:t>23</a:t>
                </a:r>
                <a:endParaRPr lang="ru-RU" sz="3000" kern="1200" dirty="0"/>
              </a:p>
            </p:txBody>
          </p:sp>
        </p:grpSp>
        <p:grpSp>
          <p:nvGrpSpPr>
            <p:cNvPr id="166" name="Группа 165"/>
            <p:cNvGrpSpPr/>
            <p:nvPr/>
          </p:nvGrpSpPr>
          <p:grpSpPr>
            <a:xfrm>
              <a:off x="2905877" y="2320930"/>
              <a:ext cx="820246" cy="492148"/>
              <a:chOff x="281" y="1021903"/>
              <a:chExt cx="1096496" cy="657898"/>
            </a:xfrm>
          </p:grpSpPr>
          <p:sp>
            <p:nvSpPr>
              <p:cNvPr id="170" name="Прямоугольник 169"/>
              <p:cNvSpPr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71" name="TextBox 170"/>
              <p:cNvSpPr txBox="1"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  <p:grpSp>
          <p:nvGrpSpPr>
            <p:cNvPr id="167" name="Группа 166"/>
            <p:cNvGrpSpPr/>
            <p:nvPr/>
          </p:nvGrpSpPr>
          <p:grpSpPr>
            <a:xfrm>
              <a:off x="3801979" y="2320930"/>
              <a:ext cx="820246" cy="492148"/>
              <a:chOff x="1206427" y="1021903"/>
              <a:chExt cx="1096496" cy="657898"/>
            </a:xfrm>
          </p:grpSpPr>
          <p:sp>
            <p:nvSpPr>
              <p:cNvPr id="168" name="Прямоугольник 167"/>
              <p:cNvSpPr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69" name="TextBox 168"/>
              <p:cNvSpPr txBox="1"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</p:grpSp>
      <p:grpSp>
        <p:nvGrpSpPr>
          <p:cNvPr id="174" name="Группа 173"/>
          <p:cNvGrpSpPr/>
          <p:nvPr/>
        </p:nvGrpSpPr>
        <p:grpSpPr>
          <a:xfrm>
            <a:off x="5516882" y="5135225"/>
            <a:ext cx="1722936" cy="1053343"/>
            <a:chOff x="2899289" y="1759735"/>
            <a:chExt cx="1722936" cy="1053343"/>
          </a:xfrm>
        </p:grpSpPr>
        <p:grpSp>
          <p:nvGrpSpPr>
            <p:cNvPr id="175" name="Группа 174"/>
            <p:cNvGrpSpPr/>
            <p:nvPr/>
          </p:nvGrpSpPr>
          <p:grpSpPr>
            <a:xfrm>
              <a:off x="2899289" y="1759735"/>
              <a:ext cx="1722936" cy="492148"/>
              <a:chOff x="1" y="254355"/>
              <a:chExt cx="2303202" cy="657898"/>
            </a:xfrm>
          </p:grpSpPr>
          <p:sp>
            <p:nvSpPr>
              <p:cNvPr id="182" name="Прямоугольник 181"/>
              <p:cNvSpPr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</p:sp>
          <p:sp>
            <p:nvSpPr>
              <p:cNvPr id="183" name="TextBox 182"/>
              <p:cNvSpPr txBox="1"/>
              <p:nvPr/>
            </p:nvSpPr>
            <p:spPr>
              <a:xfrm>
                <a:off x="1" y="254355"/>
                <a:ext cx="2303202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ru-RU" sz="3000" kern="1200" dirty="0" smtClean="0"/>
                  <a:t>30</a:t>
                </a:r>
                <a:endParaRPr lang="ru-RU" sz="3000" kern="1200" dirty="0"/>
              </a:p>
            </p:txBody>
          </p:sp>
        </p:grpSp>
        <p:grpSp>
          <p:nvGrpSpPr>
            <p:cNvPr id="176" name="Группа 175"/>
            <p:cNvGrpSpPr/>
            <p:nvPr/>
          </p:nvGrpSpPr>
          <p:grpSpPr>
            <a:xfrm>
              <a:off x="2905877" y="2320930"/>
              <a:ext cx="820246" cy="492148"/>
              <a:chOff x="281" y="1021903"/>
              <a:chExt cx="1096496" cy="657898"/>
            </a:xfrm>
          </p:grpSpPr>
          <p:sp>
            <p:nvSpPr>
              <p:cNvPr id="180" name="Прямоугольник 179"/>
              <p:cNvSpPr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81" name="TextBox 180"/>
              <p:cNvSpPr txBox="1"/>
              <p:nvPr/>
            </p:nvSpPr>
            <p:spPr>
              <a:xfrm>
                <a:off x="281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  <p:grpSp>
          <p:nvGrpSpPr>
            <p:cNvPr id="177" name="Группа 176"/>
            <p:cNvGrpSpPr/>
            <p:nvPr/>
          </p:nvGrpSpPr>
          <p:grpSpPr>
            <a:xfrm>
              <a:off x="3801979" y="2320930"/>
              <a:ext cx="820246" cy="492148"/>
              <a:chOff x="1206427" y="1021903"/>
              <a:chExt cx="1096496" cy="657898"/>
            </a:xfrm>
          </p:grpSpPr>
          <p:sp>
            <p:nvSpPr>
              <p:cNvPr id="178" name="Прямоугольник 177"/>
              <p:cNvSpPr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</p:sp>
          <p:sp>
            <p:nvSpPr>
              <p:cNvPr id="179" name="TextBox 178"/>
              <p:cNvSpPr txBox="1"/>
              <p:nvPr/>
            </p:nvSpPr>
            <p:spPr>
              <a:xfrm>
                <a:off x="1206427" y="1021903"/>
                <a:ext cx="1096496" cy="65789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spcFirstLastPara="0" vert="horz" wrap="square" lIns="114300" tIns="114300" rIns="114300" bIns="114300" numCol="1" spcCol="1270" anchor="ctr" anchorCtr="0">
                <a:noAutofit/>
              </a:bodyPr>
              <a:lstStyle/>
              <a:p>
                <a:pPr lvl="0" algn="ctr" defTabSz="13335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endParaRPr lang="ru-RU" sz="3000" kern="1200" dirty="0"/>
              </a:p>
            </p:txBody>
          </p:sp>
        </p:grpSp>
      </p:grpSp>
      <p:sp>
        <p:nvSpPr>
          <p:cNvPr id="184" name="Скругленный прямоугольник 183"/>
          <p:cNvSpPr/>
          <p:nvPr/>
        </p:nvSpPr>
        <p:spPr>
          <a:xfrm>
            <a:off x="11277425" y="602991"/>
            <a:ext cx="861697" cy="502091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4800" dirty="0" smtClean="0"/>
              <a:t>2</a:t>
            </a:r>
            <a:endParaRPr lang="ru-RU" sz="4800" dirty="0"/>
          </a:p>
        </p:txBody>
      </p:sp>
      <p:sp>
        <p:nvSpPr>
          <p:cNvPr id="185" name="TextBox 184"/>
          <p:cNvSpPr txBox="1"/>
          <p:nvPr/>
        </p:nvSpPr>
        <p:spPr>
          <a:xfrm>
            <a:off x="2869889" y="23823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86" name="TextBox 185"/>
          <p:cNvSpPr txBox="1"/>
          <p:nvPr/>
        </p:nvSpPr>
        <p:spPr>
          <a:xfrm>
            <a:off x="3756193" y="238233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87" name="TextBox 186"/>
          <p:cNvSpPr txBox="1"/>
          <p:nvPr/>
        </p:nvSpPr>
        <p:spPr>
          <a:xfrm>
            <a:off x="1982370" y="350472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88" name="TextBox 187"/>
          <p:cNvSpPr txBox="1"/>
          <p:nvPr/>
        </p:nvSpPr>
        <p:spPr>
          <a:xfrm>
            <a:off x="2878354" y="349292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89" name="TextBox 188"/>
          <p:cNvSpPr txBox="1"/>
          <p:nvPr/>
        </p:nvSpPr>
        <p:spPr>
          <a:xfrm>
            <a:off x="3767868" y="3491097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91" name="TextBox 190"/>
          <p:cNvSpPr txBox="1"/>
          <p:nvPr/>
        </p:nvSpPr>
        <p:spPr>
          <a:xfrm>
            <a:off x="4670558" y="3499531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92" name="TextBox 191"/>
          <p:cNvSpPr txBox="1"/>
          <p:nvPr/>
        </p:nvSpPr>
        <p:spPr>
          <a:xfrm>
            <a:off x="5588611" y="462711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93" name="TextBox 192"/>
          <p:cNvSpPr txBox="1"/>
          <p:nvPr/>
        </p:nvSpPr>
        <p:spPr>
          <a:xfrm>
            <a:off x="4692509" y="462711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94" name="TextBox 193"/>
          <p:cNvSpPr txBox="1"/>
          <p:nvPr/>
        </p:nvSpPr>
        <p:spPr>
          <a:xfrm>
            <a:off x="3767868" y="462711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95" name="TextBox 194"/>
          <p:cNvSpPr txBox="1"/>
          <p:nvPr/>
        </p:nvSpPr>
        <p:spPr>
          <a:xfrm>
            <a:off x="2865444" y="462711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96" name="TextBox 195"/>
          <p:cNvSpPr txBox="1"/>
          <p:nvPr/>
        </p:nvSpPr>
        <p:spPr>
          <a:xfrm>
            <a:off x="1982370" y="462711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97" name="TextBox 196"/>
          <p:cNvSpPr txBox="1"/>
          <p:nvPr/>
        </p:nvSpPr>
        <p:spPr>
          <a:xfrm>
            <a:off x="1079562" y="462711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98" name="TextBox 197"/>
          <p:cNvSpPr txBox="1"/>
          <p:nvPr/>
        </p:nvSpPr>
        <p:spPr>
          <a:xfrm>
            <a:off x="174995" y="574950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99" name="TextBox 198"/>
          <p:cNvSpPr txBox="1"/>
          <p:nvPr/>
        </p:nvSpPr>
        <p:spPr>
          <a:xfrm>
            <a:off x="1071097" y="574950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200" name="TextBox 199"/>
          <p:cNvSpPr txBox="1"/>
          <p:nvPr/>
        </p:nvSpPr>
        <p:spPr>
          <a:xfrm>
            <a:off x="1966034" y="575782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201" name="TextBox 200"/>
          <p:cNvSpPr txBox="1"/>
          <p:nvPr/>
        </p:nvSpPr>
        <p:spPr>
          <a:xfrm>
            <a:off x="2869889" y="574950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202" name="TextBox 201"/>
          <p:cNvSpPr txBox="1"/>
          <p:nvPr/>
        </p:nvSpPr>
        <p:spPr>
          <a:xfrm>
            <a:off x="3774456" y="575782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203" name="TextBox 202"/>
          <p:cNvSpPr txBox="1"/>
          <p:nvPr/>
        </p:nvSpPr>
        <p:spPr>
          <a:xfrm>
            <a:off x="4679600" y="57487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204" name="TextBox 203"/>
          <p:cNvSpPr txBox="1"/>
          <p:nvPr/>
        </p:nvSpPr>
        <p:spPr>
          <a:xfrm>
            <a:off x="5595199" y="5757828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205" name="TextBox 204"/>
          <p:cNvSpPr txBox="1"/>
          <p:nvPr/>
        </p:nvSpPr>
        <p:spPr>
          <a:xfrm>
            <a:off x="6491301" y="5748756"/>
            <a:ext cx="676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cxnSp>
        <p:nvCxnSpPr>
          <p:cNvPr id="207" name="Прямая со стрелкой 206"/>
          <p:cNvCxnSpPr/>
          <p:nvPr/>
        </p:nvCxnSpPr>
        <p:spPr>
          <a:xfrm flipH="1">
            <a:off x="2409775" y="2634425"/>
            <a:ext cx="498766" cy="430509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Прямая со стрелкой 208"/>
          <p:cNvCxnSpPr/>
          <p:nvPr/>
        </p:nvCxnSpPr>
        <p:spPr>
          <a:xfrm flipH="1">
            <a:off x="1578696" y="3824239"/>
            <a:ext cx="498766" cy="430509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Прямая со стрелкой 209"/>
          <p:cNvCxnSpPr/>
          <p:nvPr/>
        </p:nvCxnSpPr>
        <p:spPr>
          <a:xfrm flipH="1">
            <a:off x="660643" y="4942470"/>
            <a:ext cx="498766" cy="430509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Прямая со стрелкой 210"/>
          <p:cNvCxnSpPr/>
          <p:nvPr/>
        </p:nvCxnSpPr>
        <p:spPr>
          <a:xfrm flipH="1">
            <a:off x="3396978" y="3789260"/>
            <a:ext cx="498766" cy="430509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Прямая со стрелкой 211"/>
          <p:cNvCxnSpPr/>
          <p:nvPr/>
        </p:nvCxnSpPr>
        <p:spPr>
          <a:xfrm flipH="1">
            <a:off x="4260414" y="4950790"/>
            <a:ext cx="498766" cy="430509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Прямая со стрелкой 212"/>
          <p:cNvCxnSpPr/>
          <p:nvPr/>
        </p:nvCxnSpPr>
        <p:spPr>
          <a:xfrm>
            <a:off x="6223950" y="4941330"/>
            <a:ext cx="503926" cy="490758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Прямая со стрелкой 216"/>
          <p:cNvCxnSpPr/>
          <p:nvPr/>
        </p:nvCxnSpPr>
        <p:spPr>
          <a:xfrm>
            <a:off x="5242384" y="3798869"/>
            <a:ext cx="503926" cy="490758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Прямая со стрелкой 217"/>
          <p:cNvCxnSpPr/>
          <p:nvPr/>
        </p:nvCxnSpPr>
        <p:spPr>
          <a:xfrm>
            <a:off x="2439707" y="4890541"/>
            <a:ext cx="503926" cy="490758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Прямая со стрелкой 218"/>
          <p:cNvCxnSpPr/>
          <p:nvPr/>
        </p:nvCxnSpPr>
        <p:spPr>
          <a:xfrm>
            <a:off x="4338301" y="2648480"/>
            <a:ext cx="503926" cy="490758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TextBox 219"/>
          <p:cNvSpPr txBox="1"/>
          <p:nvPr/>
        </p:nvSpPr>
        <p:spPr>
          <a:xfrm>
            <a:off x="7783751" y="2591115"/>
            <a:ext cx="58738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Five Minutes" panose="02000506000000020004" pitchFamily="50" charset="0"/>
              </a:rPr>
              <a:t>20 </a:t>
            </a:r>
            <a:r>
              <a:rPr lang="en-US" sz="2000" dirty="0">
                <a:latin typeface="Five Minutes" panose="02000506000000020004" pitchFamily="50" charset="0"/>
              </a:rPr>
              <a:t>&gt; 10, </a:t>
            </a:r>
            <a:r>
              <a:rPr lang="ru-RU" sz="2000" dirty="0">
                <a:latin typeface="Five Minutes" panose="02000506000000020004" pitchFamily="50" charset="0"/>
              </a:rPr>
              <a:t>правый потомок </a:t>
            </a:r>
            <a:r>
              <a:rPr lang="ru-RU" sz="2000" dirty="0" smtClean="0">
                <a:latin typeface="Five Minutes" panose="02000506000000020004" pitchFamily="50" charset="0"/>
              </a:rPr>
              <a:t>отсутствует</a:t>
            </a:r>
            <a:r>
              <a:rPr lang="ru-RU" sz="2000" dirty="0">
                <a:latin typeface="Five Minutes" panose="02000506000000020004" pitchFamily="50" charset="0"/>
              </a:rPr>
              <a:t>, добавляем 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6391190" y="2870796"/>
            <a:ext cx="5519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11</a:t>
            </a:r>
            <a:r>
              <a:rPr lang="en-US" sz="2000" dirty="0">
                <a:latin typeface="Five Minutes" panose="02000506000000020004" pitchFamily="50" charset="0"/>
              </a:rPr>
              <a:t> </a:t>
            </a:r>
            <a:r>
              <a:rPr lang="en-US" sz="2000" dirty="0" smtClean="0">
                <a:latin typeface="Five Minutes" panose="02000506000000020004" pitchFamily="50" charset="0"/>
              </a:rPr>
              <a:t>&gt; 10, </a:t>
            </a:r>
            <a:r>
              <a:rPr lang="ru-RU" sz="2000" dirty="0" smtClean="0">
                <a:latin typeface="Five Minutes" panose="02000506000000020004" pitchFamily="50" charset="0"/>
              </a:rPr>
              <a:t>справа 20</a:t>
            </a:r>
          </a:p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11 </a:t>
            </a:r>
            <a:r>
              <a:rPr lang="en-US" sz="2000" dirty="0" smtClean="0">
                <a:latin typeface="Five Minutes" panose="02000506000000020004" pitchFamily="50" charset="0"/>
              </a:rPr>
              <a:t>&lt; 20, </a:t>
            </a:r>
            <a:r>
              <a:rPr lang="ru-RU" sz="2000" dirty="0" smtClean="0">
                <a:latin typeface="Five Minutes" panose="02000506000000020004" pitchFamily="50" charset="0"/>
              </a:rPr>
              <a:t>левый потомок отсутствует, добавляем</a:t>
            </a:r>
            <a:endParaRPr lang="ru-RU" sz="2000" dirty="0">
              <a:latin typeface="Five Minutes" panose="02000506000000020004" pitchFamily="50" charset="0"/>
            </a:endParaRPr>
          </a:p>
        </p:txBody>
      </p:sp>
      <p:sp>
        <p:nvSpPr>
          <p:cNvPr id="222" name="TextBox 221"/>
          <p:cNvSpPr txBox="1"/>
          <p:nvPr/>
        </p:nvSpPr>
        <p:spPr>
          <a:xfrm>
            <a:off x="6520743" y="3491097"/>
            <a:ext cx="5376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4</a:t>
            </a:r>
            <a:r>
              <a:rPr lang="en-US" sz="2000" dirty="0" smtClean="0">
                <a:latin typeface="Five Minutes" panose="02000506000000020004" pitchFamily="50" charset="0"/>
              </a:rPr>
              <a:t> &lt; 10, </a:t>
            </a:r>
            <a:r>
              <a:rPr lang="ru-RU" sz="2000" dirty="0" smtClean="0">
                <a:latin typeface="Five Minutes" panose="02000506000000020004" pitchFamily="50" charset="0"/>
              </a:rPr>
              <a:t>слева 8</a:t>
            </a:r>
          </a:p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4 </a:t>
            </a:r>
            <a:r>
              <a:rPr lang="en-US" sz="2000" dirty="0" smtClean="0">
                <a:latin typeface="Five Minutes" panose="02000506000000020004" pitchFamily="50" charset="0"/>
              </a:rPr>
              <a:t>&lt; 8, </a:t>
            </a:r>
            <a:r>
              <a:rPr lang="ru-RU" sz="2000" dirty="0" smtClean="0">
                <a:latin typeface="Five Minutes" panose="02000506000000020004" pitchFamily="50" charset="0"/>
              </a:rPr>
              <a:t>левый потомок отсутствует, добавляем</a:t>
            </a:r>
            <a:endParaRPr lang="ru-RU" sz="2000" dirty="0">
              <a:latin typeface="Five Minutes" panose="02000506000000020004" pitchFamily="50" charset="0"/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7193250" y="4097083"/>
            <a:ext cx="4717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25 </a:t>
            </a:r>
            <a:r>
              <a:rPr lang="en-US" sz="2000" dirty="0" smtClean="0">
                <a:latin typeface="Five Minutes" panose="02000506000000020004" pitchFamily="50" charset="0"/>
              </a:rPr>
              <a:t>&gt; 10, </a:t>
            </a:r>
            <a:r>
              <a:rPr lang="ru-RU" sz="2000" dirty="0" smtClean="0">
                <a:latin typeface="Five Minutes" panose="02000506000000020004" pitchFamily="50" charset="0"/>
              </a:rPr>
              <a:t>справа 20</a:t>
            </a:r>
          </a:p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25 </a:t>
            </a:r>
            <a:r>
              <a:rPr lang="en-US" sz="2000" dirty="0" smtClean="0">
                <a:latin typeface="Five Minutes" panose="02000506000000020004" pitchFamily="50" charset="0"/>
              </a:rPr>
              <a:t>&gt; 20, </a:t>
            </a:r>
            <a:r>
              <a:rPr lang="ru-RU" sz="2000" dirty="0">
                <a:latin typeface="Five Minutes" panose="02000506000000020004" pitchFamily="50" charset="0"/>
              </a:rPr>
              <a:t>правый потомок отсутствует, добавляем 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160287" y="4742599"/>
            <a:ext cx="47175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2</a:t>
            </a:r>
            <a:r>
              <a:rPr lang="en-US" sz="2000" dirty="0" smtClean="0">
                <a:latin typeface="Five Minutes" panose="02000506000000020004" pitchFamily="50" charset="0"/>
              </a:rPr>
              <a:t>3</a:t>
            </a:r>
            <a:r>
              <a:rPr lang="ru-RU" sz="2000" dirty="0" smtClean="0">
                <a:latin typeface="Five Minutes" panose="02000506000000020004" pitchFamily="50" charset="0"/>
              </a:rPr>
              <a:t> </a:t>
            </a:r>
            <a:r>
              <a:rPr lang="en-US" sz="2000" dirty="0" smtClean="0">
                <a:latin typeface="Five Minutes" panose="02000506000000020004" pitchFamily="50" charset="0"/>
              </a:rPr>
              <a:t>&gt; 10, </a:t>
            </a:r>
            <a:r>
              <a:rPr lang="ru-RU" sz="2000" dirty="0" smtClean="0">
                <a:latin typeface="Five Minutes" panose="02000506000000020004" pitchFamily="50" charset="0"/>
              </a:rPr>
              <a:t>справа 20</a:t>
            </a:r>
            <a:endParaRPr lang="en-US" sz="2000" dirty="0" smtClean="0">
              <a:latin typeface="Five Minutes" panose="02000506000000020004" pitchFamily="50" charset="0"/>
            </a:endParaRPr>
          </a:p>
          <a:p>
            <a:pPr algn="r"/>
            <a:r>
              <a:rPr lang="en-US" sz="2000" dirty="0" smtClean="0">
                <a:latin typeface="Five Minutes" panose="02000506000000020004" pitchFamily="50" charset="0"/>
              </a:rPr>
              <a:t>23 &gt; 20, </a:t>
            </a:r>
            <a:r>
              <a:rPr lang="ru-RU" sz="2000" dirty="0" smtClean="0">
                <a:latin typeface="Five Minutes" panose="02000506000000020004" pitchFamily="50" charset="0"/>
              </a:rPr>
              <a:t>справа 25</a:t>
            </a:r>
          </a:p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23 </a:t>
            </a:r>
            <a:r>
              <a:rPr lang="en-US" sz="2000" dirty="0" smtClean="0">
                <a:latin typeface="Five Minutes" panose="02000506000000020004" pitchFamily="50" charset="0"/>
              </a:rPr>
              <a:t>&lt; 25, </a:t>
            </a:r>
            <a:r>
              <a:rPr lang="ru-RU" sz="2000" dirty="0" smtClean="0">
                <a:latin typeface="Five Minutes" panose="02000506000000020004" pitchFamily="50" charset="0"/>
              </a:rPr>
              <a:t>левый </a:t>
            </a:r>
            <a:r>
              <a:rPr lang="ru-RU" sz="2000" dirty="0">
                <a:latin typeface="Five Minutes" panose="02000506000000020004" pitchFamily="50" charset="0"/>
              </a:rPr>
              <a:t>потомок отсутствует, добавляем 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181800" y="5643056"/>
            <a:ext cx="47175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5</a:t>
            </a:r>
            <a:r>
              <a:rPr lang="en-US" sz="2000" dirty="0" smtClean="0">
                <a:latin typeface="Five Minutes" panose="02000506000000020004" pitchFamily="50" charset="0"/>
              </a:rPr>
              <a:t> &lt; 10, </a:t>
            </a:r>
            <a:r>
              <a:rPr lang="ru-RU" sz="2000" dirty="0" smtClean="0">
                <a:latin typeface="Five Minutes" panose="02000506000000020004" pitchFamily="50" charset="0"/>
              </a:rPr>
              <a:t>слева 8</a:t>
            </a:r>
            <a:endParaRPr lang="en-US" sz="2000" dirty="0" smtClean="0">
              <a:latin typeface="Five Minutes" panose="02000506000000020004" pitchFamily="50" charset="0"/>
            </a:endParaRPr>
          </a:p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5</a:t>
            </a:r>
            <a:r>
              <a:rPr lang="en-US" sz="2000" dirty="0" smtClean="0">
                <a:latin typeface="Five Minutes" panose="02000506000000020004" pitchFamily="50" charset="0"/>
              </a:rPr>
              <a:t> </a:t>
            </a:r>
            <a:r>
              <a:rPr lang="en-US" sz="2000" dirty="0">
                <a:latin typeface="Five Minutes" panose="02000506000000020004" pitchFamily="50" charset="0"/>
              </a:rPr>
              <a:t>&lt;</a:t>
            </a:r>
            <a:r>
              <a:rPr lang="en-US" sz="2000" dirty="0" smtClean="0">
                <a:latin typeface="Five Minutes" panose="02000506000000020004" pitchFamily="50" charset="0"/>
              </a:rPr>
              <a:t> 8, </a:t>
            </a:r>
            <a:r>
              <a:rPr lang="ru-RU" sz="2000" dirty="0" smtClean="0">
                <a:latin typeface="Five Minutes" panose="02000506000000020004" pitchFamily="50" charset="0"/>
              </a:rPr>
              <a:t>слева 4</a:t>
            </a:r>
          </a:p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5 </a:t>
            </a:r>
            <a:r>
              <a:rPr lang="en-US" sz="2000" dirty="0" smtClean="0">
                <a:latin typeface="Five Minutes" panose="02000506000000020004" pitchFamily="50" charset="0"/>
              </a:rPr>
              <a:t>&gt; 4, </a:t>
            </a:r>
            <a:r>
              <a:rPr lang="ru-RU" sz="2000" dirty="0" smtClean="0">
                <a:latin typeface="Five Minutes" panose="02000506000000020004" pitchFamily="50" charset="0"/>
              </a:rPr>
              <a:t>правый </a:t>
            </a:r>
            <a:r>
              <a:rPr lang="ru-RU" sz="2000" dirty="0">
                <a:latin typeface="Five Minutes" panose="02000506000000020004" pitchFamily="50" charset="0"/>
              </a:rPr>
              <a:t>потомок отсутствует, добавляем 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5656439" y="2870796"/>
            <a:ext cx="207509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2 </a:t>
            </a:r>
            <a:r>
              <a:rPr lang="en-US" sz="2000" dirty="0" smtClean="0">
                <a:latin typeface="Five Minutes" panose="02000506000000020004" pitchFamily="50" charset="0"/>
              </a:rPr>
              <a:t>&lt; 10, </a:t>
            </a:r>
            <a:r>
              <a:rPr lang="ru-RU" sz="2000" dirty="0" smtClean="0">
                <a:latin typeface="Five Minutes" panose="02000506000000020004" pitchFamily="50" charset="0"/>
              </a:rPr>
              <a:t>слева 8</a:t>
            </a:r>
            <a:endParaRPr lang="en-US" sz="2000" dirty="0" smtClean="0">
              <a:latin typeface="Five Minutes" panose="02000506000000020004" pitchFamily="50" charset="0"/>
            </a:endParaRPr>
          </a:p>
          <a:p>
            <a:pPr algn="r"/>
            <a:r>
              <a:rPr lang="en-US" sz="2000" dirty="0" smtClean="0">
                <a:latin typeface="Five Minutes" panose="02000506000000020004" pitchFamily="50" charset="0"/>
              </a:rPr>
              <a:t>2 &lt; 8, </a:t>
            </a:r>
            <a:r>
              <a:rPr lang="ru-RU" sz="2000" dirty="0" smtClean="0">
                <a:latin typeface="Five Minutes" panose="02000506000000020004" pitchFamily="50" charset="0"/>
              </a:rPr>
              <a:t>слева 4</a:t>
            </a:r>
          </a:p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2 </a:t>
            </a:r>
            <a:r>
              <a:rPr lang="en-US" sz="2000" dirty="0" smtClean="0">
                <a:latin typeface="Five Minutes" panose="02000506000000020004" pitchFamily="50" charset="0"/>
              </a:rPr>
              <a:t>&lt; 4, </a:t>
            </a:r>
            <a:r>
              <a:rPr lang="ru-RU" sz="2000" dirty="0" smtClean="0">
                <a:latin typeface="Five Minutes" panose="02000506000000020004" pitchFamily="50" charset="0"/>
              </a:rPr>
              <a:t>левый </a:t>
            </a:r>
            <a:r>
              <a:rPr lang="ru-RU" sz="2000" dirty="0">
                <a:latin typeface="Five Minutes" panose="02000506000000020004" pitchFamily="50" charset="0"/>
              </a:rPr>
              <a:t>потомок отсутствует, добавляем 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576439" y="1394590"/>
            <a:ext cx="313323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30 </a:t>
            </a:r>
            <a:r>
              <a:rPr lang="en-US" sz="2000" dirty="0" smtClean="0">
                <a:latin typeface="Five Minutes" panose="02000506000000020004" pitchFamily="50" charset="0"/>
              </a:rPr>
              <a:t>&gt; 10, </a:t>
            </a:r>
            <a:r>
              <a:rPr lang="ru-RU" sz="2000" dirty="0" smtClean="0">
                <a:latin typeface="Five Minutes" panose="02000506000000020004" pitchFamily="50" charset="0"/>
              </a:rPr>
              <a:t>справа 20</a:t>
            </a:r>
            <a:endParaRPr lang="en-US" sz="2000" dirty="0" smtClean="0">
              <a:latin typeface="Five Minutes" panose="02000506000000020004" pitchFamily="50" charset="0"/>
            </a:endParaRPr>
          </a:p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30</a:t>
            </a:r>
            <a:r>
              <a:rPr lang="en-US" sz="2000" dirty="0" smtClean="0">
                <a:latin typeface="Five Minutes" panose="02000506000000020004" pitchFamily="50" charset="0"/>
              </a:rPr>
              <a:t> &gt; 20, </a:t>
            </a:r>
            <a:r>
              <a:rPr lang="ru-RU" sz="2000" dirty="0" smtClean="0">
                <a:latin typeface="Five Minutes" panose="02000506000000020004" pitchFamily="50" charset="0"/>
              </a:rPr>
              <a:t>справа 25</a:t>
            </a:r>
          </a:p>
          <a:p>
            <a:pPr algn="r"/>
            <a:r>
              <a:rPr lang="ru-RU" sz="2000" dirty="0" smtClean="0">
                <a:latin typeface="Five Minutes" panose="02000506000000020004" pitchFamily="50" charset="0"/>
              </a:rPr>
              <a:t>30 </a:t>
            </a:r>
            <a:r>
              <a:rPr lang="en-US" sz="2000" dirty="0" smtClean="0">
                <a:latin typeface="Five Minutes" panose="02000506000000020004" pitchFamily="50" charset="0"/>
              </a:rPr>
              <a:t>&gt; 25, </a:t>
            </a:r>
            <a:r>
              <a:rPr lang="ru-RU" sz="2000" dirty="0" smtClean="0">
                <a:latin typeface="Five Minutes" panose="02000506000000020004" pitchFamily="50" charset="0"/>
              </a:rPr>
              <a:t>правый </a:t>
            </a:r>
            <a:r>
              <a:rPr lang="ru-RU" sz="2000" dirty="0">
                <a:latin typeface="Five Minutes" panose="02000506000000020004" pitchFamily="50" charset="0"/>
              </a:rPr>
              <a:t>потомок отсутствует, добавляем </a:t>
            </a:r>
          </a:p>
        </p:txBody>
      </p:sp>
      <p:sp>
        <p:nvSpPr>
          <p:cNvPr id="190" name="TextBox 189">
            <a:hlinkClick r:id="" action="ppaction://hlinkshowjump?jump=firstslide"/>
          </p:cNvPr>
          <p:cNvSpPr txBox="1"/>
          <p:nvPr/>
        </p:nvSpPr>
        <p:spPr>
          <a:xfrm>
            <a:off x="10357977" y="10362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845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4.44444E-6 L 0.07188 0.00208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94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188 0.00209 L 0.15235 0.00162 " pathEditMode="relative" rAng="0" ptsTypes="AA">
                                      <p:cBhvr>
                                        <p:cTn id="9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02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235 0.00162 L 0.22579 0.00069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7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579 0.0007 L 0.31029 0.00069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19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1029 0.0007 L 0.38698 0.00208 " pathEditMode="relative" rAng="0" ptsTypes="AA">
                                      <p:cBhvr>
                                        <p:cTn id="16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6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9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2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8698 0.00208 L 0.45938 0.00162 " pathEditMode="relative" rAng="0" ptsTypes="AA">
                                      <p:cBhvr>
                                        <p:cTn id="19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59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0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938 0.00162 L 0.53347 0.00416 " pathEditMode="relative" rAng="0" ptsTypes="AA">
                                      <p:cBhvr>
                                        <p:cTn id="21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98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2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5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8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3347 0.00417 L 0.61016 0.0037 " pathEditMode="relative" rAng="0" ptsTypes="AA">
                                      <p:cBhvr>
                                        <p:cTn id="242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8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7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61015 0.0037 L 0.68438 0.00185 " pathEditMode="relative" rAng="0" ptsTypes="AA">
                                      <p:cBhvr>
                                        <p:cTn id="26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8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indefinite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indefinite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9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5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9" grpId="6" animBg="1"/>
      <p:bldP spid="9" grpId="7" animBg="1"/>
      <p:bldP spid="9" grpId="8" animBg="1"/>
      <p:bldP spid="9" grpId="9" animBg="1"/>
      <p:bldP spid="35" grpId="0" animBg="1"/>
      <p:bldP spid="36" grpId="0" animBg="1"/>
      <p:bldP spid="38" grpId="0"/>
      <p:bldP spid="39" grpId="0"/>
      <p:bldP spid="41" grpId="0" animBg="1"/>
      <p:bldP spid="42" grpId="0" animBg="1"/>
      <p:bldP spid="43" grpId="0" animBg="1"/>
      <p:bldP spid="184" grpId="0" animBg="1"/>
      <p:bldP spid="185" grpId="0"/>
      <p:bldP spid="185" grpId="1"/>
      <p:bldP spid="186" grpId="0"/>
      <p:bldP spid="186" grpId="1"/>
      <p:bldP spid="187" grpId="0"/>
      <p:bldP spid="187" grpId="1"/>
      <p:bldP spid="188" grpId="0"/>
      <p:bldP spid="189" grpId="0"/>
      <p:bldP spid="189" grpId="1"/>
      <p:bldP spid="191" grpId="0"/>
      <p:bldP spid="191" grpId="1"/>
      <p:bldP spid="192" grpId="0"/>
      <p:bldP spid="192" grpId="1"/>
      <p:bldP spid="193" grpId="0"/>
      <p:bldP spid="193" grpId="1"/>
      <p:bldP spid="194" grpId="0"/>
      <p:bldP spid="195" grpId="0"/>
      <p:bldP spid="196" grpId="0"/>
      <p:bldP spid="196" grpId="1"/>
      <p:bldP spid="197" grpId="0"/>
      <p:bldP spid="197" grpId="1"/>
      <p:bldP spid="198" grpId="0"/>
      <p:bldP spid="199" grpId="0"/>
      <p:bldP spid="200" grpId="0"/>
      <p:bldP spid="201" grpId="0"/>
      <p:bldP spid="202" grpId="0"/>
      <p:bldP spid="203" grpId="0"/>
      <p:bldP spid="204" grpId="0"/>
      <p:bldP spid="205" grpId="0"/>
      <p:bldP spid="220" grpId="0"/>
      <p:bldP spid="221" grpId="0"/>
      <p:bldP spid="222" grpId="0"/>
      <p:bldP spid="223" grpId="0"/>
      <p:bldP spid="224" grpId="0"/>
      <p:bldP spid="225" grpId="0"/>
      <p:bldP spid="226" grpId="0"/>
      <p:bldP spid="2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765812"/>
            <a:ext cx="10953750" cy="521017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221456"/>
            <a:ext cx="10515600" cy="2852737"/>
          </a:xfrm>
        </p:spPr>
        <p:txBody>
          <a:bodyPr>
            <a:normAutofit/>
          </a:bodyPr>
          <a:lstStyle/>
          <a:p>
            <a:r>
              <a:rPr lang="ru-RU" sz="8000" dirty="0" smtClean="0">
                <a:latin typeface="Five Minutes" panose="02000506000000020004" pitchFamily="50" charset="0"/>
              </a:rPr>
              <a:t>Обход бинарного дерева </a:t>
            </a:r>
            <a:br>
              <a:rPr lang="ru-RU" sz="8000" dirty="0" smtClean="0">
                <a:latin typeface="Five Minutes" panose="02000506000000020004" pitchFamily="50" charset="0"/>
              </a:rPr>
            </a:br>
            <a:r>
              <a:rPr lang="ru-RU" sz="8000" dirty="0" smtClean="0">
                <a:latin typeface="Five Minutes" panose="02000506000000020004" pitchFamily="50" charset="0"/>
              </a:rPr>
              <a:t>поиска</a:t>
            </a:r>
            <a:endParaRPr lang="ru-RU" sz="8000" dirty="0">
              <a:latin typeface="Five Minutes" panose="02000506000000020004" pitchFamily="50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TextBox 8">
            <a:hlinkClick r:id="" action="ppaction://hlinkshowjump?jump=firstslide"/>
          </p:cNvPr>
          <p:cNvSpPr txBox="1"/>
          <p:nvPr/>
        </p:nvSpPr>
        <p:spPr>
          <a:xfrm>
            <a:off x="5608997" y="6445496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76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Five Minutes" panose="02000506000000020004" pitchFamily="50" charset="0"/>
              </a:rPr>
              <a:t>Прежде чем обходить дерево, рассмотрим следующие функции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print_node</a:t>
            </a:r>
            <a:endParaRPr lang="en-US" sz="4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4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push_stack</a:t>
            </a:r>
            <a:endParaRPr lang="en-US" sz="4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4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sz="4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op_stack</a:t>
            </a:r>
            <a:endParaRPr lang="ru-RU" sz="4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hlinkClick r:id="" action="ppaction://hlinkshowjump?jump=firstslide"/>
          </p:cNvPr>
          <p:cNvSpPr txBox="1"/>
          <p:nvPr/>
        </p:nvSpPr>
        <p:spPr>
          <a:xfrm>
            <a:off x="10357977" y="10362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112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print_node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print_node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"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3600" dirty="0" smtClean="0">
                <a:latin typeface="Five Minutes" panose="02000506000000020004" pitchFamily="50" charset="0"/>
                <a:cs typeface="Courier New" panose="02070309020205020404" pitchFamily="49" charset="0"/>
              </a:rPr>
              <a:t>Функция осуществляет вывод числа 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ru-RU" sz="3600" dirty="0" smtClean="0">
                <a:latin typeface="Five Minutes" panose="02000506000000020004" pitchFamily="50" charset="0"/>
                <a:cs typeface="Courier New" panose="02070309020205020404" pitchFamily="49" charset="0"/>
              </a:rPr>
              <a:t> на экран</a:t>
            </a:r>
            <a:endParaRPr lang="ru-RU" sz="3600" dirty="0">
              <a:latin typeface="Five Minutes" panose="02000506000000020004" pitchFamily="50" charset="0"/>
              <a:cs typeface="Courier New" panose="02070309020205020404" pitchFamily="49" charset="0"/>
            </a:endParaRPr>
          </a:p>
        </p:txBody>
      </p:sp>
      <p:sp>
        <p:nvSpPr>
          <p:cNvPr id="4" name="TextBox 3">
            <a:hlinkClick r:id="" action="ppaction://hlinkshowjump?jump=firstslide"/>
          </p:cNvPr>
          <p:cNvSpPr txBox="1"/>
          <p:nvPr/>
        </p:nvSpPr>
        <p:spPr>
          <a:xfrm>
            <a:off x="10357977" y="10362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33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push_stack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44098"/>
            <a:ext cx="10515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3600" dirty="0" smtClean="0">
                <a:latin typeface="Five Minutes" panose="02000506000000020004" pitchFamily="50" charset="0"/>
                <a:cs typeface="Courier New" panose="02070309020205020404" pitchFamily="49" charset="0"/>
              </a:rPr>
              <a:t>Функция добавляет элемент в </a:t>
            </a:r>
            <a:r>
              <a:rPr lang="ru-RU" sz="3600" dirty="0" err="1" smtClean="0">
                <a:latin typeface="Five Minutes" panose="02000506000000020004" pitchFamily="50" charset="0"/>
                <a:cs typeface="Courier New" panose="02070309020205020404" pitchFamily="49" charset="0"/>
              </a:rPr>
              <a:t>стэк</a:t>
            </a:r>
            <a:endParaRPr lang="ru-RU" sz="3600" dirty="0" smtClean="0">
              <a:latin typeface="Five Minutes" panose="02000506000000020004" pitchFamily="50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sz="3600" dirty="0" smtClean="0">
                <a:latin typeface="Five Minutes" panose="02000506000000020004" pitchFamily="50" charset="0"/>
                <a:cs typeface="Courier New" panose="02070309020205020404" pitchFamily="49" charset="0"/>
              </a:rPr>
              <a:t>Элементы </a:t>
            </a:r>
            <a:r>
              <a:rPr lang="ru-RU" sz="3600" dirty="0" err="1" smtClean="0">
                <a:latin typeface="Five Minutes" panose="02000506000000020004" pitchFamily="50" charset="0"/>
                <a:cs typeface="Courier New" panose="02070309020205020404" pitchFamily="49" charset="0"/>
              </a:rPr>
              <a:t>стэка</a:t>
            </a:r>
            <a:r>
              <a:rPr lang="ru-RU" sz="3600" dirty="0" smtClean="0">
                <a:latin typeface="Five Minutes" panose="02000506000000020004" pitchFamily="50" charset="0"/>
                <a:cs typeface="Courier New" panose="02070309020205020404" pitchFamily="49" charset="0"/>
              </a:rPr>
              <a:t> – </a:t>
            </a:r>
            <a:r>
              <a:rPr lang="ru-RU" sz="3600" dirty="0" smtClean="0">
                <a:solidFill>
                  <a:schemeClr val="accent6">
                    <a:lumMod val="75000"/>
                  </a:schemeClr>
                </a:solidFill>
                <a:latin typeface="Five Minutes" panose="02000506000000020004" pitchFamily="50" charset="0"/>
                <a:cs typeface="Courier New" panose="02070309020205020404" pitchFamily="49" charset="0"/>
              </a:rPr>
              <a:t>ссылки</a:t>
            </a:r>
            <a:r>
              <a:rPr lang="ru-RU" sz="3600" dirty="0" smtClean="0">
                <a:latin typeface="Five Minutes" panose="02000506000000020004" pitchFamily="50" charset="0"/>
                <a:cs typeface="Courier New" panose="02070309020205020404" pitchFamily="49" charset="0"/>
              </a:rPr>
              <a:t> на элементы дерева</a:t>
            </a: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push_stack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stackNode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&amp;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stackNode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p;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>
                <a:solidFill>
                  <a:srgbClr val="00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stackNode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&gt;node = t;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&gt;next =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p;</a:t>
            </a: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1225026" y="1289936"/>
            <a:ext cx="7884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err="1" smtClean="0">
                <a:latin typeface="Five Minutes" panose="02000506000000020004" pitchFamily="50" charset="0"/>
              </a:rPr>
              <a:t>Стэк</a:t>
            </a:r>
            <a:endParaRPr lang="ru-RU" sz="2400" dirty="0">
              <a:latin typeface="Five Minutes" panose="02000506000000020004" pitchFamily="50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370697" y="196763"/>
            <a:ext cx="125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Five Minutes" panose="02000506000000020004" pitchFamily="50" charset="0"/>
              </a:rPr>
              <a:t>s</a:t>
            </a:r>
            <a:r>
              <a:rPr lang="en-US" dirty="0" err="1" smtClean="0">
                <a:latin typeface="Five Minutes" panose="02000506000000020004" pitchFamily="50" charset="0"/>
              </a:rPr>
              <a:t>tack_top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408953" y="1734087"/>
            <a:ext cx="125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Five Minutes" panose="02000506000000020004" pitchFamily="50" charset="0"/>
              </a:rPr>
              <a:t>н</a:t>
            </a:r>
            <a:r>
              <a:rPr lang="ru-RU" dirty="0" smtClean="0">
                <a:latin typeface="Five Minutes" panose="02000506000000020004" pitchFamily="50" charset="0"/>
              </a:rPr>
              <a:t>овый элемент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69" name="TextBox 68">
            <a:hlinkClick r:id="" action="ppaction://hlinkshowjump?jump=firstslide"/>
          </p:cNvPr>
          <p:cNvSpPr txBox="1"/>
          <p:nvPr/>
        </p:nvSpPr>
        <p:spPr>
          <a:xfrm>
            <a:off x="10357977" y="10362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  <p:grpSp>
        <p:nvGrpSpPr>
          <p:cNvPr id="9" name="Группа 8"/>
          <p:cNvGrpSpPr/>
          <p:nvPr/>
        </p:nvGrpSpPr>
        <p:grpSpPr>
          <a:xfrm>
            <a:off x="7158182" y="517236"/>
            <a:ext cx="1468582" cy="757382"/>
            <a:chOff x="7158182" y="517236"/>
            <a:chExt cx="1468582" cy="757382"/>
          </a:xfrm>
        </p:grpSpPr>
        <p:sp>
          <p:nvSpPr>
            <p:cNvPr id="4" name="Скругленный прямоугольник 3"/>
            <p:cNvSpPr/>
            <p:nvPr/>
          </p:nvSpPr>
          <p:spPr>
            <a:xfrm>
              <a:off x="7158182" y="517236"/>
              <a:ext cx="1468582" cy="757382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4" name="TextBox 83"/>
            <p:cNvSpPr txBox="1"/>
            <p:nvPr/>
          </p:nvSpPr>
          <p:spPr>
            <a:xfrm flipH="1">
              <a:off x="7670569" y="582508"/>
              <a:ext cx="4438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200" dirty="0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*</a:t>
              </a:r>
              <a:endParaRPr lang="ru-RU" sz="3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0" name="Группа 9"/>
          <p:cNvGrpSpPr/>
          <p:nvPr/>
        </p:nvGrpSpPr>
        <p:grpSpPr>
          <a:xfrm>
            <a:off x="8776320" y="514081"/>
            <a:ext cx="1468582" cy="757382"/>
            <a:chOff x="8776320" y="514081"/>
            <a:chExt cx="1468582" cy="757382"/>
          </a:xfrm>
        </p:grpSpPr>
        <p:sp>
          <p:nvSpPr>
            <p:cNvPr id="35" name="Скругленный прямоугольник 34"/>
            <p:cNvSpPr/>
            <p:nvPr/>
          </p:nvSpPr>
          <p:spPr>
            <a:xfrm>
              <a:off x="8776320" y="514081"/>
              <a:ext cx="1468582" cy="757382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7" name="TextBox 86"/>
            <p:cNvSpPr txBox="1"/>
            <p:nvPr/>
          </p:nvSpPr>
          <p:spPr>
            <a:xfrm flipH="1">
              <a:off x="9288707" y="565289"/>
              <a:ext cx="4438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200" dirty="0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*</a:t>
              </a:r>
              <a:endParaRPr lang="ru-RU" sz="3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1" name="Группа 10"/>
          <p:cNvGrpSpPr/>
          <p:nvPr/>
        </p:nvGrpSpPr>
        <p:grpSpPr>
          <a:xfrm>
            <a:off x="10380758" y="520391"/>
            <a:ext cx="1468582" cy="757382"/>
            <a:chOff x="10380758" y="520391"/>
            <a:chExt cx="1468582" cy="757382"/>
          </a:xfrm>
        </p:grpSpPr>
        <p:sp>
          <p:nvSpPr>
            <p:cNvPr id="49" name="Скругленный прямоугольник 48"/>
            <p:cNvSpPr/>
            <p:nvPr/>
          </p:nvSpPr>
          <p:spPr>
            <a:xfrm>
              <a:off x="10380758" y="520391"/>
              <a:ext cx="1468582" cy="757382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0" name="TextBox 89"/>
            <p:cNvSpPr txBox="1"/>
            <p:nvPr/>
          </p:nvSpPr>
          <p:spPr>
            <a:xfrm flipH="1">
              <a:off x="10944281" y="609904"/>
              <a:ext cx="4438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200" dirty="0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*</a:t>
              </a:r>
              <a:endParaRPr lang="ru-RU" sz="3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5" name="Группа 14"/>
          <p:cNvGrpSpPr/>
          <p:nvPr/>
        </p:nvGrpSpPr>
        <p:grpSpPr>
          <a:xfrm>
            <a:off x="7952509" y="1697391"/>
            <a:ext cx="1854112" cy="757382"/>
            <a:chOff x="7952509" y="1697391"/>
            <a:chExt cx="1854112" cy="757382"/>
          </a:xfrm>
        </p:grpSpPr>
        <p:sp>
          <p:nvSpPr>
            <p:cNvPr id="70" name="Скругленный прямоугольник 69"/>
            <p:cNvSpPr/>
            <p:nvPr/>
          </p:nvSpPr>
          <p:spPr>
            <a:xfrm>
              <a:off x="7952509" y="1697391"/>
              <a:ext cx="1468582" cy="757382"/>
            </a:xfrm>
            <a:prstGeom prst="roundRect">
              <a:avLst/>
            </a:prstGeom>
            <a:ln w="1905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cxnSp>
          <p:nvCxnSpPr>
            <p:cNvPr id="86" name="Прямая со стрелкой 85"/>
            <p:cNvCxnSpPr/>
            <p:nvPr/>
          </p:nvCxnSpPr>
          <p:spPr>
            <a:xfrm>
              <a:off x="9187784" y="2094286"/>
              <a:ext cx="618837" cy="0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Прямая со стрелкой 64"/>
          <p:cNvCxnSpPr/>
          <p:nvPr/>
        </p:nvCxnSpPr>
        <p:spPr>
          <a:xfrm>
            <a:off x="8377382" y="908090"/>
            <a:ext cx="618837" cy="0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Прямая со стрелкой 65"/>
          <p:cNvCxnSpPr/>
          <p:nvPr/>
        </p:nvCxnSpPr>
        <p:spPr>
          <a:xfrm>
            <a:off x="10041953" y="917555"/>
            <a:ext cx="618837" cy="0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Группа 18"/>
          <p:cNvGrpSpPr/>
          <p:nvPr/>
        </p:nvGrpSpPr>
        <p:grpSpPr>
          <a:xfrm>
            <a:off x="11189995" y="1918753"/>
            <a:ext cx="718437" cy="584775"/>
            <a:chOff x="11189995" y="1918753"/>
            <a:chExt cx="718437" cy="584775"/>
          </a:xfrm>
        </p:grpSpPr>
        <p:sp>
          <p:nvSpPr>
            <p:cNvPr id="85" name="TextBox 84"/>
            <p:cNvSpPr txBox="1"/>
            <p:nvPr/>
          </p:nvSpPr>
          <p:spPr>
            <a:xfrm>
              <a:off x="11585042" y="1940112"/>
              <a:ext cx="323390" cy="3763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ru-RU" dirty="0">
                <a:latin typeface="Five Minutes" panose="02000506000000020004" pitchFamily="50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 flipH="1">
              <a:off x="11189995" y="1918753"/>
              <a:ext cx="4438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200" dirty="0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*</a:t>
              </a:r>
              <a:endParaRPr lang="ru-RU" sz="32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06227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 tmFilter="0, 0; .2, .5; .8, .5; 1, 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50" autoRev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 tmFilter="0, 0; .2, .5; .8, .5; 1, 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1" dur="250" autoRev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6 6.2963E-6 L -2.08333E-6 6.2963E-6 C -0.00326 0.00209 -0.00664 0.00348 -0.00977 0.00579 C -0.01953 0.01297 -0.00821 0.00811 -0.01784 0.01158 C -0.02591 0.02015 -0.02044 0.01529 -0.03555 0.02316 C -0.03737 0.02408 -0.03933 0.02478 -0.04115 0.02593 C -0.04284 0.02686 -0.0444 0.02825 -0.04597 0.02871 C -0.04948 0.0301 -0.053 0.03079 -0.05651 0.03172 C -0.08112 0.04816 -0.05065 0.02848 -0.06693 0.03751 C -0.06914 0.03866 -0.07123 0.04052 -0.07344 0.04167 C -0.07683 0.04353 -0.08047 0.04422 -0.08386 0.04607 C -0.10378 0.05556 -0.07943 0.04515 -0.09766 0.05464 C -0.1 0.05579 -0.10248 0.05626 -0.10482 0.05741 C -0.1086 0.05927 -0.11237 0.06158 -0.11615 0.0632 C -0.11953 0.06459 -0.12917 0.06575 -0.13151 0.06621 L -0.17018 0.06459 C -0.17123 0.06459 -0.1724 0.0639 -0.17344 0.0632 C -0.17448 0.06251 -0.17552 0.06112 -0.17656 0.06042 C -0.178 0.05927 -0.1793 0.05857 -0.1806 0.05741 C -0.18255 0.05579 -0.18438 0.05371 -0.18633 0.05163 C -0.18711 0.05093 -0.18789 0.04954 -0.18867 0.04885 C -0.18998 0.04769 -0.19141 0.04723 -0.19271 0.04607 C -0.1961 0.04283 -0.19883 0.03797 -0.20248 0.03589 C -0.20495 0.0345 -0.2056 0.03427 -0.20808 0.03172 C -0.20808 0.03172 -0.21406 0.02454 -0.21537 0.02316 L -0.21771 0.02015 C -0.21823 0.01876 -0.21901 0.01737 -0.2194 0.01598 C -0.22005 0.0132 -0.22097 0.00718 -0.22097 0.00718 C -0.22123 0.00348 -0.22136 -0.00046 -0.22175 -0.00416 C -0.22201 -0.00647 -0.22279 -0.0118 -0.22344 -0.01434 C -0.22357 -0.01527 -0.22396 -0.0162 -0.22422 -0.01712 L -0.22735 -0.0199 " pathEditMode="relative" ptsTypes="AAAAAAAAAAAAAAAAAAAAAAAAAAAAAAAA">
                                      <p:cBhvr>
                                        <p:cTn id="9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 tmFilter="0, 0; .2, .5; .8, .5; 1, 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0" dur="250" autoRev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0.00277 L 4.79167E-6 0.00324 L -0.02123 0.00023 C -0.02357 -0.00047 -0.02566 -0.00047 -0.028 -0.00116 C -0.03347 -0.00301 -0.03894 -0.00602 -0.04441 -0.00764 C -0.06902 -0.01551 -0.0362 -0.00209 -0.06329 -0.01227 C -0.06602 -0.01297 -0.06836 -0.01459 -0.0711 -0.01551 C -0.08165 -0.02014 -0.08633 -0.02084 -0.09662 -0.02338 C -0.1017 -0.02662 -0.10417 -0.02871 -0.1086 -0.03033 C -0.11303 -0.03195 -0.11784 -0.03287 -0.12162 -0.03588 C -0.12318 -0.03681 -0.12487 -0.0375 -0.12631 -0.0382 C -0.12839 -0.03982 -0.13282 -0.04329 -0.13282 -0.04306 C -0.13308 -0.04468 -0.13308 -0.0463 -0.13386 -0.04723 C -0.13724 -0.05162 -0.14102 -0.05486 -0.14506 -0.05811 C -0.1461 -0.0588 -0.1474 -0.05949 -0.14818 -0.06042 C -0.15873 -0.07153 -0.15013 -0.06297 -0.15599 -0.07084 C -0.15704 -0.07246 -0.15808 -0.07385 -0.15938 -0.07524 C -0.15977 -0.07616 -0.15977 -0.07778 -0.16042 -0.0794 C -0.16146 -0.08079 -0.16277 -0.08172 -0.16355 -0.08334 C -0.16485 -0.08473 -0.16589 -0.08658 -0.16719 -0.0882 C -0.16784 -0.08959 -0.16862 -0.09121 -0.16928 -0.09213 C -0.16993 -0.09422 -0.17071 -0.09584 -0.17136 -0.09746 C -0.17409 -0.10301 -0.17774 -0.10787 -0.18165 -0.1125 C -0.18334 -0.11389 -0.18503 -0.11551 -0.18698 -0.11713 C -0.18803 -0.1213 -0.18842 -0.12269 -0.19037 -0.12662 C -0.19154 -0.12894 -0.19388 -0.13149 -0.1948 -0.13449 C -0.19974 -0.15348 -0.1948 -0.1338 -0.19792 -0.14792 C -0.19831 -0.14885 -0.19896 -0.15024 -0.19909 -0.15186 C -0.19961 -0.15417 -0.19974 -0.15672 -0.20027 -0.15973 C -0.20066 -0.16621 -0.20105 -0.17246 -0.20144 -0.17894 C -0.20209 -0.17894 -0.20352 -0.17338 -0.20404 -0.17338 " pathEditMode="relative" rAng="0" ptsTypes="AAAAAAAAAAAAAAAAAAAAAAAAAAAAAAA">
                                      <p:cBhvr>
                                        <p:cTn id="10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208" y="-9074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735 -0.01991 L -0.22735 -0.01968 C -0.23021 -0.01968 -0.23295 -0.01852 -0.23555 -0.01852 C -0.23646 -0.01852 -0.23724 -0.01968 -0.23803 -0.01991 C -0.24011 -0.02061 -0.24232 -0.0213 -0.24454 -0.02223 C -0.24532 -0.02269 -0.2461 -0.02315 -0.24688 -0.02338 C -0.24961 -0.02431 -0.25222 -0.025 -0.25495 -0.0257 C -0.25625 -0.02616 -0.25769 -0.02639 -0.25899 -0.02686 C -0.25977 -0.02732 -0.26055 -0.02778 -0.26146 -0.02801 C -0.26602 -0.02987 -0.26459 -0.02871 -0.26862 -0.03033 C -0.27032 -0.03102 -0.27188 -0.03218 -0.27357 -0.03288 L -0.28321 -0.03612 C -0.28438 -0.03681 -0.28555 -0.03704 -0.28659 -0.0375 C -0.28737 -0.03797 -0.28816 -0.03797 -0.28894 -0.03866 C -0.29011 -0.03936 -0.29102 -0.04028 -0.29219 -0.04098 C -0.29349 -0.04167 -0.29493 -0.04167 -0.29623 -0.04213 C -0.29701 -0.04306 -0.29779 -0.04399 -0.2987 -0.04445 C -0.30482 -0.04815 -0.30313 -0.04584 -0.30912 -0.04792 C -0.31081 -0.04862 -0.31237 -0.04954 -0.31394 -0.05024 C -0.31472 -0.0507 -0.31563 -0.05093 -0.31641 -0.05139 C -0.31745 -0.05232 -0.31849 -0.05348 -0.31967 -0.05371 C -0.32123 -0.0544 -0.32279 -0.0544 -0.32448 -0.0551 C -0.32553 -0.05533 -0.32657 -0.05579 -0.32761 -0.05625 C -0.3293 -0.05649 -0.33086 -0.05672 -0.33256 -0.05741 C -0.33334 -0.05741 -0.33412 -0.05811 -0.3349 -0.05857 C -0.33698 -0.0595 -0.33868 -0.0595 -0.34076 -0.06088 C -0.3418 -0.06158 -0.34284 -0.06274 -0.34388 -0.0632 C -0.34493 -0.06366 -0.3461 -0.06389 -0.34714 -0.06436 C -0.34792 -0.06459 -0.3487 -0.06528 -0.34961 -0.06551 C -0.3517 -0.06598 -0.35391 -0.06621 -0.35599 -0.06667 C -0.35717 -0.0669 -0.35821 -0.0676 -0.35925 -0.06783 C -0.36263 -0.06899 -0.36459 -0.06945 -0.3681 -0.07014 C -0.36914 -0.07084 -0.37019 -0.07176 -0.37136 -0.07269 C -0.37292 -0.07338 -0.37474 -0.07362 -0.37618 -0.075 C -0.37696 -0.0757 -0.37774 -0.07686 -0.37865 -0.07709 C -0.38021 -0.07801 -0.38178 -0.07801 -0.38347 -0.07848 C -0.38399 -0.07963 -0.38425 -0.08102 -0.38503 -0.08195 C -0.38711 -0.08403 -0.39076 -0.08473 -0.3931 -0.08542 C -0.39388 -0.08612 -0.39467 -0.08727 -0.39558 -0.08774 C -0.39948 -0.09051 -0.4017 -0.09075 -0.40612 -0.09237 C -0.40808 -0.09329 -0.4099 -0.09399 -0.41185 -0.09468 C -0.41263 -0.09514 -0.41342 -0.09561 -0.4142 -0.09607 C -0.4155 -0.0963 -0.41693 -0.09653 -0.41823 -0.09723 C -0.41914 -0.09746 -0.4198 -0.09792 -0.42071 -0.09838 C -0.42175 -0.09862 -0.42279 -0.09908 -0.42396 -0.09954 C -0.42474 -0.10047 -0.42539 -0.10186 -0.42631 -0.10301 C -0.42787 -0.10463 -0.42982 -0.10556 -0.43112 -0.10764 C -0.43829 -0.11783 -0.4293 -0.10533 -0.43594 -0.11366 C -0.43685 -0.11459 -0.43763 -0.11575 -0.43842 -0.1169 C -0.43998 -0.12385 -0.43803 -0.1176 -0.44167 -0.12292 C -0.44297 -0.12477 -0.44401 -0.12894 -0.44493 -0.13125 C -0.44701 -0.13658 -0.44584 -0.13288 -0.44896 -0.1382 C -0.44948 -0.13913 -0.45 -0.14028 -0.45053 -0.14144 C -0.45261 -0.1507 -0.45183 -0.1463 -0.45287 -0.15463 C -0.45235 -0.16112 -0.45248 -0.16297 -0.45131 -0.16852 C -0.45079 -0.17084 -0.45066 -0.17338 -0.44974 -0.17547 C -0.44857 -0.17801 -0.44805 -0.18102 -0.44649 -0.18241 L -0.44401 -0.18496 C -0.44284 -0.1875 -0.44258 -0.18936 -0.43998 -0.18936 C -0.43816 -0.18936 -0.43438 -0.18843 -0.43438 -0.1882 L -0.43685 -0.18843 " pathEditMode="relative" rAng="0" ptsTypes="AAAAAAAAAAAAAAAAAAAAAAAAAAAAAAAAAAAAAAAAAAAAAAAAAAAAAAAAAAAAA">
                                      <p:cBhvr>
                                        <p:cTn id="10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76" y="-8403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 tmFilter="0, 0; .2, .5; .8, .5; 1, 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3" dur="250" autoRev="1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44444E-6 L -0.14466 -0.00232 " pathEditMode="relative" rAng="0" ptsTypes="AA">
                                      <p:cBhvr>
                                        <p:cTn id="117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240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67" grpId="0"/>
      <p:bldP spid="68" grpId="0"/>
      <p:bldP spid="68" grpId="1"/>
      <p:bldP spid="83" grpId="0"/>
      <p:bldP spid="8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pop_stack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3600" dirty="0" smtClean="0">
                <a:latin typeface="Five Minutes" panose="02000506000000020004" pitchFamily="50" charset="0"/>
                <a:cs typeface="Courier New" panose="02070309020205020404" pitchFamily="49" charset="0"/>
              </a:rPr>
              <a:t>Данная функция получает элемент из </a:t>
            </a:r>
            <a:r>
              <a:rPr lang="ru-RU" sz="3600" dirty="0" err="1" smtClean="0">
                <a:latin typeface="Five Minutes" panose="02000506000000020004" pitchFamily="50" charset="0"/>
                <a:cs typeface="Courier New" panose="02070309020205020404" pitchFamily="49" charset="0"/>
              </a:rPr>
              <a:t>стэка</a:t>
            </a:r>
            <a:endParaRPr lang="ru-RU" sz="3600" dirty="0" smtClean="0">
              <a:latin typeface="Five Minutes" panose="02000506000000020004" pitchFamily="50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pop_stack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stackNode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&amp;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stackNode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*p;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-&gt;node;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-&gt;next;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smtClean="0">
                <a:solidFill>
                  <a:srgbClr val="00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 smtClean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 p;</a:t>
            </a:r>
          </a:p>
          <a:p>
            <a:pPr marL="0" indent="0">
              <a:buNone/>
            </a:pP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976848" y="1404616"/>
            <a:ext cx="29791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Five Minutes" panose="02000506000000020004" pitchFamily="50" charset="0"/>
              </a:rPr>
              <a:t>Из </a:t>
            </a:r>
            <a:r>
              <a:rPr lang="ru-RU" dirty="0" err="1" smtClean="0">
                <a:latin typeface="Five Minutes" panose="02000506000000020004" pitchFamily="50" charset="0"/>
              </a:rPr>
              <a:t>стэка</a:t>
            </a:r>
            <a:r>
              <a:rPr lang="ru-RU" dirty="0" smtClean="0">
                <a:latin typeface="Five Minutes" panose="02000506000000020004" pitchFamily="50" charset="0"/>
              </a:rPr>
              <a:t> с первым элементом 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dirty="0" smtClean="0">
                <a:latin typeface="Five Minutes" panose="02000506000000020004" pitchFamily="50" charset="0"/>
              </a:rPr>
              <a:t> </a:t>
            </a:r>
            <a:r>
              <a:rPr lang="ru-RU" dirty="0" smtClean="0">
                <a:latin typeface="Five Minutes" panose="02000506000000020004" pitchFamily="50" charset="0"/>
              </a:rPr>
              <a:t>будем записывать ссылку в 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76848" y="2281574"/>
            <a:ext cx="2290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Five Minutes" panose="02000506000000020004" pitchFamily="50" charset="0"/>
              </a:rPr>
              <a:t>Для перемещения первого элемента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976848" y="2848715"/>
            <a:ext cx="2428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Five Minutes" panose="02000506000000020004" pitchFamily="50" charset="0"/>
              </a:rPr>
              <a:t>Если </a:t>
            </a:r>
            <a:r>
              <a:rPr lang="ru-RU" dirty="0" err="1" smtClean="0">
                <a:latin typeface="Five Minutes" panose="02000506000000020004" pitchFamily="50" charset="0"/>
              </a:rPr>
              <a:t>стэк</a:t>
            </a:r>
            <a:r>
              <a:rPr lang="ru-RU" dirty="0" smtClean="0">
                <a:latin typeface="Five Minutes" panose="02000506000000020004" pitchFamily="50" charset="0"/>
              </a:rPr>
              <a:t> не пустой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976848" y="3149810"/>
            <a:ext cx="27825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Five Minutes" panose="02000506000000020004" pitchFamily="50" charset="0"/>
              </a:rPr>
              <a:t>Записываем в </a:t>
            </a:r>
            <a:r>
              <a:rPr lang="en-US" dirty="0" smtClean="0">
                <a:latin typeface="Five Minutes" panose="02000506000000020004" pitchFamily="50" charset="0"/>
              </a:rPr>
              <a:t>t</a:t>
            </a:r>
            <a:r>
              <a:rPr lang="ru-RU" dirty="0" smtClean="0">
                <a:latin typeface="Five Minutes" panose="02000506000000020004" pitchFamily="50" charset="0"/>
              </a:rPr>
              <a:t> первый элемент из </a:t>
            </a:r>
            <a:r>
              <a:rPr lang="ru-RU" dirty="0" err="1" smtClean="0">
                <a:latin typeface="Five Minutes" panose="02000506000000020004" pitchFamily="50" charset="0"/>
              </a:rPr>
              <a:t>стэка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76848" y="3716745"/>
            <a:ext cx="2507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Five Minutes" panose="02000506000000020004" pitchFamily="50" charset="0"/>
              </a:rPr>
              <a:t>Записываем следующий элемент </a:t>
            </a:r>
            <a:r>
              <a:rPr lang="ru-RU" dirty="0" err="1" smtClean="0">
                <a:latin typeface="Five Minutes" panose="02000506000000020004" pitchFamily="50" charset="0"/>
              </a:rPr>
              <a:t>стэка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84224" y="4313347"/>
            <a:ext cx="2507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Five Minutes" panose="02000506000000020004" pitchFamily="50" charset="0"/>
              </a:rPr>
              <a:t>Удаляем первый элемент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84224" y="4618005"/>
            <a:ext cx="25072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Five Minutes" panose="02000506000000020004" pitchFamily="50" charset="0"/>
              </a:rPr>
              <a:t>Следующий элемент становится первым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28" name="Скругленный прямоугольник 27"/>
          <p:cNvSpPr/>
          <p:nvPr/>
        </p:nvSpPr>
        <p:spPr>
          <a:xfrm>
            <a:off x="8776320" y="532554"/>
            <a:ext cx="1468582" cy="7573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Скругленный прямоугольник 41"/>
          <p:cNvSpPr/>
          <p:nvPr/>
        </p:nvSpPr>
        <p:spPr>
          <a:xfrm>
            <a:off x="10380758" y="538864"/>
            <a:ext cx="1468582" cy="75738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TextBox 55"/>
          <p:cNvSpPr txBox="1"/>
          <p:nvPr/>
        </p:nvSpPr>
        <p:spPr>
          <a:xfrm>
            <a:off x="7370697" y="220500"/>
            <a:ext cx="1256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Five Minutes" panose="02000506000000020004" pitchFamily="50" charset="0"/>
              </a:rPr>
              <a:t>s</a:t>
            </a:r>
            <a:r>
              <a:rPr lang="en-US" dirty="0" err="1" smtClean="0">
                <a:latin typeface="Five Minutes" panose="02000506000000020004" pitchFamily="50" charset="0"/>
              </a:rPr>
              <a:t>tack_top</a:t>
            </a:r>
            <a:endParaRPr lang="ru-RU" dirty="0">
              <a:latin typeface="Five Minutes" panose="02000506000000020004" pitchFamily="50" charset="0"/>
            </a:endParaRPr>
          </a:p>
        </p:txBody>
      </p:sp>
      <p:cxnSp>
        <p:nvCxnSpPr>
          <p:cNvPr id="57" name="Прямая со стрелкой 56"/>
          <p:cNvCxnSpPr/>
          <p:nvPr/>
        </p:nvCxnSpPr>
        <p:spPr>
          <a:xfrm>
            <a:off x="10071339" y="917555"/>
            <a:ext cx="618837" cy="0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370697" y="5807631"/>
            <a:ext cx="4034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8976848" y="196763"/>
            <a:ext cx="932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Five Minutes" panose="02000506000000020004" pitchFamily="50" charset="0"/>
              </a:rPr>
              <a:t>p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73" name="TextBox 72">
            <a:hlinkClick r:id="" action="ppaction://hlinkshowjump?jump=firstslide"/>
          </p:cNvPr>
          <p:cNvSpPr txBox="1"/>
          <p:nvPr/>
        </p:nvSpPr>
        <p:spPr>
          <a:xfrm>
            <a:off x="10357977" y="10362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  <p:grpSp>
        <p:nvGrpSpPr>
          <p:cNvPr id="8" name="Группа 7"/>
          <p:cNvGrpSpPr/>
          <p:nvPr/>
        </p:nvGrpSpPr>
        <p:grpSpPr>
          <a:xfrm>
            <a:off x="7158182" y="559446"/>
            <a:ext cx="1468582" cy="757382"/>
            <a:chOff x="7158182" y="535709"/>
            <a:chExt cx="1468582" cy="757382"/>
          </a:xfrm>
        </p:grpSpPr>
        <p:sp>
          <p:nvSpPr>
            <p:cNvPr id="14" name="Скругленный прямоугольник 13"/>
            <p:cNvSpPr/>
            <p:nvPr/>
          </p:nvSpPr>
          <p:spPr>
            <a:xfrm>
              <a:off x="7158182" y="535709"/>
              <a:ext cx="1468582" cy="757382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684386" y="643605"/>
              <a:ext cx="4544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3600" dirty="0" smtClean="0">
                  <a:latin typeface="Courier New" panose="02070309020205020404" pitchFamily="49" charset="0"/>
                  <a:cs typeface="Courier New" panose="02070309020205020404" pitchFamily="49" charset="0"/>
                </a:rPr>
                <a:t>*</a:t>
              </a:r>
              <a:endParaRPr lang="ru-RU" sz="36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7687736" y="643605"/>
            <a:ext cx="454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endParaRPr lang="ru-RU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9314955" y="611268"/>
            <a:ext cx="454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endParaRPr lang="ru-RU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956634" y="589832"/>
            <a:ext cx="4544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endParaRPr lang="ru-RU" sz="3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5" name="Прямая со стрелкой 54"/>
          <p:cNvCxnSpPr/>
          <p:nvPr/>
        </p:nvCxnSpPr>
        <p:spPr>
          <a:xfrm>
            <a:off x="8377382" y="908090"/>
            <a:ext cx="618837" cy="0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75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 tmFilter="0, 0; .2, .5; .8, .5; 1, 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5" dur="250" autoRev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9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4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9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4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9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 tmFilter="0, 0; .2, .5; .8, .5; 1, 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4" dur="250" autoRev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9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22222E-6 L 0.00586 0.74445 " pathEditMode="relative" rAng="0" ptsTypes="AA">
                                      <p:cBhvr>
                                        <p:cTn id="146" dur="2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6" y="372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 tmFilter="0, 0; .2, .5; .8, .5; 1, 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1" dur="250" autoRev="1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6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 tmFilter="0, 0; .2, .5; .8, .5; 1, 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6" dur="250" autoRev="1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1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 tmFilter="0, 0; .2, .5; .8, .5; 1, 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2" dur="250" autoRev="1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7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2.22222E-6 L 0.13268 0.00231 " pathEditMode="relative" rAng="0" ptsTypes="AA">
                                      <p:cBhvr>
                                        <p:cTn id="193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28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4" grpId="1"/>
      <p:bldP spid="5" grpId="0"/>
      <p:bldP spid="5" grpId="1"/>
      <p:bldP spid="6" grpId="0"/>
      <p:bldP spid="6" grpId="1"/>
      <p:bldP spid="9" grpId="1"/>
      <p:bldP spid="9" grpId="2"/>
      <p:bldP spid="10" grpId="1"/>
      <p:bldP spid="10" grpId="2"/>
      <p:bldP spid="11" grpId="1"/>
      <p:bldP spid="11" grpId="2"/>
      <p:bldP spid="12" grpId="1"/>
      <p:bldP spid="12" grpId="2"/>
      <p:bldP spid="28" grpId="0" animBg="1"/>
      <p:bldP spid="42" grpId="0" animBg="1"/>
      <p:bldP spid="56" grpId="0"/>
      <p:bldP spid="56" grpId="1"/>
      <p:bldP spid="58" grpId="0"/>
      <p:bldP spid="72" grpId="0"/>
      <p:bldP spid="72" grpId="1"/>
      <p:bldP spid="74" grpId="0"/>
      <p:bldP spid="74" grpId="1"/>
      <p:bldP spid="75" grpId="0"/>
      <p:bldP spid="7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85119" y="324463"/>
            <a:ext cx="10515600" cy="1325563"/>
          </a:xfrm>
        </p:spPr>
        <p:txBody>
          <a:bodyPr>
            <a:noAutofit/>
          </a:bodyPr>
          <a:lstStyle/>
          <a:p>
            <a:pPr algn="r"/>
            <a:r>
              <a:rPr lang="ru-RU" sz="6600" dirty="0" smtClean="0">
                <a:latin typeface="Five Minutes" panose="02000506000000020004" pitchFamily="50" charset="0"/>
              </a:rPr>
              <a:t>Симметричный обход дерева</a:t>
            </a:r>
            <a:endParaRPr lang="ru-RU" sz="6600" dirty="0">
              <a:latin typeface="Five Minutes" panose="02000506000000020004" pitchFamily="50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59773" y="117986"/>
            <a:ext cx="11648767" cy="567321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en-US" sz="12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inorder_tree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tree_top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 smtClean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stackNode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ru-RU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 smtClean="0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treeNode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dirty="0" err="1">
                <a:solidFill>
                  <a:schemeClr val="bg1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tree_top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</a:t>
            </a:r>
            <a:endParaRPr lang="en-US" sz="12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-&gt;left)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{</a:t>
            </a:r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push_stack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-&gt;left;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print_node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&gt;data);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-&gt;right;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1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pop_stack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print_node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&gt;data);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-&gt;right;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ru-RU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stack_top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||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tree_p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>
                <a:solidFill>
                  <a:srgbClr val="00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ru-RU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ru-RU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TextBox 19">
            <a:hlinkClick r:id="" action="ppaction://hlinkshowjump?jump=firstslide"/>
          </p:cNvPr>
          <p:cNvSpPr txBox="1"/>
          <p:nvPr/>
        </p:nvSpPr>
        <p:spPr>
          <a:xfrm>
            <a:off x="10357977" y="10362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  <p:grpSp>
        <p:nvGrpSpPr>
          <p:cNvPr id="21" name="Группа 20"/>
          <p:cNvGrpSpPr/>
          <p:nvPr/>
        </p:nvGrpSpPr>
        <p:grpSpPr>
          <a:xfrm>
            <a:off x="8382489" y="1650026"/>
            <a:ext cx="2196223" cy="627340"/>
            <a:chOff x="1" y="254355"/>
            <a:chExt cx="2303202" cy="657898"/>
          </a:xfrm>
        </p:grpSpPr>
        <p:sp>
          <p:nvSpPr>
            <p:cNvPr id="22" name="Прямоугольник 21"/>
            <p:cNvSpPr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23" name="TextBox 22"/>
            <p:cNvSpPr txBox="1"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24" name="Группа 23"/>
          <p:cNvGrpSpPr/>
          <p:nvPr/>
        </p:nvGrpSpPr>
        <p:grpSpPr>
          <a:xfrm>
            <a:off x="8382756" y="2381923"/>
            <a:ext cx="1045566" cy="627340"/>
            <a:chOff x="281" y="1021903"/>
            <a:chExt cx="1096496" cy="657898"/>
          </a:xfrm>
        </p:grpSpPr>
        <p:sp>
          <p:nvSpPr>
            <p:cNvPr id="25" name="Прямоугольник 24"/>
            <p:cNvSpPr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26" name="TextBox 25"/>
            <p:cNvSpPr txBox="1"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27" name="Группа 26"/>
          <p:cNvGrpSpPr/>
          <p:nvPr/>
        </p:nvGrpSpPr>
        <p:grpSpPr>
          <a:xfrm>
            <a:off x="9533146" y="2381923"/>
            <a:ext cx="1045566" cy="627340"/>
            <a:chOff x="1206427" y="1021903"/>
            <a:chExt cx="1096496" cy="657898"/>
          </a:xfrm>
        </p:grpSpPr>
        <p:sp>
          <p:nvSpPr>
            <p:cNvPr id="28" name="Прямоугольник 27"/>
            <p:cNvSpPr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29" name="TextBox 28"/>
            <p:cNvSpPr txBox="1"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9212324" y="1693948"/>
            <a:ext cx="7865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</a:rPr>
              <a:t>12</a:t>
            </a:r>
            <a:endParaRPr lang="ru-RU" sz="2800" dirty="0">
              <a:solidFill>
                <a:schemeClr val="bg1"/>
              </a:solidFill>
            </a:endParaRPr>
          </a:p>
        </p:txBody>
      </p:sp>
      <p:grpSp>
        <p:nvGrpSpPr>
          <p:cNvPr id="32" name="Группа 31"/>
          <p:cNvGrpSpPr/>
          <p:nvPr/>
        </p:nvGrpSpPr>
        <p:grpSpPr>
          <a:xfrm>
            <a:off x="9513199" y="3094788"/>
            <a:ext cx="2196223" cy="627340"/>
            <a:chOff x="1" y="254355"/>
            <a:chExt cx="2303202" cy="657898"/>
          </a:xfrm>
        </p:grpSpPr>
        <p:sp>
          <p:nvSpPr>
            <p:cNvPr id="33" name="Прямоугольник 32"/>
            <p:cNvSpPr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34" name="TextBox 33"/>
            <p:cNvSpPr txBox="1"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35" name="Группа 34"/>
          <p:cNvGrpSpPr/>
          <p:nvPr/>
        </p:nvGrpSpPr>
        <p:grpSpPr>
          <a:xfrm>
            <a:off x="9513466" y="3826685"/>
            <a:ext cx="1045566" cy="627340"/>
            <a:chOff x="281" y="1021903"/>
            <a:chExt cx="1096496" cy="657898"/>
          </a:xfrm>
        </p:grpSpPr>
        <p:sp>
          <p:nvSpPr>
            <p:cNvPr id="36" name="Прямоугольник 35"/>
            <p:cNvSpPr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37" name="TextBox 36"/>
            <p:cNvSpPr txBox="1"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38" name="Группа 37"/>
          <p:cNvGrpSpPr/>
          <p:nvPr/>
        </p:nvGrpSpPr>
        <p:grpSpPr>
          <a:xfrm>
            <a:off x="10663856" y="3826685"/>
            <a:ext cx="1045566" cy="627340"/>
            <a:chOff x="1206427" y="1021903"/>
            <a:chExt cx="1096496" cy="657898"/>
          </a:xfrm>
        </p:grpSpPr>
        <p:sp>
          <p:nvSpPr>
            <p:cNvPr id="39" name="Прямоугольник 38"/>
            <p:cNvSpPr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40" name="TextBox 39"/>
            <p:cNvSpPr txBox="1"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10766224" y="3908077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42" name="TextBox 41"/>
          <p:cNvSpPr txBox="1"/>
          <p:nvPr/>
        </p:nvSpPr>
        <p:spPr>
          <a:xfrm>
            <a:off x="9616101" y="3915025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43" name="TextBox 42"/>
          <p:cNvSpPr txBox="1"/>
          <p:nvPr/>
        </p:nvSpPr>
        <p:spPr>
          <a:xfrm>
            <a:off x="10376493" y="3165486"/>
            <a:ext cx="574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</a:rPr>
              <a:t>15</a:t>
            </a:r>
            <a:endParaRPr lang="ru-RU" sz="2800" dirty="0">
              <a:solidFill>
                <a:schemeClr val="bg1"/>
              </a:solidFill>
            </a:endParaRPr>
          </a:p>
        </p:txBody>
      </p:sp>
      <p:cxnSp>
        <p:nvCxnSpPr>
          <p:cNvPr id="44" name="Прямая со стрелкой 43"/>
          <p:cNvCxnSpPr/>
          <p:nvPr/>
        </p:nvCxnSpPr>
        <p:spPr>
          <a:xfrm>
            <a:off x="10411893" y="2858403"/>
            <a:ext cx="503926" cy="490758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Группа 44"/>
          <p:cNvGrpSpPr/>
          <p:nvPr/>
        </p:nvGrpSpPr>
        <p:grpSpPr>
          <a:xfrm>
            <a:off x="7218792" y="3102879"/>
            <a:ext cx="2196223" cy="627340"/>
            <a:chOff x="1" y="254355"/>
            <a:chExt cx="2303202" cy="657898"/>
          </a:xfrm>
        </p:grpSpPr>
        <p:sp>
          <p:nvSpPr>
            <p:cNvPr id="46" name="Прямоугольник 45"/>
            <p:cNvSpPr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47" name="TextBox 46"/>
            <p:cNvSpPr txBox="1"/>
            <p:nvPr/>
          </p:nvSpPr>
          <p:spPr>
            <a:xfrm>
              <a:off x="1" y="254355"/>
              <a:ext cx="2303202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48" name="Группа 47"/>
          <p:cNvGrpSpPr/>
          <p:nvPr/>
        </p:nvGrpSpPr>
        <p:grpSpPr>
          <a:xfrm>
            <a:off x="7219059" y="3834776"/>
            <a:ext cx="1045566" cy="627340"/>
            <a:chOff x="281" y="1021903"/>
            <a:chExt cx="1096496" cy="657898"/>
          </a:xfrm>
        </p:grpSpPr>
        <p:sp>
          <p:nvSpPr>
            <p:cNvPr id="49" name="Прямоугольник 48"/>
            <p:cNvSpPr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50" name="TextBox 49"/>
            <p:cNvSpPr txBox="1"/>
            <p:nvPr/>
          </p:nvSpPr>
          <p:spPr>
            <a:xfrm>
              <a:off x="281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grpSp>
        <p:nvGrpSpPr>
          <p:cNvPr id="51" name="Группа 50"/>
          <p:cNvGrpSpPr/>
          <p:nvPr/>
        </p:nvGrpSpPr>
        <p:grpSpPr>
          <a:xfrm>
            <a:off x="8369449" y="3834776"/>
            <a:ext cx="1045566" cy="627340"/>
            <a:chOff x="1206427" y="1021903"/>
            <a:chExt cx="1096496" cy="657898"/>
          </a:xfrm>
        </p:grpSpPr>
        <p:sp>
          <p:nvSpPr>
            <p:cNvPr id="52" name="Прямоугольник 51"/>
            <p:cNvSpPr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</p:sp>
        <p:sp>
          <p:nvSpPr>
            <p:cNvPr id="53" name="TextBox 52"/>
            <p:cNvSpPr txBox="1"/>
            <p:nvPr/>
          </p:nvSpPr>
          <p:spPr>
            <a:xfrm>
              <a:off x="1206427" y="1021903"/>
              <a:ext cx="1096496" cy="65789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ru-RU" sz="3000" kern="1200" dirty="0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8471817" y="3916168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55" name="TextBox 54"/>
          <p:cNvSpPr txBox="1"/>
          <p:nvPr/>
        </p:nvSpPr>
        <p:spPr>
          <a:xfrm>
            <a:off x="7321694" y="3923116"/>
            <a:ext cx="840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sz="2400" dirty="0" smtClean="0"/>
              <a:t>NULL</a:t>
            </a:r>
            <a:endParaRPr lang="ru-RU" sz="2400" dirty="0"/>
          </a:p>
        </p:txBody>
      </p:sp>
      <p:sp>
        <p:nvSpPr>
          <p:cNvPr id="56" name="TextBox 55"/>
          <p:cNvSpPr txBox="1"/>
          <p:nvPr/>
        </p:nvSpPr>
        <p:spPr>
          <a:xfrm>
            <a:off x="8082086" y="3173577"/>
            <a:ext cx="5747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>
                <a:solidFill>
                  <a:schemeClr val="bg1"/>
                </a:solidFill>
              </a:rPr>
              <a:t>10</a:t>
            </a:r>
            <a:endParaRPr lang="ru-RU" sz="2800" dirty="0">
              <a:solidFill>
                <a:schemeClr val="bg1"/>
              </a:solidFill>
            </a:endParaRPr>
          </a:p>
        </p:txBody>
      </p:sp>
      <p:cxnSp>
        <p:nvCxnSpPr>
          <p:cNvPr id="57" name="Прямая со стрелкой 56"/>
          <p:cNvCxnSpPr/>
          <p:nvPr/>
        </p:nvCxnSpPr>
        <p:spPr>
          <a:xfrm flipH="1">
            <a:off x="8167665" y="2868242"/>
            <a:ext cx="482989" cy="436712"/>
          </a:xfrm>
          <a:prstGeom prst="straightConnector1">
            <a:avLst/>
          </a:prstGeom>
          <a:ln w="38100">
            <a:solidFill>
              <a:srgbClr val="00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9148609" y="1272338"/>
            <a:ext cx="120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Five Minutes" panose="02000506000000020004" pitchFamily="50" charset="0"/>
              </a:rPr>
              <a:t>tree_top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7068078" y="5129047"/>
            <a:ext cx="120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 smtClean="0">
                <a:latin typeface="Five Minutes" panose="02000506000000020004" pitchFamily="50" charset="0"/>
              </a:rPr>
              <a:t>Стэк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60" name="Скругленный прямоугольник 59"/>
          <p:cNvSpPr/>
          <p:nvPr/>
        </p:nvSpPr>
        <p:spPr>
          <a:xfrm>
            <a:off x="7805079" y="4998406"/>
            <a:ext cx="606882" cy="57648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Five Minutes" panose="02000506000000020004" pitchFamily="50" charset="0"/>
              </a:rPr>
              <a:t>NULL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61" name="Скругленный прямоугольник 60"/>
          <p:cNvSpPr/>
          <p:nvPr/>
        </p:nvSpPr>
        <p:spPr>
          <a:xfrm>
            <a:off x="8568972" y="4998406"/>
            <a:ext cx="606882" cy="57648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Five Minutes" panose="02000506000000020004" pitchFamily="50" charset="0"/>
              </a:rPr>
              <a:t>12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094237" y="5834098"/>
            <a:ext cx="1209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Five Minutes" panose="02000506000000020004" pitchFamily="50" charset="0"/>
              </a:rPr>
              <a:t>Вывод на экран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108520" y="5958157"/>
            <a:ext cx="973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10</a:t>
            </a:r>
            <a:endParaRPr lang="ru-RU" dirty="0"/>
          </a:p>
        </p:txBody>
      </p:sp>
      <p:sp>
        <p:nvSpPr>
          <p:cNvPr id="66" name="TextBox 65"/>
          <p:cNvSpPr txBox="1"/>
          <p:nvPr/>
        </p:nvSpPr>
        <p:spPr>
          <a:xfrm>
            <a:off x="8586307" y="5958164"/>
            <a:ext cx="1112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sp>
        <p:nvSpPr>
          <p:cNvPr id="67" name="TextBox 66"/>
          <p:cNvSpPr txBox="1"/>
          <p:nvPr/>
        </p:nvSpPr>
        <p:spPr>
          <a:xfrm>
            <a:off x="9132405" y="5966248"/>
            <a:ext cx="1112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15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7632350" y="4586175"/>
            <a:ext cx="1209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Five Minutes" panose="02000506000000020004" pitchFamily="50" charset="0"/>
              </a:rPr>
              <a:t>stack_top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555418" y="1258733"/>
            <a:ext cx="973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 = </a:t>
            </a:r>
            <a:endParaRPr lang="ru-RU" dirty="0"/>
          </a:p>
        </p:txBody>
      </p:sp>
      <p:sp>
        <p:nvSpPr>
          <p:cNvPr id="70" name="TextBox 69"/>
          <p:cNvSpPr txBox="1"/>
          <p:nvPr/>
        </p:nvSpPr>
        <p:spPr>
          <a:xfrm>
            <a:off x="67594" y="2566290"/>
            <a:ext cx="19462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>
                <a:latin typeface="Five Minutes" panose="02000506000000020004" pitchFamily="50" charset="0"/>
              </a:rPr>
              <a:t>Цикл </a:t>
            </a:r>
            <a:r>
              <a:rPr lang="en-US" dirty="0" err="1" smtClean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do..while</a:t>
            </a:r>
            <a:r>
              <a:rPr lang="ru-RU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>
                <a:latin typeface="Five Minutes" panose="02000506000000020004" pitchFamily="50" charset="0"/>
              </a:rPr>
              <a:t>выполняется хотя бы 1 раз</a:t>
            </a:r>
            <a:r>
              <a:rPr lang="ru-RU" dirty="0">
                <a:latin typeface="Five Minutes" panose="02000506000000020004" pitchFamily="50" charset="0"/>
              </a:rPr>
              <a:t> </a:t>
            </a:r>
            <a:r>
              <a:rPr lang="ru-RU" dirty="0" smtClean="0">
                <a:latin typeface="Five Minutes" panose="02000506000000020004" pitchFamily="50" charset="0"/>
              </a:rPr>
              <a:t>и до тех пор, пока не пуст </a:t>
            </a:r>
            <a:r>
              <a:rPr lang="ru-RU" dirty="0" err="1" smtClean="0">
                <a:latin typeface="Five Minutes" panose="02000506000000020004" pitchFamily="50" charset="0"/>
              </a:rPr>
              <a:t>стэк</a:t>
            </a:r>
            <a:r>
              <a:rPr lang="ru-RU" dirty="0" smtClean="0">
                <a:latin typeface="Five Minutes" panose="02000506000000020004" pitchFamily="50" charset="0"/>
              </a:rPr>
              <a:t> или не конец ветки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-2818343" y="3047506"/>
            <a:ext cx="478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>
                <a:latin typeface="Five Minutes" panose="02000506000000020004" pitchFamily="50" charset="0"/>
              </a:rPr>
              <a:t>Пока не обошли дерево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-2818343" y="3388535"/>
            <a:ext cx="4788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dirty="0" smtClean="0">
                <a:latin typeface="Five Minutes" panose="02000506000000020004" pitchFamily="50" charset="0"/>
              </a:rPr>
              <a:t>Обходим левую ветку</a:t>
            </a:r>
          </a:p>
        </p:txBody>
      </p:sp>
    </p:spTree>
    <p:extLst>
      <p:ext uri="{BB962C8B-B14F-4D97-AF65-F5344CB8AC3E}">
        <p14:creationId xmlns:p14="http://schemas.microsoft.com/office/powerpoint/2010/main" val="6320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 tmFilter="0, 0; .2, .5; .8, .5; 1, 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7" dur="250" autoRev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 tmFilter="0, 0; .2, .5; .8, .5; 1, 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7" dur="250" autoRev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2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 tmFilter="0, 0; .2, .5; .8, .5; 1, 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2" dur="250" autoRev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 tmFilter="0, 0; .2, .5; .8, .5; 1, 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5" dur="250" autoRev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4" dur="500" tmFilter="0, 0; .2, .5; .8, .5; 1, 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5" dur="250" autoRev="1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7" dur="500" tmFilter="0, 0; .2, .5; .8, .5; 1, 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8" dur="250" autoRev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 tmFilter="0, 0; .2, .5; .8, .5; 1, 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2" dur="250" autoRev="1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5" dur="500" tmFilter="0, 0; .2, .5; .8, .5; 1, 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6" dur="250" autoRev="1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2" fill="hold">
                      <p:stCondLst>
                        <p:cond delay="indefinite"/>
                      </p:stCondLst>
                      <p:childTnLst>
                        <p:par>
                          <p:cTn id="243" fill="hold">
                            <p:stCondLst>
                              <p:cond delay="0"/>
                            </p:stCondLst>
                            <p:childTnLst>
                              <p:par>
                                <p:cTn id="24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00" tmFilter="0, 0; .2, .5; .8, .5; 1, 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6" dur="250" autoRev="1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0" dur="5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1" dur="25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2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3" dur="500" tmFilter="0, 0; .2, .5; .8, .5; 1, 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4" dur="250" autoRev="1" fill="hold"/>
                                        <p:tgtEl>
                                          <p:spTgt spid="6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>
                      <p:stCondLst>
                        <p:cond delay="indefinite"/>
                      </p:stCondLst>
                      <p:childTnLst>
                        <p:par>
                          <p:cTn id="261" fill="hold">
                            <p:stCondLst>
                              <p:cond delay="0"/>
                            </p:stCondLst>
                            <p:childTnLst>
                              <p:par>
                                <p:cTn id="26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1.85185E-6 L 0.04961 -0.00185 " pathEditMode="relative" rAng="0" ptsTypes="AA">
                                      <p:cBhvr>
                                        <p:cTn id="263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4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4" fill="hold">
                      <p:stCondLst>
                        <p:cond delay="indefinite"/>
                      </p:stCondLst>
                      <p:childTnLst>
                        <p:par>
                          <p:cTn id="265" fill="hold">
                            <p:stCondLst>
                              <p:cond delay="0"/>
                            </p:stCondLst>
                            <p:childTnLst>
                              <p:par>
                                <p:cTn id="26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7" dur="500" tmFilter="0, 0; .2, .5; .8, .5; 1, 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8" dur="250" autoRev="1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9" fill="hold">
                      <p:stCondLst>
                        <p:cond delay="indefinite"/>
                      </p:stCondLst>
                      <p:childTnLst>
                        <p:par>
                          <p:cTn id="270" fill="hold">
                            <p:stCondLst>
                              <p:cond delay="0"/>
                            </p:stCondLst>
                            <p:childTnLst>
                              <p:par>
                                <p:cTn id="27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500" tmFilter="0, 0; .2, .5; .8, .5; 1, 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3" dur="250" autoRev="1" fill="hold"/>
                                        <p:tgtEl>
                                          <p:spTgt spid="5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4" fill="hold">
                      <p:stCondLst>
                        <p:cond delay="indefinite"/>
                      </p:stCondLst>
                      <p:childTnLst>
                        <p:par>
                          <p:cTn id="275" fill="hold">
                            <p:stCondLst>
                              <p:cond delay="0"/>
                            </p:stCondLst>
                            <p:childTnLst>
                              <p:par>
                                <p:cTn id="276" presetID="50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33333E-6 L -0.07982 3.33333E-6 C -0.11563 3.33333E-6 -0.15964 0.08148 -0.15964 0.14791 L -0.15964 0.29583 " pathEditMode="relative" rAng="0" ptsTypes="AAAA">
                                      <p:cBhvr>
                                        <p:cTn id="277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82" y="1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indefinite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500" tmFilter="0, 0; .2, .5; .8, .5; 1, 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2" dur="250" autoRev="1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 tmFilter="0, 0; .2, .5; .8, .5; 1, 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7" dur="250" autoRev="1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1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2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7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indefinite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2" fill="hold">
                      <p:stCondLst>
                        <p:cond delay="indefinite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500" tmFilter="0, 0; .2, .5; .8, .5; 1, 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6" dur="250" autoRev="1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2" fill="hold">
                      <p:stCondLst>
                        <p:cond delay="indefinite"/>
                      </p:stCondLst>
                      <p:childTnLst>
                        <p:par>
                          <p:cTn id="313" fill="hold">
                            <p:stCondLst>
                              <p:cond delay="0"/>
                            </p:stCondLst>
                            <p:childTnLst>
                              <p:par>
                                <p:cTn id="31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5" dur="500" tmFilter="0, 0; .2, .5; .8, .5; 1, 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6" dur="250" autoRev="1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7" fill="hold">
                      <p:stCondLst>
                        <p:cond delay="indefinite"/>
                      </p:stCondLst>
                      <p:childTnLst>
                        <p:par>
                          <p:cTn id="318" fill="hold">
                            <p:stCondLst>
                              <p:cond delay="0"/>
                            </p:stCondLst>
                            <p:childTnLst>
                              <p:par>
                                <p:cTn id="31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500" tmFilter="0, 0; .2, .5; .8, .5; 1, 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1" dur="250" autoRev="1" fill="hold"/>
                                        <p:tgtEl>
                                          <p:spTgt spid="5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2" fill="hold">
                      <p:stCondLst>
                        <p:cond delay="indefinite"/>
                      </p:stCondLst>
                      <p:childTnLst>
                        <p:par>
                          <p:cTn id="323" fill="hold">
                            <p:stCondLst>
                              <p:cond delay="0"/>
                            </p:stCondLst>
                            <p:childTnLst>
                              <p:par>
                                <p:cTn id="32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 tmFilter="0, 0; .2, .5; .8, .5; 1, 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6" dur="250" autoRev="1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0" dur="500" tmFilter="0, 0; .2, .5; .8, .5; 1, 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1" dur="250" autoRev="1" fill="hold"/>
                                        <p:tgtEl>
                                          <p:spTgt spid="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2" fill="hold">
                      <p:stCondLst>
                        <p:cond delay="indefinite"/>
                      </p:stCondLst>
                      <p:childTnLst>
                        <p:par>
                          <p:cTn id="333" fill="hold">
                            <p:stCondLst>
                              <p:cond delay="0"/>
                            </p:stCondLst>
                            <p:childTnLst>
                              <p:par>
                                <p:cTn id="33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 tmFilter="0, 0; .2, .5; .8, .5; 1, 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6" dur="250" autoRev="1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961 -0.00185 L -4.16667E-6 -2.22222E-6 " pathEditMode="relative" rAng="0" ptsTypes="AA">
                                      <p:cBhvr>
                                        <p:cTn id="344" dur="2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08" y="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presetID="50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964 0.29583 L -0.10938 0.29583 C -0.08698 0.29583 -0.05912 0.23379 -0.05912 0.18472 L -0.05912 0.075 " pathEditMode="relative" rAng="0" ptsTypes="AAAA">
                                      <p:cBhvr>
                                        <p:cTn id="348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26" y="-110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9" fill="hold">
                      <p:stCondLst>
                        <p:cond delay="indefinite"/>
                      </p:stCondLst>
                      <p:childTnLst>
                        <p:par>
                          <p:cTn id="350" fill="hold">
                            <p:stCondLst>
                              <p:cond delay="0"/>
                            </p:stCondLst>
                            <p:childTnLst>
                              <p:par>
                                <p:cTn id="35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2" dur="500" tmFilter="0, 0; .2, .5; .8, .5; 1, 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53" dur="250" autoRev="1" fill="hold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4" fill="hold">
                      <p:stCondLst>
                        <p:cond delay="indefinite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2" dur="500" tmFilter="0, 0; .2, .5; .8, .5; 1, 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3" dur="250" autoRev="1" fill="hold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4" fill="hold">
                      <p:stCondLst>
                        <p:cond delay="indefinite"/>
                      </p:stCondLst>
                      <p:childTnLst>
                        <p:par>
                          <p:cTn id="365" fill="hold">
                            <p:stCondLst>
                              <p:cond delay="0"/>
                            </p:stCondLst>
                            <p:childTnLst>
                              <p:par>
                                <p:cTn id="36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7" dur="500" tmFilter="0, 0; .2, .5; .8, .5; 1, 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8" dur="250" autoRev="1" fill="hold"/>
                                        <p:tgtEl>
                                          <p:spTgt spid="4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presetID="50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33333E-6 L 0.04427 3.33333E-6 C 0.06419 3.33333E-6 0.08867 0.07824 0.08867 0.14189 L 0.08867 0.28379 " pathEditMode="relative" rAng="0" ptsTypes="AAAA">
                                      <p:cBhvr>
                                        <p:cTn id="372" dur="2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141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6" dur="500" tmFilter="0, 0; .2, .5; .8, .5; 1, 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77" dur="250" autoRev="1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indefinite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1" dur="500" tmFilter="0, 0; .2, .5; .8, .5; 1, 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2" dur="250" autoRev="1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indefinite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6" dur="500" tmFilter="0, 0; .2, .5; .8, .5; 1, 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7" dur="250" autoRev="1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indefinite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1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2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6" dur="500" tmFilter="0, 0; .2, .5; .8, .5; 1, 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7" dur="250" autoRev="1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indefinite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indefinite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6" dur="500" tmFilter="0, 0; .2, .5; .8, .5; 1, 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7" dur="250" autoRev="1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indefinite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1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2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indefinite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 tmFilter="0, 0; .2, .5; .8, .5; 1, 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7" dur="250" autoRev="1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indefinite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1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2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6" dur="500" tmFilter="0, 0; .2, .5; .8, .5; 1, 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7" dur="250" autoRev="1" fill="hold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indefinite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1" dur="500" tmFilter="0, 0; .2, .5; .8, .5; 1, 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2" dur="250" autoRev="1" fill="hold"/>
                                        <p:tgtEl>
                                          <p:spTgt spid="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33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4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5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6" fill="hold">
                      <p:stCondLst>
                        <p:cond delay="indefinite"/>
                      </p:stCondLst>
                      <p:childTnLst>
                        <p:par>
                          <p:cTn id="437" fill="hold">
                            <p:stCondLst>
                              <p:cond delay="0"/>
                            </p:stCondLst>
                            <p:childTnLst>
                              <p:par>
                                <p:cTn id="438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9" dur="500" tmFilter="0, 0; .2, .5; .8, .5; 1, 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0" dur="250" autoRev="1" fill="hold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1" grpId="0"/>
      <p:bldP spid="41" grpId="0"/>
      <p:bldP spid="41" grpId="1"/>
      <p:bldP spid="41" grpId="2"/>
      <p:bldP spid="42" grpId="0"/>
      <p:bldP spid="42" grpId="1"/>
      <p:bldP spid="43" grpId="0"/>
      <p:bldP spid="54" grpId="0"/>
      <p:bldP spid="54" grpId="1"/>
      <p:bldP spid="54" grpId="2"/>
      <p:bldP spid="55" grpId="0"/>
      <p:bldP spid="55" grpId="1"/>
      <p:bldP spid="56" grpId="0"/>
      <p:bldP spid="58" grpId="0"/>
      <p:bldP spid="59" grpId="0"/>
      <p:bldP spid="60" grpId="0" animBg="1"/>
      <p:bldP spid="60" grpId="1" animBg="1"/>
      <p:bldP spid="60" grpId="2" animBg="1"/>
      <p:bldP spid="61" grpId="0" animBg="1"/>
      <p:bldP spid="61" grpId="1" animBg="1"/>
      <p:bldP spid="61" grpId="2" animBg="1"/>
      <p:bldP spid="64" grpId="0"/>
      <p:bldP spid="65" grpId="0"/>
      <p:bldP spid="66" grpId="1"/>
      <p:bldP spid="67" grpId="1"/>
      <p:bldP spid="68" grpId="0"/>
      <p:bldP spid="68" grpId="1"/>
      <p:bldP spid="68" grpId="2"/>
      <p:bldP spid="69" grpId="0"/>
      <p:bldP spid="69" grpId="1"/>
      <p:bldP spid="69" grpId="2"/>
      <p:bldP spid="69" grpId="3"/>
      <p:bldP spid="69" grpId="4"/>
      <p:bldP spid="70" grpId="0"/>
      <p:bldP spid="70" grpId="1"/>
      <p:bldP spid="71" grpId="0"/>
      <p:bldP spid="71" grpId="1"/>
      <p:bldP spid="72" grpId="0"/>
      <p:bldP spid="72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6600" dirty="0" smtClean="0">
                <a:latin typeface="Five Minutes" panose="02000506000000020004" pitchFamily="50" charset="0"/>
              </a:rPr>
              <a:t>Пример</a:t>
            </a:r>
            <a:endParaRPr lang="ru-RU" sz="6600" dirty="0">
              <a:latin typeface="Five Minutes" panose="02000506000000020004" pitchFamily="50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091058" y="1825625"/>
            <a:ext cx="3262741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>
                <a:latin typeface="Five Minutes" panose="02000506000000020004" pitchFamily="50" charset="0"/>
              </a:rPr>
              <a:t>Сначала посещаем левое поддерево, затем узел, затем правое поддерево</a:t>
            </a:r>
            <a:endParaRPr lang="ru-RU" dirty="0">
              <a:latin typeface="Five Minutes" panose="02000506000000020004" pitchFamily="50" charset="0"/>
            </a:endParaRPr>
          </a:p>
        </p:txBody>
      </p:sp>
      <p:graphicFrame>
        <p:nvGraphicFramePr>
          <p:cNvPr id="13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9840830"/>
              </p:ext>
            </p:extLst>
          </p:nvPr>
        </p:nvGraphicFramePr>
        <p:xfrm>
          <a:off x="3076605" y="1538143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08071726"/>
              </p:ext>
            </p:extLst>
          </p:nvPr>
        </p:nvGraphicFramePr>
        <p:xfrm>
          <a:off x="1754166" y="3145718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5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5868991"/>
              </p:ext>
            </p:extLst>
          </p:nvPr>
        </p:nvGraphicFramePr>
        <p:xfrm>
          <a:off x="4320386" y="3145717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6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9827980"/>
              </p:ext>
            </p:extLst>
          </p:nvPr>
        </p:nvGraphicFramePr>
        <p:xfrm>
          <a:off x="555862" y="4751176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graphicFrame>
        <p:nvGraphicFramePr>
          <p:cNvPr id="17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036714"/>
              </p:ext>
            </p:extLst>
          </p:nvPr>
        </p:nvGraphicFramePr>
        <p:xfrm>
          <a:off x="3076605" y="4751177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graphicFrame>
        <p:nvGraphicFramePr>
          <p:cNvPr id="18" name="Объект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8086468"/>
              </p:ext>
            </p:extLst>
          </p:nvPr>
        </p:nvGraphicFramePr>
        <p:xfrm>
          <a:off x="5583832" y="4751175"/>
          <a:ext cx="2303206" cy="193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7" r:lo="rId28" r:qs="rId29" r:cs="rId30"/>
          </a:graphicData>
        </a:graphic>
      </p:graphicFrame>
      <p:cxnSp>
        <p:nvCxnSpPr>
          <p:cNvPr id="19" name="Прямая со стрелкой 18"/>
          <p:cNvCxnSpPr/>
          <p:nvPr/>
        </p:nvCxnSpPr>
        <p:spPr>
          <a:xfrm flipH="1">
            <a:off x="2695605" y="2908000"/>
            <a:ext cx="727587" cy="639097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0" name="Прямая со стрелкой 19"/>
          <p:cNvCxnSpPr/>
          <p:nvPr/>
        </p:nvCxnSpPr>
        <p:spPr>
          <a:xfrm flipH="1">
            <a:off x="1353502" y="4568222"/>
            <a:ext cx="727587" cy="639097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/>
          <p:nvPr/>
        </p:nvCxnSpPr>
        <p:spPr>
          <a:xfrm>
            <a:off x="5058418" y="2863756"/>
            <a:ext cx="716526" cy="608544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6284994" y="4554529"/>
            <a:ext cx="716526" cy="608544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>
            <a:off x="3741510" y="4512930"/>
            <a:ext cx="716526" cy="608544"/>
          </a:xfrm>
          <a:prstGeom prst="straightConnector1">
            <a:avLst/>
          </a:prstGeom>
          <a:ln w="38100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9" name="Скругленный прямоугольник 28"/>
          <p:cNvSpPr/>
          <p:nvPr/>
        </p:nvSpPr>
        <p:spPr>
          <a:xfrm>
            <a:off x="8489265" y="3472300"/>
            <a:ext cx="422787" cy="40161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Five Minutes" panose="02000506000000020004" pitchFamily="50" charset="0"/>
              </a:rPr>
              <a:t>4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30" name="Скругленный прямоугольник 29"/>
          <p:cNvSpPr/>
          <p:nvPr/>
        </p:nvSpPr>
        <p:spPr>
          <a:xfrm>
            <a:off x="8912052" y="3472300"/>
            <a:ext cx="422787" cy="40161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Five Minutes" panose="02000506000000020004" pitchFamily="50" charset="0"/>
              </a:rPr>
              <a:t>8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31" name="Скругленный прямоугольник 30"/>
          <p:cNvSpPr/>
          <p:nvPr/>
        </p:nvSpPr>
        <p:spPr>
          <a:xfrm>
            <a:off x="9368362" y="3472300"/>
            <a:ext cx="422787" cy="40161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Five Minutes" panose="02000506000000020004" pitchFamily="50" charset="0"/>
              </a:rPr>
              <a:t>9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32" name="Скругленный прямоугольник 31"/>
          <p:cNvSpPr/>
          <p:nvPr/>
        </p:nvSpPr>
        <p:spPr>
          <a:xfrm>
            <a:off x="9823760" y="3472300"/>
            <a:ext cx="422787" cy="40161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Five Minutes" panose="02000506000000020004" pitchFamily="50" charset="0"/>
              </a:rPr>
              <a:t>10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33" name="Скругленный прямоугольник 32"/>
          <p:cNvSpPr/>
          <p:nvPr/>
        </p:nvSpPr>
        <p:spPr>
          <a:xfrm>
            <a:off x="10280070" y="3472300"/>
            <a:ext cx="422787" cy="40161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Five Minutes" panose="02000506000000020004" pitchFamily="50" charset="0"/>
              </a:rPr>
              <a:t>20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34" name="Скругленный прямоугольник 33"/>
          <p:cNvSpPr/>
          <p:nvPr/>
        </p:nvSpPr>
        <p:spPr>
          <a:xfrm>
            <a:off x="10736380" y="3472300"/>
            <a:ext cx="422787" cy="40161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>
                <a:latin typeface="Five Minutes" panose="02000506000000020004" pitchFamily="50" charset="0"/>
              </a:rPr>
              <a:t>25</a:t>
            </a:r>
            <a:endParaRPr lang="ru-RU" dirty="0">
              <a:latin typeface="Five Minutes" panose="02000506000000020004" pitchFamily="50" charset="0"/>
            </a:endParaRPr>
          </a:p>
        </p:txBody>
      </p:sp>
      <p:sp>
        <p:nvSpPr>
          <p:cNvPr id="35" name="TextBox 34">
            <a:hlinkClick r:id="" action="ppaction://hlinkshowjump?jump=firstslide"/>
          </p:cNvPr>
          <p:cNvSpPr txBox="1"/>
          <p:nvPr/>
        </p:nvSpPr>
        <p:spPr>
          <a:xfrm>
            <a:off x="10357977" y="103624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459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3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3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4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4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5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5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6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6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6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7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7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 tmFilter="0, 0; .2, .5; .8, .5; 1, 0"/>
                                        <p:tgtEl>
                                          <p:spTgt spid="13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250" autoRev="1" fill="hold"/>
                                        <p:tgtEl>
                                          <p:spTgt spid="13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13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13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8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13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13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 tmFilter="0, 0; .2, .5; .8, .5; 1, 0"/>
                                        <p:tgtEl>
                                          <p:spTgt spid="14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5" dur="250" autoRev="1" fill="hold"/>
                                        <p:tgtEl>
                                          <p:spTgt spid="14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6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 tmFilter="0, 0; .2, .5; .8, .5; 1, 0"/>
                                        <p:tgtEl>
                                          <p:spTgt spid="14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14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9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 tmFilter="0, 0; .2, .5; .8, .5; 1, 0"/>
                                        <p:tgtEl>
                                          <p:spTgt spid="14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1" dur="250" autoRev="1" fill="hold"/>
                                        <p:tgtEl>
                                          <p:spTgt spid="14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 tmFilter="0, 0; .2, .5; .8, .5; 1, 0"/>
                                        <p:tgtEl>
                                          <p:spTgt spid="16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6" dur="250" autoRev="1" fill="hold"/>
                                        <p:tgtEl>
                                          <p:spTgt spid="16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 tmFilter="0, 0; .2, .5; .8, .5; 1, 0"/>
                                        <p:tgtEl>
                                          <p:spTgt spid="16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9" dur="250" autoRev="1" fill="hold"/>
                                        <p:tgtEl>
                                          <p:spTgt spid="16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 tmFilter="0, 0; .2, .5; .8, .5; 1, 0"/>
                                        <p:tgtEl>
                                          <p:spTgt spid="16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2" dur="250" autoRev="1" fill="hold"/>
                                        <p:tgtEl>
                                          <p:spTgt spid="16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mph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6" dur="2000" fill="hold"/>
                                        <p:tgtEl>
                                          <p:spTgt spid="16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17" dur="2000" fill="hold"/>
                                        <p:tgtEl>
                                          <p:spTgt spid="16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2000" fill="hold"/>
                                        <p:tgtEl>
                                          <p:spTgt spid="16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0" dur="2000" fill="hold"/>
                                        <p:tgtEl>
                                          <p:spTgt spid="16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1" dur="2000" fill="hold"/>
                                        <p:tgtEl>
                                          <p:spTgt spid="16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2" dur="2000" fill="hold"/>
                                        <p:tgtEl>
                                          <p:spTgt spid="16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4" dur="2000" fill="hold"/>
                                        <p:tgtEl>
                                          <p:spTgt spid="16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5" dur="2000" fill="hold"/>
                                        <p:tgtEl>
                                          <p:spTgt spid="16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2000" fill="hold"/>
                                        <p:tgtEl>
                                          <p:spTgt spid="16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 tmFilter="0, 0; .2, .5; .8, .5; 1, 0"/>
                                        <p:tgtEl>
                                          <p:spTgt spid="14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6" dur="250" autoRev="1" fill="hold"/>
                                        <p:tgtEl>
                                          <p:spTgt spid="14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37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 tmFilter="0, 0; .2, .5; .8, .5; 1, 0"/>
                                        <p:tgtEl>
                                          <p:spTgt spid="14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9" dur="250" autoRev="1" fill="hold"/>
                                        <p:tgtEl>
                                          <p:spTgt spid="14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0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 tmFilter="0, 0; .2, .5; .8, .5; 1, 0"/>
                                        <p:tgtEl>
                                          <p:spTgt spid="14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2" dur="250" autoRev="1" fill="hold"/>
                                        <p:tgtEl>
                                          <p:spTgt spid="14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mph" presetSubtype="2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46" dur="2000" fill="hold"/>
                                        <p:tgtEl>
                                          <p:spTgt spid="14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47" dur="2000" fill="hold"/>
                                        <p:tgtEl>
                                          <p:spTgt spid="14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8" dur="2000" fill="hold"/>
                                        <p:tgtEl>
                                          <p:spTgt spid="14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0" dur="2000" fill="hold"/>
                                        <p:tgtEl>
                                          <p:spTgt spid="14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1" dur="2000" fill="hold"/>
                                        <p:tgtEl>
                                          <p:spTgt spid="14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2" dur="2000" fill="hold"/>
                                        <p:tgtEl>
                                          <p:spTgt spid="14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4" dur="2000" fill="hold"/>
                                        <p:tgtEl>
                                          <p:spTgt spid="14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5" dur="2000" fill="hold"/>
                                        <p:tgtEl>
                                          <p:spTgt spid="14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6" dur="2000" fill="hold"/>
                                        <p:tgtEl>
                                          <p:spTgt spid="14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 tmFilter="0, 0; .2, .5; .8, .5; 1, 0"/>
                                        <p:tgtEl>
                                          <p:spTgt spid="17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6" dur="250" autoRev="1" fill="hold"/>
                                        <p:tgtEl>
                                          <p:spTgt spid="17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 tmFilter="0, 0; .2, .5; .8, .5; 1, 0"/>
                                        <p:tgtEl>
                                          <p:spTgt spid="17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9" dur="250" autoRev="1" fill="hold"/>
                                        <p:tgtEl>
                                          <p:spTgt spid="17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 tmFilter="0, 0; .2, .5; .8, .5; 1, 0"/>
                                        <p:tgtEl>
                                          <p:spTgt spid="17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2" dur="250" autoRev="1" fill="hold"/>
                                        <p:tgtEl>
                                          <p:spTgt spid="17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mph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76" dur="2000" fill="hold"/>
                                        <p:tgtEl>
                                          <p:spTgt spid="17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77" dur="2000" fill="hold"/>
                                        <p:tgtEl>
                                          <p:spTgt spid="17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78" dur="2000" fill="hold"/>
                                        <p:tgtEl>
                                          <p:spTgt spid="17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0" dur="2000" fill="hold"/>
                                        <p:tgtEl>
                                          <p:spTgt spid="17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1" dur="2000" fill="hold"/>
                                        <p:tgtEl>
                                          <p:spTgt spid="17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2" dur="2000" fill="hold"/>
                                        <p:tgtEl>
                                          <p:spTgt spid="17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4" dur="2000" fill="hold"/>
                                        <p:tgtEl>
                                          <p:spTgt spid="17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85" dur="2000" fill="hold"/>
                                        <p:tgtEl>
                                          <p:spTgt spid="17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6" dur="2000" fill="hold"/>
                                        <p:tgtEl>
                                          <p:spTgt spid="17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26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 tmFilter="0, 0; .2, .5; .8, .5; 1, 0"/>
                                        <p:tgtEl>
                                          <p:spTgt spid="13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6" dur="250" autoRev="1" fill="hold"/>
                                        <p:tgtEl>
                                          <p:spTgt spid="13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7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 tmFilter="0, 0; .2, .5; .8, .5; 1, 0"/>
                                        <p:tgtEl>
                                          <p:spTgt spid="13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9" dur="250" autoRev="1" fill="hold"/>
                                        <p:tgtEl>
                                          <p:spTgt spid="13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0" presetID="2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1" dur="500" tmFilter="0, 0; .2, .5; .8, .5; 1, 0"/>
                                        <p:tgtEl>
                                          <p:spTgt spid="13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2" dur="250" autoRev="1" fill="hold"/>
                                        <p:tgtEl>
                                          <p:spTgt spid="13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mph" presetSubtype="2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06" dur="2000" fill="hold"/>
                                        <p:tgtEl>
                                          <p:spTgt spid="13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07" dur="2000" fill="hold"/>
                                        <p:tgtEl>
                                          <p:spTgt spid="13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08" dur="2000" fill="hold"/>
                                        <p:tgtEl>
                                          <p:spTgt spid="13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0" dur="2000" fill="hold"/>
                                        <p:tgtEl>
                                          <p:spTgt spid="13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1" dur="2000" fill="hold"/>
                                        <p:tgtEl>
                                          <p:spTgt spid="13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2" dur="2000" fill="hold"/>
                                        <p:tgtEl>
                                          <p:spTgt spid="13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mph" presetSubtype="2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4" dur="2000" fill="hold"/>
                                        <p:tgtEl>
                                          <p:spTgt spid="13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15" dur="2000" fill="hold"/>
                                        <p:tgtEl>
                                          <p:spTgt spid="13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6" dur="2000" fill="hold"/>
                                        <p:tgtEl>
                                          <p:spTgt spid="13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500" tmFilter="0, 0; .2, .5; .8, .5; 1, 0"/>
                                        <p:tgtEl>
                                          <p:spTgt spid="15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6" dur="250" autoRev="1" fill="hold"/>
                                        <p:tgtEl>
                                          <p:spTgt spid="15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2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 tmFilter="0, 0; .2, .5; .8, .5; 1, 0"/>
                                        <p:tgtEl>
                                          <p:spTgt spid="15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9" dur="250" autoRev="1" fill="hold"/>
                                        <p:tgtEl>
                                          <p:spTgt spid="15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 tmFilter="0, 0; .2, .5; .8, .5; 1, 0"/>
                                        <p:tgtEl>
                                          <p:spTgt spid="15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2" dur="250" autoRev="1" fill="hold"/>
                                        <p:tgtEl>
                                          <p:spTgt spid="15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mph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36" dur="2000" fill="hold"/>
                                        <p:tgtEl>
                                          <p:spTgt spid="15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37" dur="2000" fill="hold"/>
                                        <p:tgtEl>
                                          <p:spTgt spid="15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38" dur="2000" fill="hold"/>
                                        <p:tgtEl>
                                          <p:spTgt spid="15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0" dur="2000" fill="hold"/>
                                        <p:tgtEl>
                                          <p:spTgt spid="15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1" dur="2000" fill="hold"/>
                                        <p:tgtEl>
                                          <p:spTgt spid="15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2" dur="2000" fill="hold"/>
                                        <p:tgtEl>
                                          <p:spTgt spid="15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4" dur="2000" fill="hold"/>
                                        <p:tgtEl>
                                          <p:spTgt spid="15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45" dur="2000" fill="hold"/>
                                        <p:tgtEl>
                                          <p:spTgt spid="15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6" dur="2000" fill="hold"/>
                                        <p:tgtEl>
                                          <p:spTgt spid="15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2" fill="hold">
                      <p:stCondLst>
                        <p:cond delay="indefinite"/>
                      </p:stCondLst>
                      <p:childTnLst>
                        <p:par>
                          <p:cTn id="253" fill="hold">
                            <p:stCondLst>
                              <p:cond delay="0"/>
                            </p:stCondLst>
                            <p:childTnLst>
                              <p:par>
                                <p:cTn id="254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5" dur="500" tmFilter="0, 0; .2, .5; .8, .5; 1, 0"/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6" dur="250" autoRev="1" fill="hold"/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57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8" dur="500" tmFilter="0, 0; .2, .5; .8, .5; 1, 0"/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9" dur="250" autoRev="1" fill="hold"/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60" presetID="2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1" dur="500" tmFilter="0, 0; .2, .5; .8, .5; 1, 0"/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2" dur="250" autoRev="1" fill="hold"/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mph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66" dur="2000" fill="hold"/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67" dur="2000" fill="hold"/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8" dur="2000" fill="hold"/>
                                        <p:tgtEl>
                                          <p:spTgt spid="18">
                                            <p:graphicEl>
                                              <a:dgm id="{430E17D8-D666-4BBD-B8E3-C11DC37503CE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0" dur="2000" fill="hold"/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1" dur="2000" fill="hold"/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2" dur="2000" fill="hold"/>
                                        <p:tgtEl>
                                          <p:spTgt spid="18">
                                            <p:graphicEl>
                                              <a:dgm id="{0CD5362C-705F-4820-AD9A-FD42E7B406EA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mph" presetSubtype="2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4" dur="2000" fill="hold"/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275" dur="2000" fill="hold"/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6" dur="2000" fill="hold"/>
                                        <p:tgtEl>
                                          <p:spTgt spid="18">
                                            <p:graphicEl>
                                              <a:dgm id="{58AB59D3-55C7-400A-BEFA-CC28FC8BF5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>
                      <p:stCondLst>
                        <p:cond delay="indefinite"/>
                      </p:stCondLst>
                      <p:childTnLst>
                        <p:par>
                          <p:cTn id="278" fill="hold">
                            <p:stCondLst>
                              <p:cond delay="0"/>
                            </p:stCondLst>
                            <p:childTnLst>
                              <p:par>
                                <p:cTn id="27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Graphic spid="13" grpId="0">
        <p:bldSub>
          <a:bldDgm/>
        </p:bldSub>
      </p:bldGraphic>
      <p:bldGraphic spid="13" grpId="1">
        <p:bldSub>
          <a:bldDgm/>
        </p:bldSub>
      </p:bldGraphic>
      <p:bldGraphic spid="13" grpId="2">
        <p:bldSub>
          <a:bldDgm/>
        </p:bldSub>
      </p:bldGraphic>
      <p:bldGraphic spid="13" grpId="3">
        <p:bldSub>
          <a:bldDgm/>
        </p:bldSub>
      </p:bldGraphic>
      <p:bldGraphic spid="14" grpId="0">
        <p:bldSub>
          <a:bldDgm/>
        </p:bldSub>
      </p:bldGraphic>
      <p:bldGraphic spid="14" grpId="1">
        <p:bldSub>
          <a:bldDgm/>
        </p:bldSub>
      </p:bldGraphic>
      <p:bldGraphic spid="14" grpId="2">
        <p:bldSub>
          <a:bldDgm/>
        </p:bldSub>
      </p:bldGraphic>
      <p:bldGraphic spid="14" grpId="3">
        <p:bldSub>
          <a:bldDgm/>
        </p:bldSub>
      </p:bldGraphic>
      <p:bldGraphic spid="15" grpId="0">
        <p:bldSub>
          <a:bldDgm/>
        </p:bldSub>
      </p:bldGraphic>
      <p:bldGraphic spid="15" grpId="1">
        <p:bldSub>
          <a:bldDgm/>
        </p:bldSub>
      </p:bldGraphic>
      <p:bldGraphic spid="15" grpId="2">
        <p:bldSub>
          <a:bldDgm/>
        </p:bldSub>
      </p:bldGraphic>
      <p:bldGraphic spid="16" grpId="0">
        <p:bldSub>
          <a:bldDgm/>
        </p:bldSub>
      </p:bldGraphic>
      <p:bldGraphic spid="16" grpId="1">
        <p:bldSub>
          <a:bldDgm/>
        </p:bldSub>
      </p:bldGraphic>
      <p:bldGraphic spid="16" grpId="2">
        <p:bldSub>
          <a:bldDgm/>
        </p:bldSub>
      </p:bldGraphic>
      <p:bldGraphic spid="17" grpId="0">
        <p:bldSub>
          <a:bldDgm/>
        </p:bldSub>
      </p:bldGraphic>
      <p:bldGraphic spid="17" grpId="1">
        <p:bldSub>
          <a:bldDgm/>
        </p:bldSub>
      </p:bldGraphic>
      <p:bldGraphic spid="17" grpId="2">
        <p:bldSub>
          <a:bldDgm/>
        </p:bldSub>
      </p:bldGraphic>
      <p:bldGraphic spid="18" grpId="0">
        <p:bldSub>
          <a:bldDgm/>
        </p:bldSub>
      </p:bldGraphic>
      <p:bldGraphic spid="18" grpId="1">
        <p:bldSub>
          <a:bldDgm/>
        </p:bldSub>
      </p:bldGraphic>
      <p:bldGraphic spid="18" grpId="2">
        <p:bldSub>
          <a:bldDgm/>
        </p:bldSub>
      </p:bldGraphic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765812"/>
            <a:ext cx="10953750" cy="5210175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221456"/>
            <a:ext cx="10515600" cy="2852737"/>
          </a:xfrm>
        </p:spPr>
        <p:txBody>
          <a:bodyPr>
            <a:normAutofit/>
          </a:bodyPr>
          <a:lstStyle/>
          <a:p>
            <a:r>
              <a:rPr lang="ru-RU" sz="8000" dirty="0" smtClean="0">
                <a:latin typeface="Five Minutes" panose="02000506000000020004" pitchFamily="50" charset="0"/>
              </a:rPr>
              <a:t>Спасибо за внимание!</a:t>
            </a:r>
            <a:endParaRPr lang="ru-RU" sz="8000" dirty="0">
              <a:latin typeface="Five Minutes" panose="02000506000000020004" pitchFamily="50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TextBox 8">
            <a:hlinkClick r:id="" action="ppaction://hlinkshowjump?jump=firstslide"/>
          </p:cNvPr>
          <p:cNvSpPr txBox="1"/>
          <p:nvPr/>
        </p:nvSpPr>
        <p:spPr>
          <a:xfrm>
            <a:off x="5608997" y="6445496"/>
            <a:ext cx="2290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>
                <a:latin typeface="Bad Script" panose="02000000000000000000" pitchFamily="2" charset="0"/>
              </a:rPr>
              <a:t>В начало</a:t>
            </a:r>
            <a:endParaRPr lang="ru-RU" sz="2400" dirty="0">
              <a:latin typeface="Bad Script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953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835</Words>
  <Application>Microsoft Office PowerPoint</Application>
  <PresentationFormat>Широкоэкранный</PresentationFormat>
  <Paragraphs>394</Paragraphs>
  <Slides>20</Slides>
  <Notes>3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9" baseType="lpstr">
      <vt:lpstr>Arial</vt:lpstr>
      <vt:lpstr>Bad Script</vt:lpstr>
      <vt:lpstr>Calibri</vt:lpstr>
      <vt:lpstr>Calibri Light</vt:lpstr>
      <vt:lpstr>Courier New</vt:lpstr>
      <vt:lpstr>Five Minutes</vt:lpstr>
      <vt:lpstr>London</vt:lpstr>
      <vt:lpstr>Wingdings</vt:lpstr>
      <vt:lpstr>Тема Office</vt:lpstr>
      <vt:lpstr>Бинарные деревья</vt:lpstr>
      <vt:lpstr>Определение бинарного  дерева</vt:lpstr>
      <vt:lpstr>Бинарное дерево — это </vt:lpstr>
      <vt:lpstr>Элемент дерева</vt:lpstr>
      <vt:lpstr>Поддеревья</vt:lpstr>
      <vt:lpstr>Создание бинарного дерева поиска</vt:lpstr>
      <vt:lpstr>Создадим дерево</vt:lpstr>
      <vt:lpstr>Вставка элемента в бинарное дерево поиска</vt:lpstr>
      <vt:lpstr>Добавим элемент в дерево</vt:lpstr>
      <vt:lpstr>Презентация PowerPoint</vt:lpstr>
      <vt:lpstr>Презентация PowerPoint</vt:lpstr>
      <vt:lpstr>Пример</vt:lpstr>
      <vt:lpstr>Обход бинарного дерева  поиска</vt:lpstr>
      <vt:lpstr>Прежде чем обходить дерево, рассмотрим следующие функции</vt:lpstr>
      <vt:lpstr>print_node</vt:lpstr>
      <vt:lpstr>push_stack</vt:lpstr>
      <vt:lpstr>pop_stack</vt:lpstr>
      <vt:lpstr>Симметричный обход дерева</vt:lpstr>
      <vt:lpstr>Пример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Бинарные деревья</dc:title>
  <dc:creator>Eugenia</dc:creator>
  <cp:lastModifiedBy>Eugenia</cp:lastModifiedBy>
  <cp:revision>91</cp:revision>
  <dcterms:created xsi:type="dcterms:W3CDTF">2016-05-14T12:56:49Z</dcterms:created>
  <dcterms:modified xsi:type="dcterms:W3CDTF">2016-05-23T10:07:36Z</dcterms:modified>
</cp:coreProperties>
</file>