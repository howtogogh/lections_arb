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2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5" r:id="rId20"/>
    <p:sldId id="274" r:id="rId21"/>
  </p:sldIdLst>
  <p:sldSz cx="12192000" cy="7200900"/>
  <p:notesSz cx="6858000" cy="9144000"/>
  <p:embeddedFontLst>
    <p:embeddedFont>
      <p:font typeface="Calibri Light" panose="020F0302020204030204" pitchFamily="34" charset="0"/>
      <p:regular r:id="rId23"/>
      <p:italic r:id="rId24"/>
    </p:embeddedFont>
    <p:embeddedFont>
      <p:font typeface="Trebuchet MS" panose="020B0603020202020204" pitchFamily="34" charset="0"/>
      <p:regular r:id="rId25"/>
      <p:bold r:id="rId26"/>
      <p:italic r:id="rId27"/>
      <p:boldItalic r:id="rId28"/>
    </p:embeddedFont>
    <p:embeddedFont>
      <p:font typeface="Calibri" panose="020F0502020204030204" pitchFamily="34" charset="0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D9EEB"/>
    <a:srgbClr val="F6A2EC"/>
    <a:srgbClr val="C4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658CFA3-1ECF-4F86-BB5C-CF7618A15973}">
  <a:tblStyle styleId="{A658CFA3-1ECF-4F86-BB5C-CF7618A1597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38B1855-1B75-4FBE-930C-398BA8C253C6}" styleName="Стиль из темы 2 - акцент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84E427A-3D55-4303-BF80-6455036E1DE7}" styleName="Стиль из темы 1 - акцент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7CE84F3-28C3-443E-9E96-99CF82512B78}" styleName="Темный стиль 1 — акцент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043" autoAdjust="0"/>
    <p:restoredTop sz="95179" autoAdjust="0"/>
  </p:normalViewPr>
  <p:slideViewPr>
    <p:cSldViewPr snapToGrid="0">
      <p:cViewPr varScale="1">
        <p:scale>
          <a:sx n="109" d="100"/>
          <a:sy n="109" d="100"/>
        </p:scale>
        <p:origin x="-402" y="-96"/>
      </p:cViewPr>
      <p:guideLst>
        <p:guide orient="horz" pos="2268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>
            <a:spLocks noGrp="1" noRot="1" noChangeAspect="1"/>
          </p:cNvSpPr>
          <p:nvPr>
            <p:ph type="sldImg" idx="2"/>
          </p:nvPr>
        </p:nvSpPr>
        <p:spPr>
          <a:xfrm>
            <a:off x="525463" y="685800"/>
            <a:ext cx="580707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Shape 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45561859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Shape 14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Shape 147"/>
          <p:cNvSpPr>
            <a:spLocks noGrp="1" noRot="1" noChangeAspect="1"/>
          </p:cNvSpPr>
          <p:nvPr>
            <p:ph type="sldImg" idx="2"/>
          </p:nvPr>
        </p:nvSpPr>
        <p:spPr>
          <a:xfrm>
            <a:off x="525463" y="685800"/>
            <a:ext cx="580707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559995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Shape 15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Shape 152"/>
          <p:cNvSpPr>
            <a:spLocks noGrp="1" noRot="1" noChangeAspect="1"/>
          </p:cNvSpPr>
          <p:nvPr>
            <p:ph type="sldImg" idx="2"/>
          </p:nvPr>
        </p:nvSpPr>
        <p:spPr>
          <a:xfrm>
            <a:off x="525463" y="685800"/>
            <a:ext cx="580707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542458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Shape 158"/>
          <p:cNvSpPr>
            <a:spLocks noGrp="1" noRot="1" noChangeAspect="1"/>
          </p:cNvSpPr>
          <p:nvPr>
            <p:ph type="sldImg" idx="2"/>
          </p:nvPr>
        </p:nvSpPr>
        <p:spPr>
          <a:xfrm>
            <a:off x="525463" y="685800"/>
            <a:ext cx="580707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Shape 15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604479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Shape 173"/>
          <p:cNvSpPr>
            <a:spLocks noGrp="1" noRot="1" noChangeAspect="1"/>
          </p:cNvSpPr>
          <p:nvPr>
            <p:ph type="sldImg" idx="2"/>
          </p:nvPr>
        </p:nvSpPr>
        <p:spPr>
          <a:xfrm>
            <a:off x="525463" y="685800"/>
            <a:ext cx="580707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Shape 17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533255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Shape 180"/>
          <p:cNvSpPr>
            <a:spLocks noGrp="1" noRot="1" noChangeAspect="1"/>
          </p:cNvSpPr>
          <p:nvPr>
            <p:ph type="sldImg" idx="2"/>
          </p:nvPr>
        </p:nvSpPr>
        <p:spPr>
          <a:xfrm>
            <a:off x="525463" y="685800"/>
            <a:ext cx="580707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Shape 18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554268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Shape 20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Shape 203"/>
          <p:cNvSpPr>
            <a:spLocks noGrp="1" noRot="1" noChangeAspect="1"/>
          </p:cNvSpPr>
          <p:nvPr>
            <p:ph type="sldImg" idx="2"/>
          </p:nvPr>
        </p:nvSpPr>
        <p:spPr>
          <a:xfrm>
            <a:off x="525463" y="685800"/>
            <a:ext cx="580707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383751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Shape 2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Shape 210"/>
          <p:cNvSpPr>
            <a:spLocks noGrp="1" noRot="1" noChangeAspect="1"/>
          </p:cNvSpPr>
          <p:nvPr>
            <p:ph type="sldImg" idx="2"/>
          </p:nvPr>
        </p:nvSpPr>
        <p:spPr>
          <a:xfrm>
            <a:off x="525463" y="685800"/>
            <a:ext cx="580707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510132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Shape 23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Shape 231"/>
          <p:cNvSpPr>
            <a:spLocks noGrp="1" noRot="1" noChangeAspect="1"/>
          </p:cNvSpPr>
          <p:nvPr>
            <p:ph type="sldImg" idx="2"/>
          </p:nvPr>
        </p:nvSpPr>
        <p:spPr>
          <a:xfrm>
            <a:off x="525463" y="685800"/>
            <a:ext cx="580707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241728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25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Shape 254"/>
          <p:cNvSpPr>
            <a:spLocks noGrp="1" noRot="1" noChangeAspect="1"/>
          </p:cNvSpPr>
          <p:nvPr>
            <p:ph type="sldImg" idx="2"/>
          </p:nvPr>
        </p:nvSpPr>
        <p:spPr>
          <a:xfrm>
            <a:off x="525463" y="685800"/>
            <a:ext cx="580707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987717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Shape 27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Shape 275"/>
          <p:cNvSpPr>
            <a:spLocks noGrp="1" noRot="1" noChangeAspect="1"/>
          </p:cNvSpPr>
          <p:nvPr>
            <p:ph type="sldImg" idx="2"/>
          </p:nvPr>
        </p:nvSpPr>
        <p:spPr>
          <a:xfrm>
            <a:off x="525463" y="685800"/>
            <a:ext cx="580707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127812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Shape 29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Shape 293"/>
          <p:cNvSpPr>
            <a:spLocks noGrp="1" noRot="1" noChangeAspect="1"/>
          </p:cNvSpPr>
          <p:nvPr>
            <p:ph type="sldImg" idx="2"/>
          </p:nvPr>
        </p:nvSpPr>
        <p:spPr>
          <a:xfrm>
            <a:off x="525463" y="685800"/>
            <a:ext cx="580707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725917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Shape 30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Shape 307"/>
          <p:cNvSpPr>
            <a:spLocks noGrp="1" noRot="1" noChangeAspect="1"/>
          </p:cNvSpPr>
          <p:nvPr>
            <p:ph type="sldImg" idx="2"/>
          </p:nvPr>
        </p:nvSpPr>
        <p:spPr>
          <a:xfrm>
            <a:off x="525463" y="685800"/>
            <a:ext cx="580707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998407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Shape 39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" name="Shape 391"/>
          <p:cNvSpPr>
            <a:spLocks noGrp="1" noRot="1" noChangeAspect="1"/>
          </p:cNvSpPr>
          <p:nvPr>
            <p:ph type="sldImg" idx="2"/>
          </p:nvPr>
        </p:nvSpPr>
        <p:spPr>
          <a:xfrm>
            <a:off x="525463" y="685800"/>
            <a:ext cx="580707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9957074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Shape 39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7" name="Shape 397"/>
          <p:cNvSpPr>
            <a:spLocks noGrp="1" noRot="1" noChangeAspect="1"/>
          </p:cNvSpPr>
          <p:nvPr>
            <p:ph type="sldImg" idx="2"/>
          </p:nvPr>
        </p:nvSpPr>
        <p:spPr>
          <a:xfrm>
            <a:off x="525463" y="685800"/>
            <a:ext cx="580707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9394228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Shape 46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7" name="Shape 467"/>
          <p:cNvSpPr>
            <a:spLocks noGrp="1" noRot="1" noChangeAspect="1"/>
          </p:cNvSpPr>
          <p:nvPr>
            <p:ph type="sldImg" idx="2"/>
          </p:nvPr>
        </p:nvSpPr>
        <p:spPr>
          <a:xfrm>
            <a:off x="525463" y="685800"/>
            <a:ext cx="580707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8605805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Shape 47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3" name="Shape 473"/>
          <p:cNvSpPr>
            <a:spLocks noGrp="1" noRot="1" noChangeAspect="1"/>
          </p:cNvSpPr>
          <p:nvPr>
            <p:ph type="sldImg" idx="2"/>
          </p:nvPr>
        </p:nvSpPr>
        <p:spPr>
          <a:xfrm>
            <a:off x="525463" y="685800"/>
            <a:ext cx="580707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9207305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Shape 47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9" name="Shape 479"/>
          <p:cNvSpPr>
            <a:spLocks noGrp="1" noRot="1" noChangeAspect="1"/>
          </p:cNvSpPr>
          <p:nvPr>
            <p:ph type="sldImg" idx="2"/>
          </p:nvPr>
        </p:nvSpPr>
        <p:spPr>
          <a:xfrm>
            <a:off x="525463" y="685800"/>
            <a:ext cx="580707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7601334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Shape 48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5" name="Shape 485"/>
          <p:cNvSpPr>
            <a:spLocks noGrp="1" noRot="1" noChangeAspect="1"/>
          </p:cNvSpPr>
          <p:nvPr>
            <p:ph type="sldImg" idx="2"/>
          </p:nvPr>
        </p:nvSpPr>
        <p:spPr>
          <a:xfrm>
            <a:off x="525463" y="685800"/>
            <a:ext cx="580707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42210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" y="0"/>
            <a:ext cx="12188825" cy="719902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2062480"/>
            <a:ext cx="7197726" cy="2542537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605020"/>
            <a:ext cx="7197726" cy="147574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6164105"/>
            <a:ext cx="1600200" cy="396716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12/25/2018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6164105"/>
            <a:ext cx="4893958" cy="39671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61" y="6164105"/>
            <a:ext cx="551167" cy="396716"/>
          </a:xfrm>
        </p:spPr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1664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" y="0"/>
            <a:ext cx="12188825" cy="719902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2230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" y="0"/>
            <a:ext cx="12188825" cy="719902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3" y="3474010"/>
            <a:ext cx="10131427" cy="154224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5016251"/>
            <a:ext cx="10131428" cy="90342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12/25/2018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24312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" y="0"/>
            <a:ext cx="12188825" cy="719902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249170"/>
            <a:ext cx="4995334" cy="3831591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249172"/>
            <a:ext cx="4995332" cy="3831590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12/25/2018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93616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73670" y="2329180"/>
            <a:ext cx="4709054" cy="605075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4" y="3013711"/>
            <a:ext cx="4996923" cy="3067048"/>
          </a:xfrm>
        </p:spPr>
        <p:txBody>
          <a:bodyPr anchor="t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096006" y="2338071"/>
            <a:ext cx="4722813" cy="605075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3013711"/>
            <a:ext cx="4995334" cy="3067048"/>
          </a:xfrm>
        </p:spPr>
        <p:txBody>
          <a:bodyPr anchor="t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4525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" y="0"/>
            <a:ext cx="12188825" cy="719902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12/25/2018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93965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" y="0"/>
            <a:ext cx="12188825" cy="7199025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12/25/2018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2281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" y="0"/>
            <a:ext cx="12188825" cy="719902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3" y="2178050"/>
            <a:ext cx="3680885" cy="144018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40081"/>
            <a:ext cx="6169026" cy="5440680"/>
          </a:xfrm>
        </p:spPr>
        <p:txBody>
          <a:bodyPr anchor="ctr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3" y="3618230"/>
            <a:ext cx="3680885" cy="192024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12/25/2018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5954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" y="0"/>
            <a:ext cx="12188825" cy="719902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1680211"/>
            <a:ext cx="6164653" cy="144018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60120"/>
            <a:ext cx="3280974" cy="48006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2" y="3120390"/>
            <a:ext cx="6164653" cy="192024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12/25/2018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28338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" y="0"/>
            <a:ext cx="12188825" cy="719902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3" y="4969508"/>
            <a:ext cx="10131427" cy="595075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3" y="978718"/>
            <a:ext cx="8759827" cy="3323225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3" y="5564583"/>
            <a:ext cx="10131427" cy="51839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12/25/2018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93342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" y="0"/>
            <a:ext cx="12188825" cy="719902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4" y="640083"/>
            <a:ext cx="10131427" cy="328040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560570"/>
            <a:ext cx="10131428" cy="152019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12/25/2018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45915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" y="0"/>
            <a:ext cx="12188825" cy="719902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880361"/>
            <a:ext cx="609600" cy="61401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64505"/>
            <a:ext cx="609600" cy="61401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70" y="640083"/>
            <a:ext cx="9550399" cy="288035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520441"/>
            <a:ext cx="9339184" cy="40005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8" y="4560570"/>
            <a:ext cx="10152367" cy="152019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12/25/2018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425449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" y="0"/>
            <a:ext cx="12188825" cy="719902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5" y="3474010"/>
            <a:ext cx="10131425" cy="154224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5016251"/>
            <a:ext cx="10131426" cy="90342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12/25/2018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077385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" y="0"/>
            <a:ext cx="12188825" cy="719902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880361"/>
            <a:ext cx="609600" cy="61401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64505"/>
            <a:ext cx="609600" cy="61401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70" y="640083"/>
            <a:ext cx="9550399" cy="288035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4080510"/>
            <a:ext cx="10135436" cy="93345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5013960"/>
            <a:ext cx="10135436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12/25/2018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643106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" y="0"/>
            <a:ext cx="12188825" cy="719902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4" y="640083"/>
            <a:ext cx="10131427" cy="288035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680460"/>
            <a:ext cx="10131428" cy="88011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560570"/>
            <a:ext cx="10131428" cy="152019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12/25/2018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143664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" y="0"/>
            <a:ext cx="12188825" cy="7199025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12/25/2018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4" y="640082"/>
            <a:ext cx="10131425" cy="152908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2446170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" y="0"/>
            <a:ext cx="12188825" cy="7199025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40081"/>
            <a:ext cx="2158552" cy="5440681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40080"/>
            <a:ext cx="7832116" cy="5440680"/>
          </a:xfrm>
        </p:spPr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12/25/2018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201571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4" y="640082"/>
            <a:ext cx="10131425" cy="152908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4" y="2249172"/>
            <a:ext cx="10131425" cy="3831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6164105"/>
            <a:ext cx="1600200" cy="39671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12/25/2018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3" y="6164105"/>
            <a:ext cx="7827659" cy="39671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3" y="6164105"/>
            <a:ext cx="551167" cy="39671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74312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  <p:sldLayoutId id="2147483676" r:id="rId14"/>
    <p:sldLayoutId id="2147483677" r:id="rId15"/>
    <p:sldLayoutId id="2147483678" r:id="rId16"/>
    <p:sldLayoutId id="214748367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Shape 149"/>
          <p:cNvSpPr txBox="1">
            <a:spLocks noGrp="1"/>
          </p:cNvSpPr>
          <p:nvPr>
            <p:ph type="ctrTitle"/>
          </p:nvPr>
        </p:nvSpPr>
        <p:spPr>
          <a:xfrm>
            <a:off x="2874412" y="1246810"/>
            <a:ext cx="10034400" cy="24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rial"/>
              <a:buNone/>
            </a:pPr>
            <a:r>
              <a:rPr lang="ru-RU" sz="7200" b="1" i="0" u="none" strike="noStrike" cap="none" dirty="0" smtClean="0">
                <a:latin typeface="Arial"/>
                <a:ea typeface="Arial"/>
                <a:cs typeface="Arial"/>
                <a:sym typeface="Arial"/>
              </a:rPr>
              <a:t>СОЗДАНИЕ ДВУСВЯЗАННОГО СПИСКА         </a:t>
            </a:r>
            <a:endParaRPr lang="ru-RU" sz="7200" b="1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054958" y="5635634"/>
            <a:ext cx="6837218" cy="1840230"/>
          </a:xfrm>
        </p:spPr>
        <p:txBody>
          <a:bodyPr>
            <a:normAutofit/>
          </a:bodyPr>
          <a:lstStyle/>
          <a:p>
            <a:r>
              <a:rPr lang="ru-RU" sz="2400" dirty="0" smtClean="0">
                <a:solidFill>
                  <a:schemeClr val="tx1"/>
                </a:solidFill>
                <a:latin typeface="+mj-lt"/>
              </a:rPr>
              <a:t>Подготовила: студентка гр. 09-712, Александрова и. а.</a:t>
            </a:r>
          </a:p>
          <a:p>
            <a:r>
              <a:rPr lang="ru-RU" sz="2400" dirty="0" smtClean="0">
                <a:solidFill>
                  <a:schemeClr val="tx1"/>
                </a:solidFill>
                <a:latin typeface="+mj-lt"/>
              </a:rPr>
              <a:t>Преподаватель: </a:t>
            </a:r>
            <a:r>
              <a:rPr lang="ru-RU" sz="2400" dirty="0" err="1" smtClean="0">
                <a:solidFill>
                  <a:schemeClr val="tx1"/>
                </a:solidFill>
                <a:latin typeface="+mj-lt"/>
              </a:rPr>
              <a:t>Ахтямов</a:t>
            </a:r>
            <a:r>
              <a:rPr lang="ru-RU" sz="2400" dirty="0" smtClean="0">
                <a:solidFill>
                  <a:schemeClr val="tx1"/>
                </a:solidFill>
                <a:latin typeface="+mj-lt"/>
              </a:rPr>
              <a:t> Р. Б.</a:t>
            </a:r>
            <a:endParaRPr lang="ru-RU" sz="2400"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004" y="2897812"/>
            <a:ext cx="5370021" cy="422889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7030A0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Shape 154"/>
          <p:cNvSpPr txBox="1">
            <a:spLocks noGrp="1"/>
          </p:cNvSpPr>
          <p:nvPr>
            <p:ph type="title"/>
          </p:nvPr>
        </p:nvSpPr>
        <p:spPr>
          <a:xfrm>
            <a:off x="331192" y="103068"/>
            <a:ext cx="11166763" cy="971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Arial"/>
              <a:buNone/>
            </a:pPr>
            <a:r>
              <a:rPr lang="ru-RU" sz="4800" b="1" i="0" u="none" strike="noStrike" cap="none" dirty="0" smtClean="0">
                <a:latin typeface="Arial"/>
                <a:ea typeface="Arial"/>
                <a:cs typeface="Arial"/>
                <a:sym typeface="Arial"/>
              </a:rPr>
              <a:t>ПОНЯТИЕ ДВУСВЯЗНОГО СПИСКА</a:t>
            </a:r>
            <a:endParaRPr lang="ru-RU" sz="4800" cap="none" dirty="0"/>
          </a:p>
        </p:txBody>
      </p:sp>
      <p:sp>
        <p:nvSpPr>
          <p:cNvPr id="155" name="Shape 155"/>
          <p:cNvSpPr txBox="1">
            <a:spLocks noGrp="1"/>
          </p:cNvSpPr>
          <p:nvPr>
            <p:ph idx="1"/>
          </p:nvPr>
        </p:nvSpPr>
        <p:spPr>
          <a:xfrm>
            <a:off x="612045" y="1211687"/>
            <a:ext cx="7221300" cy="4429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>
              <a:spcAft>
                <a:spcPts val="0"/>
              </a:spcAft>
              <a:buClr>
                <a:srgbClr val="FFFFFF"/>
              </a:buClr>
              <a:buSzPts val="2240"/>
              <a:buFont typeface="Noto Sans Symbols"/>
              <a:buChar char="▶"/>
            </a:pPr>
            <a:r>
              <a:rPr lang="ru-RU" sz="2800" dirty="0"/>
              <a:t>Каждый узел </a:t>
            </a:r>
            <a:r>
              <a:rPr lang="ru-RU" sz="2800" dirty="0" smtClean="0"/>
              <a:t>двусвязного </a:t>
            </a:r>
            <a:r>
              <a:rPr lang="ru-RU" sz="2800" dirty="0"/>
              <a:t>списка </a:t>
            </a:r>
            <a:r>
              <a:rPr lang="ru-RU" sz="2800" dirty="0" smtClean="0"/>
              <a:t>содержит </a:t>
            </a:r>
            <a:r>
              <a:rPr lang="ru-RU" sz="2800" dirty="0"/>
              <a:t>два поля указателей — на следующий и на предыдущий узлы. Указатель на предыдущий узел корня списка содержит нулевое значение. Указатель на следующий узел последнего узла также содержит нулевое значение</a:t>
            </a:r>
            <a:r>
              <a:rPr lang="ru-RU" sz="2800" dirty="0" smtClean="0"/>
              <a:t>.</a:t>
            </a:r>
            <a:endParaRPr lang="en-US" sz="2800" dirty="0" smtClean="0"/>
          </a:p>
          <a:p>
            <a:pPr marL="342900" lvl="0" indent="-342900">
              <a:spcAft>
                <a:spcPts val="0"/>
              </a:spcAft>
              <a:buClr>
                <a:srgbClr val="FFFFFF"/>
              </a:buClr>
              <a:buSzPts val="2240"/>
              <a:buFont typeface="Noto Sans Symbols"/>
              <a:buChar char="▶"/>
            </a:pPr>
            <a:r>
              <a:rPr lang="en-US" sz="2800" b="0" i="0" u="none" strike="noStrike" cap="none" dirty="0" err="1" smtClean="0">
                <a:solidFill>
                  <a:srgbClr val="FFFFFF"/>
                </a:solidFill>
                <a:ea typeface="Arial"/>
                <a:cs typeface="Arial"/>
                <a:sym typeface="Arial"/>
              </a:rPr>
              <a:t>Особенность</a:t>
            </a:r>
            <a:r>
              <a:rPr lang="en-US" sz="2800" b="0" i="0" u="none" strike="noStrike" cap="none" dirty="0" smtClean="0">
                <a:solidFill>
                  <a:srgbClr val="FFFFFF"/>
                </a:solidFill>
                <a:ea typeface="Arial"/>
                <a:cs typeface="Arial"/>
                <a:sym typeface="Arial"/>
              </a:rPr>
              <a:t> в </a:t>
            </a:r>
            <a:r>
              <a:rPr lang="en-US" sz="2800" b="0" i="0" u="none" strike="noStrike" cap="none" dirty="0" err="1">
                <a:solidFill>
                  <a:srgbClr val="FFFFFF"/>
                </a:solidFill>
                <a:ea typeface="Arial"/>
                <a:cs typeface="Arial"/>
                <a:sym typeface="Arial"/>
              </a:rPr>
              <a:t>том</a:t>
            </a:r>
            <a:r>
              <a:rPr lang="en-US" sz="2800" b="0" i="0" u="none" strike="noStrike" cap="none" dirty="0">
                <a:solidFill>
                  <a:srgbClr val="FFFFFF"/>
                </a:solidFill>
                <a:ea typeface="Arial"/>
                <a:cs typeface="Arial"/>
                <a:sym typeface="Arial"/>
              </a:rPr>
              <a:t>, </a:t>
            </a:r>
            <a:r>
              <a:rPr lang="en-US" sz="2800" b="0" i="0" u="none" strike="noStrike" cap="none" dirty="0" err="1">
                <a:solidFill>
                  <a:srgbClr val="FFFFFF"/>
                </a:solidFill>
                <a:ea typeface="Arial"/>
                <a:cs typeface="Arial"/>
                <a:sym typeface="Arial"/>
              </a:rPr>
              <a:t>что</a:t>
            </a:r>
            <a:r>
              <a:rPr lang="en-US" sz="2800" b="0" i="0" u="none" strike="noStrike" cap="none" dirty="0">
                <a:solidFill>
                  <a:srgbClr val="FFFFFF"/>
                </a:solidFill>
                <a:ea typeface="Arial"/>
                <a:cs typeface="Arial"/>
                <a:sym typeface="Arial"/>
              </a:rPr>
              <a:t> </a:t>
            </a:r>
            <a:r>
              <a:rPr lang="en-US" sz="2800" dirty="0" err="1" smtClean="0">
                <a:solidFill>
                  <a:srgbClr val="FFFFFF"/>
                </a:solidFill>
                <a:ea typeface="Arial"/>
                <a:cs typeface="Arial"/>
                <a:sym typeface="Arial"/>
              </a:rPr>
              <a:t>двусвязн</a:t>
            </a:r>
            <a:r>
              <a:rPr lang="ru-RU" sz="2800" dirty="0" err="1" smtClean="0">
                <a:solidFill>
                  <a:srgbClr val="FFFFFF"/>
                </a:solidFill>
                <a:ea typeface="Arial"/>
                <a:cs typeface="Arial"/>
                <a:sym typeface="Arial"/>
              </a:rPr>
              <a:t>ый</a:t>
            </a:r>
            <a:r>
              <a:rPr lang="en-US" sz="2800" dirty="0" smtClean="0">
                <a:solidFill>
                  <a:srgbClr val="FFFFFF"/>
                </a:solidFill>
                <a:ea typeface="Arial"/>
                <a:cs typeface="Arial"/>
                <a:sym typeface="Arial"/>
              </a:rPr>
              <a:t> </a:t>
            </a:r>
            <a:r>
              <a:rPr lang="en-US" sz="2800" dirty="0" err="1" smtClean="0">
                <a:solidFill>
                  <a:srgbClr val="FFFFFF"/>
                </a:solidFill>
                <a:ea typeface="Arial"/>
                <a:cs typeface="Arial"/>
                <a:sym typeface="Arial"/>
              </a:rPr>
              <a:t>спис</a:t>
            </a:r>
            <a:r>
              <a:rPr lang="ru-RU" sz="2800" dirty="0" smtClean="0">
                <a:solidFill>
                  <a:srgbClr val="FFFFFF"/>
                </a:solidFill>
                <a:ea typeface="Arial"/>
                <a:cs typeface="Arial"/>
                <a:sym typeface="Arial"/>
              </a:rPr>
              <a:t>о</a:t>
            </a:r>
            <a:r>
              <a:rPr lang="en-US" sz="2800" dirty="0" smtClean="0">
                <a:solidFill>
                  <a:srgbClr val="FFFFFF"/>
                </a:solidFill>
                <a:ea typeface="Arial"/>
                <a:cs typeface="Arial"/>
                <a:sym typeface="Arial"/>
              </a:rPr>
              <a:t>к  </a:t>
            </a:r>
            <a:r>
              <a:rPr lang="en-US" sz="2800" dirty="0" err="1" smtClean="0">
                <a:solidFill>
                  <a:srgbClr val="FFFFFF"/>
                </a:solidFill>
                <a:ea typeface="Arial"/>
                <a:cs typeface="Arial"/>
                <a:sym typeface="Arial"/>
              </a:rPr>
              <a:t>позволяет</a:t>
            </a:r>
            <a:r>
              <a:rPr lang="en-US" sz="2800" dirty="0" smtClean="0">
                <a:solidFill>
                  <a:srgbClr val="FFFFFF"/>
                </a:solidFill>
                <a:ea typeface="Arial"/>
                <a:cs typeface="Arial"/>
                <a:sym typeface="Arial"/>
              </a:rPr>
              <a:t> </a:t>
            </a:r>
            <a:r>
              <a:rPr lang="en-US" sz="2800" b="0" i="0" u="none" strike="noStrike" cap="none" dirty="0" err="1">
                <a:solidFill>
                  <a:srgbClr val="FFFFFF"/>
                </a:solidFill>
                <a:ea typeface="Arial"/>
                <a:cs typeface="Arial"/>
                <a:sym typeface="Arial"/>
              </a:rPr>
              <a:t>двигаться</a:t>
            </a:r>
            <a:r>
              <a:rPr lang="en-US" sz="2800" b="0" i="0" u="none" strike="noStrike" cap="none" dirty="0">
                <a:solidFill>
                  <a:srgbClr val="FFFFFF"/>
                </a:solidFill>
                <a:ea typeface="Arial"/>
                <a:cs typeface="Arial"/>
                <a:sym typeface="Arial"/>
              </a:rPr>
              <a:t> </a:t>
            </a:r>
            <a:r>
              <a:rPr lang="en-US" sz="2800" b="0" i="0" u="none" strike="noStrike" cap="none" dirty="0" err="1">
                <a:solidFill>
                  <a:srgbClr val="FFFFFF"/>
                </a:solidFill>
                <a:ea typeface="Arial"/>
                <a:cs typeface="Arial"/>
                <a:sym typeface="Arial"/>
              </a:rPr>
              <a:t>как</a:t>
            </a:r>
            <a:r>
              <a:rPr lang="en-US" sz="2800" b="0" i="0" u="none" strike="noStrike" cap="none" dirty="0">
                <a:solidFill>
                  <a:srgbClr val="FFFFFF"/>
                </a:solidFill>
                <a:ea typeface="Arial"/>
                <a:cs typeface="Arial"/>
                <a:sym typeface="Arial"/>
              </a:rPr>
              <a:t> в </a:t>
            </a:r>
            <a:r>
              <a:rPr lang="en-US" sz="2800" b="0" i="0" u="none" strike="noStrike" cap="none" dirty="0" err="1">
                <a:solidFill>
                  <a:srgbClr val="FFFFFF"/>
                </a:solidFill>
                <a:ea typeface="Arial"/>
                <a:cs typeface="Arial"/>
                <a:sym typeface="Arial"/>
              </a:rPr>
              <a:t>его</a:t>
            </a:r>
            <a:r>
              <a:rPr lang="en-US" sz="2800" b="0" i="0" u="none" strike="noStrike" cap="none" dirty="0">
                <a:solidFill>
                  <a:srgbClr val="FFFFFF"/>
                </a:solidFill>
                <a:ea typeface="Arial"/>
                <a:cs typeface="Arial"/>
                <a:sym typeface="Arial"/>
              </a:rPr>
              <a:t> </a:t>
            </a:r>
            <a:r>
              <a:rPr lang="en-US" sz="2800" b="0" i="0" u="none" strike="noStrike" cap="none" dirty="0" err="1">
                <a:solidFill>
                  <a:srgbClr val="FFFFFF"/>
                </a:solidFill>
                <a:ea typeface="Arial"/>
                <a:cs typeface="Arial"/>
                <a:sym typeface="Arial"/>
              </a:rPr>
              <a:t>конец</a:t>
            </a:r>
            <a:r>
              <a:rPr lang="en-US" sz="2800" b="0" i="0" u="none" strike="noStrike" cap="none" dirty="0">
                <a:solidFill>
                  <a:srgbClr val="FFFFFF"/>
                </a:solidFill>
                <a:ea typeface="Arial"/>
                <a:cs typeface="Arial"/>
                <a:sym typeface="Arial"/>
              </a:rPr>
              <a:t>, </a:t>
            </a:r>
            <a:r>
              <a:rPr lang="en-US" sz="2800" b="0" i="0" u="none" strike="noStrike" cap="none" dirty="0" err="1">
                <a:solidFill>
                  <a:srgbClr val="FFFFFF"/>
                </a:solidFill>
                <a:ea typeface="Arial"/>
                <a:cs typeface="Arial"/>
                <a:sym typeface="Arial"/>
              </a:rPr>
              <a:t>так</a:t>
            </a:r>
            <a:r>
              <a:rPr lang="en-US" sz="2800" b="0" i="0" u="none" strike="noStrike" cap="none" dirty="0">
                <a:solidFill>
                  <a:srgbClr val="FFFFFF"/>
                </a:solidFill>
                <a:ea typeface="Arial"/>
                <a:cs typeface="Arial"/>
                <a:sym typeface="Arial"/>
              </a:rPr>
              <a:t> и в </a:t>
            </a:r>
            <a:r>
              <a:rPr lang="en-US" sz="2800" b="0" i="0" u="none" strike="noStrike" cap="none" dirty="0" err="1">
                <a:solidFill>
                  <a:srgbClr val="FFFFFF"/>
                </a:solidFill>
                <a:ea typeface="Arial"/>
                <a:cs typeface="Arial"/>
                <a:sym typeface="Arial"/>
              </a:rPr>
              <a:t>начало</a:t>
            </a:r>
            <a:r>
              <a:rPr lang="en-US" sz="2800" b="0" i="0" u="none" strike="noStrike" cap="none" dirty="0">
                <a:solidFill>
                  <a:srgbClr val="FFFFFF"/>
                </a:solidFill>
                <a:ea typeface="Arial"/>
                <a:cs typeface="Arial"/>
                <a:sym typeface="Arial"/>
              </a:rPr>
              <a:t>.</a:t>
            </a:r>
            <a:endParaRPr sz="2800" dirty="0">
              <a:solidFill>
                <a:srgbClr val="FFFFFF"/>
              </a:solidFill>
            </a:endParaRPr>
          </a:p>
        </p:txBody>
      </p:sp>
      <p:pic>
        <p:nvPicPr>
          <p:cNvPr id="156" name="Shape 1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0150" y="2941471"/>
            <a:ext cx="4056600" cy="42594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Shape 161"/>
          <p:cNvSpPr txBox="1">
            <a:spLocks noGrp="1"/>
          </p:cNvSpPr>
          <p:nvPr>
            <p:ph type="title"/>
          </p:nvPr>
        </p:nvSpPr>
        <p:spPr>
          <a:xfrm>
            <a:off x="368875" y="278119"/>
            <a:ext cx="11025000" cy="78088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r>
              <a:rPr lang="en-US" sz="4800" b="1">
                <a:latin typeface="Arial"/>
                <a:ea typeface="Arial"/>
                <a:cs typeface="Arial"/>
                <a:sym typeface="Arial"/>
              </a:rPr>
              <a:t>Элемент списка задается с помощью структуры</a:t>
            </a:r>
            <a:endParaRPr sz="4800" b="1">
              <a:latin typeface="Arial"/>
              <a:ea typeface="Arial"/>
              <a:cs typeface="Arial"/>
              <a:sym typeface="Arial"/>
            </a:endParaRPr>
          </a:p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4800"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Shape 162"/>
          <p:cNvSpPr txBox="1">
            <a:spLocks noGrp="1"/>
          </p:cNvSpPr>
          <p:nvPr>
            <p:ph idx="1"/>
          </p:nvPr>
        </p:nvSpPr>
        <p:spPr>
          <a:xfrm>
            <a:off x="1094605" y="2192426"/>
            <a:ext cx="3640800" cy="407484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r>
              <a:rPr lang="en-US" sz="30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struct</a:t>
            </a:r>
            <a:r>
              <a:rPr lang="en-US" sz="3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node</a:t>
            </a:r>
            <a:endParaRPr sz="30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r>
              <a:rPr lang="en-US" sz="3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{ </a:t>
            </a:r>
            <a:endParaRPr sz="30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r>
              <a:rPr lang="en-US" sz="3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n-US" sz="30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lang="en-US" sz="3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data;</a:t>
            </a:r>
            <a:endParaRPr sz="30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r>
              <a:rPr lang="en-US" sz="3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node* next;</a:t>
            </a:r>
            <a:endParaRPr sz="30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r>
              <a:rPr lang="en-US" sz="3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node* </a:t>
            </a:r>
            <a:r>
              <a:rPr lang="en-US" sz="30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prev</a:t>
            </a:r>
            <a:r>
              <a:rPr lang="en-US" sz="3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; </a:t>
            </a:r>
            <a:endParaRPr sz="30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r>
              <a:rPr lang="en-US" sz="3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};</a:t>
            </a:r>
            <a:endParaRPr sz="30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>
              <a:spcBef>
                <a:spcPts val="1000"/>
              </a:spcBef>
              <a:spcAft>
                <a:spcPts val="0"/>
              </a:spcAft>
              <a:buNone/>
            </a:pPr>
            <a:endParaRPr sz="3000" dirty="0">
              <a:solidFill>
                <a:schemeClr val="lt1"/>
              </a:solidFill>
            </a:endParaRPr>
          </a:p>
        </p:txBody>
      </p:sp>
      <p:graphicFrame>
        <p:nvGraphicFramePr>
          <p:cNvPr id="163" name="Shape 163"/>
          <p:cNvGraphicFramePr/>
          <p:nvPr>
            <p:extLst>
              <p:ext uri="{D42A27DB-BD31-4B8C-83A1-F6EECF244321}">
                <p14:modId xmlns:p14="http://schemas.microsoft.com/office/powerpoint/2010/main" val="33796528"/>
              </p:ext>
            </p:extLst>
          </p:nvPr>
        </p:nvGraphicFramePr>
        <p:xfrm>
          <a:off x="6096003" y="3069124"/>
          <a:ext cx="1460675" cy="1849602"/>
        </p:xfrm>
        <a:graphic>
          <a:graphicData uri="http://schemas.openxmlformats.org/drawingml/2006/table">
            <a:tbl>
              <a:tblPr>
                <a:noFill/>
                <a:tableStyleId>{A658CFA3-1ECF-4F86-BB5C-CF7618A15973}</a:tableStyleId>
              </a:tblPr>
              <a:tblGrid>
                <a:gridCol w="1460675"/>
              </a:tblGrid>
              <a:tr h="616534"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b="1" dirty="0">
                          <a:solidFill>
                            <a:schemeClr val="lt1"/>
                          </a:solidFill>
                        </a:rPr>
                        <a:t>data</a:t>
                      </a:r>
                      <a:endParaRPr sz="2500" b="1" dirty="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5996" marB="95996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C78D8"/>
                    </a:solidFill>
                  </a:tcPr>
                </a:tc>
              </a:tr>
              <a:tr h="616534"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dirty="0"/>
                        <a:t>next</a:t>
                      </a:r>
                      <a:endParaRPr sz="2500" dirty="0"/>
                    </a:p>
                  </a:txBody>
                  <a:tcPr marL="91425" marR="91425" marT="95996" marB="95996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D9EEB"/>
                    </a:solidFill>
                  </a:tcPr>
                </a:tc>
              </a:tr>
              <a:tr h="616534"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dirty="0" err="1"/>
                        <a:t>prev</a:t>
                      </a:r>
                      <a:endParaRPr sz="2500" dirty="0"/>
                    </a:p>
                  </a:txBody>
                  <a:tcPr marL="91425" marR="91425" marT="95996" marB="95996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</a:tr>
            </a:tbl>
          </a:graphicData>
        </a:graphic>
      </p:graphicFrame>
      <p:cxnSp>
        <p:nvCxnSpPr>
          <p:cNvPr id="164" name="Shape 164"/>
          <p:cNvCxnSpPr/>
          <p:nvPr/>
        </p:nvCxnSpPr>
        <p:spPr>
          <a:xfrm rot="10800000">
            <a:off x="7601860" y="3361663"/>
            <a:ext cx="1392300" cy="1575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65" name="Shape 165"/>
          <p:cNvCxnSpPr/>
          <p:nvPr/>
        </p:nvCxnSpPr>
        <p:spPr>
          <a:xfrm rot="10800000">
            <a:off x="7569369" y="3993138"/>
            <a:ext cx="1485000" cy="1575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66" name="Shape 166"/>
          <p:cNvCxnSpPr/>
          <p:nvPr/>
        </p:nvCxnSpPr>
        <p:spPr>
          <a:xfrm rot="5400000">
            <a:off x="6607477" y="2384519"/>
            <a:ext cx="750015" cy="5568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167" name="Shape 167"/>
          <p:cNvSpPr txBox="1"/>
          <p:nvPr/>
        </p:nvSpPr>
        <p:spPr>
          <a:xfrm>
            <a:off x="7245387" y="2016444"/>
            <a:ext cx="2133000" cy="3877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Структура элемента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Shape 168"/>
          <p:cNvSpPr txBox="1"/>
          <p:nvPr/>
        </p:nvSpPr>
        <p:spPr>
          <a:xfrm>
            <a:off x="9039320" y="3119110"/>
            <a:ext cx="2093100" cy="3877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Значение элемента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Shape 169"/>
          <p:cNvSpPr txBox="1"/>
          <p:nvPr/>
        </p:nvSpPr>
        <p:spPr>
          <a:xfrm>
            <a:off x="9067068" y="3705004"/>
            <a:ext cx="2691600" cy="678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Адрес следующего</a:t>
            </a:r>
            <a:endParaRPr>
              <a:solidFill>
                <a:schemeClr val="lt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элемента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0" name="Shape 170"/>
          <p:cNvCxnSpPr/>
          <p:nvPr/>
        </p:nvCxnSpPr>
        <p:spPr>
          <a:xfrm rot="10800000">
            <a:off x="7569369" y="4624635"/>
            <a:ext cx="1485000" cy="1575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171" name="Shape 171"/>
          <p:cNvSpPr txBox="1"/>
          <p:nvPr/>
        </p:nvSpPr>
        <p:spPr>
          <a:xfrm>
            <a:off x="9067068" y="4334400"/>
            <a:ext cx="2691600" cy="678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Адрес предыдущего</a:t>
            </a:r>
            <a:endParaRPr>
              <a:solidFill>
                <a:schemeClr val="lt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элемента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" dur="2000" fill="hold"/>
                                        <p:tgtEl>
                                          <p:spTgt spid="1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909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2" dur="2000" fill="hold"/>
                                        <p:tgtEl>
                                          <p:spTgt spid="1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909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4" dur="2000" fill="hold"/>
                                        <p:tgtEl>
                                          <p:spTgt spid="1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909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6" dur="2000" fill="hold"/>
                                        <p:tgtEl>
                                          <p:spTgt spid="1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909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2" grpId="0" uiExpand="1" build="allAtOnce"/>
      <p:bldP spid="167" grpId="0"/>
      <p:bldP spid="168" grpId="0"/>
      <p:bldP spid="169" grpId="0"/>
      <p:bldP spid="17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Shape 176"/>
          <p:cNvSpPr txBox="1">
            <a:spLocks noGrp="1"/>
          </p:cNvSpPr>
          <p:nvPr>
            <p:ph type="title"/>
          </p:nvPr>
        </p:nvSpPr>
        <p:spPr>
          <a:xfrm>
            <a:off x="677325" y="468642"/>
            <a:ext cx="10825500" cy="138694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>
                <a:latin typeface="Arial"/>
                <a:ea typeface="Arial"/>
                <a:cs typeface="Arial"/>
                <a:sym typeface="Arial"/>
              </a:rPr>
              <a:t>Существует ли список</a:t>
            </a:r>
            <a:endParaRPr sz="4800"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Shape 177"/>
          <p:cNvSpPr txBox="1">
            <a:spLocks noGrp="1"/>
          </p:cNvSpPr>
          <p:nvPr>
            <p:ph idx="1"/>
          </p:nvPr>
        </p:nvSpPr>
        <p:spPr>
          <a:xfrm>
            <a:off x="768054" y="1855586"/>
            <a:ext cx="5019600" cy="407484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r>
              <a:rPr lang="en-US" sz="30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bool</a:t>
            </a:r>
            <a:r>
              <a:rPr lang="en-US" sz="3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empty_list</a:t>
            </a:r>
            <a:r>
              <a:rPr lang="en-US" sz="3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(node* top)</a:t>
            </a:r>
            <a:endParaRPr sz="30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r>
              <a:rPr lang="en-US" sz="3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{	</a:t>
            </a:r>
            <a:endParaRPr sz="30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r>
              <a:rPr lang="en-US" sz="3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        return top==NULL;</a:t>
            </a:r>
            <a:endParaRPr sz="30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r>
              <a:rPr lang="en-US" sz="3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}</a:t>
            </a:r>
            <a:endParaRPr sz="30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>
              <a:spcBef>
                <a:spcPts val="1000"/>
              </a:spcBef>
              <a:spcAft>
                <a:spcPts val="0"/>
              </a:spcAft>
              <a:buNone/>
            </a:pPr>
            <a:endParaRPr sz="3000" dirty="0">
              <a:solidFill>
                <a:schemeClr val="lt1"/>
              </a:solidFill>
            </a:endParaRPr>
          </a:p>
        </p:txBody>
      </p:sp>
      <p:pic>
        <p:nvPicPr>
          <p:cNvPr id="178" name="Shape 1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6603" y="3440248"/>
            <a:ext cx="2556325" cy="30925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7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Shape 183"/>
          <p:cNvSpPr txBox="1">
            <a:spLocks noGrp="1"/>
          </p:cNvSpPr>
          <p:nvPr>
            <p:ph type="title"/>
          </p:nvPr>
        </p:nvSpPr>
        <p:spPr>
          <a:xfrm>
            <a:off x="695000" y="335291"/>
            <a:ext cx="10498800" cy="102847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dirty="0" err="1">
                <a:latin typeface="Arial"/>
                <a:ea typeface="Arial"/>
                <a:cs typeface="Arial"/>
                <a:sym typeface="Arial"/>
              </a:rPr>
              <a:t>Создание</a:t>
            </a:r>
            <a:r>
              <a:rPr lang="en-US" sz="4800" b="1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800" b="1" dirty="0" err="1">
                <a:latin typeface="Arial"/>
                <a:ea typeface="Arial"/>
                <a:cs typeface="Arial"/>
                <a:sym typeface="Arial"/>
              </a:rPr>
              <a:t>списка</a:t>
            </a:r>
            <a:endParaRPr sz="4800" b="1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Shape 184"/>
          <p:cNvSpPr txBox="1">
            <a:spLocks noGrp="1"/>
          </p:cNvSpPr>
          <p:nvPr>
            <p:ph idx="1"/>
          </p:nvPr>
        </p:nvSpPr>
        <p:spPr>
          <a:xfrm>
            <a:off x="532175" y="1268505"/>
            <a:ext cx="4094400" cy="407484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None/>
            </a:pPr>
            <a:r>
              <a:rPr lang="en-US" sz="2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void </a:t>
            </a:r>
            <a:r>
              <a:rPr lang="en-US" sz="20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create_list</a:t>
            </a:r>
            <a:r>
              <a:rPr lang="en-US" sz="2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(node* &amp;top</a:t>
            </a:r>
            <a:r>
              <a:rPr lang="en-US" sz="2000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lang="ru-RU" sz="2000" dirty="0" smtClean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None/>
            </a:pPr>
            <a:r>
              <a:rPr lang="ru-RU" sz="2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-RU" sz="2000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                   </a:t>
            </a:r>
            <a:r>
              <a:rPr lang="en-US" sz="2000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node* &amp;end,  </a:t>
            </a:r>
            <a:r>
              <a:rPr lang="en-US" sz="20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lang="en-US" sz="2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n)</a:t>
            </a:r>
            <a:endParaRPr sz="20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None/>
            </a:pPr>
            <a:r>
              <a:rPr lang="en-US" sz="2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{   </a:t>
            </a:r>
            <a:r>
              <a:rPr lang="en-US" sz="20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lang="en-US" sz="2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2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sz="20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None/>
            </a:pPr>
            <a:r>
              <a:rPr lang="en-US" sz="2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node* p;</a:t>
            </a:r>
            <a:endParaRPr sz="20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None/>
            </a:pPr>
            <a:r>
              <a:rPr lang="en-US" sz="2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top = NULL;</a:t>
            </a:r>
            <a:endParaRPr sz="20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None/>
            </a:pPr>
            <a:r>
              <a:rPr lang="en-US" sz="2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end =NULL;</a:t>
            </a:r>
            <a:endParaRPr sz="20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None/>
            </a:pPr>
            <a:r>
              <a:rPr lang="en-US" sz="2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for (</a:t>
            </a:r>
            <a:r>
              <a:rPr lang="en-US" sz="20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2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=0;i&lt;</a:t>
            </a:r>
            <a:r>
              <a:rPr lang="en-US" sz="20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n;i</a:t>
            </a:r>
            <a:r>
              <a:rPr lang="en-US" sz="2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++)</a:t>
            </a:r>
            <a:endParaRPr sz="20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None/>
            </a:pPr>
            <a:r>
              <a:rPr lang="en-US" sz="2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  { p=new node;</a:t>
            </a:r>
            <a:endParaRPr sz="20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None/>
            </a:pPr>
            <a:r>
              <a:rPr lang="en-US" sz="2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    </a:t>
            </a:r>
            <a:r>
              <a:rPr lang="en-US" sz="20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cout</a:t>
            </a:r>
            <a:r>
              <a:rPr lang="en-US" sz="2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&lt;&lt;" enter p-&gt;data=";</a:t>
            </a:r>
            <a:endParaRPr sz="20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None/>
            </a:pPr>
            <a:r>
              <a:rPr lang="en-US" sz="2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    </a:t>
            </a:r>
            <a:r>
              <a:rPr lang="en-US" sz="20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cin</a:t>
            </a:r>
            <a:r>
              <a:rPr lang="en-US" sz="2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&gt;&gt;p-&gt;data;</a:t>
            </a:r>
            <a:endParaRPr sz="20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None/>
            </a:pPr>
            <a:r>
              <a:rPr lang="en-US" sz="2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     if (top==NULL)</a:t>
            </a:r>
            <a:endParaRPr sz="20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None/>
            </a:pPr>
            <a:r>
              <a:rPr lang="en-US" sz="2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        { top=p;</a:t>
            </a:r>
            <a:endParaRPr sz="20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None/>
            </a:pPr>
            <a:r>
              <a:rPr lang="en-US" sz="2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          p-&gt;next=NULL;</a:t>
            </a:r>
            <a:endParaRPr sz="20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None/>
            </a:pPr>
            <a:r>
              <a:rPr lang="en-US" sz="2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          p-&gt;</a:t>
            </a:r>
            <a:r>
              <a:rPr lang="en-US" sz="20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prev</a:t>
            </a:r>
            <a:r>
              <a:rPr lang="en-US" sz="2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=NULL;</a:t>
            </a:r>
            <a:endParaRPr sz="20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None/>
            </a:pPr>
            <a:r>
              <a:rPr lang="en-US" sz="2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          end=p; }</a:t>
            </a:r>
            <a:endParaRPr sz="20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None/>
            </a:pPr>
            <a:r>
              <a:rPr lang="en-US" sz="2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   </a:t>
            </a:r>
            <a:endParaRPr sz="20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>
              <a:spcBef>
                <a:spcPts val="1000"/>
              </a:spcBef>
              <a:spcAft>
                <a:spcPts val="0"/>
              </a:spcAft>
              <a:buNone/>
            </a:pPr>
            <a:endParaRPr sz="20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Shape 185"/>
          <p:cNvSpPr txBox="1"/>
          <p:nvPr/>
        </p:nvSpPr>
        <p:spPr>
          <a:xfrm>
            <a:off x="3800389" y="3946329"/>
            <a:ext cx="3776355" cy="2705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lt1"/>
                </a:solidFill>
              </a:rPr>
              <a:t>  else</a:t>
            </a:r>
            <a:endParaRPr sz="2400" dirty="0">
              <a:solidFill>
                <a:schemeClr val="lt1"/>
              </a:solidFill>
            </a:endParaRPr>
          </a:p>
          <a:p>
            <a:pPr marL="0" lvl="0" indent="0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lt1"/>
                </a:solidFill>
              </a:rPr>
              <a:t>            { end-&gt;next=p;</a:t>
            </a:r>
            <a:endParaRPr sz="2400" dirty="0">
              <a:solidFill>
                <a:schemeClr val="lt1"/>
              </a:solidFill>
            </a:endParaRPr>
          </a:p>
          <a:p>
            <a:pPr marL="0" lvl="0" indent="0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lt1"/>
                </a:solidFill>
              </a:rPr>
              <a:t>              p-&gt;</a:t>
            </a:r>
            <a:r>
              <a:rPr lang="en-US" sz="2400" dirty="0" err="1">
                <a:solidFill>
                  <a:schemeClr val="lt1"/>
                </a:solidFill>
              </a:rPr>
              <a:t>prev</a:t>
            </a:r>
            <a:r>
              <a:rPr lang="en-US" sz="2400" dirty="0">
                <a:solidFill>
                  <a:schemeClr val="lt1"/>
                </a:solidFill>
              </a:rPr>
              <a:t>=end;</a:t>
            </a:r>
            <a:endParaRPr sz="2400" dirty="0">
              <a:solidFill>
                <a:schemeClr val="lt1"/>
              </a:solidFill>
            </a:endParaRPr>
          </a:p>
          <a:p>
            <a:pPr marL="0" lvl="0" indent="0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lt1"/>
                </a:solidFill>
              </a:rPr>
              <a:t>              p-&gt;next=NULL;</a:t>
            </a:r>
            <a:endParaRPr sz="2400" dirty="0">
              <a:solidFill>
                <a:schemeClr val="lt1"/>
              </a:solidFill>
            </a:endParaRPr>
          </a:p>
          <a:p>
            <a:pPr marL="0" lvl="0" indent="0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lt1"/>
                </a:solidFill>
              </a:rPr>
              <a:t>              end=p; </a:t>
            </a:r>
            <a:r>
              <a:rPr lang="en-US" sz="2400" dirty="0" smtClean="0">
                <a:solidFill>
                  <a:schemeClr val="lt1"/>
                </a:solidFill>
              </a:rPr>
              <a:t>}</a:t>
            </a:r>
            <a:endParaRPr sz="2400" dirty="0">
              <a:solidFill>
                <a:schemeClr val="lt1"/>
              </a:solidFill>
            </a:endParaRPr>
          </a:p>
          <a:p>
            <a:pPr marL="0" lvl="0" indent="0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lt1"/>
                </a:solidFill>
              </a:rPr>
              <a:t>          }</a:t>
            </a:r>
            <a:endParaRPr sz="2400" dirty="0">
              <a:solidFill>
                <a:schemeClr val="lt1"/>
              </a:solidFill>
            </a:endParaRPr>
          </a:p>
          <a:p>
            <a:pPr marL="0" lvl="0" indent="0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lt1"/>
                </a:solidFill>
              </a:rPr>
              <a:t>}</a:t>
            </a:r>
            <a:endParaRPr sz="2400" dirty="0">
              <a:solidFill>
                <a:schemeClr val="lt1"/>
              </a:solidFill>
            </a:endParaRPr>
          </a:p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lt1"/>
              </a:solidFill>
            </a:endParaRPr>
          </a:p>
        </p:txBody>
      </p:sp>
      <p:graphicFrame>
        <p:nvGraphicFramePr>
          <p:cNvPr id="186" name="Shape 186"/>
          <p:cNvGraphicFramePr/>
          <p:nvPr/>
        </p:nvGraphicFramePr>
        <p:xfrm>
          <a:off x="10375067" y="2609223"/>
          <a:ext cx="1460675" cy="1849602"/>
        </p:xfrm>
        <a:graphic>
          <a:graphicData uri="http://schemas.openxmlformats.org/drawingml/2006/table">
            <a:tbl>
              <a:tblPr>
                <a:noFill/>
                <a:tableStyleId>{A658CFA3-1ECF-4F86-BB5C-CF7618A15973}</a:tableStyleId>
              </a:tblPr>
              <a:tblGrid>
                <a:gridCol w="1460675"/>
              </a:tblGrid>
              <a:tr h="61653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 b="1" dirty="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5996" marB="95996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C78D8"/>
                    </a:solidFill>
                  </a:tcPr>
                </a:tc>
              </a:tr>
              <a:tr h="61653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 b="1" dirty="0"/>
                    </a:p>
                  </a:txBody>
                  <a:tcPr marL="91425" marR="91425" marT="95996" marB="95996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D9EEB"/>
                    </a:solidFill>
                  </a:tcPr>
                </a:tc>
              </a:tr>
              <a:tr h="61653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 dirty="0"/>
                    </a:p>
                  </a:txBody>
                  <a:tcPr marL="91425" marR="91425" marT="95996" marB="95996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</a:tr>
            </a:tbl>
          </a:graphicData>
        </a:graphic>
      </p:graphicFrame>
      <p:cxnSp>
        <p:nvCxnSpPr>
          <p:cNvPr id="187" name="Shape 187"/>
          <p:cNvCxnSpPr/>
          <p:nvPr/>
        </p:nvCxnSpPr>
        <p:spPr>
          <a:xfrm flipH="1">
            <a:off x="7051225" y="4216905"/>
            <a:ext cx="895500" cy="819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88" name="Shape 188"/>
          <p:cNvCxnSpPr/>
          <p:nvPr/>
        </p:nvCxnSpPr>
        <p:spPr>
          <a:xfrm rot="10800000" flipH="1">
            <a:off x="7073900" y="3588231"/>
            <a:ext cx="891000" cy="378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stealth" w="med" len="med"/>
          </a:ln>
        </p:spPr>
      </p:cxnSp>
      <p:graphicFrame>
        <p:nvGraphicFramePr>
          <p:cNvPr id="189" name="Shape 189"/>
          <p:cNvGraphicFramePr/>
          <p:nvPr>
            <p:extLst>
              <p:ext uri="{D42A27DB-BD31-4B8C-83A1-F6EECF244321}">
                <p14:modId xmlns:p14="http://schemas.microsoft.com/office/powerpoint/2010/main" val="778504734"/>
              </p:ext>
            </p:extLst>
          </p:nvPr>
        </p:nvGraphicFramePr>
        <p:xfrm>
          <a:off x="7982266" y="2631564"/>
          <a:ext cx="1460675" cy="1849602"/>
        </p:xfrm>
        <a:graphic>
          <a:graphicData uri="http://schemas.openxmlformats.org/drawingml/2006/table">
            <a:tbl>
              <a:tblPr>
                <a:noFill/>
                <a:tableStyleId>{A658CFA3-1ECF-4F86-BB5C-CF7618A15973}</a:tableStyleId>
              </a:tblPr>
              <a:tblGrid>
                <a:gridCol w="1460675"/>
              </a:tblGrid>
              <a:tr h="61653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 b="1" dirty="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5996" marB="95996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C78D8"/>
                    </a:solidFill>
                  </a:tcPr>
                </a:tc>
              </a:tr>
              <a:tr h="61653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 dirty="0"/>
                    </a:p>
                  </a:txBody>
                  <a:tcPr marL="91425" marR="91425" marT="95996" marB="95996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D9EEB"/>
                    </a:solidFill>
                  </a:tcPr>
                </a:tc>
              </a:tr>
              <a:tr h="61653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 dirty="0"/>
                    </a:p>
                  </a:txBody>
                  <a:tcPr marL="91425" marR="91425" marT="95996" marB="95996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0" name="Shape 190"/>
          <p:cNvGraphicFramePr/>
          <p:nvPr/>
        </p:nvGraphicFramePr>
        <p:xfrm>
          <a:off x="5610716" y="2642740"/>
          <a:ext cx="1460675" cy="1849602"/>
        </p:xfrm>
        <a:graphic>
          <a:graphicData uri="http://schemas.openxmlformats.org/drawingml/2006/table">
            <a:tbl>
              <a:tblPr>
                <a:noFill/>
                <a:tableStyleId>{A658CFA3-1ECF-4F86-BB5C-CF7618A15973}</a:tableStyleId>
              </a:tblPr>
              <a:tblGrid>
                <a:gridCol w="1460675"/>
              </a:tblGrid>
              <a:tr h="61653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 b="1" dirty="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5996" marB="95996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C78D8"/>
                    </a:solidFill>
                  </a:tcPr>
                </a:tc>
              </a:tr>
              <a:tr h="61653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 b="1" dirty="0"/>
                    </a:p>
                  </a:txBody>
                  <a:tcPr marL="91425" marR="91425" marT="95996" marB="95996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D9EEB"/>
                    </a:solidFill>
                  </a:tcPr>
                </a:tc>
              </a:tr>
              <a:tr h="61653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 b="1" dirty="0"/>
                    </a:p>
                  </a:txBody>
                  <a:tcPr marL="91425" marR="91425" marT="95996" marB="95996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</a:tr>
            </a:tbl>
          </a:graphicData>
        </a:graphic>
      </p:graphicFrame>
      <p:cxnSp>
        <p:nvCxnSpPr>
          <p:cNvPr id="191" name="Shape 191"/>
          <p:cNvCxnSpPr/>
          <p:nvPr/>
        </p:nvCxnSpPr>
        <p:spPr>
          <a:xfrm flipH="1">
            <a:off x="9460325" y="4211905"/>
            <a:ext cx="895500" cy="819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92" name="Shape 192"/>
          <p:cNvCxnSpPr/>
          <p:nvPr/>
        </p:nvCxnSpPr>
        <p:spPr>
          <a:xfrm rot="10800000" flipH="1">
            <a:off x="9483000" y="3583231"/>
            <a:ext cx="891000" cy="378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stealth" w="med" len="med"/>
          </a:ln>
        </p:spPr>
      </p:cxnSp>
      <p:grpSp>
        <p:nvGrpSpPr>
          <p:cNvPr id="20" name="Группа 19"/>
          <p:cNvGrpSpPr/>
          <p:nvPr/>
        </p:nvGrpSpPr>
        <p:grpSpPr>
          <a:xfrm>
            <a:off x="11110927" y="182869"/>
            <a:ext cx="375300" cy="1158557"/>
            <a:chOff x="11110927" y="174161"/>
            <a:chExt cx="375300" cy="1103388"/>
          </a:xfrm>
        </p:grpSpPr>
        <p:cxnSp>
          <p:nvCxnSpPr>
            <p:cNvPr id="193" name="Shape 193"/>
            <p:cNvCxnSpPr/>
            <p:nvPr/>
          </p:nvCxnSpPr>
          <p:spPr>
            <a:xfrm rot="5400000">
              <a:off x="10815420" y="919649"/>
              <a:ext cx="714300" cy="1500"/>
            </a:xfrm>
            <a:prstGeom prst="straightConnector1">
              <a:avLst/>
            </a:prstGeom>
            <a:noFill/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194" name="Shape 194"/>
            <p:cNvSpPr txBox="1"/>
            <p:nvPr/>
          </p:nvSpPr>
          <p:spPr>
            <a:xfrm>
              <a:off x="11110927" y="174161"/>
              <a:ext cx="3753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 dirty="0" smtClean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</a:t>
              </a:r>
              <a:endParaRPr sz="28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" name="Группа 20"/>
          <p:cNvGrpSpPr/>
          <p:nvPr/>
        </p:nvGrpSpPr>
        <p:grpSpPr>
          <a:xfrm>
            <a:off x="10338613" y="167464"/>
            <a:ext cx="889366" cy="1185984"/>
            <a:chOff x="10296084" y="138223"/>
            <a:chExt cx="889366" cy="1129509"/>
          </a:xfrm>
        </p:grpSpPr>
        <p:cxnSp>
          <p:nvCxnSpPr>
            <p:cNvPr id="195" name="Shape 195"/>
            <p:cNvCxnSpPr/>
            <p:nvPr/>
          </p:nvCxnSpPr>
          <p:spPr>
            <a:xfrm rot="5400000">
              <a:off x="10290747" y="909832"/>
              <a:ext cx="714300" cy="1500"/>
            </a:xfrm>
            <a:prstGeom prst="straightConnector1">
              <a:avLst/>
            </a:prstGeom>
            <a:noFill/>
            <a:ln w="38100" cap="flat" cmpd="sng">
              <a:solidFill>
                <a:srgbClr val="FF0000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196" name="Shape 196"/>
            <p:cNvSpPr txBox="1"/>
            <p:nvPr/>
          </p:nvSpPr>
          <p:spPr>
            <a:xfrm>
              <a:off x="10296084" y="138223"/>
              <a:ext cx="889366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 dirty="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top</a:t>
              </a:r>
              <a:endParaRPr sz="2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7" name="Shape 197"/>
          <p:cNvSpPr txBox="1"/>
          <p:nvPr/>
        </p:nvSpPr>
        <p:spPr>
          <a:xfrm>
            <a:off x="8235612" y="4923136"/>
            <a:ext cx="2936208" cy="420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Enter p-&gt;data=</a:t>
            </a:r>
            <a:endParaRPr sz="28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Shape 198"/>
          <p:cNvSpPr txBox="1"/>
          <p:nvPr/>
        </p:nvSpPr>
        <p:spPr>
          <a:xfrm>
            <a:off x="10665426" y="4901364"/>
            <a:ext cx="367000" cy="508089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28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Shape 199"/>
          <p:cNvSpPr txBox="1"/>
          <p:nvPr/>
        </p:nvSpPr>
        <p:spPr>
          <a:xfrm>
            <a:off x="10640805" y="4901364"/>
            <a:ext cx="367000" cy="508089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8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Shape 200"/>
          <p:cNvSpPr txBox="1"/>
          <p:nvPr/>
        </p:nvSpPr>
        <p:spPr>
          <a:xfrm>
            <a:off x="10661452" y="4923136"/>
            <a:ext cx="367000" cy="508089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28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" name="Группа 24"/>
          <p:cNvGrpSpPr/>
          <p:nvPr/>
        </p:nvGrpSpPr>
        <p:grpSpPr>
          <a:xfrm>
            <a:off x="9619145" y="145136"/>
            <a:ext cx="889366" cy="1185984"/>
            <a:chOff x="8704744" y="1332614"/>
            <a:chExt cx="889366" cy="1129509"/>
          </a:xfrm>
        </p:grpSpPr>
        <p:cxnSp>
          <p:nvCxnSpPr>
            <p:cNvPr id="23" name="Shape 195"/>
            <p:cNvCxnSpPr/>
            <p:nvPr/>
          </p:nvCxnSpPr>
          <p:spPr>
            <a:xfrm rot="5400000">
              <a:off x="8699407" y="2104223"/>
              <a:ext cx="714300" cy="1500"/>
            </a:xfrm>
            <a:prstGeom prst="straightConnector1">
              <a:avLst/>
            </a:prstGeom>
            <a:noFill/>
            <a:ln w="38100" cap="flat" cmpd="sng">
              <a:solidFill>
                <a:srgbClr val="FF0000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24" name="Shape 196"/>
            <p:cNvSpPr txBox="1"/>
            <p:nvPr/>
          </p:nvSpPr>
          <p:spPr>
            <a:xfrm>
              <a:off x="8704744" y="1332614"/>
              <a:ext cx="889366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 dirty="0" smtClean="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end</a:t>
              </a:r>
              <a:endParaRPr sz="2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" name="TextBox 25"/>
          <p:cNvSpPr txBox="1"/>
          <p:nvPr/>
        </p:nvSpPr>
        <p:spPr>
          <a:xfrm>
            <a:off x="5784112" y="3952123"/>
            <a:ext cx="1297172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NULL</a:t>
            </a:r>
            <a:endParaRPr lang="ru-RU" sz="2400" b="1" dirty="0"/>
          </a:p>
        </p:txBody>
      </p:sp>
      <p:sp>
        <p:nvSpPr>
          <p:cNvPr id="27" name="TextBox 26"/>
          <p:cNvSpPr txBox="1"/>
          <p:nvPr/>
        </p:nvSpPr>
        <p:spPr>
          <a:xfrm>
            <a:off x="5808921" y="3341814"/>
            <a:ext cx="1297172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NULL</a:t>
            </a:r>
            <a:endParaRPr lang="ru-RU" sz="2400" b="1" dirty="0"/>
          </a:p>
        </p:txBody>
      </p:sp>
      <p:grpSp>
        <p:nvGrpSpPr>
          <p:cNvPr id="28" name="Группа 27"/>
          <p:cNvGrpSpPr>
            <a:grpSpLocks/>
          </p:cNvGrpSpPr>
          <p:nvPr/>
        </p:nvGrpSpPr>
        <p:grpSpPr>
          <a:xfrm>
            <a:off x="10947558" y="5690260"/>
            <a:ext cx="1077338" cy="1219476"/>
            <a:chOff x="9795437" y="5375754"/>
            <a:chExt cx="1077338" cy="1189164"/>
          </a:xfrm>
        </p:grpSpPr>
        <p:graphicFrame>
          <p:nvGraphicFramePr>
            <p:cNvPr id="29" name="Shape 163"/>
            <p:cNvGraphicFramePr/>
            <p:nvPr>
              <p:extLst>
                <p:ext uri="{D42A27DB-BD31-4B8C-83A1-F6EECF244321}">
                  <p14:modId xmlns:p14="http://schemas.microsoft.com/office/powerpoint/2010/main" val="2600700057"/>
                </p:ext>
              </p:extLst>
            </p:nvPr>
          </p:nvGraphicFramePr>
          <p:xfrm>
            <a:off x="9795437" y="5375754"/>
            <a:ext cx="432000" cy="1158470"/>
          </p:xfrm>
          <a:graphic>
            <a:graphicData uri="http://schemas.openxmlformats.org/drawingml/2006/table">
              <a:tbl>
                <a:tblPr>
                  <a:noFill/>
                  <a:tableStyleId>{A658CFA3-1ECF-4F86-BB5C-CF7618A15973}</a:tableStyleId>
                </a:tblPr>
                <a:tblGrid>
                  <a:gridCol w="432000"/>
                </a:tblGrid>
                <a:tr h="396000">
                  <a:tc>
                    <a:txBody>
                      <a:bodyPr/>
                      <a:lstStyle/>
                      <a:p>
                        <a:pPr marL="0" lvl="0" indent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900" b="1" dirty="0">
                          <a:solidFill>
                            <a:schemeClr val="lt1"/>
                          </a:solidFill>
                        </a:endParaRPr>
                      </a:p>
                    </a:txBody>
                    <a:tcPr marL="91425" marR="91425" marT="91425" marB="91425">
                      <a:lnL w="2857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2857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2857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2857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3C78D8"/>
                      </a:solidFill>
                    </a:tcPr>
                  </a:tc>
                </a:tr>
                <a:tr h="396000">
                  <a:tc>
                    <a:txBody>
                      <a:bodyPr/>
                      <a:lstStyle/>
                      <a:p>
                        <a:pPr marL="0" lvl="0" indent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900" dirty="0"/>
                      </a:p>
                    </a:txBody>
                    <a:tcPr marL="91425" marR="91425" marT="91425" marB="91425">
                      <a:lnL w="2857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2857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2857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2857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6D9EEB"/>
                      </a:solidFill>
                    </a:tcPr>
                  </a:tc>
                </a:tr>
                <a:tr h="396000">
                  <a:tc>
                    <a:txBody>
                      <a:bodyPr/>
                      <a:lstStyle/>
                      <a:p>
                        <a:pPr marL="0" lvl="0" indent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900" dirty="0"/>
                      </a:p>
                    </a:txBody>
                    <a:tcPr marL="91425" marR="91425" marT="91425" marB="91425">
                      <a:lnL w="2857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2857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2857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2857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A4C2F4"/>
                      </a:solidFill>
                    </a:tcPr>
                  </a:tc>
                </a:tr>
              </a:tbl>
            </a:graphicData>
          </a:graphic>
        </p:graphicFrame>
        <p:sp>
          <p:nvSpPr>
            <p:cNvPr id="30" name="TextBox 29"/>
            <p:cNvSpPr txBox="1"/>
            <p:nvPr/>
          </p:nvSpPr>
          <p:spPr>
            <a:xfrm>
              <a:off x="10200796" y="6204766"/>
              <a:ext cx="671979" cy="36015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b="1" dirty="0" err="1" smtClean="0">
                  <a:solidFill>
                    <a:schemeClr val="tx1"/>
                  </a:solidFill>
                </a:rPr>
                <a:t>prev</a:t>
              </a:r>
              <a:endParaRPr lang="ru-RU" sz="1800" b="1" dirty="0">
                <a:solidFill>
                  <a:schemeClr val="tx1"/>
                </a:solidFill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10200797" y="5397150"/>
              <a:ext cx="659155" cy="36015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b="1" dirty="0" smtClean="0">
                  <a:solidFill>
                    <a:schemeClr val="tx1"/>
                  </a:solidFill>
                </a:rPr>
                <a:t>data</a:t>
              </a:r>
              <a:endParaRPr lang="ru-RU" sz="1800" b="1" dirty="0">
                <a:solidFill>
                  <a:schemeClr val="tx1"/>
                </a:solidFill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0200796" y="5800958"/>
              <a:ext cx="659155" cy="36015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b="1" dirty="0" smtClean="0">
                  <a:solidFill>
                    <a:schemeClr val="tx1"/>
                  </a:solidFill>
                </a:rPr>
                <a:t>next</a:t>
              </a:r>
              <a:endParaRPr lang="ru-RU" sz="1800" b="1" dirty="0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repeatCount="3000" fill="remove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50" autoRev="1" fill="remove"/>
                                        <p:tgtEl>
                                          <p:spTgt spid="1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7" dur="250" autoRev="1" fill="remove"/>
                                        <p:tgtEl>
                                          <p:spTgt spid="1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8" dur="250" autoRev="1" fill="remove"/>
                                        <p:tgtEl>
                                          <p:spTgt spid="1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250" autoRev="1" fill="remove"/>
                                        <p:tgtEl>
                                          <p:spTgt spid="1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27" presetClass="emph" presetSubtype="0" repeatCount="3000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250" autoRev="1" fill="remove"/>
                                        <p:tgtEl>
                                          <p:spTgt spid="1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2" dur="250" autoRev="1" fill="remove"/>
                                        <p:tgtEl>
                                          <p:spTgt spid="1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3" dur="250" autoRev="1" fill="remove"/>
                                        <p:tgtEl>
                                          <p:spTgt spid="1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250" autoRev="1" fill="remove"/>
                                        <p:tgtEl>
                                          <p:spTgt spid="1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1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1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8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18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18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18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18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18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18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18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18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18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18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6" dur="2000" fill="hold"/>
                                        <p:tgtEl>
                                          <p:spTgt spid="1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2" dur="2000" fill="hold"/>
                                        <p:tgtEl>
                                          <p:spTgt spid="1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8" dur="2000" fill="hold"/>
                                        <p:tgtEl>
                                          <p:spTgt spid="18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4" dur="2000" fill="hold"/>
                                        <p:tgtEl>
                                          <p:spTgt spid="18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5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6" dur="2000" fill="hold"/>
                                        <p:tgtEl>
                                          <p:spTgt spid="18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51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5168 -0.06736 L -0.16024 -0.0706 C -0.1825 -0.07269 -0.2144 -0.05949 -0.24512 -0.03912 C -0.28039 -0.01528 -0.30669 0.00995 -0.32309 0.03819 L -0.40367 0.16504 " pathEditMode="relative" rAng="4173670" ptsTypes="FffFF">
                                      <p:cBhvr>
                                        <p:cTn id="110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8500" y="73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4" dur="2000" fill="hold"/>
                                        <p:tgtEl>
                                          <p:spTgt spid="18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2" dur="2000" fill="hold"/>
                                        <p:tgtEl>
                                          <p:spTgt spid="18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3" presetID="49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2982 -0.00069 L -0.36718 -0.30972 " pathEditMode="relative" rAng="0" ptsTypes="AA">
                                      <p:cBhvr>
                                        <p:cTn id="124" dur="2000" fill="hold"/>
                                        <p:tgtEl>
                                          <p:spTgt spid="19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9857" y="-1546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8" dur="2000" fill="hold"/>
                                        <p:tgtEl>
                                          <p:spTgt spid="18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9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0" dur="2000" fill="hold"/>
                                        <p:tgtEl>
                                          <p:spTgt spid="18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1" presetID="51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2054 -0.08079 L -0.20658 -0.04908 C -0.22455 -0.04329 -0.2498 -0.02662 -0.27453 -0.00487 C -0.30317 0.02013 -0.32452 0.04398 -0.33858 0.0662 L -0.40445 0.16736 " pathEditMode="relative" rAng="3831066" ptsTypes="FffFF">
                                      <p:cBhvr>
                                        <p:cTn id="132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900" y="100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6" dur="2000" fill="hold"/>
                                        <p:tgtEl>
                                          <p:spTgt spid="18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2" dur="2000" fill="hold"/>
                                        <p:tgtEl>
                                          <p:spTgt spid="18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8" dur="2000" fill="hold"/>
                                        <p:tgtEl>
                                          <p:spTgt spid="18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9" presetID="51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9061 -0.06135 L -0.1471 -0.025 C -0.15895 -0.01852 -0.17431 -0.00139 -0.1885 0.01898 C -0.20529 0.04282 -0.21727 0.06412 -0.22403 0.08333 L -0.25632 0.17199 " pathEditMode="relative" rAng="3099659" ptsTypes="FffFF">
                                      <p:cBhvr>
                                        <p:cTn id="150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100" y="99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2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5" dur="500"/>
                                        <p:tgtEl>
                                          <p:spTgt spid="1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22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8" dur="500"/>
                                        <p:tgtEl>
                                          <p:spTgt spid="1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22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1" dur="500"/>
                                        <p:tgtEl>
                                          <p:spTgt spid="1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22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4" dur="500"/>
                                        <p:tgtEl>
                                          <p:spTgt spid="1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22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7" dur="500"/>
                                        <p:tgtEl>
                                          <p:spTgt spid="18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22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0" dur="500"/>
                                        <p:tgtEl>
                                          <p:spTgt spid="18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22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3" dur="500"/>
                                        <p:tgtEl>
                                          <p:spTgt spid="18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7" dur="2000" fill="hold"/>
                                        <p:tgtEl>
                                          <p:spTgt spid="18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BFD33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8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9" dur="2000" fill="hold"/>
                                        <p:tgtEl>
                                          <p:spTgt spid="18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BFD33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2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37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40299 0.16782 L -0.36106 0.13055 C -0.35221 0.12222 -0.33906 0.11782 -0.32539 0.11782 C -0.30963 0.11782 -0.29713 0.12222 -0.28828 0.13055 L -0.24622 0.16782 " pathEditMode="relative" rAng="0" ptsTypes="AAAAA">
                                      <p:cBhvr>
                                        <p:cTn id="184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839" y="-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8" dur="2000" fill="hold"/>
                                        <p:tgtEl>
                                          <p:spTgt spid="18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BFD33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9" presetID="34" presetClass="emph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-3.33333E-6 -2.96296E-6 L -3.33333E-6 -0.07222 " pathEditMode="relative" rAng="0" ptsTypes="AA">
                                      <p:cBhvr>
                                        <p:cTn id="190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611"/>
                                    </p:animMotion>
                                    <p:animRot by="1500000">
                                      <p:cBhvr>
                                        <p:cTn id="191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92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93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4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7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1" dur="2000" fill="hold"/>
                                        <p:tgtEl>
                                          <p:spTgt spid="18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BFD33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02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125E-6 -1.48148E-6 L -0.1681 -0.31528 " pathEditMode="relative" rAng="0" ptsTypes="AA">
                                      <p:cBhvr>
                                        <p:cTn id="203" dur="2000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411" y="-1576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indefinite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7" dur="2000" fill="hold"/>
                                        <p:tgtEl>
                                          <p:spTgt spid="18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BFD33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08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9" dur="2000" fill="hold"/>
                                        <p:tgtEl>
                                          <p:spTgt spid="1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BFD33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>
                      <p:stCondLst>
                        <p:cond delay="indefinite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3" dur="2000" fill="hold"/>
                                        <p:tgtEl>
                                          <p:spTgt spid="1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BFD33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6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>
                      <p:stCondLst>
                        <p:cond delay="indefinite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0" dur="2000" fill="hold"/>
                                        <p:tgtEl>
                                          <p:spTgt spid="1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BFD33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2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3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4" fill="hold">
                      <p:stCondLst>
                        <p:cond delay="indefinite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7" dur="2000" fill="hold"/>
                                        <p:tgtEl>
                                          <p:spTgt spid="1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BFD33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28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4.81481E-6 L 0.19544 4.81481E-6 " pathEditMode="relative" rAng="0" ptsTypes="AA">
                                      <p:cBhvr>
                                        <p:cTn id="229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766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0" fill="hold">
                      <p:stCondLst>
                        <p:cond delay="indefinite"/>
                      </p:stCondLst>
                      <p:childTnLst>
                        <p:par>
                          <p:cTn id="231" fill="hold">
                            <p:stCondLst>
                              <p:cond delay="0"/>
                            </p:stCondLst>
                            <p:childTnLst>
                              <p:par>
                                <p:cTn id="232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3" dur="2000" fill="hold"/>
                                        <p:tgtEl>
                                          <p:spTgt spid="18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BFD33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4" presetID="37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556 0.17315 L -0.20351 0.1375 C -0.19271 0.12963 -0.17643 0.12546 -0.15924 0.12546 C -0.13984 0.12546 -0.12422 0.12963 -0.11341 0.1375 L -0.0612 0.17315 " pathEditMode="relative" rAng="0" ptsTypes="AAAAA">
                                      <p:cBhvr>
                                        <p:cTn id="235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714" y="-238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6" fill="hold">
                      <p:stCondLst>
                        <p:cond delay="indefinite"/>
                      </p:stCondLst>
                      <p:childTnLst>
                        <p:par>
                          <p:cTn id="237" fill="hold">
                            <p:stCondLst>
                              <p:cond delay="0"/>
                            </p:stCondLst>
                            <p:childTnLst>
                              <p:par>
                                <p:cTn id="238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9" dur="2000" fill="hold"/>
                                        <p:tgtEl>
                                          <p:spTgt spid="18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66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40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1" dur="2000" fill="hold"/>
                                        <p:tgtEl>
                                          <p:spTgt spid="18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66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4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4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5" presetID="37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4622 0.16782 L -0.19192 0.13055 C -0.1806 0.12222 -0.16367 0.11782 -0.14583 0.11782 C -0.12552 0.11782 -0.10937 0.12222 -0.09804 0.13055 L -0.04362 0.16782 " pathEditMode="relative" rAng="0" ptsTypes="AAAAA">
                                      <p:cBhvr>
                                        <p:cTn id="246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130" y="-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7" fill="hold">
                      <p:stCondLst>
                        <p:cond delay="indefinite"/>
                      </p:stCondLst>
                      <p:childTnLst>
                        <p:par>
                          <p:cTn id="248" fill="hold">
                            <p:stCondLst>
                              <p:cond delay="0"/>
                            </p:stCondLst>
                            <p:childTnLst>
                              <p:par>
                                <p:cTn id="249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0" dur="2000" fill="hold"/>
                                        <p:tgtEl>
                                          <p:spTgt spid="18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66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51" presetID="34" presetClass="emph" presetSubtype="0" fill="hold" grpId="2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-3.33333E-6 -2.96296E-6 L -3.33333E-6 -0.07222 " pathEditMode="relative" rAng="0" ptsTypes="AA">
                                      <p:cBhvr>
                                        <p:cTn id="252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611"/>
                                    </p:animMotion>
                                    <p:animRot by="1500000">
                                      <p:cBhvr>
                                        <p:cTn id="253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254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255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256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5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9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0" fill="hold">
                      <p:stCondLst>
                        <p:cond delay="indefinite"/>
                      </p:stCondLst>
                      <p:childTnLst>
                        <p:par>
                          <p:cTn id="261" fill="hold">
                            <p:stCondLst>
                              <p:cond delay="0"/>
                            </p:stCondLst>
                            <p:childTnLst>
                              <p:par>
                                <p:cTn id="262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3" dur="2000" fill="hold"/>
                                        <p:tgtEl>
                                          <p:spTgt spid="18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66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64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7 -7.40741E-7 L 0.02578 -0.31991 " pathEditMode="relative" rAng="0" ptsTypes="AA">
                                      <p:cBhvr>
                                        <p:cTn id="265" dur="2000" fill="hold"/>
                                        <p:tgtEl>
                                          <p:spTgt spid="19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89" y="-1599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6" fill="hold">
                      <p:stCondLst>
                        <p:cond delay="indefinite"/>
                      </p:stCondLst>
                      <p:childTnLst>
                        <p:par>
                          <p:cTn id="267" fill="hold">
                            <p:stCondLst>
                              <p:cond delay="0"/>
                            </p:stCondLst>
                            <p:childTnLst>
                              <p:par>
                                <p:cTn id="268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9" dur="2000" fill="hold"/>
                                        <p:tgtEl>
                                          <p:spTgt spid="18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66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70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1" dur="2000" fill="hold"/>
                                        <p:tgtEl>
                                          <p:spTgt spid="1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66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2" fill="hold">
                      <p:stCondLst>
                        <p:cond delay="indefinite"/>
                      </p:stCondLst>
                      <p:childTnLst>
                        <p:par>
                          <p:cTn id="273" fill="hold">
                            <p:stCondLst>
                              <p:cond delay="0"/>
                            </p:stCondLst>
                            <p:childTnLst>
                              <p:par>
                                <p:cTn id="274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5" dur="2000" fill="hold"/>
                                        <p:tgtEl>
                                          <p:spTgt spid="1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66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7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8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9" fill="hold">
                      <p:stCondLst>
                        <p:cond delay="indefinite"/>
                      </p:stCondLst>
                      <p:childTnLst>
                        <p:par>
                          <p:cTn id="280" fill="hold">
                            <p:stCondLst>
                              <p:cond delay="0"/>
                            </p:stCondLst>
                            <p:childTnLst>
                              <p:par>
                                <p:cTn id="281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2" dur="2000" fill="hold"/>
                                        <p:tgtEl>
                                          <p:spTgt spid="1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66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8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5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6" fill="hold">
                      <p:stCondLst>
                        <p:cond delay="indefinite"/>
                      </p:stCondLst>
                      <p:childTnLst>
                        <p:par>
                          <p:cTn id="287" fill="hold">
                            <p:stCondLst>
                              <p:cond delay="0"/>
                            </p:stCondLst>
                            <p:childTnLst>
                              <p:par>
                                <p:cTn id="288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9" dur="2000" fill="hold"/>
                                        <p:tgtEl>
                                          <p:spTgt spid="1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66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90" presetID="42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9544 4.81481E-6 L 0.38672 -0.00463 " pathEditMode="relative" rAng="0" ptsTypes="AA">
                                      <p:cBhvr>
                                        <p:cTn id="291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557" y="-2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2" fill="hold">
                      <p:stCondLst>
                        <p:cond delay="indefinite"/>
                      </p:stCondLst>
                      <p:childTnLst>
                        <p:par>
                          <p:cTn id="293" fill="hold">
                            <p:stCondLst>
                              <p:cond delay="0"/>
                            </p:stCondLst>
                            <p:childTnLst>
                              <p:par>
                                <p:cTn id="294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5" dur="2000" fill="hold"/>
                                        <p:tgtEl>
                                          <p:spTgt spid="18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66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96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7" dur="2000" fill="hold"/>
                                        <p:tgtEl>
                                          <p:spTgt spid="18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66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98" presetID="37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612 0.17314 L -0.01029 0.1331 C 0.00026 0.12407 0.01615 0.11921 0.03294 0.11921 C 0.05195 0.11921 0.06719 0.12407 0.07774 0.1331 L 0.12891 0.17314 " pathEditMode="relative" rAng="0" ptsTypes="AAAAA">
                                      <p:cBhvr>
                                        <p:cTn id="299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505" y="-270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" grpId="0" uiExpand="1" build="allAtOnce"/>
      <p:bldP spid="185" grpId="1" build="allAtOnce"/>
      <p:bldP spid="197" grpId="0"/>
      <p:bldP spid="197" grpId="1"/>
      <p:bldP spid="197" grpId="2"/>
      <p:bldP spid="198" grpId="0" animBg="1"/>
      <p:bldP spid="198" grpId="1" animBg="1"/>
      <p:bldP spid="199" grpId="0" animBg="1"/>
      <p:bldP spid="199" grpId="1" animBg="1"/>
      <p:bldP spid="200" grpId="0" animBg="1"/>
      <p:bldP spid="200" grpId="1" animBg="1"/>
      <p:bldP spid="26" grpId="0"/>
      <p:bldP spid="27" grpId="0"/>
      <p:bldP spid="27" grpId="1"/>
      <p:bldP spid="27" grpId="2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Shape 205"/>
          <p:cNvSpPr txBox="1">
            <a:spLocks noGrp="1"/>
          </p:cNvSpPr>
          <p:nvPr>
            <p:ph type="title"/>
          </p:nvPr>
        </p:nvSpPr>
        <p:spPr>
          <a:xfrm>
            <a:off x="594607" y="201137"/>
            <a:ext cx="10898100" cy="1163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</a:pPr>
            <a:r>
              <a:rPr lang="en-US" sz="4800" b="1" i="0" u="none" strike="noStrike" cap="none" dirty="0" err="1">
                <a:latin typeface="Arial"/>
                <a:ea typeface="Arial"/>
                <a:cs typeface="Arial"/>
                <a:sym typeface="Arial"/>
              </a:rPr>
              <a:t>Нахождение</a:t>
            </a:r>
            <a:r>
              <a:rPr lang="en-US" sz="4800" b="1" i="0" u="none" strike="noStrike" cap="none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800" b="1" i="0" u="none" strike="noStrike" cap="none" dirty="0" err="1">
                <a:latin typeface="Arial"/>
                <a:ea typeface="Arial"/>
                <a:cs typeface="Arial"/>
                <a:sym typeface="Arial"/>
              </a:rPr>
              <a:t>длины</a:t>
            </a:r>
            <a:r>
              <a:rPr lang="en-US" sz="4800" b="1" i="0" u="none" strike="noStrike" cap="none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800" b="1" i="0" u="none" strike="noStrike" cap="none" dirty="0" err="1">
                <a:latin typeface="Arial"/>
                <a:ea typeface="Arial"/>
                <a:cs typeface="Arial"/>
                <a:sym typeface="Arial"/>
              </a:rPr>
              <a:t>списка</a:t>
            </a:r>
            <a:endParaRPr sz="4800" dirty="0"/>
          </a:p>
        </p:txBody>
      </p:sp>
      <p:sp>
        <p:nvSpPr>
          <p:cNvPr id="206" name="Shape 206"/>
          <p:cNvSpPr txBox="1">
            <a:spLocks noGrp="1"/>
          </p:cNvSpPr>
          <p:nvPr>
            <p:ph idx="1"/>
          </p:nvPr>
        </p:nvSpPr>
        <p:spPr>
          <a:xfrm>
            <a:off x="586625" y="1174399"/>
            <a:ext cx="3259800" cy="1962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60"/>
              <a:buFont typeface="Noto Sans Symbols"/>
              <a:buNone/>
            </a:pPr>
            <a:r>
              <a:rPr lang="en-US" b="0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lang="en-US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0" i="0" u="none" strike="noStrike" cap="none" dirty="0" err="1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length_list</a:t>
            </a:r>
            <a:r>
              <a:rPr lang="ru-RU" b="0" i="0" u="none" strike="noStrike" cap="none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0" i="0" u="none" strike="noStrike" cap="none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node* top)</a:t>
            </a:r>
            <a:endParaRPr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360"/>
              <a:buFont typeface="Noto Sans Symbols"/>
              <a:buNone/>
            </a:pPr>
            <a:r>
              <a:rPr lang="en-US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{   node* p;</a:t>
            </a:r>
            <a:endParaRPr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360"/>
              <a:buFont typeface="Noto Sans Symbols"/>
              <a:buNone/>
            </a:pPr>
            <a:r>
              <a:rPr lang="en-US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n-US" b="0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lang="en-US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0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len</a:t>
            </a:r>
            <a:r>
              <a:rPr lang="en-US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360"/>
              <a:buFont typeface="Noto Sans Symbols"/>
              <a:buNone/>
            </a:pPr>
            <a:r>
              <a:rPr lang="en-US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if (</a:t>
            </a:r>
            <a:r>
              <a:rPr lang="en-US" b="0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empty_list</a:t>
            </a:r>
            <a:r>
              <a:rPr lang="en-US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(top))  </a:t>
            </a:r>
            <a:r>
              <a:rPr lang="en-US" b="0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len</a:t>
            </a:r>
            <a:r>
              <a:rPr lang="en-US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= 0</a:t>
            </a:r>
            <a:r>
              <a:rPr lang="en-US" b="0" i="0" u="none" strike="noStrike" cap="none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;              </a:t>
            </a:r>
            <a:endParaRPr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360"/>
              <a:buFont typeface="Noto Sans Symbols"/>
              <a:buNone/>
            </a:pPr>
            <a:endParaRPr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Shape 207"/>
          <p:cNvSpPr txBox="1"/>
          <p:nvPr/>
        </p:nvSpPr>
        <p:spPr>
          <a:xfrm>
            <a:off x="3843794" y="2461353"/>
            <a:ext cx="27396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  <a:spcBef>
                <a:spcPts val="1000"/>
              </a:spcBef>
              <a:buClr>
                <a:schemeClr val="accent1"/>
              </a:buClr>
              <a:buSzPts val="1360"/>
            </a:pPr>
            <a:r>
              <a:rPr lang="en-US" sz="1800" dirty="0" smtClean="0">
                <a:solidFill>
                  <a:schemeClr val="lt1"/>
                </a:solidFill>
              </a:rPr>
              <a:t>else </a:t>
            </a:r>
          </a:p>
          <a:p>
            <a:pPr lvl="0">
              <a:lnSpc>
                <a:spcPct val="115000"/>
              </a:lnSpc>
              <a:spcBef>
                <a:spcPts val="1000"/>
              </a:spcBef>
              <a:buClr>
                <a:schemeClr val="accent1"/>
              </a:buClr>
              <a:buSzPts val="1360"/>
            </a:pPr>
            <a:r>
              <a:rPr lang="en-US" sz="1800" dirty="0" smtClean="0">
                <a:solidFill>
                  <a:schemeClr val="lt1"/>
                </a:solidFill>
              </a:rPr>
              <a:t>{   </a:t>
            </a:r>
            <a:r>
              <a:rPr lang="en-US" sz="1800" dirty="0" err="1">
                <a:solidFill>
                  <a:schemeClr val="lt1"/>
                </a:solidFill>
              </a:rPr>
              <a:t>len</a:t>
            </a:r>
            <a:r>
              <a:rPr lang="en-US" sz="1800" dirty="0">
                <a:solidFill>
                  <a:schemeClr val="lt1"/>
                </a:solidFill>
              </a:rPr>
              <a:t>=0;</a:t>
            </a:r>
            <a:endParaRPr sz="1800" dirty="0">
              <a:solidFill>
                <a:schemeClr val="lt1"/>
              </a:solidFill>
            </a:endParaRPr>
          </a:p>
          <a:p>
            <a:pPr marL="0" lvl="0" indent="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360"/>
              <a:buFont typeface="Noto Sans Symbols"/>
              <a:buNone/>
            </a:pPr>
            <a:r>
              <a:rPr lang="en-US" sz="1800" dirty="0">
                <a:solidFill>
                  <a:schemeClr val="lt1"/>
                </a:solidFill>
              </a:rPr>
              <a:t>    p=top;</a:t>
            </a:r>
            <a:endParaRPr sz="1800" dirty="0">
              <a:solidFill>
                <a:schemeClr val="lt1"/>
              </a:solidFill>
            </a:endParaRPr>
          </a:p>
          <a:p>
            <a:pPr marL="0" lvl="0" indent="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360"/>
              <a:buFont typeface="Noto Sans Symbols"/>
              <a:buNone/>
            </a:pPr>
            <a:r>
              <a:rPr lang="en-US" sz="1800" dirty="0">
                <a:solidFill>
                  <a:schemeClr val="lt1"/>
                </a:solidFill>
              </a:rPr>
              <a:t>    while (p)</a:t>
            </a:r>
            <a:endParaRPr sz="1800" dirty="0">
              <a:solidFill>
                <a:schemeClr val="lt1"/>
              </a:solidFill>
            </a:endParaRPr>
          </a:p>
          <a:p>
            <a:pPr marL="0" lvl="0" indent="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360"/>
              <a:buFont typeface="Noto Sans Symbols"/>
              <a:buNone/>
            </a:pPr>
            <a:r>
              <a:rPr lang="en-US" sz="1800" dirty="0">
                <a:solidFill>
                  <a:schemeClr val="lt1"/>
                </a:solidFill>
              </a:rPr>
              <a:t>{   p=p-&gt;next;</a:t>
            </a:r>
            <a:endParaRPr sz="1800" dirty="0">
              <a:solidFill>
                <a:schemeClr val="lt1"/>
              </a:solidFill>
            </a:endParaRPr>
          </a:p>
          <a:p>
            <a:pPr marL="0" lvl="0" indent="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360"/>
              <a:buFont typeface="Noto Sans Symbols"/>
              <a:buNone/>
            </a:pPr>
            <a:r>
              <a:rPr lang="en-US" sz="1800" dirty="0">
                <a:solidFill>
                  <a:schemeClr val="lt1"/>
                </a:solidFill>
              </a:rPr>
              <a:t>    </a:t>
            </a:r>
            <a:r>
              <a:rPr lang="en-US" sz="1800" dirty="0" err="1">
                <a:solidFill>
                  <a:schemeClr val="lt1"/>
                </a:solidFill>
              </a:rPr>
              <a:t>len</a:t>
            </a:r>
            <a:r>
              <a:rPr lang="en-US" sz="1800" dirty="0">
                <a:solidFill>
                  <a:schemeClr val="lt1"/>
                </a:solidFill>
              </a:rPr>
              <a:t>++;</a:t>
            </a:r>
            <a:endParaRPr sz="1800" dirty="0">
              <a:solidFill>
                <a:schemeClr val="lt1"/>
              </a:solidFill>
            </a:endParaRPr>
          </a:p>
          <a:p>
            <a:pPr marL="0" lvl="0" indent="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360"/>
              <a:buFont typeface="Noto Sans Symbols"/>
              <a:buNone/>
            </a:pPr>
            <a:r>
              <a:rPr lang="en-US" sz="1800" dirty="0">
                <a:solidFill>
                  <a:schemeClr val="lt1"/>
                </a:solidFill>
              </a:rPr>
              <a:t>}</a:t>
            </a:r>
            <a:endParaRPr sz="1800" dirty="0">
              <a:solidFill>
                <a:schemeClr val="lt1"/>
              </a:solidFill>
            </a:endParaRPr>
          </a:p>
          <a:p>
            <a:pPr marL="0" lvl="0" indent="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360"/>
              <a:buFont typeface="Noto Sans Symbols"/>
              <a:buNone/>
            </a:pPr>
            <a:r>
              <a:rPr lang="en-US" sz="1800" dirty="0">
                <a:solidFill>
                  <a:schemeClr val="lt1"/>
                </a:solidFill>
              </a:rPr>
              <a:t>}</a:t>
            </a:r>
            <a:endParaRPr sz="1800" dirty="0">
              <a:solidFill>
                <a:schemeClr val="lt1"/>
              </a:solidFill>
            </a:endParaRPr>
          </a:p>
          <a:p>
            <a:pPr marL="0" lvl="0" indent="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360"/>
              <a:buFont typeface="Noto Sans Symbols"/>
              <a:buNone/>
            </a:pPr>
            <a:r>
              <a:rPr lang="en-US" sz="1800" dirty="0">
                <a:solidFill>
                  <a:schemeClr val="lt1"/>
                </a:solidFill>
              </a:rPr>
              <a:t>    return </a:t>
            </a:r>
            <a:r>
              <a:rPr lang="en-US" sz="1800" dirty="0" err="1">
                <a:solidFill>
                  <a:schemeClr val="lt1"/>
                </a:solidFill>
              </a:rPr>
              <a:t>len</a:t>
            </a:r>
            <a:r>
              <a:rPr lang="en-US" sz="1800" dirty="0">
                <a:solidFill>
                  <a:schemeClr val="lt1"/>
                </a:solidFill>
              </a:rPr>
              <a:t>;</a:t>
            </a:r>
            <a:endParaRPr sz="1800" dirty="0">
              <a:solidFill>
                <a:schemeClr val="lt1"/>
              </a:solidFill>
            </a:endParaRPr>
          </a:p>
          <a:p>
            <a:pPr marL="0" lvl="0" indent="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360"/>
              <a:buFont typeface="Noto Sans Symbols"/>
              <a:buNone/>
            </a:pPr>
            <a:r>
              <a:rPr lang="en-US" sz="1800" dirty="0">
                <a:solidFill>
                  <a:schemeClr val="lt1"/>
                </a:solidFill>
              </a:rPr>
              <a:t>}	</a:t>
            </a:r>
            <a:endParaRPr sz="1800" dirty="0">
              <a:solidFill>
                <a:schemeClr val="lt1"/>
              </a:solidFill>
            </a:endParaRPr>
          </a:p>
          <a:p>
            <a:pPr marL="0" lvl="0" indent="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360"/>
              <a:buFont typeface="Noto Sans Symbols"/>
              <a:buNone/>
            </a:pPr>
            <a:endParaRPr sz="1800" dirty="0">
              <a:solidFill>
                <a:schemeClr val="lt1"/>
              </a:solidFill>
            </a:endParaRPr>
          </a:p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1800" dirty="0"/>
          </a:p>
        </p:txBody>
      </p:sp>
      <p:grpSp>
        <p:nvGrpSpPr>
          <p:cNvPr id="5" name="Группа 4"/>
          <p:cNvGrpSpPr/>
          <p:nvPr/>
        </p:nvGrpSpPr>
        <p:grpSpPr>
          <a:xfrm>
            <a:off x="11110927" y="182869"/>
            <a:ext cx="375300" cy="1158557"/>
            <a:chOff x="11110927" y="174161"/>
            <a:chExt cx="375300" cy="1103388"/>
          </a:xfrm>
        </p:grpSpPr>
        <p:cxnSp>
          <p:nvCxnSpPr>
            <p:cNvPr id="6" name="Shape 193"/>
            <p:cNvCxnSpPr/>
            <p:nvPr/>
          </p:nvCxnSpPr>
          <p:spPr>
            <a:xfrm rot="5400000">
              <a:off x="10815420" y="919649"/>
              <a:ext cx="714300" cy="1500"/>
            </a:xfrm>
            <a:prstGeom prst="straightConnector1">
              <a:avLst/>
            </a:prstGeom>
            <a:noFill/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7" name="Shape 194"/>
            <p:cNvSpPr txBox="1"/>
            <p:nvPr/>
          </p:nvSpPr>
          <p:spPr>
            <a:xfrm>
              <a:off x="11110927" y="174161"/>
              <a:ext cx="3753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 dirty="0" smtClean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</a:t>
              </a:r>
              <a:endParaRPr sz="28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9813854" y="6484057"/>
            <a:ext cx="10134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err="1" smtClean="0">
                <a:solidFill>
                  <a:schemeClr val="tx1"/>
                </a:solidFill>
              </a:rPr>
              <a:t>len</a:t>
            </a:r>
            <a:r>
              <a:rPr lang="en-US" sz="2800" b="1" dirty="0" smtClean="0">
                <a:solidFill>
                  <a:schemeClr val="tx1"/>
                </a:solidFill>
              </a:rPr>
              <a:t> =</a:t>
            </a:r>
            <a:endParaRPr lang="ru-RU" sz="2800" b="1" dirty="0">
              <a:solidFill>
                <a:schemeClr val="tx1"/>
              </a:solidFill>
            </a:endParaRPr>
          </a:p>
        </p:txBody>
      </p:sp>
      <p:sp>
        <p:nvSpPr>
          <p:cNvPr id="9" name="Shape 200"/>
          <p:cNvSpPr txBox="1"/>
          <p:nvPr/>
        </p:nvSpPr>
        <p:spPr>
          <a:xfrm>
            <a:off x="10964143" y="6494577"/>
            <a:ext cx="382068" cy="49356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 smtClean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2800" b="1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0" name="Shape 186"/>
          <p:cNvGraphicFramePr/>
          <p:nvPr/>
        </p:nvGraphicFramePr>
        <p:xfrm>
          <a:off x="10375067" y="2609223"/>
          <a:ext cx="1460675" cy="1849602"/>
        </p:xfrm>
        <a:graphic>
          <a:graphicData uri="http://schemas.openxmlformats.org/drawingml/2006/table">
            <a:tbl>
              <a:tblPr>
                <a:noFill/>
                <a:tableStyleId>{A658CFA3-1ECF-4F86-BB5C-CF7618A15973}</a:tableStyleId>
              </a:tblPr>
              <a:tblGrid>
                <a:gridCol w="1460675"/>
              </a:tblGrid>
              <a:tr h="61653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 b="1" dirty="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5996" marB="95996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C78D8"/>
                    </a:solidFill>
                  </a:tcPr>
                </a:tc>
              </a:tr>
              <a:tr h="61653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 b="1" dirty="0"/>
                    </a:p>
                  </a:txBody>
                  <a:tcPr marL="91425" marR="91425" marT="95996" marB="95996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D9EEB"/>
                    </a:solidFill>
                  </a:tcPr>
                </a:tc>
              </a:tr>
              <a:tr h="61653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 dirty="0"/>
                    </a:p>
                  </a:txBody>
                  <a:tcPr marL="91425" marR="91425" marT="95996" marB="95996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</a:tr>
            </a:tbl>
          </a:graphicData>
        </a:graphic>
      </p:graphicFrame>
      <p:cxnSp>
        <p:nvCxnSpPr>
          <p:cNvPr id="11" name="Shape 187"/>
          <p:cNvCxnSpPr/>
          <p:nvPr/>
        </p:nvCxnSpPr>
        <p:spPr>
          <a:xfrm flipH="1">
            <a:off x="7051225" y="4216905"/>
            <a:ext cx="895500" cy="819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2" name="Shape 188"/>
          <p:cNvCxnSpPr/>
          <p:nvPr/>
        </p:nvCxnSpPr>
        <p:spPr>
          <a:xfrm rot="10800000" flipH="1">
            <a:off x="7073900" y="3588231"/>
            <a:ext cx="891000" cy="378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stealth" w="med" len="med"/>
          </a:ln>
        </p:spPr>
      </p:cxnSp>
      <p:graphicFrame>
        <p:nvGraphicFramePr>
          <p:cNvPr id="13" name="Shape 189"/>
          <p:cNvGraphicFramePr/>
          <p:nvPr/>
        </p:nvGraphicFramePr>
        <p:xfrm>
          <a:off x="7982266" y="2631564"/>
          <a:ext cx="1460675" cy="1849602"/>
        </p:xfrm>
        <a:graphic>
          <a:graphicData uri="http://schemas.openxmlformats.org/drawingml/2006/table">
            <a:tbl>
              <a:tblPr>
                <a:noFill/>
                <a:tableStyleId>{A658CFA3-1ECF-4F86-BB5C-CF7618A15973}</a:tableStyleId>
              </a:tblPr>
              <a:tblGrid>
                <a:gridCol w="1460675"/>
              </a:tblGrid>
              <a:tr h="61653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 b="1" dirty="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5996" marB="95996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C78D8"/>
                    </a:solidFill>
                  </a:tcPr>
                </a:tc>
              </a:tr>
              <a:tr h="61653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 dirty="0"/>
                    </a:p>
                  </a:txBody>
                  <a:tcPr marL="91425" marR="91425" marT="95996" marB="95996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D9EEB"/>
                    </a:solidFill>
                  </a:tcPr>
                </a:tc>
              </a:tr>
              <a:tr h="61653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 dirty="0"/>
                    </a:p>
                  </a:txBody>
                  <a:tcPr marL="91425" marR="91425" marT="95996" marB="95996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Shape 190"/>
          <p:cNvGraphicFramePr/>
          <p:nvPr/>
        </p:nvGraphicFramePr>
        <p:xfrm>
          <a:off x="5610716" y="2642740"/>
          <a:ext cx="1460675" cy="1849602"/>
        </p:xfrm>
        <a:graphic>
          <a:graphicData uri="http://schemas.openxmlformats.org/drawingml/2006/table">
            <a:tbl>
              <a:tblPr>
                <a:noFill/>
                <a:tableStyleId>{A658CFA3-1ECF-4F86-BB5C-CF7618A15973}</a:tableStyleId>
              </a:tblPr>
              <a:tblGrid>
                <a:gridCol w="1460675"/>
              </a:tblGrid>
              <a:tr h="61653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 b="1" dirty="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5996" marB="95996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C78D8"/>
                    </a:solidFill>
                  </a:tcPr>
                </a:tc>
              </a:tr>
              <a:tr h="61653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 b="1" dirty="0"/>
                    </a:p>
                  </a:txBody>
                  <a:tcPr marL="91425" marR="91425" marT="95996" marB="95996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D9EEB"/>
                    </a:solidFill>
                  </a:tcPr>
                </a:tc>
              </a:tr>
              <a:tr h="61653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 b="1" dirty="0"/>
                    </a:p>
                  </a:txBody>
                  <a:tcPr marL="91425" marR="91425" marT="95996" marB="95996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</a:tr>
            </a:tbl>
          </a:graphicData>
        </a:graphic>
      </p:graphicFrame>
      <p:cxnSp>
        <p:nvCxnSpPr>
          <p:cNvPr id="15" name="Shape 191"/>
          <p:cNvCxnSpPr/>
          <p:nvPr/>
        </p:nvCxnSpPr>
        <p:spPr>
          <a:xfrm flipH="1">
            <a:off x="9460325" y="4211905"/>
            <a:ext cx="895500" cy="819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6" name="Shape 192"/>
          <p:cNvCxnSpPr/>
          <p:nvPr/>
        </p:nvCxnSpPr>
        <p:spPr>
          <a:xfrm rot="10800000" flipH="1">
            <a:off x="9483000" y="3583231"/>
            <a:ext cx="891000" cy="378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17" name="TextBox 16"/>
          <p:cNvSpPr txBox="1"/>
          <p:nvPr/>
        </p:nvSpPr>
        <p:spPr>
          <a:xfrm>
            <a:off x="5784112" y="3952123"/>
            <a:ext cx="1297172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NULL</a:t>
            </a:r>
            <a:endParaRPr lang="ru-RU" sz="2400" b="1" dirty="0"/>
          </a:p>
        </p:txBody>
      </p:sp>
      <p:sp>
        <p:nvSpPr>
          <p:cNvPr id="18" name="TextBox 17"/>
          <p:cNvSpPr txBox="1"/>
          <p:nvPr/>
        </p:nvSpPr>
        <p:spPr>
          <a:xfrm>
            <a:off x="10519144" y="3297157"/>
            <a:ext cx="1297172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NULL</a:t>
            </a:r>
            <a:endParaRPr lang="ru-RU" sz="2400" b="1" dirty="0"/>
          </a:p>
        </p:txBody>
      </p:sp>
      <p:sp>
        <p:nvSpPr>
          <p:cNvPr id="19" name="Shape 215"/>
          <p:cNvSpPr txBox="1"/>
          <p:nvPr/>
        </p:nvSpPr>
        <p:spPr>
          <a:xfrm>
            <a:off x="6165689" y="2726701"/>
            <a:ext cx="314400" cy="42021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20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Shape 216"/>
          <p:cNvSpPr txBox="1"/>
          <p:nvPr/>
        </p:nvSpPr>
        <p:spPr>
          <a:xfrm>
            <a:off x="10971592" y="2731272"/>
            <a:ext cx="314400" cy="42021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0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Shape 217"/>
          <p:cNvSpPr txBox="1"/>
          <p:nvPr/>
        </p:nvSpPr>
        <p:spPr>
          <a:xfrm>
            <a:off x="8547369" y="2751301"/>
            <a:ext cx="314400" cy="42021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20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Shape 200"/>
          <p:cNvSpPr txBox="1"/>
          <p:nvPr/>
        </p:nvSpPr>
        <p:spPr>
          <a:xfrm>
            <a:off x="10967273" y="6498702"/>
            <a:ext cx="382068" cy="49356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 smtClean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800" b="1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Shape 200"/>
          <p:cNvSpPr txBox="1"/>
          <p:nvPr/>
        </p:nvSpPr>
        <p:spPr>
          <a:xfrm>
            <a:off x="10964143" y="6509465"/>
            <a:ext cx="382068" cy="49356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 smtClean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 b="1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Shape 200"/>
          <p:cNvSpPr txBox="1"/>
          <p:nvPr/>
        </p:nvSpPr>
        <p:spPr>
          <a:xfrm>
            <a:off x="10980786" y="6511777"/>
            <a:ext cx="382068" cy="49356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 smtClean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800" b="1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" name="Группа 24"/>
          <p:cNvGrpSpPr/>
          <p:nvPr/>
        </p:nvGrpSpPr>
        <p:grpSpPr>
          <a:xfrm>
            <a:off x="10239426" y="182871"/>
            <a:ext cx="889366" cy="1185984"/>
            <a:chOff x="10296084" y="138223"/>
            <a:chExt cx="889366" cy="1129509"/>
          </a:xfrm>
          <a:noFill/>
        </p:grpSpPr>
        <p:cxnSp>
          <p:nvCxnSpPr>
            <p:cNvPr id="26" name="Shape 195"/>
            <p:cNvCxnSpPr/>
            <p:nvPr/>
          </p:nvCxnSpPr>
          <p:spPr>
            <a:xfrm rot="5400000">
              <a:off x="10290747" y="909832"/>
              <a:ext cx="714300" cy="1500"/>
            </a:xfrm>
            <a:prstGeom prst="straightConnector1">
              <a:avLst/>
            </a:prstGeom>
            <a:grpFill/>
            <a:ln w="38100" cap="flat" cmpd="sng">
              <a:solidFill>
                <a:srgbClr val="FF0000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27" name="Shape 196"/>
            <p:cNvSpPr txBox="1"/>
            <p:nvPr/>
          </p:nvSpPr>
          <p:spPr>
            <a:xfrm>
              <a:off x="10296084" y="138223"/>
              <a:ext cx="889366" cy="5232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 dirty="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top</a:t>
              </a:r>
              <a:endParaRPr sz="2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" name="Группа 27"/>
          <p:cNvGrpSpPr>
            <a:grpSpLocks/>
          </p:cNvGrpSpPr>
          <p:nvPr/>
        </p:nvGrpSpPr>
        <p:grpSpPr>
          <a:xfrm>
            <a:off x="8547369" y="5729875"/>
            <a:ext cx="1077338" cy="1239795"/>
            <a:chOff x="9795437" y="5375754"/>
            <a:chExt cx="1077338" cy="1180757"/>
          </a:xfrm>
        </p:grpSpPr>
        <p:graphicFrame>
          <p:nvGraphicFramePr>
            <p:cNvPr id="29" name="Shape 163"/>
            <p:cNvGraphicFramePr/>
            <p:nvPr>
              <p:extLst>
                <p:ext uri="{D42A27DB-BD31-4B8C-83A1-F6EECF244321}">
                  <p14:modId xmlns:p14="http://schemas.microsoft.com/office/powerpoint/2010/main" val="2600700057"/>
                </p:ext>
              </p:extLst>
            </p:nvPr>
          </p:nvGraphicFramePr>
          <p:xfrm>
            <a:off x="9795437" y="5375754"/>
            <a:ext cx="432000" cy="1131428"/>
          </p:xfrm>
          <a:graphic>
            <a:graphicData uri="http://schemas.openxmlformats.org/drawingml/2006/table">
              <a:tbl>
                <a:tblPr>
                  <a:noFill/>
                  <a:tableStyleId>{A658CFA3-1ECF-4F86-BB5C-CF7618A15973}</a:tableStyleId>
                </a:tblPr>
                <a:tblGrid>
                  <a:gridCol w="432000"/>
                </a:tblGrid>
                <a:tr h="396000">
                  <a:tc>
                    <a:txBody>
                      <a:bodyPr/>
                      <a:lstStyle/>
                      <a:p>
                        <a:pPr marL="0" lvl="0" indent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900" b="1" dirty="0">
                          <a:solidFill>
                            <a:schemeClr val="lt1"/>
                          </a:solidFill>
                        </a:endParaRPr>
                      </a:p>
                    </a:txBody>
                    <a:tcPr marL="91425" marR="91425" marT="91425" marB="91425">
                      <a:lnL w="2857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2857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2857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2857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3C78D8"/>
                      </a:solidFill>
                    </a:tcPr>
                  </a:tc>
                </a:tr>
                <a:tr h="396000">
                  <a:tc>
                    <a:txBody>
                      <a:bodyPr/>
                      <a:lstStyle/>
                      <a:p>
                        <a:pPr marL="0" lvl="0" indent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900" dirty="0"/>
                      </a:p>
                    </a:txBody>
                    <a:tcPr marL="91425" marR="91425" marT="91425" marB="91425">
                      <a:lnL w="2857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2857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2857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2857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6D9EEB"/>
                      </a:solidFill>
                    </a:tcPr>
                  </a:tc>
                </a:tr>
                <a:tr h="396000">
                  <a:tc>
                    <a:txBody>
                      <a:bodyPr/>
                      <a:lstStyle/>
                      <a:p>
                        <a:pPr marL="0" lvl="0" indent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900" dirty="0"/>
                      </a:p>
                    </a:txBody>
                    <a:tcPr marL="91425" marR="91425" marT="91425" marB="91425">
                      <a:lnL w="2857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2857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2857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2857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A4C2F4"/>
                      </a:solidFill>
                    </a:tcPr>
                  </a:tc>
                </a:tr>
              </a:tbl>
            </a:graphicData>
          </a:graphic>
        </p:graphicFrame>
        <p:sp>
          <p:nvSpPr>
            <p:cNvPr id="30" name="TextBox 29"/>
            <p:cNvSpPr txBox="1"/>
            <p:nvPr/>
          </p:nvSpPr>
          <p:spPr>
            <a:xfrm>
              <a:off x="10200796" y="6204766"/>
              <a:ext cx="671979" cy="3517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b="1" dirty="0" err="1" smtClean="0">
                  <a:solidFill>
                    <a:schemeClr val="tx1"/>
                  </a:solidFill>
                </a:rPr>
                <a:t>prev</a:t>
              </a:r>
              <a:endParaRPr lang="ru-RU" sz="1800" b="1" dirty="0">
                <a:solidFill>
                  <a:schemeClr val="tx1"/>
                </a:solidFill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10200797" y="5397150"/>
              <a:ext cx="659155" cy="3517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b="1" dirty="0" smtClean="0">
                  <a:solidFill>
                    <a:schemeClr val="tx1"/>
                  </a:solidFill>
                </a:rPr>
                <a:t>data</a:t>
              </a:r>
              <a:endParaRPr lang="ru-RU" sz="1800" b="1" dirty="0">
                <a:solidFill>
                  <a:schemeClr val="tx1"/>
                </a:solidFill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0200796" y="5800958"/>
              <a:ext cx="659155" cy="3517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b="1" dirty="0" smtClean="0">
                  <a:solidFill>
                    <a:schemeClr val="tx1"/>
                  </a:solidFill>
                </a:rPr>
                <a:t>next</a:t>
              </a:r>
              <a:endParaRPr lang="ru-RU" sz="1800" b="1" dirty="0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repeatCount="3000" fill="remove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6" dur="250" autoRev="1" fill="remove"/>
                                        <p:tgtEl>
                                          <p:spTgt spid="2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7" dur="250" autoRev="1" fill="remove"/>
                                        <p:tgtEl>
                                          <p:spTgt spid="2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8" dur="250" autoRev="1" fill="remove"/>
                                        <p:tgtEl>
                                          <p:spTgt spid="2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250" autoRev="1" fill="remove"/>
                                        <p:tgtEl>
                                          <p:spTgt spid="2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2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2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2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2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2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2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2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2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2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2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2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2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2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3" dur="2000" fill="hold"/>
                                        <p:tgtEl>
                                          <p:spTgt spid="2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1" dur="2000" fill="hold"/>
                                        <p:tgtEl>
                                          <p:spTgt spid="2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9" dur="2000" fill="hold"/>
                                        <p:tgtEl>
                                          <p:spTgt spid="2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6 1.11111E-6 L -0.40182 0.15926 " pathEditMode="relative" rAng="0" ptsTypes="AA">
                                      <p:cBhvr>
                                        <p:cTn id="147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091" y="7963"/>
                                    </p:animMotion>
                                  </p:childTnLst>
                                </p:cTn>
                              </p:par>
                              <p:par>
                                <p:cTn id="148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9" dur="2000" fill="hold"/>
                                        <p:tgtEl>
                                          <p:spTgt spid="2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0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1" dur="2000" fill="hold"/>
                                        <p:tgtEl>
                                          <p:spTgt spid="2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2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3" dur="2000" fill="hold"/>
                                        <p:tgtEl>
                                          <p:spTgt spid="2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56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4022 -0.08079 L -0.40653 0.1537 " pathEditMode="relative" rAng="0" ptsTypes="AA">
                                      <p:cBhvr>
                                        <p:cTn id="157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83" y="11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1" dur="2000" fill="hold"/>
                                        <p:tgtEl>
                                          <p:spTgt spid="2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2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3" dur="2000" fill="hold"/>
                                        <p:tgtEl>
                                          <p:spTgt spid="2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4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40651 0.1537 L -0.24101 0.15371 " pathEditMode="relative" rAng="0" ptsTypes="AA">
                                      <p:cBhvr>
                                        <p:cTn id="165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307" y="83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9" dur="2000" fill="hold"/>
                                        <p:tgtEl>
                                          <p:spTgt spid="2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6" presetID="2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3" dur="2000" fill="hold"/>
                                        <p:tgtEl>
                                          <p:spTgt spid="2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909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4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5" dur="2000" fill="hold"/>
                                        <p:tgtEl>
                                          <p:spTgt spid="2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909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6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4108 0.1537 L -0.0617 0.15509 " pathEditMode="relative" rAng="0" ptsTypes="AA">
                                      <p:cBhvr>
                                        <p:cTn id="187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0" y="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1" dur="2000" fill="hold"/>
                                        <p:tgtEl>
                                          <p:spTgt spid="2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909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2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8" presetID="2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>
                      <p:stCondLst>
                        <p:cond delay="indefinite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5" dur="2000" fill="hold"/>
                                        <p:tgtEl>
                                          <p:spTgt spid="2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06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7" dur="2000" fill="hold"/>
                                        <p:tgtEl>
                                          <p:spTgt spid="2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08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91 0.13287 L 2.42124E-7 -3.7037E-7 " pathEditMode="relative" rAng="0" ptsTypes="AA">
                                      <p:cBhvr>
                                        <p:cTn id="209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" y="-6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>
                      <p:stCondLst>
                        <p:cond delay="indefinite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3" dur="2000" fill="hold"/>
                                        <p:tgtEl>
                                          <p:spTgt spid="2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14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>
                      <p:stCondLst>
                        <p:cond delay="indefinite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2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3" dur="2000" fill="hold"/>
                                        <p:tgtEl>
                                          <p:spTgt spid="2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24" presetID="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25" dur="2000" fill="hold"/>
                                        <p:tgtEl>
                                          <p:spTgt spid="8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226" presetID="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27" dur="2000" fill="hold"/>
                                        <p:tgtEl>
                                          <p:spTgt spid="24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6" grpId="0" uiExpand="1" build="allAtOnce"/>
      <p:bldP spid="207" grpId="0" build="allAtOnce"/>
      <p:bldP spid="8" grpId="0"/>
      <p:bldP spid="8" grpId="1"/>
      <p:bldP spid="9" grpId="0" animBg="1"/>
      <p:bldP spid="9" grpId="1" animBg="1"/>
      <p:bldP spid="17" grpId="0"/>
      <p:bldP spid="18" grpId="0"/>
      <p:bldP spid="19" grpId="0" animBg="1"/>
      <p:bldP spid="20" grpId="0" animBg="1"/>
      <p:bldP spid="21" grpId="0" animBg="1"/>
      <p:bldP spid="22" grpId="0" animBg="1"/>
      <p:bldP spid="22" grpId="1" animBg="1"/>
      <p:bldP spid="22" grpId="2" animBg="1"/>
      <p:bldP spid="23" grpId="0" animBg="1"/>
      <p:bldP spid="23" grpId="1" animBg="1"/>
      <p:bldP spid="23" grpId="2" animBg="1"/>
      <p:bldP spid="24" grpId="0" animBg="1"/>
      <p:bldP spid="24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Shape 212"/>
          <p:cNvSpPr txBox="1">
            <a:spLocks noGrp="1"/>
          </p:cNvSpPr>
          <p:nvPr>
            <p:ph type="title"/>
          </p:nvPr>
        </p:nvSpPr>
        <p:spPr>
          <a:xfrm>
            <a:off x="301175" y="133945"/>
            <a:ext cx="10515600" cy="758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r>
              <a:rPr lang="en-US" b="1" dirty="0" err="1">
                <a:latin typeface="Arial"/>
                <a:ea typeface="Arial"/>
                <a:cs typeface="Arial"/>
                <a:sym typeface="Arial"/>
              </a:rPr>
              <a:t>Взять</a:t>
            </a:r>
            <a:r>
              <a:rPr lang="en-US" b="1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1" dirty="0" err="1">
                <a:latin typeface="Arial"/>
                <a:ea typeface="Arial"/>
                <a:cs typeface="Arial"/>
                <a:sym typeface="Arial"/>
              </a:rPr>
              <a:t>первый</a:t>
            </a:r>
            <a:r>
              <a:rPr lang="en-US" b="1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1" dirty="0" err="1">
                <a:latin typeface="Arial"/>
                <a:ea typeface="Arial"/>
                <a:cs typeface="Arial"/>
                <a:sym typeface="Arial"/>
              </a:rPr>
              <a:t>элемент</a:t>
            </a:r>
            <a:r>
              <a:rPr lang="en-US" b="1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1" dirty="0" err="1">
                <a:latin typeface="Arial"/>
                <a:ea typeface="Arial"/>
                <a:cs typeface="Arial"/>
                <a:sym typeface="Arial"/>
              </a:rPr>
              <a:t>из</a:t>
            </a:r>
            <a:r>
              <a:rPr lang="en-US" b="1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1" dirty="0" err="1">
                <a:latin typeface="Arial"/>
                <a:ea typeface="Arial"/>
                <a:cs typeface="Arial"/>
                <a:sym typeface="Arial"/>
              </a:rPr>
              <a:t>списка</a:t>
            </a:r>
            <a:endParaRPr b="1" dirty="0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</a:pPr>
            <a:endParaRPr b="1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Shape 213"/>
          <p:cNvSpPr txBox="1">
            <a:spLocks noGrp="1"/>
          </p:cNvSpPr>
          <p:nvPr>
            <p:ph idx="1"/>
          </p:nvPr>
        </p:nvSpPr>
        <p:spPr>
          <a:xfrm>
            <a:off x="401625" y="1000923"/>
            <a:ext cx="4460400" cy="519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None/>
            </a:pPr>
            <a:r>
              <a:rPr lang="en-US" sz="160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void pop(node* &amp;</a:t>
            </a:r>
            <a:r>
              <a:rPr lang="en-US" sz="1600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top,node</a:t>
            </a:r>
            <a:r>
              <a:rPr lang="en-US" sz="160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* &amp;end, </a:t>
            </a:r>
            <a:r>
              <a:rPr lang="en-US" sz="1600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lang="en-US" sz="160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&amp;data) </a:t>
            </a:r>
            <a:endParaRPr sz="160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None/>
            </a:pPr>
            <a:r>
              <a:rPr lang="en-US" sz="160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{   node* p;</a:t>
            </a:r>
            <a:endParaRPr sz="160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None/>
            </a:pPr>
            <a:r>
              <a:rPr lang="en-US" sz="160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if (</a:t>
            </a:r>
            <a:r>
              <a:rPr lang="en-US" sz="1600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length_list</a:t>
            </a:r>
            <a:r>
              <a:rPr lang="en-US" sz="160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(top)&gt;1)</a:t>
            </a:r>
            <a:endParaRPr sz="160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None/>
            </a:pPr>
            <a:r>
              <a:rPr lang="en-US" sz="160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{ data=top-&gt;data;</a:t>
            </a:r>
            <a:endParaRPr sz="160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None/>
            </a:pPr>
            <a:r>
              <a:rPr lang="en-US" sz="160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  p=top-&gt;next;</a:t>
            </a:r>
            <a:endParaRPr sz="160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None/>
            </a:pPr>
            <a:r>
              <a:rPr lang="en-US" sz="160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	  p-&gt;</a:t>
            </a:r>
            <a:r>
              <a:rPr lang="en-US" sz="1600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prev</a:t>
            </a:r>
            <a:r>
              <a:rPr lang="en-US" sz="160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=NULL;</a:t>
            </a:r>
            <a:endParaRPr sz="160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None/>
            </a:pPr>
            <a:r>
              <a:rPr lang="en-US" sz="160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         delete top;</a:t>
            </a:r>
            <a:endParaRPr sz="160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None/>
            </a:pPr>
            <a:r>
              <a:rPr lang="en-US" sz="160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  top=p; }</a:t>
            </a:r>
            <a:endParaRPr sz="160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None/>
            </a:pPr>
            <a:r>
              <a:rPr lang="en-US" sz="160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 else </a:t>
            </a:r>
            <a:endParaRPr sz="160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None/>
            </a:pPr>
            <a:r>
              <a:rPr lang="en-US" sz="160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if (</a:t>
            </a:r>
            <a:r>
              <a:rPr lang="en-US" sz="1600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length_list</a:t>
            </a:r>
            <a:r>
              <a:rPr lang="en-US" sz="160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(top)==1)</a:t>
            </a:r>
            <a:endParaRPr sz="160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None/>
            </a:pPr>
            <a:r>
              <a:rPr lang="en-US" sz="160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      { data=top-&gt;data;</a:t>
            </a:r>
            <a:endParaRPr sz="160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None/>
            </a:pPr>
            <a:r>
              <a:rPr lang="en-US" sz="160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        delete top;</a:t>
            </a:r>
            <a:endParaRPr sz="160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None/>
            </a:pPr>
            <a:r>
              <a:rPr lang="en-US" sz="160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        top=NULL;</a:t>
            </a:r>
            <a:endParaRPr sz="160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None/>
            </a:pPr>
            <a:r>
              <a:rPr lang="en-US" sz="160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        end=NULL;	</a:t>
            </a:r>
            <a:endParaRPr sz="160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None/>
            </a:pPr>
            <a:r>
              <a:rPr lang="en-US" sz="160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       }</a:t>
            </a:r>
            <a:endParaRPr sz="160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None/>
            </a:pPr>
            <a:r>
              <a:rPr lang="en-US" sz="160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sz="160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None/>
            </a:pPr>
            <a:endParaRPr sz="160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Shape 214"/>
          <p:cNvSpPr txBox="1"/>
          <p:nvPr/>
        </p:nvSpPr>
        <p:spPr>
          <a:xfrm>
            <a:off x="9902969" y="5779789"/>
            <a:ext cx="2044844" cy="420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-US" sz="3600" b="1" dirty="0" smtClean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ata =</a:t>
            </a:r>
            <a:endParaRPr sz="36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18" name="Shape 218"/>
          <p:cNvGraphicFramePr/>
          <p:nvPr>
            <p:extLst>
              <p:ext uri="{D42A27DB-BD31-4B8C-83A1-F6EECF244321}">
                <p14:modId xmlns:p14="http://schemas.microsoft.com/office/powerpoint/2010/main" val="756241237"/>
              </p:ext>
            </p:extLst>
          </p:nvPr>
        </p:nvGraphicFramePr>
        <p:xfrm>
          <a:off x="5446893" y="2203729"/>
          <a:ext cx="1460675" cy="1849602"/>
        </p:xfrm>
        <a:graphic>
          <a:graphicData uri="http://schemas.openxmlformats.org/drawingml/2006/table">
            <a:tbl>
              <a:tblPr>
                <a:noFill/>
                <a:tableStyleId>{A658CFA3-1ECF-4F86-BB5C-CF7618A15973}</a:tableStyleId>
              </a:tblPr>
              <a:tblGrid>
                <a:gridCol w="1460675"/>
              </a:tblGrid>
              <a:tr h="61653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 b="1" dirty="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5996" marB="95996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C78D8"/>
                    </a:solidFill>
                  </a:tcPr>
                </a:tc>
              </a:tr>
              <a:tr h="61653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 dirty="0"/>
                    </a:p>
                  </a:txBody>
                  <a:tcPr marL="91425" marR="91425" marT="95996" marB="95996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D9EEB"/>
                    </a:solidFill>
                  </a:tcPr>
                </a:tc>
              </a:tr>
              <a:tr h="61653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 b="1" dirty="0"/>
                    </a:p>
                  </a:txBody>
                  <a:tcPr marL="91425" marR="91425" marT="95996" marB="95996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</a:tr>
            </a:tbl>
          </a:graphicData>
        </a:graphic>
      </p:graphicFrame>
      <p:cxnSp>
        <p:nvCxnSpPr>
          <p:cNvPr id="219" name="Shape 219"/>
          <p:cNvCxnSpPr/>
          <p:nvPr/>
        </p:nvCxnSpPr>
        <p:spPr>
          <a:xfrm flipH="1">
            <a:off x="6907703" y="3789083"/>
            <a:ext cx="895500" cy="819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20" name="Shape 220"/>
          <p:cNvCxnSpPr/>
          <p:nvPr/>
        </p:nvCxnSpPr>
        <p:spPr>
          <a:xfrm rot="10800000" flipH="1">
            <a:off x="6930378" y="3160410"/>
            <a:ext cx="891000" cy="378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stealth" w="med" len="med"/>
          </a:ln>
        </p:spPr>
      </p:cxnSp>
      <p:graphicFrame>
        <p:nvGraphicFramePr>
          <p:cNvPr id="221" name="Shape 221"/>
          <p:cNvGraphicFramePr/>
          <p:nvPr>
            <p:extLst>
              <p:ext uri="{D42A27DB-BD31-4B8C-83A1-F6EECF244321}">
                <p14:modId xmlns:p14="http://schemas.microsoft.com/office/powerpoint/2010/main" val="268209948"/>
              </p:ext>
            </p:extLst>
          </p:nvPr>
        </p:nvGraphicFramePr>
        <p:xfrm>
          <a:off x="7838744" y="2203741"/>
          <a:ext cx="1460675" cy="1849602"/>
        </p:xfrm>
        <a:graphic>
          <a:graphicData uri="http://schemas.openxmlformats.org/drawingml/2006/table">
            <a:tbl>
              <a:tblPr>
                <a:noFill/>
                <a:tableStyleId>{A658CFA3-1ECF-4F86-BB5C-CF7618A15973}</a:tableStyleId>
              </a:tblPr>
              <a:tblGrid>
                <a:gridCol w="1460675"/>
              </a:tblGrid>
              <a:tr h="61653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 b="1" dirty="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5996" marB="95996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C78D8"/>
                    </a:solidFill>
                  </a:tcPr>
                </a:tc>
              </a:tr>
              <a:tr h="61653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/>
                    </a:p>
                  </a:txBody>
                  <a:tcPr marL="91425" marR="91425" marT="95996" marB="95996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D9EEB"/>
                    </a:solidFill>
                  </a:tcPr>
                </a:tc>
              </a:tr>
              <a:tr h="61653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 dirty="0"/>
                    </a:p>
                  </a:txBody>
                  <a:tcPr marL="91425" marR="91425" marT="95996" marB="95996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2" name="Shape 222"/>
          <p:cNvGraphicFramePr/>
          <p:nvPr>
            <p:extLst>
              <p:ext uri="{D42A27DB-BD31-4B8C-83A1-F6EECF244321}">
                <p14:modId xmlns:p14="http://schemas.microsoft.com/office/powerpoint/2010/main" val="2865032401"/>
              </p:ext>
            </p:extLst>
          </p:nvPr>
        </p:nvGraphicFramePr>
        <p:xfrm>
          <a:off x="10230581" y="2203755"/>
          <a:ext cx="1460675" cy="1849602"/>
        </p:xfrm>
        <a:graphic>
          <a:graphicData uri="http://schemas.openxmlformats.org/drawingml/2006/table">
            <a:tbl>
              <a:tblPr>
                <a:noFill/>
                <a:tableStyleId>{A658CFA3-1ECF-4F86-BB5C-CF7618A15973}</a:tableStyleId>
              </a:tblPr>
              <a:tblGrid>
                <a:gridCol w="1460675"/>
              </a:tblGrid>
              <a:tr h="61653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 b="1" dirty="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5996" marB="95996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C78D8"/>
                    </a:solidFill>
                  </a:tcPr>
                </a:tc>
              </a:tr>
              <a:tr h="61653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 b="1" dirty="0"/>
                    </a:p>
                  </a:txBody>
                  <a:tcPr marL="91425" marR="91425" marT="95996" marB="95996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D9EEB"/>
                    </a:solidFill>
                  </a:tcPr>
                </a:tc>
              </a:tr>
              <a:tr h="61653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/>
                    </a:p>
                  </a:txBody>
                  <a:tcPr marL="91425" marR="91425" marT="95996" marB="95996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</a:tr>
            </a:tbl>
          </a:graphicData>
        </a:graphic>
      </p:graphicFrame>
      <p:cxnSp>
        <p:nvCxnSpPr>
          <p:cNvPr id="223" name="Shape 223"/>
          <p:cNvCxnSpPr/>
          <p:nvPr/>
        </p:nvCxnSpPr>
        <p:spPr>
          <a:xfrm flipH="1">
            <a:off x="9316803" y="3784082"/>
            <a:ext cx="895500" cy="819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24" name="Shape 224"/>
          <p:cNvCxnSpPr/>
          <p:nvPr/>
        </p:nvCxnSpPr>
        <p:spPr>
          <a:xfrm rot="10800000" flipH="1">
            <a:off x="9339478" y="3155408"/>
            <a:ext cx="891000" cy="378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stealth" w="med" len="med"/>
          </a:ln>
        </p:spPr>
      </p:cxnSp>
      <p:grpSp>
        <p:nvGrpSpPr>
          <p:cNvPr id="2" name="Группа 1"/>
          <p:cNvGrpSpPr/>
          <p:nvPr/>
        </p:nvGrpSpPr>
        <p:grpSpPr>
          <a:xfrm>
            <a:off x="11374975" y="85982"/>
            <a:ext cx="375300" cy="1125065"/>
            <a:chOff x="10725963" y="5670174"/>
            <a:chExt cx="375300" cy="1071490"/>
          </a:xfrm>
        </p:grpSpPr>
        <p:cxnSp>
          <p:nvCxnSpPr>
            <p:cNvPr id="225" name="Shape 225"/>
            <p:cNvCxnSpPr/>
            <p:nvPr/>
          </p:nvCxnSpPr>
          <p:spPr>
            <a:xfrm rot="5400000">
              <a:off x="10441089" y="6383764"/>
              <a:ext cx="714300" cy="1500"/>
            </a:xfrm>
            <a:prstGeom prst="straightConnector1">
              <a:avLst/>
            </a:prstGeom>
            <a:noFill/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226" name="Shape 226"/>
            <p:cNvSpPr txBox="1"/>
            <p:nvPr/>
          </p:nvSpPr>
          <p:spPr>
            <a:xfrm>
              <a:off x="10725963" y="5670174"/>
              <a:ext cx="3753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</a:t>
              </a:r>
              <a:endParaRPr sz="28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" name="Группа 2"/>
          <p:cNvGrpSpPr/>
          <p:nvPr/>
        </p:nvGrpSpPr>
        <p:grpSpPr>
          <a:xfrm>
            <a:off x="5051883" y="950400"/>
            <a:ext cx="844599" cy="1178306"/>
            <a:chOff x="5201038" y="953260"/>
            <a:chExt cx="844599" cy="1122196"/>
          </a:xfrm>
        </p:grpSpPr>
        <p:cxnSp>
          <p:nvCxnSpPr>
            <p:cNvPr id="227" name="Shape 227"/>
            <p:cNvCxnSpPr/>
            <p:nvPr/>
          </p:nvCxnSpPr>
          <p:spPr>
            <a:xfrm rot="5400000">
              <a:off x="5405315" y="1717556"/>
              <a:ext cx="714300" cy="1500"/>
            </a:xfrm>
            <a:prstGeom prst="straightConnector1">
              <a:avLst/>
            </a:prstGeom>
            <a:noFill/>
            <a:ln w="38100" cap="flat" cmpd="sng">
              <a:solidFill>
                <a:srgbClr val="FF0000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228" name="Shape 228"/>
            <p:cNvSpPr txBox="1"/>
            <p:nvPr/>
          </p:nvSpPr>
          <p:spPr>
            <a:xfrm>
              <a:off x="5201038" y="953260"/>
              <a:ext cx="844599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 dirty="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top</a:t>
              </a:r>
              <a:endParaRPr sz="2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7" name="Shape 217"/>
          <p:cNvSpPr txBox="1"/>
          <p:nvPr/>
        </p:nvSpPr>
        <p:spPr>
          <a:xfrm>
            <a:off x="8411872" y="2277098"/>
            <a:ext cx="360040" cy="445631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28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Shape 216"/>
          <p:cNvSpPr txBox="1"/>
          <p:nvPr/>
        </p:nvSpPr>
        <p:spPr>
          <a:xfrm>
            <a:off x="10817476" y="2277098"/>
            <a:ext cx="360040" cy="445631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8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Shape 214"/>
          <p:cNvSpPr txBox="1"/>
          <p:nvPr/>
        </p:nvSpPr>
        <p:spPr>
          <a:xfrm>
            <a:off x="9902969" y="6473471"/>
            <a:ext cx="2143414" cy="420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 smtClean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length = 3</a:t>
            </a:r>
            <a:endParaRPr sz="36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7156" y="2894464"/>
            <a:ext cx="1396105" cy="678544"/>
          </a:xfrm>
          <a:prstGeom prst="rect">
            <a:avLst/>
          </a:prstGeom>
        </p:spPr>
      </p:pic>
      <p:sp>
        <p:nvSpPr>
          <p:cNvPr id="14" name="Блок-схема: ИЛИ 13"/>
          <p:cNvSpPr/>
          <p:nvPr/>
        </p:nvSpPr>
        <p:spPr>
          <a:xfrm rot="18841269">
            <a:off x="4812822" y="1848079"/>
            <a:ext cx="2688840" cy="2614654"/>
          </a:xfrm>
          <a:prstGeom prst="flowChartOr">
            <a:avLst/>
          </a:prstGeom>
          <a:noFill/>
          <a:ln w="57150">
            <a:solidFill>
              <a:srgbClr val="C4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33" name="Shape 222"/>
          <p:cNvGraphicFramePr/>
          <p:nvPr>
            <p:extLst>
              <p:ext uri="{D42A27DB-BD31-4B8C-83A1-F6EECF244321}">
                <p14:modId xmlns:p14="http://schemas.microsoft.com/office/powerpoint/2010/main" val="3055257112"/>
              </p:ext>
            </p:extLst>
          </p:nvPr>
        </p:nvGraphicFramePr>
        <p:xfrm>
          <a:off x="7841631" y="2180881"/>
          <a:ext cx="1460675" cy="1849602"/>
        </p:xfrm>
        <a:graphic>
          <a:graphicData uri="http://schemas.openxmlformats.org/drawingml/2006/table">
            <a:tbl>
              <a:tblPr>
                <a:noFill/>
                <a:tableStyleId>{A658CFA3-1ECF-4F86-BB5C-CF7618A15973}</a:tableStyleId>
              </a:tblPr>
              <a:tblGrid>
                <a:gridCol w="1460675"/>
              </a:tblGrid>
              <a:tr h="61653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 b="1" dirty="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5996" marB="95996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C78D8"/>
                    </a:solidFill>
                  </a:tcPr>
                </a:tc>
              </a:tr>
              <a:tr h="61653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 b="1" dirty="0"/>
                    </a:p>
                  </a:txBody>
                  <a:tcPr marL="91425" marR="91425" marT="95996" marB="95996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D9EEB"/>
                    </a:solidFill>
                  </a:tcPr>
                </a:tc>
              </a:tr>
              <a:tr h="61653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 dirty="0"/>
                    </a:p>
                  </a:txBody>
                  <a:tcPr marL="91425" marR="91425" marT="95996" marB="95996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</a:tr>
            </a:tbl>
          </a:graphicData>
        </a:graphic>
      </p:graphicFrame>
      <p:pic>
        <p:nvPicPr>
          <p:cNvPr id="35" name="Рисунок 3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8206" y="2871590"/>
            <a:ext cx="1396105" cy="678544"/>
          </a:xfrm>
          <a:prstGeom prst="rect">
            <a:avLst/>
          </a:prstGeom>
        </p:spPr>
      </p:pic>
      <p:grpSp>
        <p:nvGrpSpPr>
          <p:cNvPr id="39" name="Группа 38"/>
          <p:cNvGrpSpPr/>
          <p:nvPr/>
        </p:nvGrpSpPr>
        <p:grpSpPr>
          <a:xfrm>
            <a:off x="7555906" y="971478"/>
            <a:ext cx="844599" cy="1178306"/>
            <a:chOff x="5201038" y="953260"/>
            <a:chExt cx="844599" cy="1122196"/>
          </a:xfrm>
        </p:grpSpPr>
        <p:cxnSp>
          <p:nvCxnSpPr>
            <p:cNvPr id="40" name="Shape 227"/>
            <p:cNvCxnSpPr/>
            <p:nvPr/>
          </p:nvCxnSpPr>
          <p:spPr>
            <a:xfrm rot="5400000">
              <a:off x="5405315" y="1717556"/>
              <a:ext cx="714300" cy="1500"/>
            </a:xfrm>
            <a:prstGeom prst="straightConnector1">
              <a:avLst/>
            </a:prstGeom>
            <a:noFill/>
            <a:ln w="38100" cap="flat" cmpd="sng">
              <a:solidFill>
                <a:srgbClr val="FF0000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41" name="Shape 228"/>
            <p:cNvSpPr txBox="1"/>
            <p:nvPr/>
          </p:nvSpPr>
          <p:spPr>
            <a:xfrm>
              <a:off x="5201038" y="953260"/>
              <a:ext cx="844599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 dirty="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top</a:t>
              </a:r>
              <a:endParaRPr sz="2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2" name="Группа 41"/>
          <p:cNvGrpSpPr/>
          <p:nvPr/>
        </p:nvGrpSpPr>
        <p:grpSpPr>
          <a:xfrm>
            <a:off x="10950109" y="927847"/>
            <a:ext cx="889366" cy="1185984"/>
            <a:chOff x="8704744" y="1332614"/>
            <a:chExt cx="889366" cy="1129509"/>
          </a:xfrm>
        </p:grpSpPr>
        <p:cxnSp>
          <p:nvCxnSpPr>
            <p:cNvPr id="43" name="Shape 195"/>
            <p:cNvCxnSpPr/>
            <p:nvPr/>
          </p:nvCxnSpPr>
          <p:spPr>
            <a:xfrm rot="5400000">
              <a:off x="8699407" y="2104223"/>
              <a:ext cx="714300" cy="1500"/>
            </a:xfrm>
            <a:prstGeom prst="straightConnector1">
              <a:avLst/>
            </a:prstGeom>
            <a:noFill/>
            <a:ln w="38100" cap="flat" cmpd="sng">
              <a:solidFill>
                <a:srgbClr val="FF0000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44" name="Shape 196"/>
            <p:cNvSpPr txBox="1"/>
            <p:nvPr/>
          </p:nvSpPr>
          <p:spPr>
            <a:xfrm>
              <a:off x="8704744" y="1332614"/>
              <a:ext cx="889366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 dirty="0" smtClean="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end</a:t>
              </a:r>
              <a:endParaRPr sz="2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5" name="Группа 44"/>
          <p:cNvGrpSpPr/>
          <p:nvPr/>
        </p:nvGrpSpPr>
        <p:grpSpPr>
          <a:xfrm>
            <a:off x="8582578" y="950708"/>
            <a:ext cx="889366" cy="1185984"/>
            <a:chOff x="8704744" y="1332614"/>
            <a:chExt cx="889366" cy="1129509"/>
          </a:xfrm>
        </p:grpSpPr>
        <p:cxnSp>
          <p:nvCxnSpPr>
            <p:cNvPr id="46" name="Shape 195"/>
            <p:cNvCxnSpPr/>
            <p:nvPr/>
          </p:nvCxnSpPr>
          <p:spPr>
            <a:xfrm rot="5400000">
              <a:off x="8699407" y="2104223"/>
              <a:ext cx="714300" cy="1500"/>
            </a:xfrm>
            <a:prstGeom prst="straightConnector1">
              <a:avLst/>
            </a:prstGeom>
            <a:noFill/>
            <a:ln w="38100" cap="flat" cmpd="sng">
              <a:solidFill>
                <a:srgbClr val="FF0000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47" name="Shape 196"/>
            <p:cNvSpPr txBox="1"/>
            <p:nvPr/>
          </p:nvSpPr>
          <p:spPr>
            <a:xfrm>
              <a:off x="8704744" y="1332614"/>
              <a:ext cx="889366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 dirty="0" smtClean="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end</a:t>
              </a:r>
              <a:endParaRPr sz="2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8" name="Shape 214"/>
          <p:cNvSpPr txBox="1"/>
          <p:nvPr/>
        </p:nvSpPr>
        <p:spPr>
          <a:xfrm>
            <a:off x="9926427" y="6483181"/>
            <a:ext cx="2143414" cy="420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 smtClean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length = 1</a:t>
            </a:r>
            <a:endParaRPr sz="36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Блок-схема: ИЛИ 48"/>
          <p:cNvSpPr/>
          <p:nvPr/>
        </p:nvSpPr>
        <p:spPr>
          <a:xfrm rot="18841269">
            <a:off x="7224656" y="1838366"/>
            <a:ext cx="2688840" cy="2614654"/>
          </a:xfrm>
          <a:prstGeom prst="flowChartOr">
            <a:avLst/>
          </a:prstGeom>
          <a:noFill/>
          <a:ln w="57150">
            <a:solidFill>
              <a:srgbClr val="C4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1" name="Рисунок 5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9797" y="3496433"/>
            <a:ext cx="1396105" cy="678544"/>
          </a:xfrm>
          <a:prstGeom prst="rect">
            <a:avLst/>
          </a:prstGeom>
        </p:spPr>
      </p:pic>
      <p:pic>
        <p:nvPicPr>
          <p:cNvPr id="52" name="Рисунок 5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5498" y="3433551"/>
            <a:ext cx="1396105" cy="678544"/>
          </a:xfrm>
          <a:prstGeom prst="rect">
            <a:avLst/>
          </a:prstGeom>
        </p:spPr>
      </p:pic>
      <p:sp>
        <p:nvSpPr>
          <p:cNvPr id="54" name="Shape 216"/>
          <p:cNvSpPr txBox="1"/>
          <p:nvPr/>
        </p:nvSpPr>
        <p:spPr>
          <a:xfrm>
            <a:off x="8389056" y="2242644"/>
            <a:ext cx="360040" cy="445631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8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Shape 215"/>
          <p:cNvSpPr txBox="1"/>
          <p:nvPr/>
        </p:nvSpPr>
        <p:spPr>
          <a:xfrm>
            <a:off x="5965776" y="2275282"/>
            <a:ext cx="360040" cy="445631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28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0" name="Группа 49"/>
          <p:cNvGrpSpPr/>
          <p:nvPr/>
        </p:nvGrpSpPr>
        <p:grpSpPr>
          <a:xfrm>
            <a:off x="9894523" y="28466"/>
            <a:ext cx="844599" cy="1178306"/>
            <a:chOff x="5201038" y="953260"/>
            <a:chExt cx="844599" cy="1122196"/>
          </a:xfrm>
        </p:grpSpPr>
        <p:cxnSp>
          <p:nvCxnSpPr>
            <p:cNvPr id="53" name="Shape 227"/>
            <p:cNvCxnSpPr/>
            <p:nvPr/>
          </p:nvCxnSpPr>
          <p:spPr>
            <a:xfrm rot="5400000">
              <a:off x="5405315" y="1717556"/>
              <a:ext cx="714300" cy="1500"/>
            </a:xfrm>
            <a:prstGeom prst="straightConnector1">
              <a:avLst/>
            </a:prstGeom>
            <a:noFill/>
            <a:ln w="38100" cap="flat" cmpd="sng">
              <a:solidFill>
                <a:srgbClr val="FF0000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56" name="Shape 228"/>
            <p:cNvSpPr txBox="1"/>
            <p:nvPr/>
          </p:nvSpPr>
          <p:spPr>
            <a:xfrm>
              <a:off x="5201038" y="953260"/>
              <a:ext cx="844599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 dirty="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top</a:t>
              </a:r>
              <a:endParaRPr sz="2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7" name="Группа 56"/>
          <p:cNvGrpSpPr/>
          <p:nvPr/>
        </p:nvGrpSpPr>
        <p:grpSpPr>
          <a:xfrm>
            <a:off x="10692492" y="42297"/>
            <a:ext cx="889366" cy="1185984"/>
            <a:chOff x="8704744" y="1332614"/>
            <a:chExt cx="889366" cy="1129509"/>
          </a:xfrm>
        </p:grpSpPr>
        <p:cxnSp>
          <p:nvCxnSpPr>
            <p:cNvPr id="58" name="Shape 195"/>
            <p:cNvCxnSpPr/>
            <p:nvPr/>
          </p:nvCxnSpPr>
          <p:spPr>
            <a:xfrm rot="5400000">
              <a:off x="8699407" y="2104223"/>
              <a:ext cx="714300" cy="1500"/>
            </a:xfrm>
            <a:prstGeom prst="straightConnector1">
              <a:avLst/>
            </a:prstGeom>
            <a:noFill/>
            <a:ln w="38100" cap="flat" cmpd="sng">
              <a:solidFill>
                <a:srgbClr val="FF0000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59" name="Shape 196"/>
            <p:cNvSpPr txBox="1"/>
            <p:nvPr/>
          </p:nvSpPr>
          <p:spPr>
            <a:xfrm>
              <a:off x="8704744" y="1332614"/>
              <a:ext cx="889366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 dirty="0" smtClean="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end</a:t>
              </a:r>
              <a:endParaRPr sz="2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0" name="Группа 59"/>
          <p:cNvGrpSpPr>
            <a:grpSpLocks/>
          </p:cNvGrpSpPr>
          <p:nvPr/>
        </p:nvGrpSpPr>
        <p:grpSpPr>
          <a:xfrm>
            <a:off x="8642328" y="5720816"/>
            <a:ext cx="1077338" cy="1239795"/>
            <a:chOff x="9795437" y="5375754"/>
            <a:chExt cx="1077338" cy="1180757"/>
          </a:xfrm>
        </p:grpSpPr>
        <p:graphicFrame>
          <p:nvGraphicFramePr>
            <p:cNvPr id="61" name="Shape 163"/>
            <p:cNvGraphicFramePr/>
            <p:nvPr>
              <p:extLst>
                <p:ext uri="{D42A27DB-BD31-4B8C-83A1-F6EECF244321}">
                  <p14:modId xmlns:p14="http://schemas.microsoft.com/office/powerpoint/2010/main" val="2600700057"/>
                </p:ext>
              </p:extLst>
            </p:nvPr>
          </p:nvGraphicFramePr>
          <p:xfrm>
            <a:off x="9795437" y="5375754"/>
            <a:ext cx="432000" cy="1131428"/>
          </p:xfrm>
          <a:graphic>
            <a:graphicData uri="http://schemas.openxmlformats.org/drawingml/2006/table">
              <a:tbl>
                <a:tblPr>
                  <a:noFill/>
                  <a:tableStyleId>{A658CFA3-1ECF-4F86-BB5C-CF7618A15973}</a:tableStyleId>
                </a:tblPr>
                <a:tblGrid>
                  <a:gridCol w="432000"/>
                </a:tblGrid>
                <a:tr h="396000">
                  <a:tc>
                    <a:txBody>
                      <a:bodyPr/>
                      <a:lstStyle/>
                      <a:p>
                        <a:pPr marL="0" lvl="0" indent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900" b="1" dirty="0">
                          <a:solidFill>
                            <a:schemeClr val="lt1"/>
                          </a:solidFill>
                        </a:endParaRPr>
                      </a:p>
                    </a:txBody>
                    <a:tcPr marL="91425" marR="91425" marT="91425" marB="91425">
                      <a:lnL w="2857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2857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2857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2857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3C78D8"/>
                      </a:solidFill>
                    </a:tcPr>
                  </a:tc>
                </a:tr>
                <a:tr h="396000">
                  <a:tc>
                    <a:txBody>
                      <a:bodyPr/>
                      <a:lstStyle/>
                      <a:p>
                        <a:pPr marL="0" lvl="0" indent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900" dirty="0"/>
                      </a:p>
                    </a:txBody>
                    <a:tcPr marL="91425" marR="91425" marT="91425" marB="91425">
                      <a:lnL w="2857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2857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2857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2857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6D9EEB"/>
                      </a:solidFill>
                    </a:tcPr>
                  </a:tc>
                </a:tr>
                <a:tr h="396000">
                  <a:tc>
                    <a:txBody>
                      <a:bodyPr/>
                      <a:lstStyle/>
                      <a:p>
                        <a:pPr marL="0" lvl="0" indent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900" dirty="0"/>
                      </a:p>
                    </a:txBody>
                    <a:tcPr marL="91425" marR="91425" marT="91425" marB="91425">
                      <a:lnL w="2857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2857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2857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2857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A4C2F4"/>
                      </a:solidFill>
                    </a:tcPr>
                  </a:tc>
                </a:tr>
              </a:tbl>
            </a:graphicData>
          </a:graphic>
        </p:graphicFrame>
        <p:sp>
          <p:nvSpPr>
            <p:cNvPr id="62" name="TextBox 61"/>
            <p:cNvSpPr txBox="1"/>
            <p:nvPr/>
          </p:nvSpPr>
          <p:spPr>
            <a:xfrm>
              <a:off x="10200796" y="6204766"/>
              <a:ext cx="671979" cy="3517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b="1" dirty="0" err="1" smtClean="0">
                  <a:solidFill>
                    <a:schemeClr val="tx1"/>
                  </a:solidFill>
                </a:rPr>
                <a:t>prev</a:t>
              </a:r>
              <a:endParaRPr lang="ru-RU" sz="1800" b="1" dirty="0">
                <a:solidFill>
                  <a:schemeClr val="tx1"/>
                </a:solidFill>
              </a:endParaRP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10200797" y="5397150"/>
              <a:ext cx="659155" cy="3517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b="1" dirty="0" smtClean="0">
                  <a:solidFill>
                    <a:schemeClr val="tx1"/>
                  </a:solidFill>
                </a:rPr>
                <a:t>data</a:t>
              </a:r>
              <a:endParaRPr lang="ru-RU" sz="1800" b="1" dirty="0">
                <a:solidFill>
                  <a:schemeClr val="tx1"/>
                </a:solidFill>
              </a:endParaRP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10200796" y="5800958"/>
              <a:ext cx="659155" cy="3517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b="1" dirty="0" smtClean="0">
                  <a:solidFill>
                    <a:schemeClr val="tx1"/>
                  </a:solidFill>
                </a:rPr>
                <a:t>next</a:t>
              </a:r>
              <a:endParaRPr lang="ru-RU" sz="1800" b="1" dirty="0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repeatCount="3000" fill="remove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50" autoRev="1" fill="remove"/>
                                        <p:tgtEl>
                                          <p:spTgt spid="2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7" dur="250" autoRev="1" fill="remove"/>
                                        <p:tgtEl>
                                          <p:spTgt spid="2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8" dur="250" autoRev="1" fill="remove"/>
                                        <p:tgtEl>
                                          <p:spTgt spid="2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250" autoRev="1" fill="remove"/>
                                        <p:tgtEl>
                                          <p:spTgt spid="2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27" presetClass="emph" presetSubtype="0" repeatCount="3000" fill="remove" grpId="3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11" dur="250" autoRev="1" fill="remove"/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2" dur="250" autoRev="1" fill="remove"/>
                                        <p:tgtEl>
                                          <p:spTgt spid="2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3" dur="250" autoRev="1" fill="remove"/>
                                        <p:tgtEl>
                                          <p:spTgt spid="2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250" autoRev="1" fill="remove"/>
                                        <p:tgtEl>
                                          <p:spTgt spid="2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4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2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2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2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2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2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2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2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2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2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2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21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21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21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21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21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6" dur="2000" fill="hold"/>
                                        <p:tgtEl>
                                          <p:spTgt spid="2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1919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7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9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0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0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6" dur="2000" fill="hold"/>
                                        <p:tgtEl>
                                          <p:spTgt spid="2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1919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7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1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1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1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2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2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23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39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4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5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5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5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55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6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6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6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7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71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7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8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8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8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87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9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0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03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1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1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1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1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9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2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2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3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3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3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3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4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4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4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5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51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5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6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6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6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67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7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7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7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8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8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8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83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9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9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9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9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99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0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0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0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1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1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1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1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2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2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2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2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2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2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3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1" fill="hold">
                      <p:stCondLst>
                        <p:cond delay="indefinite"/>
                      </p:stCondLst>
                      <p:childTnLst>
                        <p:par>
                          <p:cTn id="332" fill="hold">
                            <p:stCondLst>
                              <p:cond delay="0"/>
                            </p:stCondLst>
                            <p:childTnLst>
                              <p:par>
                                <p:cTn id="3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7" fill="hold">
                      <p:stCondLst>
                        <p:cond delay="indefinite"/>
                      </p:stCondLst>
                      <p:childTnLst>
                        <p:par>
                          <p:cTn id="338" fill="hold">
                            <p:stCondLst>
                              <p:cond delay="0"/>
                            </p:stCondLst>
                            <p:childTnLst>
                              <p:par>
                                <p:cTn id="339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0" dur="2000" fill="hold"/>
                                        <p:tgtEl>
                                          <p:spTgt spid="2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1919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1" fill="hold">
                            <p:stCondLst>
                              <p:cond delay="2000"/>
                            </p:stCondLst>
                            <p:childTnLst>
                              <p:par>
                                <p:cTn id="34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4" dur="500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5" dur="500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6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Motion origin="layout" path="M 3.54167E-6 7.40741E-7 L 0.44284 0.50602 " pathEditMode="relative" rAng="0" ptsTypes="AA">
                                      <p:cBhvr>
                                        <p:cTn id="347" dur="2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135" y="2530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8" fill="hold">
                      <p:stCondLst>
                        <p:cond delay="indefinite"/>
                      </p:stCondLst>
                      <p:childTnLst>
                        <p:par>
                          <p:cTn id="349" fill="hold">
                            <p:stCondLst>
                              <p:cond delay="0"/>
                            </p:stCondLst>
                            <p:childTnLst>
                              <p:par>
                                <p:cTn id="350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51" dur="2000" fill="hold"/>
                                        <p:tgtEl>
                                          <p:spTgt spid="2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1919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52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3.7037E-6 L -0.38177 0.27361 " pathEditMode="relative" rAng="0" ptsTypes="AA">
                                      <p:cBhvr>
                                        <p:cTn id="353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9089" y="1368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4" fill="hold">
                            <p:stCondLst>
                              <p:cond delay="2000"/>
                            </p:stCondLst>
                            <p:childTnLst>
                              <p:par>
                                <p:cTn id="355" presetID="5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38177 0.27361 L -0.28373 0.27361 C -0.23972 0.27361 -0.18555 0.2324 -0.18555 0.19907 L -0.18555 0.12476 " pathEditMode="relative" rAng="0" ptsTypes="AAAA">
                                      <p:cBhvr>
                                        <p:cTn id="35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805" y="-745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7" fill="hold">
                      <p:stCondLst>
                        <p:cond delay="indefinite"/>
                      </p:stCondLst>
                      <p:childTnLst>
                        <p:par>
                          <p:cTn id="358" fill="hold">
                            <p:stCondLst>
                              <p:cond delay="0"/>
                            </p:stCondLst>
                            <p:childTnLst>
                              <p:par>
                                <p:cTn id="359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60" dur="2000" fill="hold"/>
                                        <p:tgtEl>
                                          <p:spTgt spid="2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1919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61" presetID="37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04167E-6 1.11111E-6 L 0.05338 0.04005 C 0.06445 0.04907 0.08112 0.05393 0.0987 0.05393 C 0.11862 0.05393 0.13463 0.04907 0.1457 0.04005 L 0.19922 1.11111E-6 " pathEditMode="relative" rAng="0" ptsTypes="AAAAA">
                                      <p:cBhvr>
                                        <p:cTn id="362" dur="2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961" y="268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3" fill="hold">
                      <p:stCondLst>
                        <p:cond delay="indefinite"/>
                      </p:stCondLst>
                      <p:childTnLst>
                        <p:par>
                          <p:cTn id="364" fill="hold">
                            <p:stCondLst>
                              <p:cond delay="0"/>
                            </p:stCondLst>
                            <p:childTnLst>
                              <p:par>
                                <p:cTn id="36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66" dur="2000" fill="hold"/>
                                        <p:tgtEl>
                                          <p:spTgt spid="2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1919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7" fill="hold">
                            <p:stCondLst>
                              <p:cond delay="2000"/>
                            </p:stCondLst>
                            <p:childTnLst>
                              <p:par>
                                <p:cTn id="36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2" fill="hold">
                      <p:stCondLst>
                        <p:cond delay="indefinite"/>
                      </p:stCondLst>
                      <p:childTnLst>
                        <p:par>
                          <p:cTn id="373" fill="hold">
                            <p:stCondLst>
                              <p:cond delay="0"/>
                            </p:stCondLst>
                            <p:childTnLst>
                              <p:par>
                                <p:cTn id="374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5" dur="2000" fill="hold"/>
                                        <p:tgtEl>
                                          <p:spTgt spid="2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1919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76" presetID="37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3.33333E-6 L 0.05521 -0.05 C 0.06666 -0.06088 0.08398 -0.06667 0.10208 -0.06667 C 0.12278 -0.06667 0.13919 -0.06088 0.15065 -0.05 L 0.20612 3.33333E-6 " pathEditMode="relative" rAng="0" ptsTypes="AAAAA">
                                      <p:cBhvr>
                                        <p:cTn id="377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299" y="-3333"/>
                                    </p:animMotion>
                                  </p:childTnLst>
                                </p:cTn>
                              </p:par>
                              <p:par>
                                <p:cTn id="37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6" fill="hold">
                      <p:stCondLst>
                        <p:cond delay="indefinite"/>
                      </p:stCondLst>
                      <p:childTnLst>
                        <p:par>
                          <p:cTn id="387" fill="hold">
                            <p:stCondLst>
                              <p:cond delay="0"/>
                            </p:stCondLst>
                            <p:childTnLst>
                              <p:par>
                                <p:cTn id="388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89" dur="2000" fill="hold"/>
                                        <p:tgtEl>
                                          <p:spTgt spid="2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1919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0" fill="hold">
                      <p:stCondLst>
                        <p:cond delay="indefinite"/>
                      </p:stCondLst>
                      <p:childTnLst>
                        <p:par>
                          <p:cTn id="391" fill="hold">
                            <p:stCondLst>
                              <p:cond delay="0"/>
                            </p:stCondLst>
                            <p:childTnLst>
                              <p:par>
                                <p:cTn id="39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6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4" fill="hold">
                      <p:stCondLst>
                        <p:cond delay="indefinite"/>
                      </p:stCondLst>
                      <p:childTnLst>
                        <p:par>
                          <p:cTn id="425" fill="hold">
                            <p:stCondLst>
                              <p:cond delay="0"/>
                            </p:stCondLst>
                            <p:childTnLst>
                              <p:par>
                                <p:cTn id="426" presetID="34" presetClass="emph" presetSubtype="0" fill="hold" grpId="2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44284 0.50601 L 0.44284 0.43379 " pathEditMode="relative" rAng="0" ptsTypes="AA">
                                      <p:cBhvr>
                                        <p:cTn id="427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611"/>
                                    </p:animMotion>
                                    <p:animRot by="1500000">
                                      <p:cBhvr>
                                        <p:cTn id="428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429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430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431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32" presetID="34" presetClass="emph" presetSubtype="0" fill="hold" grpId="2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433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434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435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436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437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8" fill="hold">
                      <p:stCondLst>
                        <p:cond delay="indefinite"/>
                      </p:stCondLst>
                      <p:childTnLst>
                        <p:par>
                          <p:cTn id="439" fill="hold">
                            <p:stCondLst>
                              <p:cond delay="0"/>
                            </p:stCondLst>
                            <p:childTnLst>
                              <p:par>
                                <p:cTn id="440" presetID="1" presetClass="exit" presetSubtype="0" fill="hold" grpId="3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2" fill="hold">
                      <p:stCondLst>
                        <p:cond delay="indefinite"/>
                      </p:stCondLst>
                      <p:childTnLst>
                        <p:par>
                          <p:cTn id="443" fill="hold">
                            <p:stCondLst>
                              <p:cond delay="0"/>
                            </p:stCondLst>
                            <p:childTnLst>
                              <p:par>
                                <p:cTn id="44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3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4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6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8" fill="hold">
                      <p:stCondLst>
                        <p:cond delay="indefinite"/>
                      </p:stCondLst>
                      <p:childTnLst>
                        <p:par>
                          <p:cTn id="469" fill="hold">
                            <p:stCondLst>
                              <p:cond delay="0"/>
                            </p:stCondLst>
                            <p:childTnLst>
                              <p:par>
                                <p:cTn id="470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71" dur="2000" fill="hold"/>
                                        <p:tgtEl>
                                          <p:spTgt spid="2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1919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2" fill="hold">
                      <p:stCondLst>
                        <p:cond delay="indefinite"/>
                      </p:stCondLst>
                      <p:childTnLst>
                        <p:par>
                          <p:cTn id="473" fill="hold">
                            <p:stCondLst>
                              <p:cond delay="0"/>
                            </p:stCondLst>
                            <p:childTnLst>
                              <p:par>
                                <p:cTn id="47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6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8" fill="hold">
                      <p:stCondLst>
                        <p:cond delay="indefinite"/>
                      </p:stCondLst>
                      <p:childTnLst>
                        <p:par>
                          <p:cTn id="479" fill="hold">
                            <p:stCondLst>
                              <p:cond delay="0"/>
                            </p:stCondLst>
                            <p:childTnLst>
                              <p:par>
                                <p:cTn id="480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81" dur="2000" fill="hold"/>
                                        <p:tgtEl>
                                          <p:spTgt spid="2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1919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82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Motion origin="layout" path="M -4.375E-6 -1.11111E-6 L 0.24076 0.50278 " pathEditMode="relative" rAng="0" ptsTypes="AA">
                                      <p:cBhvr>
                                        <p:cTn id="483" dur="2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031" y="251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4" fill="hold">
                      <p:stCondLst>
                        <p:cond delay="indefinite"/>
                      </p:stCondLst>
                      <p:childTnLst>
                        <p:par>
                          <p:cTn id="485" fill="hold">
                            <p:stCondLst>
                              <p:cond delay="0"/>
                            </p:stCondLst>
                            <p:childTnLst>
                              <p:par>
                                <p:cTn id="486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87" dur="2000" fill="hold"/>
                                        <p:tgtEl>
                                          <p:spTgt spid="21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1919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8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1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2" fill="hold">
                      <p:stCondLst>
                        <p:cond delay="indefinite"/>
                      </p:stCondLst>
                      <p:childTnLst>
                        <p:par>
                          <p:cTn id="493" fill="hold">
                            <p:stCondLst>
                              <p:cond delay="0"/>
                            </p:stCondLst>
                            <p:childTnLst>
                              <p:par>
                                <p:cTn id="494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95" dur="2000" fill="hold"/>
                                        <p:tgtEl>
                                          <p:spTgt spid="21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1919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96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97" dur="2000" fill="hold"/>
                                        <p:tgtEl>
                                          <p:spTgt spid="21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1919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9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0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0" fill="hold">
                      <p:stCondLst>
                        <p:cond delay="indefinite"/>
                      </p:stCondLst>
                      <p:childTnLst>
                        <p:par>
                          <p:cTn id="511" fill="hold">
                            <p:stCondLst>
                              <p:cond delay="0"/>
                            </p:stCondLst>
                            <p:childTnLst>
                              <p:par>
                                <p:cTn id="512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91667E-6 3.33333E-6 L 0.20442 -0.12848 " pathEditMode="relative" rAng="0" ptsTypes="AA">
                                      <p:cBhvr>
                                        <p:cTn id="513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221" y="-6435"/>
                                    </p:animMotion>
                                  </p:childTnLst>
                                </p:cTn>
                              </p:par>
                              <p:par>
                                <p:cTn id="514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-1.85185E-6 L 0.16967 -0.12616 " pathEditMode="relative" rAng="0" ptsTypes="AA">
                                      <p:cBhvr>
                                        <p:cTn id="515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477" y="-631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6" fill="hold">
                      <p:stCondLst>
                        <p:cond delay="indefinite"/>
                      </p:stCondLst>
                      <p:childTnLst>
                        <p:par>
                          <p:cTn id="517" fill="hold">
                            <p:stCondLst>
                              <p:cond delay="0"/>
                            </p:stCondLst>
                            <p:childTnLst>
                              <p:par>
                                <p:cTn id="518" presetID="34" presetClass="emph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0105 -2.96296E-6 L 0.00105 -0.07222 " pathEditMode="relative" rAng="0" ptsTypes="AA">
                                      <p:cBhvr>
                                        <p:cTn id="519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611"/>
                                    </p:animMotion>
                                    <p:animRot by="1500000">
                                      <p:cBhvr>
                                        <p:cTn id="520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521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522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523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24" presetID="34" presetClass="emph" presetSubtype="0" fill="hold" grpId="2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24831 0.50602 L 0.24831 0.4338 " pathEditMode="relative" rAng="0" ptsTypes="AA">
                                      <p:cBhvr>
                                        <p:cTn id="525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611"/>
                                    </p:animMotion>
                                    <p:animRot by="1500000">
                                      <p:cBhvr>
                                        <p:cTn id="526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527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528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529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3" grpId="0" uiExpand="1" build="p"/>
      <p:bldP spid="214" grpId="0"/>
      <p:bldP spid="214" grpId="1"/>
      <p:bldP spid="214" grpId="2"/>
      <p:bldP spid="214" grpId="3"/>
      <p:bldP spid="214" grpId="4"/>
      <p:bldP spid="217" grpId="0" animBg="1"/>
      <p:bldP spid="217" grpId="1" animBg="1"/>
      <p:bldP spid="217" grpId="2" animBg="1"/>
      <p:bldP spid="216" grpId="0" animBg="1"/>
      <p:bldP spid="216" grpId="1" animBg="1"/>
      <p:bldP spid="21" grpId="0"/>
      <p:bldP spid="21" grpId="1"/>
      <p:bldP spid="14" grpId="0" animBg="1"/>
      <p:bldP spid="14" grpId="1" animBg="1"/>
      <p:bldP spid="14" grpId="2" animBg="1"/>
      <p:bldP spid="48" grpId="0"/>
      <p:bldP spid="49" grpId="0" animBg="1"/>
      <p:bldP spid="49" grpId="1" animBg="1"/>
      <p:bldP spid="54" grpId="0" animBg="1"/>
      <p:bldP spid="54" grpId="1" animBg="1"/>
      <p:bldP spid="54" grpId="2" animBg="1"/>
      <p:bldP spid="55" grpId="0" animBg="1"/>
      <p:bldP spid="55" grpId="1" animBg="1"/>
      <p:bldP spid="55" grpId="2" animBg="1"/>
      <p:bldP spid="55" grpId="3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1" name="Shape 241"/>
          <p:cNvGraphicFramePr/>
          <p:nvPr>
            <p:extLst>
              <p:ext uri="{D42A27DB-BD31-4B8C-83A1-F6EECF244321}">
                <p14:modId xmlns:p14="http://schemas.microsoft.com/office/powerpoint/2010/main" val="2049125482"/>
              </p:ext>
            </p:extLst>
          </p:nvPr>
        </p:nvGraphicFramePr>
        <p:xfrm>
          <a:off x="4942966" y="1801777"/>
          <a:ext cx="1460675" cy="1849602"/>
        </p:xfrm>
        <a:graphic>
          <a:graphicData uri="http://schemas.openxmlformats.org/drawingml/2006/table">
            <a:tbl>
              <a:tblPr>
                <a:noFill/>
                <a:tableStyleId>{A658CFA3-1ECF-4F86-BB5C-CF7618A15973}</a:tableStyleId>
              </a:tblPr>
              <a:tblGrid>
                <a:gridCol w="1460675"/>
              </a:tblGrid>
              <a:tr h="61653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 b="1" dirty="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5996" marB="95996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C78D8"/>
                    </a:solidFill>
                  </a:tcPr>
                </a:tc>
              </a:tr>
              <a:tr h="61653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/>
                    </a:p>
                  </a:txBody>
                  <a:tcPr marL="91425" marR="91425" marT="95996" marB="95996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D9EEB"/>
                    </a:solidFill>
                  </a:tcPr>
                </a:tc>
              </a:tr>
              <a:tr h="61653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 dirty="0"/>
                    </a:p>
                  </a:txBody>
                  <a:tcPr marL="91425" marR="91425" marT="95996" marB="95996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</a:tr>
            </a:tbl>
          </a:graphicData>
        </a:graphic>
      </p:graphicFrame>
      <p:sp>
        <p:nvSpPr>
          <p:cNvPr id="233" name="Shape 233"/>
          <p:cNvSpPr txBox="1">
            <a:spLocks noGrp="1"/>
          </p:cNvSpPr>
          <p:nvPr>
            <p:ph type="title"/>
          </p:nvPr>
        </p:nvSpPr>
        <p:spPr>
          <a:xfrm>
            <a:off x="838200" y="19116"/>
            <a:ext cx="10515600" cy="662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40"/>
              <a:buFont typeface="Arial"/>
              <a:buNone/>
            </a:pPr>
            <a:r>
              <a:rPr lang="en-US" b="1">
                <a:latin typeface="Arial"/>
                <a:ea typeface="Arial"/>
                <a:cs typeface="Arial"/>
                <a:sym typeface="Arial"/>
              </a:rPr>
              <a:t>Положить элемент в список</a:t>
            </a:r>
            <a:endParaRPr/>
          </a:p>
        </p:txBody>
      </p:sp>
      <p:sp>
        <p:nvSpPr>
          <p:cNvPr id="234" name="Shape 234"/>
          <p:cNvSpPr txBox="1">
            <a:spLocks noGrp="1"/>
          </p:cNvSpPr>
          <p:nvPr>
            <p:ph idx="1"/>
          </p:nvPr>
        </p:nvSpPr>
        <p:spPr>
          <a:xfrm>
            <a:off x="233431" y="715864"/>
            <a:ext cx="4393163" cy="3986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None/>
            </a:pPr>
            <a:r>
              <a:rPr lang="en-US" sz="1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void push(node* &amp;</a:t>
            </a:r>
            <a:r>
              <a:rPr lang="en-US" sz="1600" b="0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top,node</a:t>
            </a:r>
            <a:r>
              <a:rPr lang="en-US" sz="1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* &amp;</a:t>
            </a:r>
            <a:r>
              <a:rPr lang="en-US" sz="1600" b="0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end,int</a:t>
            </a:r>
            <a:r>
              <a:rPr lang="en-US" sz="1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data) </a:t>
            </a:r>
            <a:endParaRPr sz="16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None/>
            </a:pPr>
            <a:r>
              <a:rPr lang="en-US" sz="1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{     node* p;</a:t>
            </a:r>
            <a:endParaRPr sz="16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None/>
            </a:pPr>
            <a:r>
              <a:rPr lang="en-US" sz="1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   if (</a:t>
            </a:r>
            <a:r>
              <a:rPr lang="en-US" sz="1600" b="0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length_list</a:t>
            </a:r>
            <a:r>
              <a:rPr lang="en-US" sz="1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(top)==0)</a:t>
            </a:r>
            <a:endParaRPr sz="16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None/>
            </a:pPr>
            <a:r>
              <a:rPr lang="en-US" sz="1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   </a:t>
            </a:r>
            <a:r>
              <a:rPr lang="en-US" sz="1600" b="0" i="0" u="none" strike="noStrike" cap="none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{  top </a:t>
            </a:r>
            <a:r>
              <a:rPr lang="en-US" sz="1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= new node;</a:t>
            </a:r>
            <a:endParaRPr sz="16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None/>
            </a:pPr>
            <a:r>
              <a:rPr lang="en-US" sz="1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            </a:t>
            </a:r>
            <a:r>
              <a:rPr lang="en-US" sz="1600" b="0" i="0" u="none" strike="noStrike" cap="none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end=top</a:t>
            </a:r>
            <a:r>
              <a:rPr lang="en-US" sz="1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sz="16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None/>
            </a:pPr>
            <a:r>
              <a:rPr lang="en-US" sz="1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            </a:t>
            </a:r>
            <a:r>
              <a:rPr lang="en-US" sz="1600" b="0" i="0" u="none" strike="noStrike" cap="none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top-</a:t>
            </a:r>
            <a:r>
              <a:rPr lang="en-US" sz="1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&gt;data=data;</a:t>
            </a:r>
            <a:endParaRPr sz="16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None/>
            </a:pPr>
            <a:r>
              <a:rPr lang="en-US" sz="1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            </a:t>
            </a:r>
            <a:r>
              <a:rPr lang="en-US" sz="1600" b="0" i="0" u="none" strike="noStrike" cap="none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top-</a:t>
            </a:r>
            <a:r>
              <a:rPr lang="en-US" sz="1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&gt;next=NULL; </a:t>
            </a:r>
            <a:endParaRPr sz="16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None/>
            </a:pPr>
            <a:r>
              <a:rPr lang="en-US" sz="1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            top-&gt;</a:t>
            </a:r>
            <a:r>
              <a:rPr lang="en-US" sz="1600" b="0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prev</a:t>
            </a:r>
            <a:r>
              <a:rPr lang="en-US" sz="1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=NULL;</a:t>
            </a:r>
            <a:endParaRPr sz="16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None/>
            </a:pPr>
            <a:r>
              <a:rPr lang="en-US" sz="1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   }</a:t>
            </a:r>
            <a:endParaRPr sz="16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None/>
            </a:pPr>
            <a:r>
              <a:rPr lang="en-US" sz="1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        </a:t>
            </a:r>
            <a:endParaRPr sz="16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Shape 236"/>
          <p:cNvSpPr txBox="1"/>
          <p:nvPr/>
        </p:nvSpPr>
        <p:spPr>
          <a:xfrm>
            <a:off x="2590798" y="3651378"/>
            <a:ext cx="3057217" cy="3137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None/>
            </a:pPr>
            <a:r>
              <a:rPr lang="en-US" sz="1600" dirty="0">
                <a:solidFill>
                  <a:schemeClr val="lt1"/>
                </a:solidFill>
              </a:rPr>
              <a:t>   else</a:t>
            </a:r>
            <a:endParaRPr sz="1600" dirty="0">
              <a:solidFill>
                <a:schemeClr val="lt1"/>
              </a:solidFill>
            </a:endParaRPr>
          </a:p>
          <a:p>
            <a:pPr marL="0" lvl="0" indent="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None/>
            </a:pPr>
            <a:r>
              <a:rPr lang="en-US" sz="1600" dirty="0" smtClean="0">
                <a:solidFill>
                  <a:schemeClr val="lt1"/>
                </a:solidFill>
              </a:rPr>
              <a:t>              {  </a:t>
            </a:r>
            <a:r>
              <a:rPr lang="en-US" sz="1600" dirty="0">
                <a:solidFill>
                  <a:schemeClr val="lt1"/>
                </a:solidFill>
              </a:rPr>
              <a:t>p=new node;</a:t>
            </a:r>
            <a:endParaRPr sz="1600" dirty="0">
              <a:solidFill>
                <a:schemeClr val="lt1"/>
              </a:solidFill>
            </a:endParaRPr>
          </a:p>
          <a:p>
            <a:pPr marL="0" lvl="0" indent="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None/>
            </a:pPr>
            <a:r>
              <a:rPr lang="en-US" sz="1600" dirty="0">
                <a:solidFill>
                  <a:schemeClr val="lt1"/>
                </a:solidFill>
              </a:rPr>
              <a:t>                 p-&gt;data=data;</a:t>
            </a:r>
            <a:endParaRPr sz="1600" dirty="0">
              <a:solidFill>
                <a:schemeClr val="lt1"/>
              </a:solidFill>
            </a:endParaRPr>
          </a:p>
          <a:p>
            <a:pPr marL="0" lvl="0" indent="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None/>
            </a:pPr>
            <a:r>
              <a:rPr lang="en-US" sz="1600" dirty="0">
                <a:solidFill>
                  <a:schemeClr val="lt1"/>
                </a:solidFill>
              </a:rPr>
              <a:t>                 p-&gt;next=NULL;</a:t>
            </a:r>
            <a:endParaRPr sz="1600" dirty="0">
              <a:solidFill>
                <a:schemeClr val="lt1"/>
              </a:solidFill>
            </a:endParaRPr>
          </a:p>
          <a:p>
            <a:pPr marL="0" lvl="0" indent="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None/>
            </a:pPr>
            <a:r>
              <a:rPr lang="en-US" sz="1600" dirty="0">
                <a:solidFill>
                  <a:schemeClr val="lt1"/>
                </a:solidFill>
              </a:rPr>
              <a:t>                 p-&gt;</a:t>
            </a:r>
            <a:r>
              <a:rPr lang="en-US" sz="1600" dirty="0" err="1">
                <a:solidFill>
                  <a:schemeClr val="lt1"/>
                </a:solidFill>
              </a:rPr>
              <a:t>prev</a:t>
            </a:r>
            <a:r>
              <a:rPr lang="en-US" sz="1600" dirty="0">
                <a:solidFill>
                  <a:schemeClr val="lt1"/>
                </a:solidFill>
              </a:rPr>
              <a:t>=end;</a:t>
            </a:r>
            <a:endParaRPr sz="1600" dirty="0">
              <a:solidFill>
                <a:schemeClr val="lt1"/>
              </a:solidFill>
            </a:endParaRPr>
          </a:p>
          <a:p>
            <a:pPr marL="0" lvl="0" indent="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None/>
            </a:pPr>
            <a:r>
              <a:rPr lang="en-US" sz="1600" dirty="0">
                <a:solidFill>
                  <a:schemeClr val="lt1"/>
                </a:solidFill>
              </a:rPr>
              <a:t>                 end-&gt;next=p;</a:t>
            </a:r>
            <a:endParaRPr sz="1600" dirty="0">
              <a:solidFill>
                <a:schemeClr val="lt1"/>
              </a:solidFill>
            </a:endParaRPr>
          </a:p>
          <a:p>
            <a:pPr marL="0" lvl="0" indent="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None/>
            </a:pPr>
            <a:r>
              <a:rPr lang="en-US" sz="1600" dirty="0">
                <a:solidFill>
                  <a:schemeClr val="lt1"/>
                </a:solidFill>
              </a:rPr>
              <a:t>                 end=p;</a:t>
            </a:r>
            <a:endParaRPr sz="1600" dirty="0">
              <a:solidFill>
                <a:schemeClr val="lt1"/>
              </a:solidFill>
            </a:endParaRPr>
          </a:p>
          <a:p>
            <a:pPr marL="0" lvl="0" indent="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None/>
            </a:pPr>
            <a:r>
              <a:rPr lang="en-US" sz="1600" dirty="0">
                <a:solidFill>
                  <a:schemeClr val="lt1"/>
                </a:solidFill>
              </a:rPr>
              <a:t> </a:t>
            </a:r>
            <a:r>
              <a:rPr lang="en-US" sz="1600" dirty="0" smtClean="0">
                <a:solidFill>
                  <a:schemeClr val="lt1"/>
                </a:solidFill>
              </a:rPr>
              <a:t>              } }</a:t>
            </a:r>
            <a:r>
              <a:rPr lang="en-US" sz="1600" dirty="0">
                <a:solidFill>
                  <a:schemeClr val="lt1"/>
                </a:solidFill>
              </a:rPr>
              <a:t>	</a:t>
            </a:r>
            <a:endParaRPr sz="1600" dirty="0">
              <a:solidFill>
                <a:schemeClr val="lt1"/>
              </a:solidFill>
            </a:endParaRPr>
          </a:p>
          <a:p>
            <a:pPr marL="0" lvl="0" indent="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None/>
            </a:pPr>
            <a:endParaRPr sz="1600" dirty="0">
              <a:solidFill>
                <a:schemeClr val="lt1"/>
              </a:solidFill>
            </a:endParaRPr>
          </a:p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1600" dirty="0"/>
          </a:p>
        </p:txBody>
      </p:sp>
      <p:sp>
        <p:nvSpPr>
          <p:cNvPr id="237" name="Shape 237"/>
          <p:cNvSpPr txBox="1"/>
          <p:nvPr/>
        </p:nvSpPr>
        <p:spPr>
          <a:xfrm>
            <a:off x="9638819" y="6375097"/>
            <a:ext cx="1227000" cy="420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data=</a:t>
            </a:r>
            <a:endParaRPr sz="32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" name="Группа 1"/>
          <p:cNvGrpSpPr/>
          <p:nvPr/>
        </p:nvGrpSpPr>
        <p:grpSpPr>
          <a:xfrm>
            <a:off x="11321981" y="-88197"/>
            <a:ext cx="375300" cy="1192061"/>
            <a:chOff x="5645064" y="987493"/>
            <a:chExt cx="375300" cy="1135296"/>
          </a:xfrm>
        </p:grpSpPr>
        <p:cxnSp>
          <p:nvCxnSpPr>
            <p:cNvPr id="248" name="Shape 248"/>
            <p:cNvCxnSpPr/>
            <p:nvPr/>
          </p:nvCxnSpPr>
          <p:spPr>
            <a:xfrm rot="5400000">
              <a:off x="5288664" y="1764889"/>
              <a:ext cx="714300" cy="1500"/>
            </a:xfrm>
            <a:prstGeom prst="straightConnector1">
              <a:avLst/>
            </a:prstGeom>
            <a:noFill/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249" name="Shape 249"/>
            <p:cNvSpPr txBox="1"/>
            <p:nvPr/>
          </p:nvSpPr>
          <p:spPr>
            <a:xfrm>
              <a:off x="5645064" y="987493"/>
              <a:ext cx="3753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</a:t>
              </a:r>
              <a:endParaRPr sz="28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" name="Группа 2"/>
          <p:cNvGrpSpPr/>
          <p:nvPr/>
        </p:nvGrpSpPr>
        <p:grpSpPr>
          <a:xfrm>
            <a:off x="6762454" y="587430"/>
            <a:ext cx="692403" cy="1099865"/>
            <a:chOff x="7947984" y="1051299"/>
            <a:chExt cx="692403" cy="1047490"/>
          </a:xfrm>
        </p:grpSpPr>
        <p:cxnSp>
          <p:nvCxnSpPr>
            <p:cNvPr id="250" name="Shape 250"/>
            <p:cNvCxnSpPr/>
            <p:nvPr/>
          </p:nvCxnSpPr>
          <p:spPr>
            <a:xfrm rot="5400000">
              <a:off x="8282487" y="1740889"/>
              <a:ext cx="714300" cy="1500"/>
            </a:xfrm>
            <a:prstGeom prst="straightConnector1">
              <a:avLst/>
            </a:prstGeom>
            <a:noFill/>
            <a:ln w="38100" cap="flat" cmpd="sng">
              <a:solidFill>
                <a:srgbClr val="FF0000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251" name="Shape 251"/>
            <p:cNvSpPr txBox="1"/>
            <p:nvPr/>
          </p:nvSpPr>
          <p:spPr>
            <a:xfrm>
              <a:off x="7947984" y="1051299"/>
              <a:ext cx="6909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 dirty="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top</a:t>
              </a:r>
              <a:endParaRPr sz="2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aphicFrame>
        <p:nvGraphicFramePr>
          <p:cNvPr id="25" name="Shape 245"/>
          <p:cNvGraphicFramePr/>
          <p:nvPr>
            <p:extLst>
              <p:ext uri="{D42A27DB-BD31-4B8C-83A1-F6EECF244321}">
                <p14:modId xmlns:p14="http://schemas.microsoft.com/office/powerpoint/2010/main" val="548212112"/>
              </p:ext>
            </p:extLst>
          </p:nvPr>
        </p:nvGraphicFramePr>
        <p:xfrm>
          <a:off x="7327155" y="1801777"/>
          <a:ext cx="1460675" cy="1849602"/>
        </p:xfrm>
        <a:graphic>
          <a:graphicData uri="http://schemas.openxmlformats.org/drawingml/2006/table">
            <a:tbl>
              <a:tblPr>
                <a:noFill/>
                <a:tableStyleId>{A658CFA3-1ECF-4F86-BB5C-CF7618A15973}</a:tableStyleId>
              </a:tblPr>
              <a:tblGrid>
                <a:gridCol w="1460675"/>
              </a:tblGrid>
              <a:tr h="61653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 b="1" dirty="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5996" marB="95996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C78D8"/>
                    </a:solidFill>
                  </a:tcPr>
                </a:tc>
              </a:tr>
              <a:tr h="61653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 dirty="0"/>
                    </a:p>
                  </a:txBody>
                  <a:tcPr marL="91425" marR="91425" marT="95996" marB="95996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D9EEB"/>
                    </a:solidFill>
                  </a:tcPr>
                </a:tc>
              </a:tr>
              <a:tr h="61653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 dirty="0"/>
                    </a:p>
                  </a:txBody>
                  <a:tcPr marL="91425" marR="91425" marT="95996" marB="95996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</a:tr>
            </a:tbl>
          </a:graphicData>
        </a:graphic>
      </p:graphicFrame>
      <p:pic>
        <p:nvPicPr>
          <p:cNvPr id="27" name="Рисунок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4857" y="2457524"/>
            <a:ext cx="1396105" cy="678544"/>
          </a:xfrm>
          <a:prstGeom prst="rect">
            <a:avLst/>
          </a:prstGeom>
        </p:spPr>
      </p:pic>
      <p:pic>
        <p:nvPicPr>
          <p:cNvPr id="28" name="Рисунок 2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1769" y="3046555"/>
            <a:ext cx="1396105" cy="678544"/>
          </a:xfrm>
          <a:prstGeom prst="rect">
            <a:avLst/>
          </a:prstGeom>
        </p:spPr>
      </p:pic>
      <p:grpSp>
        <p:nvGrpSpPr>
          <p:cNvPr id="30" name="Группа 29"/>
          <p:cNvGrpSpPr/>
          <p:nvPr/>
        </p:nvGrpSpPr>
        <p:grpSpPr>
          <a:xfrm>
            <a:off x="8493718" y="554890"/>
            <a:ext cx="889366" cy="1141206"/>
            <a:chOff x="9019769" y="1375260"/>
            <a:chExt cx="889366" cy="1086863"/>
          </a:xfrm>
        </p:grpSpPr>
        <p:cxnSp>
          <p:nvCxnSpPr>
            <p:cNvPr id="31" name="Shape 195"/>
            <p:cNvCxnSpPr/>
            <p:nvPr/>
          </p:nvCxnSpPr>
          <p:spPr>
            <a:xfrm rot="5400000">
              <a:off x="8699407" y="2104223"/>
              <a:ext cx="714300" cy="1500"/>
            </a:xfrm>
            <a:prstGeom prst="straightConnector1">
              <a:avLst/>
            </a:prstGeom>
            <a:noFill/>
            <a:ln w="38100" cap="flat" cmpd="sng">
              <a:solidFill>
                <a:srgbClr val="FF0000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32" name="Shape 196"/>
            <p:cNvSpPr txBox="1"/>
            <p:nvPr/>
          </p:nvSpPr>
          <p:spPr>
            <a:xfrm>
              <a:off x="9019769" y="1375260"/>
              <a:ext cx="889366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 dirty="0" smtClean="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end</a:t>
              </a:r>
              <a:endParaRPr sz="2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242" name="Shape 242"/>
          <p:cNvCxnSpPr/>
          <p:nvPr/>
        </p:nvCxnSpPr>
        <p:spPr>
          <a:xfrm flipH="1">
            <a:off x="6403775" y="3387130"/>
            <a:ext cx="895500" cy="819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3" name="Shape 243"/>
          <p:cNvCxnSpPr/>
          <p:nvPr/>
        </p:nvCxnSpPr>
        <p:spPr>
          <a:xfrm rot="10800000" flipH="1">
            <a:off x="6426450" y="2758456"/>
            <a:ext cx="891000" cy="378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stealth" w="med" len="med"/>
          </a:ln>
        </p:spPr>
      </p:cxnSp>
      <p:graphicFrame>
        <p:nvGraphicFramePr>
          <p:cNvPr id="244" name="Shape 244"/>
          <p:cNvGraphicFramePr/>
          <p:nvPr>
            <p:extLst>
              <p:ext uri="{D42A27DB-BD31-4B8C-83A1-F6EECF244321}">
                <p14:modId xmlns:p14="http://schemas.microsoft.com/office/powerpoint/2010/main" val="3406660355"/>
              </p:ext>
            </p:extLst>
          </p:nvPr>
        </p:nvGraphicFramePr>
        <p:xfrm>
          <a:off x="7334814" y="1801789"/>
          <a:ext cx="1460675" cy="1849602"/>
        </p:xfrm>
        <a:graphic>
          <a:graphicData uri="http://schemas.openxmlformats.org/drawingml/2006/table">
            <a:tbl>
              <a:tblPr>
                <a:noFill/>
                <a:tableStyleId>{A658CFA3-1ECF-4F86-BB5C-CF7618A15973}</a:tableStyleId>
              </a:tblPr>
              <a:tblGrid>
                <a:gridCol w="1460675"/>
              </a:tblGrid>
              <a:tr h="61653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5996" marB="95996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C78D8"/>
                    </a:solidFill>
                  </a:tcPr>
                </a:tc>
              </a:tr>
              <a:tr h="61653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/>
                    </a:p>
                  </a:txBody>
                  <a:tcPr marL="91425" marR="91425" marT="95996" marB="95996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D9EEB"/>
                    </a:solidFill>
                  </a:tcPr>
                </a:tc>
              </a:tr>
              <a:tr h="61653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/>
                    </a:p>
                  </a:txBody>
                  <a:tcPr marL="91425" marR="91425" marT="95996" marB="95996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45" name="Shape 245"/>
          <p:cNvGraphicFramePr/>
          <p:nvPr>
            <p:extLst>
              <p:ext uri="{D42A27DB-BD31-4B8C-83A1-F6EECF244321}">
                <p14:modId xmlns:p14="http://schemas.microsoft.com/office/powerpoint/2010/main" val="3517518040"/>
              </p:ext>
            </p:extLst>
          </p:nvPr>
        </p:nvGraphicFramePr>
        <p:xfrm>
          <a:off x="9726653" y="1801803"/>
          <a:ext cx="1460675" cy="1849602"/>
        </p:xfrm>
        <a:graphic>
          <a:graphicData uri="http://schemas.openxmlformats.org/drawingml/2006/table">
            <a:tbl>
              <a:tblPr>
                <a:noFill/>
                <a:tableStyleId>{A658CFA3-1ECF-4F86-BB5C-CF7618A15973}</a:tableStyleId>
              </a:tblPr>
              <a:tblGrid>
                <a:gridCol w="1460675"/>
              </a:tblGrid>
              <a:tr h="61653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 b="1" dirty="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5996" marB="95996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C78D8"/>
                    </a:solidFill>
                  </a:tcPr>
                </a:tc>
              </a:tr>
              <a:tr h="61653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 dirty="0"/>
                    </a:p>
                  </a:txBody>
                  <a:tcPr marL="91425" marR="91425" marT="95996" marB="95996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D9EEB"/>
                    </a:solidFill>
                  </a:tcPr>
                </a:tc>
              </a:tr>
              <a:tr h="61653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 dirty="0"/>
                    </a:p>
                  </a:txBody>
                  <a:tcPr marL="91425" marR="91425" marT="95996" marB="95996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</a:tr>
            </a:tbl>
          </a:graphicData>
        </a:graphic>
      </p:graphicFrame>
      <p:cxnSp>
        <p:nvCxnSpPr>
          <p:cNvPr id="246" name="Shape 246"/>
          <p:cNvCxnSpPr/>
          <p:nvPr/>
        </p:nvCxnSpPr>
        <p:spPr>
          <a:xfrm flipH="1">
            <a:off x="8812875" y="3382130"/>
            <a:ext cx="895500" cy="819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7" name="Shape 247"/>
          <p:cNvCxnSpPr/>
          <p:nvPr/>
        </p:nvCxnSpPr>
        <p:spPr>
          <a:xfrm rot="10800000" flipH="1">
            <a:off x="8835550" y="2753456"/>
            <a:ext cx="891000" cy="378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40" name="Shape 240"/>
          <p:cNvSpPr txBox="1"/>
          <p:nvPr/>
        </p:nvSpPr>
        <p:spPr>
          <a:xfrm>
            <a:off x="7901576" y="1859288"/>
            <a:ext cx="333107" cy="50395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28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Shape 239"/>
          <p:cNvSpPr txBox="1"/>
          <p:nvPr/>
        </p:nvSpPr>
        <p:spPr>
          <a:xfrm>
            <a:off x="5477215" y="1855655"/>
            <a:ext cx="333107" cy="50395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28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4857" y="2454560"/>
            <a:ext cx="1396105" cy="678544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9933" y="3046555"/>
            <a:ext cx="1396105" cy="678544"/>
          </a:xfrm>
          <a:prstGeom prst="rect">
            <a:avLst/>
          </a:prstGeom>
        </p:spPr>
      </p:pic>
      <p:sp>
        <p:nvSpPr>
          <p:cNvPr id="26" name="Shape 239"/>
          <p:cNvSpPr txBox="1"/>
          <p:nvPr/>
        </p:nvSpPr>
        <p:spPr>
          <a:xfrm>
            <a:off x="10775500" y="6419023"/>
            <a:ext cx="333107" cy="50395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8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3" name="Группа 32"/>
          <p:cNvGrpSpPr/>
          <p:nvPr/>
        </p:nvGrpSpPr>
        <p:grpSpPr>
          <a:xfrm>
            <a:off x="4444901" y="587430"/>
            <a:ext cx="692403" cy="1099865"/>
            <a:chOff x="7947984" y="1051299"/>
            <a:chExt cx="692403" cy="1047490"/>
          </a:xfrm>
        </p:grpSpPr>
        <p:cxnSp>
          <p:nvCxnSpPr>
            <p:cNvPr id="34" name="Shape 250"/>
            <p:cNvCxnSpPr/>
            <p:nvPr/>
          </p:nvCxnSpPr>
          <p:spPr>
            <a:xfrm rot="5400000">
              <a:off x="8282487" y="1740889"/>
              <a:ext cx="714300" cy="1500"/>
            </a:xfrm>
            <a:prstGeom prst="straightConnector1">
              <a:avLst/>
            </a:prstGeom>
            <a:noFill/>
            <a:ln w="38100" cap="flat" cmpd="sng">
              <a:solidFill>
                <a:srgbClr val="FF0000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35" name="Shape 251"/>
            <p:cNvSpPr txBox="1"/>
            <p:nvPr/>
          </p:nvSpPr>
          <p:spPr>
            <a:xfrm>
              <a:off x="7947984" y="1051299"/>
              <a:ext cx="6909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 dirty="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top</a:t>
              </a:r>
              <a:endParaRPr sz="2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" name="Группа 35"/>
          <p:cNvGrpSpPr/>
          <p:nvPr/>
        </p:nvGrpSpPr>
        <p:grpSpPr>
          <a:xfrm>
            <a:off x="8594280" y="533262"/>
            <a:ext cx="889366" cy="1141206"/>
            <a:chOff x="9019769" y="1375260"/>
            <a:chExt cx="889366" cy="1086863"/>
          </a:xfrm>
        </p:grpSpPr>
        <p:cxnSp>
          <p:nvCxnSpPr>
            <p:cNvPr id="37" name="Shape 195"/>
            <p:cNvCxnSpPr/>
            <p:nvPr/>
          </p:nvCxnSpPr>
          <p:spPr>
            <a:xfrm rot="5400000">
              <a:off x="8699407" y="2104223"/>
              <a:ext cx="714300" cy="1500"/>
            </a:xfrm>
            <a:prstGeom prst="straightConnector1">
              <a:avLst/>
            </a:prstGeom>
            <a:noFill/>
            <a:ln w="38100" cap="flat" cmpd="sng">
              <a:solidFill>
                <a:srgbClr val="FF0000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38" name="Shape 196"/>
            <p:cNvSpPr txBox="1"/>
            <p:nvPr/>
          </p:nvSpPr>
          <p:spPr>
            <a:xfrm>
              <a:off x="9019769" y="1375260"/>
              <a:ext cx="889366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 dirty="0" smtClean="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end</a:t>
              </a:r>
              <a:endParaRPr sz="2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" name="Группа 38"/>
          <p:cNvGrpSpPr>
            <a:grpSpLocks/>
          </p:cNvGrpSpPr>
          <p:nvPr/>
        </p:nvGrpSpPr>
        <p:grpSpPr>
          <a:xfrm>
            <a:off x="334774" y="5664721"/>
            <a:ext cx="1077338" cy="1239795"/>
            <a:chOff x="9795437" y="5375754"/>
            <a:chExt cx="1077338" cy="1180757"/>
          </a:xfrm>
        </p:grpSpPr>
        <p:graphicFrame>
          <p:nvGraphicFramePr>
            <p:cNvPr id="40" name="Shape 163"/>
            <p:cNvGraphicFramePr/>
            <p:nvPr>
              <p:extLst>
                <p:ext uri="{D42A27DB-BD31-4B8C-83A1-F6EECF244321}">
                  <p14:modId xmlns:p14="http://schemas.microsoft.com/office/powerpoint/2010/main" val="2600700057"/>
                </p:ext>
              </p:extLst>
            </p:nvPr>
          </p:nvGraphicFramePr>
          <p:xfrm>
            <a:off x="9795437" y="5375754"/>
            <a:ext cx="432000" cy="1131428"/>
          </p:xfrm>
          <a:graphic>
            <a:graphicData uri="http://schemas.openxmlformats.org/drawingml/2006/table">
              <a:tbl>
                <a:tblPr>
                  <a:noFill/>
                  <a:tableStyleId>{A658CFA3-1ECF-4F86-BB5C-CF7618A15973}</a:tableStyleId>
                </a:tblPr>
                <a:tblGrid>
                  <a:gridCol w="432000"/>
                </a:tblGrid>
                <a:tr h="396000">
                  <a:tc>
                    <a:txBody>
                      <a:bodyPr/>
                      <a:lstStyle/>
                      <a:p>
                        <a:pPr marL="0" lvl="0" indent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900" b="1" dirty="0">
                          <a:solidFill>
                            <a:schemeClr val="lt1"/>
                          </a:solidFill>
                        </a:endParaRPr>
                      </a:p>
                    </a:txBody>
                    <a:tcPr marL="91425" marR="91425" marT="91425" marB="91425">
                      <a:lnL w="2857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2857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2857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2857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3C78D8"/>
                      </a:solidFill>
                    </a:tcPr>
                  </a:tc>
                </a:tr>
                <a:tr h="396000">
                  <a:tc>
                    <a:txBody>
                      <a:bodyPr/>
                      <a:lstStyle/>
                      <a:p>
                        <a:pPr marL="0" lvl="0" indent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900" dirty="0"/>
                      </a:p>
                    </a:txBody>
                    <a:tcPr marL="91425" marR="91425" marT="91425" marB="91425">
                      <a:lnL w="2857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2857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2857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2857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6D9EEB"/>
                      </a:solidFill>
                    </a:tcPr>
                  </a:tc>
                </a:tr>
                <a:tr h="396000">
                  <a:tc>
                    <a:txBody>
                      <a:bodyPr/>
                      <a:lstStyle/>
                      <a:p>
                        <a:pPr marL="0" lvl="0" indent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900" dirty="0"/>
                      </a:p>
                    </a:txBody>
                    <a:tcPr marL="91425" marR="91425" marT="91425" marB="91425">
                      <a:lnL w="2857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2857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2857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2857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A4C2F4"/>
                      </a:solidFill>
                    </a:tcPr>
                  </a:tc>
                </a:tr>
              </a:tbl>
            </a:graphicData>
          </a:graphic>
        </p:graphicFrame>
        <p:sp>
          <p:nvSpPr>
            <p:cNvPr id="41" name="TextBox 40"/>
            <p:cNvSpPr txBox="1"/>
            <p:nvPr/>
          </p:nvSpPr>
          <p:spPr>
            <a:xfrm>
              <a:off x="10200796" y="6204766"/>
              <a:ext cx="671979" cy="3517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b="1" dirty="0" err="1" smtClean="0">
                  <a:solidFill>
                    <a:schemeClr val="tx1"/>
                  </a:solidFill>
                </a:rPr>
                <a:t>prev</a:t>
              </a:r>
              <a:endParaRPr lang="ru-RU" sz="1800" b="1" dirty="0">
                <a:solidFill>
                  <a:schemeClr val="tx1"/>
                </a:solidFill>
              </a:endParaRP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10200797" y="5397150"/>
              <a:ext cx="659155" cy="3517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b="1" dirty="0" smtClean="0">
                  <a:solidFill>
                    <a:schemeClr val="tx1"/>
                  </a:solidFill>
                </a:rPr>
                <a:t>data</a:t>
              </a:r>
              <a:endParaRPr lang="ru-RU" sz="1800" b="1" dirty="0">
                <a:solidFill>
                  <a:schemeClr val="tx1"/>
                </a:solidFill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10200796" y="5800958"/>
              <a:ext cx="659155" cy="3517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b="1" dirty="0" smtClean="0">
                  <a:solidFill>
                    <a:schemeClr val="tx1"/>
                  </a:solidFill>
                </a:rPr>
                <a:t>next</a:t>
              </a:r>
              <a:endParaRPr lang="ru-RU" sz="18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4" name="Группа 43"/>
          <p:cNvGrpSpPr/>
          <p:nvPr/>
        </p:nvGrpSpPr>
        <p:grpSpPr>
          <a:xfrm>
            <a:off x="6274215" y="428178"/>
            <a:ext cx="824635" cy="1125065"/>
            <a:chOff x="5806662" y="2252524"/>
            <a:chExt cx="693847" cy="1071490"/>
          </a:xfrm>
        </p:grpSpPr>
        <p:cxnSp>
          <p:nvCxnSpPr>
            <p:cNvPr id="45" name="Shape 289"/>
            <p:cNvCxnSpPr/>
            <p:nvPr/>
          </p:nvCxnSpPr>
          <p:spPr>
            <a:xfrm rot="5400000">
              <a:off x="5450262" y="2966114"/>
              <a:ext cx="714300" cy="1500"/>
            </a:xfrm>
            <a:prstGeom prst="straightConnector1">
              <a:avLst/>
            </a:prstGeom>
            <a:noFill/>
            <a:ln w="38100" cap="flat" cmpd="sng">
              <a:solidFill>
                <a:srgbClr val="FF0000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46" name="Shape 290"/>
            <p:cNvSpPr txBox="1"/>
            <p:nvPr/>
          </p:nvSpPr>
          <p:spPr>
            <a:xfrm>
              <a:off x="5809609" y="2252524"/>
              <a:ext cx="6909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 dirty="0" smtClean="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end</a:t>
              </a:r>
              <a:endParaRPr sz="2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7" name="Группа 46"/>
          <p:cNvGrpSpPr/>
          <p:nvPr/>
        </p:nvGrpSpPr>
        <p:grpSpPr>
          <a:xfrm>
            <a:off x="5198822" y="428178"/>
            <a:ext cx="690900" cy="1125065"/>
            <a:chOff x="5199994" y="2252524"/>
            <a:chExt cx="690900" cy="1071490"/>
          </a:xfrm>
        </p:grpSpPr>
        <p:cxnSp>
          <p:nvCxnSpPr>
            <p:cNvPr id="48" name="Shape 289"/>
            <p:cNvCxnSpPr/>
            <p:nvPr/>
          </p:nvCxnSpPr>
          <p:spPr>
            <a:xfrm rot="5400000">
              <a:off x="5450262" y="2966114"/>
              <a:ext cx="714300" cy="1500"/>
            </a:xfrm>
            <a:prstGeom prst="straightConnector1">
              <a:avLst/>
            </a:prstGeom>
            <a:noFill/>
            <a:ln w="38100" cap="flat" cmpd="sng">
              <a:solidFill>
                <a:srgbClr val="FF0000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49" name="Shape 290"/>
            <p:cNvSpPr txBox="1"/>
            <p:nvPr/>
          </p:nvSpPr>
          <p:spPr>
            <a:xfrm>
              <a:off x="5199994" y="2252524"/>
              <a:ext cx="6909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 dirty="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top</a:t>
              </a:r>
              <a:endParaRPr sz="2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repeatCount="3000" fill="remove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50" autoRev="1" fill="remove"/>
                                        <p:tgtEl>
                                          <p:spTgt spid="2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7" dur="250" autoRev="1" fill="remove"/>
                                        <p:tgtEl>
                                          <p:spTgt spid="2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8" dur="250" autoRev="1" fill="remove"/>
                                        <p:tgtEl>
                                          <p:spTgt spid="2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250" autoRev="1" fill="remove"/>
                                        <p:tgtEl>
                                          <p:spTgt spid="2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2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2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2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2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2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2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23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8" dur="2000" fill="hold"/>
                                        <p:tgtEl>
                                          <p:spTgt spid="2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1919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9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8" dur="2000" fill="hold"/>
                                        <p:tgtEl>
                                          <p:spTgt spid="2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1919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9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8" dur="2000" fill="hold"/>
                                        <p:tgtEl>
                                          <p:spTgt spid="2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1919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0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1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1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1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1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0" dur="2000" fill="hold"/>
                                        <p:tgtEl>
                                          <p:spTgt spid="2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1919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1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2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3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3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3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3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0" dur="2000" fill="hold"/>
                                        <p:tgtEl>
                                          <p:spTgt spid="2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1919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2000"/>
                            </p:stCondLst>
                            <p:childTnLst>
                              <p:par>
                                <p:cTn id="150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95833E-6 1.11111E-6 L -0.23711 -0.63588 " pathEditMode="relative" rAng="0" ptsTypes="AA">
                                      <p:cBhvr>
                                        <p:cTn id="151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862" y="-3180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5" dur="2000" fill="hold"/>
                                        <p:tgtEl>
                                          <p:spTgt spid="2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1919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>
                            <p:stCondLst>
                              <p:cond delay="2000"/>
                            </p:stCondLst>
                            <p:childTnLst>
                              <p:par>
                                <p:cTn id="157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6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6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7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7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6" dur="2000" fill="hold"/>
                                        <p:tgtEl>
                                          <p:spTgt spid="2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1919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7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8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8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9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9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7" dur="500"/>
                                        <p:tgtEl>
                                          <p:spTgt spid="2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0" dur="500"/>
                                        <p:tgtEl>
                                          <p:spTgt spid="2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3" dur="500"/>
                                        <p:tgtEl>
                                          <p:spTgt spid="2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6" dur="500"/>
                                        <p:tgtEl>
                                          <p:spTgt spid="2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9" dur="500"/>
                                        <p:tgtEl>
                                          <p:spTgt spid="2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2" dur="500"/>
                                        <p:tgtEl>
                                          <p:spTgt spid="2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5" dur="500"/>
                                        <p:tgtEl>
                                          <p:spTgt spid="23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8" dur="500"/>
                                        <p:tgtEl>
                                          <p:spTgt spid="23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2" dur="2000" fill="hold"/>
                                        <p:tgtEl>
                                          <p:spTgt spid="2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1919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" fill="hold">
                      <p:stCondLst>
                        <p:cond delay="indefinite"/>
                      </p:stCondLst>
                      <p:childTnLst>
                        <p:par>
                          <p:cTn id="236" fill="hold">
                            <p:stCondLst>
                              <p:cond delay="0"/>
                            </p:stCondLst>
                            <p:childTnLst>
                              <p:par>
                                <p:cTn id="237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4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4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4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5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5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53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6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6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6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6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69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7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7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8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8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8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8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8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85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9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9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9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0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01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0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1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1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1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1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17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2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2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2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2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3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3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33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4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4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4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4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4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4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4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49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5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5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6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6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6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6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65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7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7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7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7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81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8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9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9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9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9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9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9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9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7" fill="hold">
                      <p:stCondLst>
                        <p:cond delay="indefinite"/>
                      </p:stCondLst>
                      <p:childTnLst>
                        <p:par>
                          <p:cTn id="398" fill="hold">
                            <p:stCondLst>
                              <p:cond delay="0"/>
                            </p:stCondLst>
                            <p:childTnLst>
                              <p:par>
                                <p:cTn id="399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0" dur="2000" fill="hold"/>
                                        <p:tgtEl>
                                          <p:spTgt spid="2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1919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0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3" dur="5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4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7 -3.7037E-7 L -0.1168 0.08287 " pathEditMode="relative" rAng="0" ptsTypes="AA">
                                      <p:cBhvr>
                                        <p:cTn id="405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846" y="41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6" fill="hold">
                      <p:stCondLst>
                        <p:cond delay="indefinite"/>
                      </p:stCondLst>
                      <p:childTnLst>
                        <p:par>
                          <p:cTn id="407" fill="hold">
                            <p:stCondLst>
                              <p:cond delay="0"/>
                            </p:stCondLst>
                            <p:childTnLst>
                              <p:par>
                                <p:cTn id="408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9" dur="2000" fill="hold"/>
                                        <p:tgtEl>
                                          <p:spTgt spid="2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1919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0" fill="hold">
                      <p:stCondLst>
                        <p:cond delay="indefinite"/>
                      </p:stCondLst>
                      <p:childTnLst>
                        <p:par>
                          <p:cTn id="411" fill="hold">
                            <p:stCondLst>
                              <p:cond delay="0"/>
                            </p:stCondLst>
                            <p:childTnLst>
                              <p:par>
                                <p:cTn id="412" presetID="2" presetClass="entr" presetSubtype="4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6" presetID="42" presetClass="pat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95833E-6 1.11111E-6 L -0.03907 -0.63588 " pathEditMode="relative" rAng="0" ptsTypes="AA">
                                      <p:cBhvr>
                                        <p:cTn id="417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953" y="-3180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8" fill="hold">
                      <p:stCondLst>
                        <p:cond delay="indefinite"/>
                      </p:stCondLst>
                      <p:childTnLst>
                        <p:par>
                          <p:cTn id="419" fill="hold">
                            <p:stCondLst>
                              <p:cond delay="0"/>
                            </p:stCondLst>
                            <p:childTnLst>
                              <p:par>
                                <p:cTn id="420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21" dur="2000" fill="hold"/>
                                        <p:tgtEl>
                                          <p:spTgt spid="2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1919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22" presetID="37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7 -2.96296E-6 L 0.05299 -0.05254 C 0.06406 -0.06435 0.0806 -0.0706 0.09805 -0.0706 C 0.11784 -0.0706 0.13359 -0.06435 0.14466 -0.05254 L 0.19779 -2.96296E-6 " pathEditMode="relative" rAng="0" ptsTypes="AAAAA">
                                      <p:cBhvr>
                                        <p:cTn id="423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883" y="-354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4" fill="hold">
                      <p:stCondLst>
                        <p:cond delay="indefinite"/>
                      </p:stCondLst>
                      <p:childTnLst>
                        <p:par>
                          <p:cTn id="425" fill="hold">
                            <p:stCondLst>
                              <p:cond delay="0"/>
                            </p:stCondLst>
                            <p:childTnLst>
                              <p:par>
                                <p:cTn id="426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27" dur="2000" fill="hold"/>
                                        <p:tgtEl>
                                          <p:spTgt spid="2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1919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2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0" dur="500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1" dur="500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2" fill="hold">
                      <p:stCondLst>
                        <p:cond delay="indefinite"/>
                      </p:stCondLst>
                      <p:childTnLst>
                        <p:par>
                          <p:cTn id="433" fill="hold">
                            <p:stCondLst>
                              <p:cond delay="0"/>
                            </p:stCondLst>
                            <p:childTnLst>
                              <p:par>
                                <p:cTn id="434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35" dur="2000" fill="hold"/>
                                        <p:tgtEl>
                                          <p:spTgt spid="2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1919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3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8" dur="500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9" dur="500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0" fill="hold">
                      <p:stCondLst>
                        <p:cond delay="indefinite"/>
                      </p:stCondLst>
                      <p:childTnLst>
                        <p:par>
                          <p:cTn id="441" fill="hold">
                            <p:stCondLst>
                              <p:cond delay="0"/>
                            </p:stCondLst>
                            <p:childTnLst>
                              <p:par>
                                <p:cTn id="442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3" dur="2000" fill="hold"/>
                                        <p:tgtEl>
                                          <p:spTgt spid="23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1919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44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75E-6 -7.40741E-7 L 0.20533 0.00324 " pathEditMode="relative" rAng="0" ptsTypes="AA">
                                      <p:cBhvr>
                                        <p:cTn id="445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260" y="16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4" grpId="0" uiExpand="1" build="p"/>
      <p:bldP spid="236" grpId="0" build="allAtOnce"/>
      <p:bldP spid="237" grpId="0"/>
      <p:bldP spid="240" grpId="0" animBg="1"/>
      <p:bldP spid="239" grpId="0" animBg="1"/>
      <p:bldP spid="26" grpId="0" animBg="1"/>
      <p:bldP spid="26" grpId="1" animBg="1"/>
      <p:bldP spid="26" grpId="2" animBg="1"/>
      <p:bldP spid="26" grpId="3" animBg="1"/>
      <p:bldP spid="26" grpId="4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Shape 186"/>
          <p:cNvGraphicFramePr/>
          <p:nvPr>
            <p:extLst>
              <p:ext uri="{D42A27DB-BD31-4B8C-83A1-F6EECF244321}">
                <p14:modId xmlns:p14="http://schemas.microsoft.com/office/powerpoint/2010/main" val="3665238332"/>
              </p:ext>
            </p:extLst>
          </p:nvPr>
        </p:nvGraphicFramePr>
        <p:xfrm>
          <a:off x="10375067" y="2609223"/>
          <a:ext cx="1460675" cy="1849602"/>
        </p:xfrm>
        <a:graphic>
          <a:graphicData uri="http://schemas.openxmlformats.org/drawingml/2006/table">
            <a:tbl>
              <a:tblPr>
                <a:noFill/>
                <a:tableStyleId>{A658CFA3-1ECF-4F86-BB5C-CF7618A15973}</a:tableStyleId>
              </a:tblPr>
              <a:tblGrid>
                <a:gridCol w="1460675"/>
              </a:tblGrid>
              <a:tr h="61653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 b="1" dirty="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5996" marB="95996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C78D8"/>
                    </a:solidFill>
                  </a:tcPr>
                </a:tc>
              </a:tr>
              <a:tr h="61653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 b="1" dirty="0"/>
                    </a:p>
                  </a:txBody>
                  <a:tcPr marL="91425" marR="91425" marT="95996" marB="95996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D9EEB"/>
                    </a:solidFill>
                  </a:tcPr>
                </a:tc>
              </a:tr>
              <a:tr h="61653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 dirty="0"/>
                    </a:p>
                  </a:txBody>
                  <a:tcPr marL="91425" marR="91425" marT="95996" marB="95996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" name="Shape 189"/>
          <p:cNvGraphicFramePr/>
          <p:nvPr>
            <p:extLst>
              <p:ext uri="{D42A27DB-BD31-4B8C-83A1-F6EECF244321}">
                <p14:modId xmlns:p14="http://schemas.microsoft.com/office/powerpoint/2010/main" val="2162970787"/>
              </p:ext>
            </p:extLst>
          </p:nvPr>
        </p:nvGraphicFramePr>
        <p:xfrm>
          <a:off x="7982266" y="2631564"/>
          <a:ext cx="1460675" cy="1849602"/>
        </p:xfrm>
        <a:graphic>
          <a:graphicData uri="http://schemas.openxmlformats.org/drawingml/2006/table">
            <a:tbl>
              <a:tblPr>
                <a:noFill/>
                <a:tableStyleId>{A658CFA3-1ECF-4F86-BB5C-CF7618A15973}</a:tableStyleId>
              </a:tblPr>
              <a:tblGrid>
                <a:gridCol w="1460675"/>
              </a:tblGrid>
              <a:tr h="61653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 b="1" dirty="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5996" marB="95996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C78D8"/>
                    </a:solidFill>
                  </a:tcPr>
                </a:tc>
              </a:tr>
              <a:tr h="61653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 dirty="0"/>
                    </a:p>
                  </a:txBody>
                  <a:tcPr marL="91425" marR="91425" marT="95996" marB="95996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D9EEB"/>
                    </a:solidFill>
                  </a:tcPr>
                </a:tc>
              </a:tr>
              <a:tr h="61653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 dirty="0"/>
                    </a:p>
                  </a:txBody>
                  <a:tcPr marL="91425" marR="91425" marT="95996" marB="95996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Shape 190"/>
          <p:cNvGraphicFramePr/>
          <p:nvPr>
            <p:extLst>
              <p:ext uri="{D42A27DB-BD31-4B8C-83A1-F6EECF244321}">
                <p14:modId xmlns:p14="http://schemas.microsoft.com/office/powerpoint/2010/main" val="68073155"/>
              </p:ext>
            </p:extLst>
          </p:nvPr>
        </p:nvGraphicFramePr>
        <p:xfrm>
          <a:off x="5610716" y="2642740"/>
          <a:ext cx="1460675" cy="1849602"/>
        </p:xfrm>
        <a:graphic>
          <a:graphicData uri="http://schemas.openxmlformats.org/drawingml/2006/table">
            <a:tbl>
              <a:tblPr>
                <a:noFill/>
                <a:tableStyleId>{A658CFA3-1ECF-4F86-BB5C-CF7618A15973}</a:tableStyleId>
              </a:tblPr>
              <a:tblGrid>
                <a:gridCol w="1460675"/>
              </a:tblGrid>
              <a:tr h="61653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 b="1" dirty="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5996" marB="95996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C78D8"/>
                    </a:solidFill>
                  </a:tcPr>
                </a:tc>
              </a:tr>
              <a:tr h="61653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 b="1" dirty="0"/>
                    </a:p>
                  </a:txBody>
                  <a:tcPr marL="91425" marR="91425" marT="95996" marB="95996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D9EEB"/>
                    </a:solidFill>
                  </a:tcPr>
                </a:tc>
              </a:tr>
              <a:tr h="61653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 b="1" dirty="0"/>
                    </a:p>
                  </a:txBody>
                  <a:tcPr marL="91425" marR="91425" marT="95996" marB="95996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</a:tr>
            </a:tbl>
          </a:graphicData>
        </a:graphic>
      </p:graphicFrame>
      <p:sp>
        <p:nvSpPr>
          <p:cNvPr id="256" name="Shape 256"/>
          <p:cNvSpPr txBox="1">
            <a:spLocks noGrp="1"/>
          </p:cNvSpPr>
          <p:nvPr>
            <p:ph type="title"/>
          </p:nvPr>
        </p:nvSpPr>
        <p:spPr>
          <a:xfrm>
            <a:off x="838200" y="5"/>
            <a:ext cx="10515600" cy="1008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r>
              <a:rPr lang="en-US" sz="4400" b="1" dirty="0" err="1">
                <a:latin typeface="Arial"/>
                <a:ea typeface="Arial"/>
                <a:cs typeface="Arial"/>
                <a:sym typeface="Arial"/>
              </a:rPr>
              <a:t>Создание</a:t>
            </a:r>
            <a:r>
              <a:rPr lang="en-US" sz="4400" b="1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400" b="1" dirty="0" err="1">
                <a:latin typeface="Arial"/>
                <a:ea typeface="Arial"/>
                <a:cs typeface="Arial"/>
                <a:sym typeface="Arial"/>
              </a:rPr>
              <a:t>списка</a:t>
            </a:r>
            <a:r>
              <a:rPr lang="en-US" sz="4400" b="1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400" b="1" dirty="0" err="1">
                <a:latin typeface="Arial"/>
                <a:ea typeface="Arial"/>
                <a:cs typeface="Arial"/>
                <a:sym typeface="Arial"/>
              </a:rPr>
              <a:t>при</a:t>
            </a:r>
            <a:r>
              <a:rPr lang="en-US" sz="4400" b="1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400" b="1" dirty="0" err="1">
                <a:latin typeface="Arial"/>
                <a:ea typeface="Arial"/>
                <a:cs typeface="Arial"/>
                <a:sym typeface="Arial"/>
              </a:rPr>
              <a:t>помощи</a:t>
            </a:r>
            <a:r>
              <a:rPr lang="en-US" sz="4400" b="1" dirty="0">
                <a:latin typeface="Arial"/>
                <a:ea typeface="Arial"/>
                <a:cs typeface="Arial"/>
                <a:sym typeface="Arial"/>
              </a:rPr>
              <a:t> push</a:t>
            </a:r>
            <a:endParaRPr sz="4400" b="1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Shape 257"/>
          <p:cNvSpPr txBox="1">
            <a:spLocks noGrp="1"/>
          </p:cNvSpPr>
          <p:nvPr>
            <p:ph idx="1"/>
          </p:nvPr>
        </p:nvSpPr>
        <p:spPr>
          <a:xfrm>
            <a:off x="264600" y="1473439"/>
            <a:ext cx="6245382" cy="603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r>
              <a:rPr lang="en-US" sz="20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void </a:t>
            </a:r>
            <a:r>
              <a:rPr lang="en-US" sz="2000" b="0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create_list_push</a:t>
            </a:r>
            <a:r>
              <a:rPr lang="en-US" sz="20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(node* &amp;</a:t>
            </a:r>
            <a:r>
              <a:rPr lang="en-US" sz="2000" b="0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top,node</a:t>
            </a:r>
            <a:r>
              <a:rPr lang="en-US" sz="20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* &amp;</a:t>
            </a:r>
            <a:r>
              <a:rPr lang="en-US" sz="2000" b="0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end,int</a:t>
            </a:r>
            <a:r>
              <a:rPr lang="en-US" sz="20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n)</a:t>
            </a:r>
            <a:endParaRPr sz="20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r>
              <a:rPr lang="en-US" sz="20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sz="20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r>
              <a:rPr lang="en-US" sz="20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lang="en-US" sz="2000" b="0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lang="en-US" sz="20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i,data</a:t>
            </a:r>
            <a:r>
              <a:rPr lang="en-US" sz="20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sz="20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r>
              <a:rPr lang="en-US" sz="20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top = NULL;</a:t>
            </a:r>
            <a:endParaRPr sz="20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r>
              <a:rPr lang="en-US" sz="20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end= top;</a:t>
            </a:r>
            <a:endParaRPr sz="20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r>
              <a:rPr lang="en-US" sz="20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for (</a:t>
            </a:r>
            <a:r>
              <a:rPr lang="en-US" sz="2000" b="0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20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=0;i&lt;</a:t>
            </a:r>
            <a:r>
              <a:rPr lang="en-US" sz="2000" b="0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n;i</a:t>
            </a:r>
            <a:r>
              <a:rPr lang="en-US" sz="20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++)</a:t>
            </a:r>
            <a:endParaRPr sz="20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r>
              <a:rPr lang="en-US" sz="20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lang="en-US" sz="2000" b="0" i="0" u="none" strike="noStrike" cap="none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{   </a:t>
            </a:r>
            <a:r>
              <a:rPr lang="en-US" sz="2000" b="0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cout</a:t>
            </a:r>
            <a:r>
              <a:rPr lang="en-US" sz="20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&lt;&lt;" enter data=";</a:t>
            </a:r>
            <a:endParaRPr sz="20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r>
              <a:rPr lang="en-US" sz="20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    </a:t>
            </a:r>
            <a:r>
              <a:rPr lang="en-US" sz="2000" b="0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cin</a:t>
            </a:r>
            <a:r>
              <a:rPr lang="en-US" sz="20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&gt;&gt;data;</a:t>
            </a:r>
            <a:endParaRPr sz="20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r>
              <a:rPr lang="en-US" sz="20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	    push(</a:t>
            </a:r>
            <a:r>
              <a:rPr lang="en-US" sz="2000" b="0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top,end,data</a:t>
            </a:r>
            <a:r>
              <a:rPr lang="en-US" sz="20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);</a:t>
            </a:r>
            <a:endParaRPr sz="20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r>
              <a:rPr lang="en-US" sz="20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}	</a:t>
            </a:r>
            <a:endParaRPr sz="20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r>
              <a:rPr lang="en-US" sz="20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sz="20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endParaRPr sz="20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Shape 214"/>
          <p:cNvSpPr txBox="1"/>
          <p:nvPr/>
        </p:nvSpPr>
        <p:spPr>
          <a:xfrm>
            <a:off x="8007928" y="4790023"/>
            <a:ext cx="3150176" cy="420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US" sz="3600" b="1" dirty="0">
                <a:solidFill>
                  <a:schemeClr val="lt1"/>
                </a:solidFill>
                <a:latin typeface="+mn-lt"/>
              </a:rPr>
              <a:t>enter </a:t>
            </a:r>
            <a:r>
              <a:rPr lang="en-US" sz="3600" b="1" dirty="0" smtClean="0">
                <a:solidFill>
                  <a:schemeClr val="lt1"/>
                </a:solidFill>
                <a:latin typeface="+mn-lt"/>
                <a:ea typeface="Calibri"/>
                <a:cs typeface="Calibri"/>
                <a:sym typeface="Calibri"/>
              </a:rPr>
              <a:t>data =</a:t>
            </a:r>
            <a:endParaRPr sz="3600" b="1" dirty="0">
              <a:solidFill>
                <a:schemeClr val="lt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grpSp>
        <p:nvGrpSpPr>
          <p:cNvPr id="5" name="Группа 4"/>
          <p:cNvGrpSpPr/>
          <p:nvPr/>
        </p:nvGrpSpPr>
        <p:grpSpPr>
          <a:xfrm>
            <a:off x="9906642" y="711618"/>
            <a:ext cx="692403" cy="1099865"/>
            <a:chOff x="7947984" y="1051299"/>
            <a:chExt cx="692403" cy="1047490"/>
          </a:xfrm>
        </p:grpSpPr>
        <p:cxnSp>
          <p:nvCxnSpPr>
            <p:cNvPr id="6" name="Shape 250"/>
            <p:cNvCxnSpPr/>
            <p:nvPr/>
          </p:nvCxnSpPr>
          <p:spPr>
            <a:xfrm rot="5400000">
              <a:off x="8282487" y="1740889"/>
              <a:ext cx="714300" cy="1500"/>
            </a:xfrm>
            <a:prstGeom prst="straightConnector1">
              <a:avLst/>
            </a:prstGeom>
            <a:noFill/>
            <a:ln w="38100" cap="flat" cmpd="sng">
              <a:solidFill>
                <a:srgbClr val="FF0000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7" name="Shape 251"/>
            <p:cNvSpPr txBox="1"/>
            <p:nvPr/>
          </p:nvSpPr>
          <p:spPr>
            <a:xfrm>
              <a:off x="7947984" y="1051299"/>
              <a:ext cx="6909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 dirty="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top</a:t>
              </a:r>
              <a:endParaRPr sz="2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" name="Группа 7"/>
          <p:cNvGrpSpPr/>
          <p:nvPr/>
        </p:nvGrpSpPr>
        <p:grpSpPr>
          <a:xfrm>
            <a:off x="10909119" y="670279"/>
            <a:ext cx="889366" cy="1141206"/>
            <a:chOff x="9019769" y="1375260"/>
            <a:chExt cx="889366" cy="1086863"/>
          </a:xfrm>
        </p:grpSpPr>
        <p:cxnSp>
          <p:nvCxnSpPr>
            <p:cNvPr id="9" name="Shape 195"/>
            <p:cNvCxnSpPr/>
            <p:nvPr/>
          </p:nvCxnSpPr>
          <p:spPr>
            <a:xfrm rot="5400000">
              <a:off x="8699407" y="2104223"/>
              <a:ext cx="714300" cy="1500"/>
            </a:xfrm>
            <a:prstGeom prst="straightConnector1">
              <a:avLst/>
            </a:prstGeom>
            <a:noFill/>
            <a:ln w="38100" cap="flat" cmpd="sng">
              <a:solidFill>
                <a:srgbClr val="FF0000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10" name="Shape 196"/>
            <p:cNvSpPr txBox="1"/>
            <p:nvPr/>
          </p:nvSpPr>
          <p:spPr>
            <a:xfrm>
              <a:off x="9019769" y="1375260"/>
              <a:ext cx="889366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 dirty="0" smtClean="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end</a:t>
              </a:r>
              <a:endParaRPr sz="2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" name="Shape 198"/>
          <p:cNvSpPr txBox="1"/>
          <p:nvPr/>
        </p:nvSpPr>
        <p:spPr>
          <a:xfrm>
            <a:off x="10665426" y="4901364"/>
            <a:ext cx="367000" cy="508089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28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Shape 199"/>
          <p:cNvSpPr txBox="1"/>
          <p:nvPr/>
        </p:nvSpPr>
        <p:spPr>
          <a:xfrm>
            <a:off x="10654994" y="4929392"/>
            <a:ext cx="367000" cy="508089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8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Shape 200"/>
          <p:cNvSpPr txBox="1"/>
          <p:nvPr/>
        </p:nvSpPr>
        <p:spPr>
          <a:xfrm>
            <a:off x="10660210" y="4901364"/>
            <a:ext cx="367000" cy="508089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28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" name="Shape 187"/>
          <p:cNvCxnSpPr/>
          <p:nvPr/>
        </p:nvCxnSpPr>
        <p:spPr>
          <a:xfrm flipH="1">
            <a:off x="7051225" y="4216905"/>
            <a:ext cx="895500" cy="819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9" name="Shape 188"/>
          <p:cNvCxnSpPr/>
          <p:nvPr/>
        </p:nvCxnSpPr>
        <p:spPr>
          <a:xfrm rot="10800000" flipH="1">
            <a:off x="7073900" y="3588231"/>
            <a:ext cx="891000" cy="378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2" name="Shape 191"/>
          <p:cNvCxnSpPr/>
          <p:nvPr/>
        </p:nvCxnSpPr>
        <p:spPr>
          <a:xfrm flipH="1">
            <a:off x="9460325" y="4211905"/>
            <a:ext cx="895500" cy="819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3" name="Shape 192"/>
          <p:cNvCxnSpPr/>
          <p:nvPr/>
        </p:nvCxnSpPr>
        <p:spPr>
          <a:xfrm rot="10800000" flipH="1">
            <a:off x="9483000" y="3583231"/>
            <a:ext cx="891000" cy="378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4" name="TextBox 23"/>
          <p:cNvSpPr txBox="1"/>
          <p:nvPr/>
        </p:nvSpPr>
        <p:spPr>
          <a:xfrm>
            <a:off x="5776728" y="3969532"/>
            <a:ext cx="1297172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NULL</a:t>
            </a:r>
            <a:endParaRPr lang="ru-RU" sz="2400" b="1" dirty="0"/>
          </a:p>
        </p:txBody>
      </p:sp>
      <p:sp>
        <p:nvSpPr>
          <p:cNvPr id="25" name="TextBox 24"/>
          <p:cNvSpPr txBox="1"/>
          <p:nvPr/>
        </p:nvSpPr>
        <p:spPr>
          <a:xfrm>
            <a:off x="10640805" y="3340856"/>
            <a:ext cx="1297172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NULL</a:t>
            </a:r>
            <a:endParaRPr lang="ru-RU" sz="2400" b="1" dirty="0"/>
          </a:p>
        </p:txBody>
      </p:sp>
      <p:grpSp>
        <p:nvGrpSpPr>
          <p:cNvPr id="26" name="Группа 25"/>
          <p:cNvGrpSpPr>
            <a:grpSpLocks/>
          </p:cNvGrpSpPr>
          <p:nvPr/>
        </p:nvGrpSpPr>
        <p:grpSpPr>
          <a:xfrm>
            <a:off x="9795437" y="5644544"/>
            <a:ext cx="1077338" cy="1239795"/>
            <a:chOff x="9795437" y="5375754"/>
            <a:chExt cx="1077338" cy="1180757"/>
          </a:xfrm>
        </p:grpSpPr>
        <p:graphicFrame>
          <p:nvGraphicFramePr>
            <p:cNvPr id="27" name="Shape 163"/>
            <p:cNvGraphicFramePr/>
            <p:nvPr>
              <p:extLst>
                <p:ext uri="{D42A27DB-BD31-4B8C-83A1-F6EECF244321}">
                  <p14:modId xmlns:p14="http://schemas.microsoft.com/office/powerpoint/2010/main" val="2600700057"/>
                </p:ext>
              </p:extLst>
            </p:nvPr>
          </p:nvGraphicFramePr>
          <p:xfrm>
            <a:off x="9795437" y="5375754"/>
            <a:ext cx="432000" cy="1131428"/>
          </p:xfrm>
          <a:graphic>
            <a:graphicData uri="http://schemas.openxmlformats.org/drawingml/2006/table">
              <a:tbl>
                <a:tblPr>
                  <a:noFill/>
                  <a:tableStyleId>{A658CFA3-1ECF-4F86-BB5C-CF7618A15973}</a:tableStyleId>
                </a:tblPr>
                <a:tblGrid>
                  <a:gridCol w="432000"/>
                </a:tblGrid>
                <a:tr h="396000">
                  <a:tc>
                    <a:txBody>
                      <a:bodyPr/>
                      <a:lstStyle/>
                      <a:p>
                        <a:pPr marL="0" lvl="0" indent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900" b="1" dirty="0">
                          <a:solidFill>
                            <a:schemeClr val="lt1"/>
                          </a:solidFill>
                        </a:endParaRPr>
                      </a:p>
                    </a:txBody>
                    <a:tcPr marL="91425" marR="91425" marT="91425" marB="91425">
                      <a:lnL w="2857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2857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2857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2857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3C78D8"/>
                      </a:solidFill>
                    </a:tcPr>
                  </a:tc>
                </a:tr>
                <a:tr h="396000">
                  <a:tc>
                    <a:txBody>
                      <a:bodyPr/>
                      <a:lstStyle/>
                      <a:p>
                        <a:pPr marL="0" lvl="0" indent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900" dirty="0"/>
                      </a:p>
                    </a:txBody>
                    <a:tcPr marL="91425" marR="91425" marT="91425" marB="91425">
                      <a:lnL w="2857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2857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2857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2857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6D9EEB"/>
                      </a:solidFill>
                    </a:tcPr>
                  </a:tc>
                </a:tr>
                <a:tr h="396000">
                  <a:tc>
                    <a:txBody>
                      <a:bodyPr/>
                      <a:lstStyle/>
                      <a:p>
                        <a:pPr marL="0" lvl="0" indent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900" dirty="0"/>
                      </a:p>
                    </a:txBody>
                    <a:tcPr marL="91425" marR="91425" marT="91425" marB="91425">
                      <a:lnL w="2857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2857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2857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2857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A4C2F4"/>
                      </a:solidFill>
                    </a:tcPr>
                  </a:tc>
                </a:tr>
              </a:tbl>
            </a:graphicData>
          </a:graphic>
        </p:graphicFrame>
        <p:sp>
          <p:nvSpPr>
            <p:cNvPr id="28" name="TextBox 27"/>
            <p:cNvSpPr txBox="1"/>
            <p:nvPr/>
          </p:nvSpPr>
          <p:spPr>
            <a:xfrm>
              <a:off x="10200796" y="6204766"/>
              <a:ext cx="671979" cy="3517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b="1" dirty="0" err="1" smtClean="0">
                  <a:solidFill>
                    <a:schemeClr val="tx1"/>
                  </a:solidFill>
                </a:rPr>
                <a:t>prev</a:t>
              </a:r>
              <a:endParaRPr lang="ru-RU" sz="1800" b="1" dirty="0">
                <a:solidFill>
                  <a:schemeClr val="tx1"/>
                </a:solidFill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10200797" y="5397150"/>
              <a:ext cx="659155" cy="3517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b="1" dirty="0" smtClean="0">
                  <a:solidFill>
                    <a:schemeClr val="tx1"/>
                  </a:solidFill>
                </a:rPr>
                <a:t>data</a:t>
              </a:r>
              <a:endParaRPr lang="ru-RU" sz="1800" b="1" dirty="0">
                <a:solidFill>
                  <a:schemeClr val="tx1"/>
                </a:solidFill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10200796" y="5800958"/>
              <a:ext cx="659155" cy="3517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b="1" dirty="0" smtClean="0">
                  <a:solidFill>
                    <a:schemeClr val="tx1"/>
                  </a:solidFill>
                </a:rPr>
                <a:t>next</a:t>
              </a:r>
              <a:endParaRPr lang="ru-RU" sz="18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1" name="Группа 30"/>
          <p:cNvGrpSpPr/>
          <p:nvPr/>
        </p:nvGrpSpPr>
        <p:grpSpPr>
          <a:xfrm>
            <a:off x="8286786" y="555536"/>
            <a:ext cx="824635" cy="1125065"/>
            <a:chOff x="5806662" y="2252524"/>
            <a:chExt cx="693847" cy="1071490"/>
          </a:xfrm>
        </p:grpSpPr>
        <p:cxnSp>
          <p:nvCxnSpPr>
            <p:cNvPr id="32" name="Shape 289"/>
            <p:cNvCxnSpPr/>
            <p:nvPr/>
          </p:nvCxnSpPr>
          <p:spPr>
            <a:xfrm rot="5400000">
              <a:off x="5450262" y="2966114"/>
              <a:ext cx="714300" cy="1500"/>
            </a:xfrm>
            <a:prstGeom prst="straightConnector1">
              <a:avLst/>
            </a:prstGeom>
            <a:noFill/>
            <a:ln w="38100" cap="flat" cmpd="sng">
              <a:solidFill>
                <a:srgbClr val="FF0000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33" name="Shape 290"/>
            <p:cNvSpPr txBox="1"/>
            <p:nvPr/>
          </p:nvSpPr>
          <p:spPr>
            <a:xfrm>
              <a:off x="5809609" y="2252524"/>
              <a:ext cx="6909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 dirty="0" smtClean="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end</a:t>
              </a:r>
              <a:endParaRPr sz="2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" name="Группа 33"/>
          <p:cNvGrpSpPr/>
          <p:nvPr/>
        </p:nvGrpSpPr>
        <p:grpSpPr>
          <a:xfrm>
            <a:off x="7211391" y="555536"/>
            <a:ext cx="690900" cy="1125065"/>
            <a:chOff x="5199994" y="2252524"/>
            <a:chExt cx="690900" cy="1071490"/>
          </a:xfrm>
        </p:grpSpPr>
        <p:cxnSp>
          <p:nvCxnSpPr>
            <p:cNvPr id="35" name="Shape 289"/>
            <p:cNvCxnSpPr/>
            <p:nvPr/>
          </p:nvCxnSpPr>
          <p:spPr>
            <a:xfrm rot="5400000">
              <a:off x="5450262" y="2966114"/>
              <a:ext cx="714300" cy="1500"/>
            </a:xfrm>
            <a:prstGeom prst="straightConnector1">
              <a:avLst/>
            </a:prstGeom>
            <a:noFill/>
            <a:ln w="38100" cap="flat" cmpd="sng">
              <a:solidFill>
                <a:srgbClr val="FF0000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36" name="Shape 290"/>
            <p:cNvSpPr txBox="1"/>
            <p:nvPr/>
          </p:nvSpPr>
          <p:spPr>
            <a:xfrm>
              <a:off x="5199994" y="2252524"/>
              <a:ext cx="6909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 dirty="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top</a:t>
              </a:r>
              <a:endParaRPr sz="2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repeatCount="3000" fill="remove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50" autoRev="1" fill="remove"/>
                                        <p:tgtEl>
                                          <p:spTgt spid="2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7" dur="250" autoRev="1" fill="remove"/>
                                        <p:tgtEl>
                                          <p:spTgt spid="2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8" dur="250" autoRev="1" fill="remove"/>
                                        <p:tgtEl>
                                          <p:spTgt spid="2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250" autoRev="1" fill="remove"/>
                                        <p:tgtEl>
                                          <p:spTgt spid="2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2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2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25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5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25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25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25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25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25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1" dur="2000" fill="hold"/>
                                        <p:tgtEl>
                                          <p:spTgt spid="2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4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1" dur="2000" fill="hold"/>
                                        <p:tgtEl>
                                          <p:spTgt spid="25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4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1" dur="2000" fill="hold"/>
                                        <p:tgtEl>
                                          <p:spTgt spid="25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4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2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3" dur="2000" fill="hold"/>
                                        <p:tgtEl>
                                          <p:spTgt spid="25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4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4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9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3" dur="2000" fill="hold"/>
                                        <p:tgtEl>
                                          <p:spTgt spid="25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4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4" presetID="2" presetClass="entr" presetSubtype="4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1" dur="2000" fill="hold"/>
                                        <p:tgtEl>
                                          <p:spTgt spid="25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4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17" presetID="49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875E-6 2.22222E-6 L -0.3707 -0.30764 " pathEditMode="relative" rAng="0" ptsTypes="AA">
                                      <p:cBhvr>
                                        <p:cTn id="118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8359" y="-150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2" dur="2000" fill="hold"/>
                                        <p:tgtEl>
                                          <p:spTgt spid="25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92D05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3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4" dur="2000" fill="hold"/>
                                        <p:tgtEl>
                                          <p:spTgt spid="25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92D05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5" presetID="34" presetClass="emph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2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2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2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2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3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4" dur="2000" fill="hold"/>
                                        <p:tgtEl>
                                          <p:spTgt spid="25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92D05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2" dur="2000" fill="hold"/>
                                        <p:tgtEl>
                                          <p:spTgt spid="25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92D05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>
                            <p:stCondLst>
                              <p:cond delay="2000"/>
                            </p:stCondLst>
                            <p:childTnLst>
                              <p:par>
                                <p:cTn id="156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91667E-6 0.00208 L -0.17682 -0.30972 " pathEditMode="relative" rAng="0" ptsTypes="AA">
                                      <p:cBhvr>
                                        <p:cTn id="157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841" y="-1560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1" dur="2000" fill="hold"/>
                                        <p:tgtEl>
                                          <p:spTgt spid="25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C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2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3" dur="2000" fill="hold"/>
                                        <p:tgtEl>
                                          <p:spTgt spid="25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C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4" presetID="34" presetClass="emph" presetSubtype="0" fill="hold" grpId="2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65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6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67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68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69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3" dur="2000" fill="hold"/>
                                        <p:tgtEl>
                                          <p:spTgt spid="25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C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1" dur="2000" fill="hold"/>
                                        <p:tgtEl>
                                          <p:spTgt spid="25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C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9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351 0.00625 L 0.02227 -0.31366 " pathEditMode="relative" rAng="0" ptsTypes="AA">
                                      <p:cBhvr>
                                        <p:cTn id="200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89" y="-15995"/>
                                    </p:animMotion>
                                  </p:childTnLst>
                                </p:cTn>
                              </p:par>
                              <p:par>
                                <p:cTn id="201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2" dur="2000" fill="hold"/>
                                        <p:tgtEl>
                                          <p:spTgt spid="25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4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58333E-6 -1.48148E-6 L -0.30404 0.11366 " pathEditMode="relative" rAng="0" ptsTypes="AA">
                                      <p:cBhvr>
                                        <p:cTn id="20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208" y="5671"/>
                                    </p:animMotion>
                                  </p:childTnLst>
                                </p:cTn>
                              </p:par>
                              <p:par>
                                <p:cTn id="20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2.22222E-6 L -0.03646 0.10162 " pathEditMode="relative" rAng="0" ptsTypes="AA">
                                      <p:cBhvr>
                                        <p:cTn id="208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823" y="50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7" grpId="0" build="p"/>
      <p:bldP spid="4" grpId="0"/>
      <p:bldP spid="4" grpId="1"/>
      <p:bldP spid="4" grpId="2"/>
      <p:bldP spid="14" grpId="1" animBg="1"/>
      <p:bldP spid="14" grpId="2" animBg="1"/>
      <p:bldP spid="15" grpId="0" animBg="1"/>
      <p:bldP spid="15" grpId="1" animBg="1"/>
      <p:bldP spid="16" grpId="0" animBg="1"/>
      <p:bldP spid="16" grpId="1" animBg="1"/>
      <p:bldP spid="24" grpId="0"/>
      <p:bldP spid="2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Shape 278"/>
          <p:cNvSpPr txBox="1">
            <a:spLocks noGrp="1"/>
          </p:cNvSpPr>
          <p:nvPr>
            <p:ph type="title"/>
          </p:nvPr>
        </p:nvSpPr>
        <p:spPr>
          <a:xfrm>
            <a:off x="301175" y="92050"/>
            <a:ext cx="10515600" cy="758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r>
              <a:rPr lang="en-US" sz="4800" b="1">
                <a:latin typeface="Arial"/>
                <a:ea typeface="Arial"/>
                <a:cs typeface="Arial"/>
                <a:sym typeface="Arial"/>
              </a:rPr>
              <a:t>Показать список</a:t>
            </a:r>
            <a:endParaRPr sz="4800"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Shape 277"/>
          <p:cNvSpPr txBox="1">
            <a:spLocks noGrp="1"/>
          </p:cNvSpPr>
          <p:nvPr>
            <p:ph idx="1"/>
          </p:nvPr>
        </p:nvSpPr>
        <p:spPr>
          <a:xfrm>
            <a:off x="475350" y="1201463"/>
            <a:ext cx="4197120" cy="5410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r>
              <a:rPr lang="en-US" sz="2400" b="0" i="0" u="none" strike="noStrike" cap="none" dirty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void </a:t>
            </a:r>
            <a:r>
              <a:rPr lang="en-US" sz="2400" b="0" i="0" u="none" strike="noStrike" cap="none" dirty="0" err="1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show_list</a:t>
            </a:r>
            <a:r>
              <a:rPr lang="en-US" sz="2400" b="0" i="0" u="none" strike="noStrike" cap="none" dirty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(node* top)</a:t>
            </a:r>
            <a:endParaRPr sz="2400" b="0" i="0" u="none" strike="noStrike" cap="none" dirty="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r>
              <a:rPr lang="en-US" sz="2400" b="0" i="0" u="none" strike="noStrike" cap="none" dirty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	{ </a:t>
            </a:r>
            <a:endParaRPr sz="2400" b="0" i="0" u="none" strike="noStrike" cap="none" dirty="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r>
              <a:rPr lang="en-US" sz="2400" b="0" i="0" u="none" strike="noStrike" cap="none" dirty="0" smtClean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   node</a:t>
            </a:r>
            <a:r>
              <a:rPr lang="en-US" sz="2400" b="0" i="0" u="none" strike="noStrike" cap="none" dirty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* p;</a:t>
            </a:r>
            <a:endParaRPr sz="2400" b="0" i="0" u="none" strike="noStrike" cap="none" dirty="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r>
              <a:rPr lang="en-US" sz="2400" b="0" i="0" u="none" strike="noStrike" cap="none" dirty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   </a:t>
            </a:r>
            <a:r>
              <a:rPr lang="en-US" sz="2400" b="0" i="0" u="none" strike="noStrike" cap="none" dirty="0" smtClean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p=top</a:t>
            </a:r>
            <a:r>
              <a:rPr lang="en-US" sz="2400" b="0" i="0" u="none" strike="noStrike" cap="none" dirty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;</a:t>
            </a:r>
            <a:endParaRPr sz="2400" b="0" i="0" u="none" strike="noStrike" cap="none" dirty="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r>
              <a:rPr lang="en-US" sz="2400" b="0" i="0" u="none" strike="noStrike" cap="none" dirty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	   while (p)</a:t>
            </a:r>
            <a:endParaRPr sz="2400" b="0" i="0" u="none" strike="noStrike" cap="none" dirty="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r>
              <a:rPr lang="en-US" sz="2400" b="0" i="0" u="none" strike="noStrike" cap="none" dirty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	   {</a:t>
            </a:r>
            <a:endParaRPr sz="2400" b="0" i="0" u="none" strike="noStrike" cap="none" dirty="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r>
              <a:rPr lang="en-US" sz="2400" b="0" i="0" u="none" strike="noStrike" cap="none" dirty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	      </a:t>
            </a:r>
            <a:r>
              <a:rPr lang="en-US" sz="2400" b="0" i="0" u="none" strike="noStrike" cap="none" dirty="0" err="1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cout</a:t>
            </a:r>
            <a:r>
              <a:rPr lang="en-US" sz="2400" b="0" i="0" u="none" strike="noStrike" cap="none" dirty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&lt;&lt;p-&gt;data&lt;&lt;' ';</a:t>
            </a:r>
            <a:endParaRPr sz="2400" b="0" i="0" u="none" strike="noStrike" cap="none" dirty="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r>
              <a:rPr lang="en-US" sz="2400" b="0" i="0" u="none" strike="noStrike" cap="none" dirty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	      p=p-&gt;next;</a:t>
            </a:r>
            <a:endParaRPr sz="2400" b="0" i="0" u="none" strike="noStrike" cap="none" dirty="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r>
              <a:rPr lang="en-US" sz="2400" b="0" i="0" u="none" strike="noStrike" cap="none" dirty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	   }</a:t>
            </a:r>
            <a:endParaRPr sz="2400" b="0" i="0" u="none" strike="noStrike" cap="none" dirty="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r>
              <a:rPr lang="en-US" sz="2400" b="0" i="0" u="none" strike="noStrike" cap="none" dirty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	       </a:t>
            </a:r>
            <a:r>
              <a:rPr lang="en-US" sz="2400" b="0" i="0" u="none" strike="noStrike" cap="none" dirty="0" err="1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cout</a:t>
            </a:r>
            <a:r>
              <a:rPr lang="en-US" sz="2400" b="0" i="0" u="none" strike="noStrike" cap="none" dirty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&lt;&lt;</a:t>
            </a:r>
            <a:r>
              <a:rPr lang="en-US" sz="2400" b="0" i="0" u="none" strike="noStrike" cap="none" dirty="0" err="1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endl</a:t>
            </a:r>
            <a:r>
              <a:rPr lang="en-US" sz="2400" b="0" i="0" u="none" strike="noStrike" cap="none" dirty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;</a:t>
            </a:r>
            <a:endParaRPr sz="2400" b="0" i="0" u="none" strike="noStrike" cap="none" dirty="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r>
              <a:rPr lang="en-US" sz="2400" b="0" i="0" u="none" strike="noStrike" cap="none" dirty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	} </a:t>
            </a:r>
            <a:endParaRPr sz="2400" b="0" i="0" u="none" strike="noStrike" cap="none" dirty="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endParaRPr sz="2400" b="0" i="0" u="none" strike="noStrike" cap="none" dirty="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aphicFrame>
        <p:nvGraphicFramePr>
          <p:cNvPr id="280" name="Shape 280"/>
          <p:cNvGraphicFramePr/>
          <p:nvPr>
            <p:extLst>
              <p:ext uri="{D42A27DB-BD31-4B8C-83A1-F6EECF244321}">
                <p14:modId xmlns:p14="http://schemas.microsoft.com/office/powerpoint/2010/main" val="1279372558"/>
              </p:ext>
            </p:extLst>
          </p:nvPr>
        </p:nvGraphicFramePr>
        <p:xfrm>
          <a:off x="5499691" y="4252026"/>
          <a:ext cx="1460675" cy="1849602"/>
        </p:xfrm>
        <a:graphic>
          <a:graphicData uri="http://schemas.openxmlformats.org/drawingml/2006/table">
            <a:tbl>
              <a:tblPr>
                <a:noFill/>
                <a:tableStyleId>{A658CFA3-1ECF-4F86-BB5C-CF7618A15973}</a:tableStyleId>
              </a:tblPr>
              <a:tblGrid>
                <a:gridCol w="1460675"/>
              </a:tblGrid>
              <a:tr h="61653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 b="1" dirty="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5996" marB="95996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C78D8"/>
                    </a:solidFill>
                  </a:tcPr>
                </a:tc>
              </a:tr>
              <a:tr h="61653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/>
                    </a:p>
                  </a:txBody>
                  <a:tcPr marL="91425" marR="91425" marT="95996" marB="95996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D9EEB"/>
                    </a:solidFill>
                  </a:tcPr>
                </a:tc>
              </a:tr>
              <a:tr h="61653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 dirty="0"/>
                    </a:p>
                  </a:txBody>
                  <a:tcPr marL="91425" marR="91425" marT="95996" marB="95996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</a:tr>
            </a:tbl>
          </a:graphicData>
        </a:graphic>
      </p:graphicFrame>
      <p:cxnSp>
        <p:nvCxnSpPr>
          <p:cNvPr id="281" name="Shape 281"/>
          <p:cNvCxnSpPr/>
          <p:nvPr/>
        </p:nvCxnSpPr>
        <p:spPr>
          <a:xfrm flipH="1">
            <a:off x="6960500" y="5837379"/>
            <a:ext cx="895500" cy="819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82" name="Shape 282"/>
          <p:cNvCxnSpPr/>
          <p:nvPr/>
        </p:nvCxnSpPr>
        <p:spPr>
          <a:xfrm rot="10800000" flipH="1">
            <a:off x="6983175" y="5208706"/>
            <a:ext cx="891000" cy="378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stealth" w="med" len="med"/>
          </a:ln>
        </p:spPr>
      </p:cxnSp>
      <p:graphicFrame>
        <p:nvGraphicFramePr>
          <p:cNvPr id="283" name="Shape 283"/>
          <p:cNvGraphicFramePr/>
          <p:nvPr>
            <p:extLst>
              <p:ext uri="{D42A27DB-BD31-4B8C-83A1-F6EECF244321}">
                <p14:modId xmlns:p14="http://schemas.microsoft.com/office/powerpoint/2010/main" val="2150699033"/>
              </p:ext>
            </p:extLst>
          </p:nvPr>
        </p:nvGraphicFramePr>
        <p:xfrm>
          <a:off x="7891541" y="4252039"/>
          <a:ext cx="1460675" cy="1849602"/>
        </p:xfrm>
        <a:graphic>
          <a:graphicData uri="http://schemas.openxmlformats.org/drawingml/2006/table">
            <a:tbl>
              <a:tblPr>
                <a:noFill/>
                <a:tableStyleId>{A658CFA3-1ECF-4F86-BB5C-CF7618A15973}</a:tableStyleId>
              </a:tblPr>
              <a:tblGrid>
                <a:gridCol w="1460675"/>
              </a:tblGrid>
              <a:tr h="61653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 b="1" dirty="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5996" marB="95996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C78D8"/>
                    </a:solidFill>
                  </a:tcPr>
                </a:tc>
              </a:tr>
              <a:tr h="61653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/>
                    </a:p>
                  </a:txBody>
                  <a:tcPr marL="91425" marR="91425" marT="95996" marB="95996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D9EEB"/>
                    </a:solidFill>
                  </a:tcPr>
                </a:tc>
              </a:tr>
              <a:tr h="61653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/>
                    </a:p>
                  </a:txBody>
                  <a:tcPr marL="91425" marR="91425" marT="95996" marB="95996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84" name="Shape 284"/>
          <p:cNvGraphicFramePr/>
          <p:nvPr>
            <p:extLst>
              <p:ext uri="{D42A27DB-BD31-4B8C-83A1-F6EECF244321}">
                <p14:modId xmlns:p14="http://schemas.microsoft.com/office/powerpoint/2010/main" val="783086645"/>
              </p:ext>
            </p:extLst>
          </p:nvPr>
        </p:nvGraphicFramePr>
        <p:xfrm>
          <a:off x="10283378" y="4252052"/>
          <a:ext cx="1460675" cy="1849602"/>
        </p:xfrm>
        <a:graphic>
          <a:graphicData uri="http://schemas.openxmlformats.org/drawingml/2006/table">
            <a:tbl>
              <a:tblPr>
                <a:noFill/>
                <a:tableStyleId>{A658CFA3-1ECF-4F86-BB5C-CF7618A15973}</a:tableStyleId>
              </a:tblPr>
              <a:tblGrid>
                <a:gridCol w="1460675"/>
              </a:tblGrid>
              <a:tr h="61653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 b="1" dirty="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5996" marB="95996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C78D8"/>
                    </a:solidFill>
                  </a:tcPr>
                </a:tc>
              </a:tr>
              <a:tr h="61653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 dirty="0"/>
                    </a:p>
                  </a:txBody>
                  <a:tcPr marL="91425" marR="91425" marT="95996" marB="95996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D9EEB"/>
                    </a:solidFill>
                  </a:tcPr>
                </a:tc>
              </a:tr>
              <a:tr h="61653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/>
                    </a:p>
                  </a:txBody>
                  <a:tcPr marL="91425" marR="91425" marT="95996" marB="95996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</a:tr>
            </a:tbl>
          </a:graphicData>
        </a:graphic>
      </p:graphicFrame>
      <p:cxnSp>
        <p:nvCxnSpPr>
          <p:cNvPr id="285" name="Shape 285"/>
          <p:cNvCxnSpPr/>
          <p:nvPr/>
        </p:nvCxnSpPr>
        <p:spPr>
          <a:xfrm flipH="1">
            <a:off x="9369600" y="5832379"/>
            <a:ext cx="895500" cy="819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86" name="Shape 286"/>
          <p:cNvCxnSpPr/>
          <p:nvPr/>
        </p:nvCxnSpPr>
        <p:spPr>
          <a:xfrm rot="10800000" flipH="1">
            <a:off x="9392275" y="5203706"/>
            <a:ext cx="891000" cy="378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stealth" w="med" len="med"/>
          </a:ln>
        </p:spPr>
      </p:cxnSp>
      <p:grpSp>
        <p:nvGrpSpPr>
          <p:cNvPr id="3" name="Группа 2"/>
          <p:cNvGrpSpPr/>
          <p:nvPr/>
        </p:nvGrpSpPr>
        <p:grpSpPr>
          <a:xfrm>
            <a:off x="11010407" y="288353"/>
            <a:ext cx="375300" cy="1125066"/>
            <a:chOff x="4859438" y="2252536"/>
            <a:chExt cx="375300" cy="1071491"/>
          </a:xfrm>
        </p:grpSpPr>
        <p:cxnSp>
          <p:nvCxnSpPr>
            <p:cNvPr id="287" name="Shape 287"/>
            <p:cNvCxnSpPr/>
            <p:nvPr/>
          </p:nvCxnSpPr>
          <p:spPr>
            <a:xfrm rot="5400000">
              <a:off x="4574564" y="2966127"/>
              <a:ext cx="714300" cy="1500"/>
            </a:xfrm>
            <a:prstGeom prst="straightConnector1">
              <a:avLst/>
            </a:prstGeom>
            <a:noFill/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288" name="Shape 288"/>
            <p:cNvSpPr txBox="1"/>
            <p:nvPr/>
          </p:nvSpPr>
          <p:spPr>
            <a:xfrm>
              <a:off x="4859438" y="2252536"/>
              <a:ext cx="3753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</a:t>
              </a:r>
              <a:endParaRPr sz="28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" name="Группа 3"/>
          <p:cNvGrpSpPr/>
          <p:nvPr/>
        </p:nvGrpSpPr>
        <p:grpSpPr>
          <a:xfrm>
            <a:off x="5540481" y="3068037"/>
            <a:ext cx="690900" cy="1125065"/>
            <a:chOff x="5449384" y="2252524"/>
            <a:chExt cx="690900" cy="1071490"/>
          </a:xfrm>
        </p:grpSpPr>
        <p:cxnSp>
          <p:nvCxnSpPr>
            <p:cNvPr id="289" name="Shape 289"/>
            <p:cNvCxnSpPr/>
            <p:nvPr/>
          </p:nvCxnSpPr>
          <p:spPr>
            <a:xfrm rot="5400000">
              <a:off x="5450262" y="2966114"/>
              <a:ext cx="714300" cy="1500"/>
            </a:xfrm>
            <a:prstGeom prst="straightConnector1">
              <a:avLst/>
            </a:prstGeom>
            <a:noFill/>
            <a:ln w="38100" cap="flat" cmpd="sng">
              <a:solidFill>
                <a:srgbClr val="FF0000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290" name="Shape 290"/>
            <p:cNvSpPr txBox="1"/>
            <p:nvPr/>
          </p:nvSpPr>
          <p:spPr>
            <a:xfrm>
              <a:off x="5449384" y="2252524"/>
              <a:ext cx="6909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 dirty="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top</a:t>
              </a:r>
              <a:endParaRPr sz="2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" name="Группа 5"/>
          <p:cNvGrpSpPr/>
          <p:nvPr/>
        </p:nvGrpSpPr>
        <p:grpSpPr>
          <a:xfrm>
            <a:off x="6659233" y="1021920"/>
            <a:ext cx="3376867" cy="1880835"/>
            <a:chOff x="6659231" y="973256"/>
            <a:chExt cx="3376867" cy="1791271"/>
          </a:xfrm>
        </p:grpSpPr>
        <p:pic>
          <p:nvPicPr>
            <p:cNvPr id="16" name="Picture 3"/>
            <p:cNvPicPr>
              <a:picLocks noChangeAspect="1" noChangeArrowheads="1"/>
            </p:cNvPicPr>
            <p:nvPr/>
          </p:nvPicPr>
          <p:blipFill>
            <a:blip r:embed="rId3"/>
            <a:srcRect l="15312" t="8841" r="63862" b="70529"/>
            <a:stretch>
              <a:fillRect/>
            </a:stretch>
          </p:blipFill>
          <p:spPr bwMode="auto">
            <a:xfrm>
              <a:off x="6659231" y="973256"/>
              <a:ext cx="3375569" cy="17912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5" name="Прямоугольник 4"/>
            <p:cNvSpPr/>
            <p:nvPr/>
          </p:nvSpPr>
          <p:spPr>
            <a:xfrm>
              <a:off x="6960363" y="1048215"/>
              <a:ext cx="3075735" cy="18957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22" name="Shape 215"/>
          <p:cNvSpPr txBox="1"/>
          <p:nvPr/>
        </p:nvSpPr>
        <p:spPr>
          <a:xfrm>
            <a:off x="6037606" y="4355995"/>
            <a:ext cx="360040" cy="445631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28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Shape 216"/>
          <p:cNvSpPr txBox="1"/>
          <p:nvPr/>
        </p:nvSpPr>
        <p:spPr>
          <a:xfrm>
            <a:off x="10838017" y="4390095"/>
            <a:ext cx="360040" cy="445631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28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Shape 216"/>
          <p:cNvSpPr txBox="1"/>
          <p:nvPr/>
        </p:nvSpPr>
        <p:spPr>
          <a:xfrm>
            <a:off x="8449067" y="4367221"/>
            <a:ext cx="360040" cy="445631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8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" name="Рисунок 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2680" y="5527053"/>
            <a:ext cx="1396105" cy="678544"/>
          </a:xfrm>
          <a:prstGeom prst="rect">
            <a:avLst/>
          </a:prstGeom>
        </p:spPr>
      </p:pic>
      <p:pic>
        <p:nvPicPr>
          <p:cNvPr id="26" name="Рисунок 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0718" y="4947806"/>
            <a:ext cx="1396105" cy="678544"/>
          </a:xfrm>
          <a:prstGeom prst="rect">
            <a:avLst/>
          </a:prstGeom>
        </p:spPr>
      </p:pic>
      <p:sp>
        <p:nvSpPr>
          <p:cNvPr id="2" name="Прямоугольник 1"/>
          <p:cNvSpPr/>
          <p:nvPr/>
        </p:nvSpPr>
        <p:spPr>
          <a:xfrm>
            <a:off x="7462701" y="2004710"/>
            <a:ext cx="610126" cy="82135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Прямоугольник 27"/>
          <p:cNvSpPr/>
          <p:nvPr/>
        </p:nvSpPr>
        <p:spPr>
          <a:xfrm>
            <a:off x="8316812" y="2029794"/>
            <a:ext cx="610126" cy="82135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27" name="Группа 26"/>
          <p:cNvGrpSpPr>
            <a:grpSpLocks/>
          </p:cNvGrpSpPr>
          <p:nvPr/>
        </p:nvGrpSpPr>
        <p:grpSpPr>
          <a:xfrm>
            <a:off x="3891428" y="5832381"/>
            <a:ext cx="1077338" cy="1239795"/>
            <a:chOff x="9795437" y="5375754"/>
            <a:chExt cx="1077338" cy="1180757"/>
          </a:xfrm>
        </p:grpSpPr>
        <p:graphicFrame>
          <p:nvGraphicFramePr>
            <p:cNvPr id="29" name="Shape 163"/>
            <p:cNvGraphicFramePr/>
            <p:nvPr>
              <p:extLst>
                <p:ext uri="{D42A27DB-BD31-4B8C-83A1-F6EECF244321}">
                  <p14:modId xmlns:p14="http://schemas.microsoft.com/office/powerpoint/2010/main" val="2600700057"/>
                </p:ext>
              </p:extLst>
            </p:nvPr>
          </p:nvGraphicFramePr>
          <p:xfrm>
            <a:off x="9795437" y="5375754"/>
            <a:ext cx="432000" cy="1131428"/>
          </p:xfrm>
          <a:graphic>
            <a:graphicData uri="http://schemas.openxmlformats.org/drawingml/2006/table">
              <a:tbl>
                <a:tblPr>
                  <a:noFill/>
                  <a:tableStyleId>{A658CFA3-1ECF-4F86-BB5C-CF7618A15973}</a:tableStyleId>
                </a:tblPr>
                <a:tblGrid>
                  <a:gridCol w="432000"/>
                </a:tblGrid>
                <a:tr h="396000">
                  <a:tc>
                    <a:txBody>
                      <a:bodyPr/>
                      <a:lstStyle/>
                      <a:p>
                        <a:pPr marL="0" lvl="0" indent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900" b="1" dirty="0">
                          <a:solidFill>
                            <a:schemeClr val="lt1"/>
                          </a:solidFill>
                        </a:endParaRPr>
                      </a:p>
                    </a:txBody>
                    <a:tcPr marL="91425" marR="91425" marT="91425" marB="91425">
                      <a:lnL w="2857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2857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2857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2857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3C78D8"/>
                      </a:solidFill>
                    </a:tcPr>
                  </a:tc>
                </a:tr>
                <a:tr h="396000">
                  <a:tc>
                    <a:txBody>
                      <a:bodyPr/>
                      <a:lstStyle/>
                      <a:p>
                        <a:pPr marL="0" lvl="0" indent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900" dirty="0"/>
                      </a:p>
                    </a:txBody>
                    <a:tcPr marL="91425" marR="91425" marT="91425" marB="91425">
                      <a:lnL w="2857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2857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2857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2857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6D9EEB"/>
                      </a:solidFill>
                    </a:tcPr>
                  </a:tc>
                </a:tr>
                <a:tr h="396000">
                  <a:tc>
                    <a:txBody>
                      <a:bodyPr/>
                      <a:lstStyle/>
                      <a:p>
                        <a:pPr marL="0" lvl="0" indent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900" dirty="0"/>
                      </a:p>
                    </a:txBody>
                    <a:tcPr marL="91425" marR="91425" marT="91425" marB="91425">
                      <a:lnL w="2857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2857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2857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2857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A4C2F4"/>
                      </a:solidFill>
                    </a:tcPr>
                  </a:tc>
                </a:tr>
              </a:tbl>
            </a:graphicData>
          </a:graphic>
        </p:graphicFrame>
        <p:sp>
          <p:nvSpPr>
            <p:cNvPr id="30" name="TextBox 29"/>
            <p:cNvSpPr txBox="1"/>
            <p:nvPr/>
          </p:nvSpPr>
          <p:spPr>
            <a:xfrm>
              <a:off x="10200796" y="6204766"/>
              <a:ext cx="671979" cy="3517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b="1" dirty="0" err="1" smtClean="0">
                  <a:solidFill>
                    <a:schemeClr val="tx1"/>
                  </a:solidFill>
                </a:rPr>
                <a:t>prev</a:t>
              </a:r>
              <a:endParaRPr lang="ru-RU" sz="1800" b="1" dirty="0">
                <a:solidFill>
                  <a:schemeClr val="tx1"/>
                </a:solidFill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10200797" y="5397150"/>
              <a:ext cx="659155" cy="3517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b="1" dirty="0" smtClean="0">
                  <a:solidFill>
                    <a:schemeClr val="tx1"/>
                  </a:solidFill>
                </a:rPr>
                <a:t>data</a:t>
              </a:r>
              <a:endParaRPr lang="ru-RU" sz="1800" b="1" dirty="0">
                <a:solidFill>
                  <a:schemeClr val="tx1"/>
                </a:solidFill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0200796" y="5800958"/>
              <a:ext cx="659155" cy="3517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b="1" dirty="0" smtClean="0">
                  <a:solidFill>
                    <a:schemeClr val="tx1"/>
                  </a:solidFill>
                </a:rPr>
                <a:t>next</a:t>
              </a:r>
              <a:endParaRPr lang="ru-RU" sz="1800" b="1" dirty="0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repeatCount="3000" fill="remove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50" autoRev="1" fill="remove"/>
                                        <p:tgtEl>
                                          <p:spTgt spid="2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7" dur="250" autoRev="1" fill="remove"/>
                                        <p:tgtEl>
                                          <p:spTgt spid="2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8" dur="250" autoRev="1" fill="remove"/>
                                        <p:tgtEl>
                                          <p:spTgt spid="2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250" autoRev="1" fill="remove"/>
                                        <p:tgtEl>
                                          <p:spTgt spid="2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2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2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2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27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7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27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27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27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27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27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27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79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95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0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0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0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0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1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11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1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2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2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2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2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27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3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3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4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4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43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5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5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5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5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5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59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6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6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7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7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7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7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8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8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9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91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0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0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07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1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1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2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2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23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39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4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4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5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5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5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" fill="hold">
                      <p:stCondLst>
                        <p:cond delay="indefinite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8" dur="2000" fill="hold"/>
                                        <p:tgtEl>
                                          <p:spTgt spid="2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C1C2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5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3" fill="hold">
                      <p:stCondLst>
                        <p:cond delay="indefinite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6" dur="2000" fill="hold"/>
                                        <p:tgtEl>
                                          <p:spTgt spid="27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C1C2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6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4.44444E-6 L -0.37227 0.38564 " pathEditMode="relative" rAng="0" ptsTypes="AA">
                                      <p:cBhvr>
                                        <p:cTn id="268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8620" y="1928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9" fill="hold">
                      <p:stCondLst>
                        <p:cond delay="indefinite"/>
                      </p:stCondLst>
                      <p:childTnLst>
                        <p:par>
                          <p:cTn id="270" fill="hold">
                            <p:stCondLst>
                              <p:cond delay="0"/>
                            </p:stCondLst>
                            <p:childTnLst>
                              <p:par>
                                <p:cTn id="271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2" dur="2000" fill="hold"/>
                                        <p:tgtEl>
                                          <p:spTgt spid="27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C1C2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73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4" dur="2000" fill="hold"/>
                                        <p:tgtEl>
                                          <p:spTgt spid="27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C1C2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5" fill="hold">
                            <p:stCondLst>
                              <p:cond delay="2000"/>
                            </p:stCondLst>
                            <p:childTnLst>
                              <p:par>
                                <p:cTn id="276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77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8" fill="hold">
                      <p:stCondLst>
                        <p:cond delay="indefinite"/>
                      </p:stCondLst>
                      <p:childTnLst>
                        <p:par>
                          <p:cTn id="279" fill="hold">
                            <p:stCondLst>
                              <p:cond delay="0"/>
                            </p:stCondLst>
                            <p:childTnLst>
                              <p:par>
                                <p:cTn id="280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1" dur="2000" fill="hold"/>
                                        <p:tgtEl>
                                          <p:spTgt spid="27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C1C2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82" presetID="34" presetClass="emph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283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284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285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286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287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8" fill="hold">
                            <p:stCondLst>
                              <p:cond delay="2000"/>
                            </p:stCondLst>
                            <p:childTnLst>
                              <p:par>
                                <p:cTn id="289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9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0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0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0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0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0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0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21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2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3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3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3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3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7" fill="hold">
                      <p:stCondLst>
                        <p:cond delay="indefinite"/>
                      </p:stCondLst>
                      <p:childTnLst>
                        <p:par>
                          <p:cTn id="338" fill="hold">
                            <p:stCondLst>
                              <p:cond delay="0"/>
                            </p:stCondLst>
                            <p:childTnLst>
                              <p:par>
                                <p:cTn id="339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0" dur="2000" fill="hold"/>
                                        <p:tgtEl>
                                          <p:spTgt spid="27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C1C2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41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2" dur="2000" fill="hold"/>
                                        <p:tgtEl>
                                          <p:spTgt spid="27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C1C2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43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37227 0.38564 L -0.23633 0.38564 " pathEditMode="relative" rAng="0" ptsTypes="AA">
                                      <p:cBhvr>
                                        <p:cTn id="344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79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5" fill="hold">
                      <p:stCondLst>
                        <p:cond delay="indefinite"/>
                      </p:stCondLst>
                      <p:childTnLst>
                        <p:par>
                          <p:cTn id="346" fill="hold">
                            <p:stCondLst>
                              <p:cond delay="0"/>
                            </p:stCondLst>
                            <p:childTnLst>
                              <p:par>
                                <p:cTn id="347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8" dur="2000" fill="hold"/>
                                        <p:tgtEl>
                                          <p:spTgt spid="27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53DC3C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49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50" dur="2000" fill="hold"/>
                                        <p:tgtEl>
                                          <p:spTgt spid="27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53DC3C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51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352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3" fill="hold">
                      <p:stCondLst>
                        <p:cond delay="indefinite"/>
                      </p:stCondLst>
                      <p:childTnLst>
                        <p:par>
                          <p:cTn id="354" fill="hold">
                            <p:stCondLst>
                              <p:cond delay="0"/>
                            </p:stCondLst>
                            <p:childTnLst>
                              <p:par>
                                <p:cTn id="35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56" dur="2000" fill="hold"/>
                                        <p:tgtEl>
                                          <p:spTgt spid="27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53DC3C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57" presetID="34" presetClass="emph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358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359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360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361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362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6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5" fill="hold">
                      <p:stCondLst>
                        <p:cond delay="indefinite"/>
                      </p:stCondLst>
                      <p:childTnLst>
                        <p:par>
                          <p:cTn id="366" fill="hold">
                            <p:stCondLst>
                              <p:cond delay="0"/>
                            </p:stCondLst>
                            <p:childTnLst>
                              <p:par>
                                <p:cTn id="367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68" dur="2000" fill="hold"/>
                                        <p:tgtEl>
                                          <p:spTgt spid="27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53DC3C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69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0" dur="2000" fill="hold"/>
                                        <p:tgtEl>
                                          <p:spTgt spid="27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53DC3C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71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707 0.38171 L -0.02956 0.38171 " pathEditMode="relative" rAng="0" ptsTypes="AA">
                                      <p:cBhvr>
                                        <p:cTn id="372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05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3" fill="hold">
                      <p:stCondLst>
                        <p:cond delay="indefinite"/>
                      </p:stCondLst>
                      <p:childTnLst>
                        <p:par>
                          <p:cTn id="374" fill="hold">
                            <p:stCondLst>
                              <p:cond delay="0"/>
                            </p:stCondLst>
                            <p:childTnLst>
                              <p:par>
                                <p:cTn id="37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6" dur="2000" fill="hold"/>
                                        <p:tgtEl>
                                          <p:spTgt spid="27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0F523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77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8" dur="2000" fill="hold"/>
                                        <p:tgtEl>
                                          <p:spTgt spid="27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0F523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79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380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1" fill="hold">
                      <p:stCondLst>
                        <p:cond delay="indefinite"/>
                      </p:stCondLst>
                      <p:childTnLst>
                        <p:par>
                          <p:cTn id="382" fill="hold">
                            <p:stCondLst>
                              <p:cond delay="0"/>
                            </p:stCondLst>
                            <p:childTnLst>
                              <p:par>
                                <p:cTn id="383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84" dur="2000" fill="hold"/>
                                        <p:tgtEl>
                                          <p:spTgt spid="27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0F523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85" presetID="34" presetClass="emph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38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38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38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38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39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9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3" fill="hold">
                      <p:stCondLst>
                        <p:cond delay="indefinite"/>
                      </p:stCondLst>
                      <p:childTnLst>
                        <p:par>
                          <p:cTn id="394" fill="hold">
                            <p:stCondLst>
                              <p:cond delay="0"/>
                            </p:stCondLst>
                            <p:childTnLst>
                              <p:par>
                                <p:cTn id="39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6" dur="2000" fill="hold"/>
                                        <p:tgtEl>
                                          <p:spTgt spid="27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0F523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97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8" dur="2000" fill="hold"/>
                                        <p:tgtEl>
                                          <p:spTgt spid="27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0F523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99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507 0.38425 L 5E-6 4.44444E-6 " pathEditMode="relative" rAng="0" ptsTypes="AA">
                                      <p:cBhvr>
                                        <p:cTn id="400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7" y="-1921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1" fill="hold">
                      <p:stCondLst>
                        <p:cond delay="indefinite"/>
                      </p:stCondLst>
                      <p:childTnLst>
                        <p:par>
                          <p:cTn id="402" fill="hold">
                            <p:stCondLst>
                              <p:cond delay="0"/>
                            </p:stCondLst>
                            <p:childTnLst>
                              <p:par>
                                <p:cTn id="403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4" dur="2000" fill="hold"/>
                                        <p:tgtEl>
                                          <p:spTgt spid="27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0F523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05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6" dur="2000" fill="hold"/>
                                        <p:tgtEl>
                                          <p:spTgt spid="27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0F523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7" grpId="0" uiExpand="1" build="p"/>
      <p:bldP spid="22" grpId="0" animBg="1"/>
      <p:bldP spid="22" grpId="1" animBg="1"/>
      <p:bldP spid="23" grpId="0" animBg="1"/>
      <p:bldP spid="23" grpId="1" animBg="1"/>
      <p:bldP spid="24" grpId="0" animBg="1"/>
      <p:bldP spid="24" grpId="1" animBg="1"/>
      <p:bldP spid="2" grpId="0" animBg="1"/>
      <p:bldP spid="2" grpId="1" animBg="1"/>
      <p:bldP spid="28" grpId="0" animBg="1"/>
      <p:bldP spid="28" grpId="1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Shape 296"/>
          <p:cNvSpPr txBox="1">
            <a:spLocks noGrp="1"/>
          </p:cNvSpPr>
          <p:nvPr>
            <p:ph type="title"/>
          </p:nvPr>
        </p:nvSpPr>
        <p:spPr>
          <a:xfrm>
            <a:off x="224275" y="220815"/>
            <a:ext cx="11079000" cy="98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r>
              <a:rPr lang="en-US" sz="3800" b="1" dirty="0" err="1">
                <a:latin typeface="Arial"/>
                <a:ea typeface="Arial"/>
                <a:cs typeface="Arial"/>
                <a:sym typeface="Arial"/>
              </a:rPr>
              <a:t>Нахождение</a:t>
            </a:r>
            <a:r>
              <a:rPr lang="en-US" sz="3800" b="1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800" b="1" dirty="0" err="1">
                <a:latin typeface="Arial"/>
                <a:ea typeface="Arial"/>
                <a:cs typeface="Arial"/>
                <a:sym typeface="Arial"/>
              </a:rPr>
              <a:t>адреса</a:t>
            </a:r>
            <a:r>
              <a:rPr lang="en-US" sz="3800" b="1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800" b="1" dirty="0" err="1" smtClean="0">
                <a:latin typeface="Arial"/>
                <a:ea typeface="Arial"/>
                <a:cs typeface="Arial"/>
                <a:sym typeface="Arial"/>
              </a:rPr>
              <a:t>элемента</a:t>
            </a:r>
            <a:endParaRPr sz="3800" b="1" dirty="0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</a:pPr>
            <a:endParaRPr sz="3800" b="1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Shape 295"/>
          <p:cNvSpPr txBox="1">
            <a:spLocks noGrp="1"/>
          </p:cNvSpPr>
          <p:nvPr>
            <p:ph idx="1"/>
          </p:nvPr>
        </p:nvSpPr>
        <p:spPr>
          <a:xfrm>
            <a:off x="224278" y="1574917"/>
            <a:ext cx="4340113" cy="4074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r>
              <a:rPr lang="en-US" sz="20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node* </a:t>
            </a:r>
            <a:r>
              <a:rPr lang="en-US" sz="2000" b="0" i="0" u="none" strike="noStrike" cap="none" dirty="0" err="1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find_address</a:t>
            </a:r>
            <a:r>
              <a:rPr lang="ru-RU" sz="2000" b="0" i="0" u="none" strike="noStrike" cap="none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20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node* top, </a:t>
            </a:r>
            <a:r>
              <a:rPr lang="en-US" sz="2000" b="0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lang="en-US" sz="20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x)</a:t>
            </a:r>
            <a:endParaRPr sz="20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r>
              <a:rPr lang="en-US" sz="20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{</a:t>
            </a:r>
            <a:endParaRPr sz="20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r>
              <a:rPr lang="en-US" sz="20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   node*p=top;</a:t>
            </a:r>
            <a:endParaRPr sz="20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r>
              <a:rPr lang="en-US" sz="20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   while</a:t>
            </a:r>
            <a:r>
              <a:rPr lang="en-US" sz="2000" b="0" i="0" u="none" strike="noStrike" cap="none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 p </a:t>
            </a:r>
            <a:r>
              <a:rPr lang="en-US" sz="20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&amp;&amp; p-&gt;data!=x)</a:t>
            </a:r>
            <a:endParaRPr sz="20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r>
              <a:rPr lang="en-US" sz="20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	   p=p-&gt;next;</a:t>
            </a:r>
            <a:endParaRPr sz="20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r>
              <a:rPr lang="en-US" sz="20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   return p;</a:t>
            </a:r>
            <a:endParaRPr sz="20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r>
              <a:rPr lang="en-US" sz="20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}</a:t>
            </a:r>
            <a:endParaRPr sz="20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endParaRPr sz="20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97" name="Shape 297"/>
          <p:cNvGraphicFramePr/>
          <p:nvPr>
            <p:extLst>
              <p:ext uri="{D42A27DB-BD31-4B8C-83A1-F6EECF244321}">
                <p14:modId xmlns:p14="http://schemas.microsoft.com/office/powerpoint/2010/main" val="2862381423"/>
              </p:ext>
            </p:extLst>
          </p:nvPr>
        </p:nvGraphicFramePr>
        <p:xfrm>
          <a:off x="5370690" y="2744135"/>
          <a:ext cx="1460675" cy="1849602"/>
        </p:xfrm>
        <a:graphic>
          <a:graphicData uri="http://schemas.openxmlformats.org/drawingml/2006/table">
            <a:tbl>
              <a:tblPr>
                <a:noFill/>
                <a:tableStyleId>{A658CFA3-1ECF-4F86-BB5C-CF7618A15973}</a:tableStyleId>
              </a:tblPr>
              <a:tblGrid>
                <a:gridCol w="1460675"/>
              </a:tblGrid>
              <a:tr h="61653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 b="1" dirty="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5996" marB="95996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C78D8"/>
                    </a:solidFill>
                  </a:tcPr>
                </a:tc>
              </a:tr>
              <a:tr h="61653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/>
                    </a:p>
                  </a:txBody>
                  <a:tcPr marL="91425" marR="91425" marT="95996" marB="95996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D9EEB"/>
                    </a:solidFill>
                  </a:tcPr>
                </a:tc>
              </a:tr>
              <a:tr h="61653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 dirty="0"/>
                    </a:p>
                  </a:txBody>
                  <a:tcPr marL="91425" marR="91425" marT="95996" marB="95996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</a:tr>
            </a:tbl>
          </a:graphicData>
        </a:graphic>
      </p:graphicFrame>
      <p:cxnSp>
        <p:nvCxnSpPr>
          <p:cNvPr id="298" name="Shape 298"/>
          <p:cNvCxnSpPr/>
          <p:nvPr/>
        </p:nvCxnSpPr>
        <p:spPr>
          <a:xfrm flipH="1">
            <a:off x="6831499" y="4329488"/>
            <a:ext cx="895500" cy="819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99" name="Shape 299"/>
          <p:cNvCxnSpPr/>
          <p:nvPr/>
        </p:nvCxnSpPr>
        <p:spPr>
          <a:xfrm rot="10800000" flipH="1">
            <a:off x="6854174" y="3700815"/>
            <a:ext cx="891000" cy="378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stealth" w="med" len="med"/>
          </a:ln>
        </p:spPr>
      </p:cxnSp>
      <p:graphicFrame>
        <p:nvGraphicFramePr>
          <p:cNvPr id="300" name="Shape 300"/>
          <p:cNvGraphicFramePr/>
          <p:nvPr>
            <p:extLst>
              <p:ext uri="{D42A27DB-BD31-4B8C-83A1-F6EECF244321}">
                <p14:modId xmlns:p14="http://schemas.microsoft.com/office/powerpoint/2010/main" val="2812315485"/>
              </p:ext>
            </p:extLst>
          </p:nvPr>
        </p:nvGraphicFramePr>
        <p:xfrm>
          <a:off x="7762540" y="2744146"/>
          <a:ext cx="1460675" cy="1849602"/>
        </p:xfrm>
        <a:graphic>
          <a:graphicData uri="http://schemas.openxmlformats.org/drawingml/2006/table">
            <a:tbl>
              <a:tblPr>
                <a:noFill/>
                <a:tableStyleId>{A658CFA3-1ECF-4F86-BB5C-CF7618A15973}</a:tableStyleId>
              </a:tblPr>
              <a:tblGrid>
                <a:gridCol w="1460675"/>
              </a:tblGrid>
              <a:tr h="61653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5996" marB="95996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C78D8"/>
                    </a:solidFill>
                  </a:tcPr>
                </a:tc>
              </a:tr>
              <a:tr h="61653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/>
                    </a:p>
                  </a:txBody>
                  <a:tcPr marL="91425" marR="91425" marT="95996" marB="95996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D9EEB"/>
                    </a:solidFill>
                  </a:tcPr>
                </a:tc>
              </a:tr>
              <a:tr h="61653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/>
                    </a:p>
                  </a:txBody>
                  <a:tcPr marL="91425" marR="91425" marT="95996" marB="95996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01" name="Shape 301"/>
          <p:cNvGraphicFramePr/>
          <p:nvPr>
            <p:extLst>
              <p:ext uri="{D42A27DB-BD31-4B8C-83A1-F6EECF244321}">
                <p14:modId xmlns:p14="http://schemas.microsoft.com/office/powerpoint/2010/main" val="1394113854"/>
              </p:ext>
            </p:extLst>
          </p:nvPr>
        </p:nvGraphicFramePr>
        <p:xfrm>
          <a:off x="10154377" y="2744161"/>
          <a:ext cx="1460675" cy="1849602"/>
        </p:xfrm>
        <a:graphic>
          <a:graphicData uri="http://schemas.openxmlformats.org/drawingml/2006/table">
            <a:tbl>
              <a:tblPr>
                <a:noFill/>
                <a:tableStyleId>{A658CFA3-1ECF-4F86-BB5C-CF7618A15973}</a:tableStyleId>
              </a:tblPr>
              <a:tblGrid>
                <a:gridCol w="1460675"/>
              </a:tblGrid>
              <a:tr h="61653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 b="1" dirty="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5996" marB="95996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C78D8"/>
                    </a:solidFill>
                  </a:tcPr>
                </a:tc>
              </a:tr>
              <a:tr h="61653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 dirty="0"/>
                    </a:p>
                  </a:txBody>
                  <a:tcPr marL="91425" marR="91425" marT="95996" marB="95996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D9EEB"/>
                    </a:solidFill>
                  </a:tcPr>
                </a:tc>
              </a:tr>
              <a:tr h="61653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/>
                    </a:p>
                  </a:txBody>
                  <a:tcPr marL="91425" marR="91425" marT="95996" marB="95996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</a:tr>
            </a:tbl>
          </a:graphicData>
        </a:graphic>
      </p:graphicFrame>
      <p:cxnSp>
        <p:nvCxnSpPr>
          <p:cNvPr id="302" name="Shape 302"/>
          <p:cNvCxnSpPr/>
          <p:nvPr/>
        </p:nvCxnSpPr>
        <p:spPr>
          <a:xfrm flipH="1">
            <a:off x="9240599" y="4324488"/>
            <a:ext cx="895500" cy="819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303" name="Shape 303"/>
          <p:cNvCxnSpPr/>
          <p:nvPr/>
        </p:nvCxnSpPr>
        <p:spPr>
          <a:xfrm rot="10800000" flipH="1">
            <a:off x="9263274" y="3695813"/>
            <a:ext cx="891000" cy="378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stealth" w="med" len="med"/>
          </a:ln>
        </p:spPr>
      </p:cxnSp>
      <p:grpSp>
        <p:nvGrpSpPr>
          <p:cNvPr id="12" name="Группа 11"/>
          <p:cNvGrpSpPr/>
          <p:nvPr/>
        </p:nvGrpSpPr>
        <p:grpSpPr>
          <a:xfrm>
            <a:off x="11501018" y="75033"/>
            <a:ext cx="375300" cy="1192061"/>
            <a:chOff x="5645064" y="987493"/>
            <a:chExt cx="375300" cy="1135296"/>
          </a:xfrm>
        </p:grpSpPr>
        <p:cxnSp>
          <p:nvCxnSpPr>
            <p:cNvPr id="13" name="Shape 248"/>
            <p:cNvCxnSpPr/>
            <p:nvPr/>
          </p:nvCxnSpPr>
          <p:spPr>
            <a:xfrm rot="5400000">
              <a:off x="5288664" y="1764889"/>
              <a:ext cx="714300" cy="1500"/>
            </a:xfrm>
            <a:prstGeom prst="straightConnector1">
              <a:avLst/>
            </a:prstGeom>
            <a:noFill/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14" name="Shape 249"/>
            <p:cNvSpPr txBox="1"/>
            <p:nvPr/>
          </p:nvSpPr>
          <p:spPr>
            <a:xfrm>
              <a:off x="5645064" y="987493"/>
              <a:ext cx="3753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</a:t>
              </a:r>
              <a:endParaRPr sz="28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" name="Группа 14"/>
          <p:cNvGrpSpPr/>
          <p:nvPr/>
        </p:nvGrpSpPr>
        <p:grpSpPr>
          <a:xfrm>
            <a:off x="4853636" y="1621943"/>
            <a:ext cx="692403" cy="1099865"/>
            <a:chOff x="7947984" y="1051299"/>
            <a:chExt cx="692403" cy="1047490"/>
          </a:xfrm>
        </p:grpSpPr>
        <p:cxnSp>
          <p:nvCxnSpPr>
            <p:cNvPr id="16" name="Shape 250"/>
            <p:cNvCxnSpPr/>
            <p:nvPr/>
          </p:nvCxnSpPr>
          <p:spPr>
            <a:xfrm rot="5400000">
              <a:off x="8282487" y="1740889"/>
              <a:ext cx="714300" cy="1500"/>
            </a:xfrm>
            <a:prstGeom prst="straightConnector1">
              <a:avLst/>
            </a:prstGeom>
            <a:noFill/>
            <a:ln w="38100" cap="flat" cmpd="sng">
              <a:solidFill>
                <a:srgbClr val="FF0000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17" name="Shape 251"/>
            <p:cNvSpPr txBox="1"/>
            <p:nvPr/>
          </p:nvSpPr>
          <p:spPr>
            <a:xfrm>
              <a:off x="7947984" y="1051299"/>
              <a:ext cx="6909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 dirty="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top</a:t>
              </a:r>
              <a:endParaRPr sz="2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4" name="Рисунок 3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4536" y="4065766"/>
            <a:ext cx="1396105" cy="678544"/>
          </a:xfrm>
          <a:prstGeom prst="rect">
            <a:avLst/>
          </a:prstGeom>
        </p:spPr>
      </p:pic>
      <p:pic>
        <p:nvPicPr>
          <p:cNvPr id="35" name="Рисунок 3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2574" y="3486519"/>
            <a:ext cx="1396105" cy="678544"/>
          </a:xfrm>
          <a:prstGeom prst="rect">
            <a:avLst/>
          </a:prstGeom>
        </p:spPr>
      </p:pic>
      <p:sp>
        <p:nvSpPr>
          <p:cNvPr id="36" name="Shape 215"/>
          <p:cNvSpPr txBox="1"/>
          <p:nvPr/>
        </p:nvSpPr>
        <p:spPr>
          <a:xfrm>
            <a:off x="5901884" y="2829731"/>
            <a:ext cx="360040" cy="445631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28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Shape 216"/>
          <p:cNvSpPr txBox="1"/>
          <p:nvPr/>
        </p:nvSpPr>
        <p:spPr>
          <a:xfrm>
            <a:off x="10702295" y="2863831"/>
            <a:ext cx="360040" cy="445631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28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Shape 216"/>
          <p:cNvSpPr txBox="1"/>
          <p:nvPr/>
        </p:nvSpPr>
        <p:spPr>
          <a:xfrm>
            <a:off x="8313345" y="2840956"/>
            <a:ext cx="360040" cy="445631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8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0355836" y="5895120"/>
            <a:ext cx="7839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chemeClr val="tx1"/>
                </a:solidFill>
              </a:rPr>
              <a:t>x = </a:t>
            </a:r>
            <a:endParaRPr lang="ru-RU" sz="2800" b="1" dirty="0">
              <a:solidFill>
                <a:schemeClr val="tx1"/>
              </a:solidFill>
            </a:endParaRPr>
          </a:p>
        </p:txBody>
      </p:sp>
      <p:sp>
        <p:nvSpPr>
          <p:cNvPr id="46" name="Shape 216"/>
          <p:cNvSpPr txBox="1"/>
          <p:nvPr/>
        </p:nvSpPr>
        <p:spPr>
          <a:xfrm>
            <a:off x="11107097" y="5914958"/>
            <a:ext cx="360040" cy="445631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28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283259" y="6444501"/>
            <a:ext cx="1802296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lt1"/>
                </a:solidFill>
              </a:rPr>
              <a:t>p-&gt;</a:t>
            </a:r>
            <a:r>
              <a:rPr lang="en-US" sz="2800" b="1" dirty="0" smtClean="0">
                <a:solidFill>
                  <a:schemeClr val="lt1"/>
                </a:solidFill>
              </a:rPr>
              <a:t>data =</a:t>
            </a:r>
            <a:endParaRPr lang="ru-RU" sz="2800" b="1" dirty="0"/>
          </a:p>
        </p:txBody>
      </p:sp>
      <p:sp>
        <p:nvSpPr>
          <p:cNvPr id="48" name="Shape 215"/>
          <p:cNvSpPr txBox="1"/>
          <p:nvPr/>
        </p:nvSpPr>
        <p:spPr>
          <a:xfrm>
            <a:off x="11107097" y="6476427"/>
            <a:ext cx="360040" cy="445631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28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223699" y="5313813"/>
            <a:ext cx="2237744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p-&gt;</a:t>
            </a:r>
            <a:r>
              <a:rPr lang="en-US" sz="2800" b="1" dirty="0" smtClean="0">
                <a:solidFill>
                  <a:srgbClr val="FF0000"/>
                </a:solidFill>
              </a:rPr>
              <a:t>data != x</a:t>
            </a:r>
            <a:endParaRPr lang="ru-RU" sz="2800" b="1" dirty="0">
              <a:solidFill>
                <a:srgbClr val="FF0000"/>
              </a:solidFill>
            </a:endParaRPr>
          </a:p>
        </p:txBody>
      </p:sp>
      <p:sp>
        <p:nvSpPr>
          <p:cNvPr id="30" name="Shape 216"/>
          <p:cNvSpPr txBox="1"/>
          <p:nvPr/>
        </p:nvSpPr>
        <p:spPr>
          <a:xfrm>
            <a:off x="11101403" y="6496266"/>
            <a:ext cx="360040" cy="445631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8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9221864" y="5307659"/>
            <a:ext cx="2237744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p-&gt;</a:t>
            </a:r>
            <a:r>
              <a:rPr lang="en-US" sz="2800" b="1" dirty="0" smtClean="0">
                <a:solidFill>
                  <a:srgbClr val="FF0000"/>
                </a:solidFill>
              </a:rPr>
              <a:t>data != x</a:t>
            </a:r>
            <a:endParaRPr lang="ru-RU" sz="2800" b="1" dirty="0">
              <a:solidFill>
                <a:srgbClr val="FF0000"/>
              </a:solidFill>
            </a:endParaRPr>
          </a:p>
        </p:txBody>
      </p:sp>
      <p:sp>
        <p:nvSpPr>
          <p:cNvPr id="32" name="Shape 216"/>
          <p:cNvSpPr txBox="1"/>
          <p:nvPr/>
        </p:nvSpPr>
        <p:spPr>
          <a:xfrm>
            <a:off x="11117251" y="6496266"/>
            <a:ext cx="360040" cy="445631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28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9221864" y="5331036"/>
            <a:ext cx="2237744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p-&gt;</a:t>
            </a:r>
            <a:r>
              <a:rPr lang="en-US" sz="2800" b="1" dirty="0" smtClean="0">
                <a:solidFill>
                  <a:srgbClr val="FF0000"/>
                </a:solidFill>
              </a:rPr>
              <a:t>data = x</a:t>
            </a:r>
            <a:endParaRPr lang="ru-RU" sz="2800" b="1" dirty="0">
              <a:solidFill>
                <a:srgbClr val="FF0000"/>
              </a:solidFill>
            </a:endParaRPr>
          </a:p>
        </p:txBody>
      </p:sp>
      <p:grpSp>
        <p:nvGrpSpPr>
          <p:cNvPr id="39" name="Группа 38"/>
          <p:cNvGrpSpPr>
            <a:grpSpLocks/>
          </p:cNvGrpSpPr>
          <p:nvPr/>
        </p:nvGrpSpPr>
        <p:grpSpPr>
          <a:xfrm>
            <a:off x="7878566" y="5663800"/>
            <a:ext cx="1077338" cy="1239795"/>
            <a:chOff x="9795437" y="5375754"/>
            <a:chExt cx="1077338" cy="1180757"/>
          </a:xfrm>
        </p:grpSpPr>
        <p:graphicFrame>
          <p:nvGraphicFramePr>
            <p:cNvPr id="40" name="Shape 163"/>
            <p:cNvGraphicFramePr/>
            <p:nvPr>
              <p:extLst>
                <p:ext uri="{D42A27DB-BD31-4B8C-83A1-F6EECF244321}">
                  <p14:modId xmlns:p14="http://schemas.microsoft.com/office/powerpoint/2010/main" val="2600700057"/>
                </p:ext>
              </p:extLst>
            </p:nvPr>
          </p:nvGraphicFramePr>
          <p:xfrm>
            <a:off x="9795437" y="5375754"/>
            <a:ext cx="432000" cy="1131428"/>
          </p:xfrm>
          <a:graphic>
            <a:graphicData uri="http://schemas.openxmlformats.org/drawingml/2006/table">
              <a:tbl>
                <a:tblPr>
                  <a:noFill/>
                  <a:tableStyleId>{A658CFA3-1ECF-4F86-BB5C-CF7618A15973}</a:tableStyleId>
                </a:tblPr>
                <a:tblGrid>
                  <a:gridCol w="432000"/>
                </a:tblGrid>
                <a:tr h="396000">
                  <a:tc>
                    <a:txBody>
                      <a:bodyPr/>
                      <a:lstStyle/>
                      <a:p>
                        <a:pPr marL="0" lvl="0" indent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900" b="1" dirty="0">
                          <a:solidFill>
                            <a:schemeClr val="lt1"/>
                          </a:solidFill>
                        </a:endParaRPr>
                      </a:p>
                    </a:txBody>
                    <a:tcPr marL="91425" marR="91425" marT="91425" marB="91425">
                      <a:lnL w="2857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2857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2857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2857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3C78D8"/>
                      </a:solidFill>
                    </a:tcPr>
                  </a:tc>
                </a:tr>
                <a:tr h="396000">
                  <a:tc>
                    <a:txBody>
                      <a:bodyPr/>
                      <a:lstStyle/>
                      <a:p>
                        <a:pPr marL="0" lvl="0" indent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900" dirty="0"/>
                      </a:p>
                    </a:txBody>
                    <a:tcPr marL="91425" marR="91425" marT="91425" marB="91425">
                      <a:lnL w="2857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2857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2857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2857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6D9EEB"/>
                      </a:solidFill>
                    </a:tcPr>
                  </a:tc>
                </a:tr>
                <a:tr h="396000">
                  <a:tc>
                    <a:txBody>
                      <a:bodyPr/>
                      <a:lstStyle/>
                      <a:p>
                        <a:pPr marL="0" lvl="0" indent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900" dirty="0"/>
                      </a:p>
                    </a:txBody>
                    <a:tcPr marL="91425" marR="91425" marT="91425" marB="91425">
                      <a:lnL w="2857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2857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2857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2857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A4C2F4"/>
                      </a:solidFill>
                    </a:tcPr>
                  </a:tc>
                </a:tr>
              </a:tbl>
            </a:graphicData>
          </a:graphic>
        </p:graphicFrame>
        <p:sp>
          <p:nvSpPr>
            <p:cNvPr id="41" name="TextBox 40"/>
            <p:cNvSpPr txBox="1"/>
            <p:nvPr/>
          </p:nvSpPr>
          <p:spPr>
            <a:xfrm>
              <a:off x="10200796" y="6204766"/>
              <a:ext cx="671979" cy="3517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b="1" dirty="0" err="1" smtClean="0">
                  <a:solidFill>
                    <a:schemeClr val="tx1"/>
                  </a:solidFill>
                </a:rPr>
                <a:t>prev</a:t>
              </a:r>
              <a:endParaRPr lang="ru-RU" sz="1800" b="1" dirty="0">
                <a:solidFill>
                  <a:schemeClr val="tx1"/>
                </a:solidFill>
              </a:endParaRP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10200797" y="5397150"/>
              <a:ext cx="659155" cy="3517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b="1" dirty="0" smtClean="0">
                  <a:solidFill>
                    <a:schemeClr val="tx1"/>
                  </a:solidFill>
                </a:rPr>
                <a:t>data</a:t>
              </a:r>
              <a:endParaRPr lang="ru-RU" sz="1800" b="1" dirty="0">
                <a:solidFill>
                  <a:schemeClr val="tx1"/>
                </a:solidFill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10200796" y="5800958"/>
              <a:ext cx="659155" cy="3517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b="1" dirty="0" smtClean="0">
                  <a:solidFill>
                    <a:schemeClr val="tx1"/>
                  </a:solidFill>
                </a:rPr>
                <a:t>next</a:t>
              </a:r>
              <a:endParaRPr lang="ru-RU" sz="1800" b="1" dirty="0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repeatCount="3000" fill="remove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50" autoRev="1" fill="remove"/>
                                        <p:tgtEl>
                                          <p:spTgt spid="2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7" dur="250" autoRev="1" fill="remove"/>
                                        <p:tgtEl>
                                          <p:spTgt spid="2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8" dur="250" autoRev="1" fill="remove"/>
                                        <p:tgtEl>
                                          <p:spTgt spid="2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250" autoRev="1" fill="remove"/>
                                        <p:tgtEl>
                                          <p:spTgt spid="2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2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2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2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2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2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2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3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3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3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3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1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1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1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1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1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19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2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2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3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3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3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2" dur="2000" fill="hold"/>
                                        <p:tgtEl>
                                          <p:spTgt spid="2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3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95833E-6 4.44444E-6 L -0.40872 0.20277 " pathEditMode="relative" rAng="0" ptsTypes="AA">
                                      <p:cBhvr>
                                        <p:cTn id="144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443" y="101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3" presetClass="emph" presetSubtype="2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148" dur="2000" fill="hold"/>
                                        <p:tgtEl>
                                          <p:spTgt spid="2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9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50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2000"/>
                            </p:stCondLst>
                            <p:childTnLst>
                              <p:par>
                                <p:cTn id="15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42721 -0.50324 L -3.33333E-6 1.85185E-6 " pathEditMode="relative" rAng="0" ptsTypes="AA">
                                      <p:cBhvr>
                                        <p:cTn id="155" dur="2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419" y="251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7" dur="2000" fill="hold"/>
                                        <p:tgtEl>
                                          <p:spTgt spid="2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8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40872 0.20277 L -0.40872 0.203 C -0.40976 0.20856 -0.41106 0.21388 -0.41119 0.21944 C -0.41145 0.25555 -0.41237 0.29189 -0.41002 0.32824 C -0.41002 0.32939 -0.40026 0.3324 -0.39921 0.33263 C -0.38958 0.33518 -0.38645 0.33472 -0.37408 0.33588 C -0.35481 0.33518 -0.3358 0.33611 -0.31653 0.33402 C -0.31015 0.33356 -0.30286 0.33263 -0.29739 0.32824 C -0.29466 0.32592 -0.29596 0.32013 -0.29492 0.31597 C -0.29218 0.27824 -0.29257 0.28703 -0.29257 0.22407 C -0.29257 0.21504 -0.29388 0.19699 -0.29388 0.19722 L -0.29257 0.20439 L -0.29257 0.20463 L -0.29492 0.20277 " pathEditMode="relative" rAng="0" ptsTypes="AAAAAAAAAAAAAA">
                                      <p:cBhvr>
                                        <p:cTn id="169" dur="5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664" y="6366"/>
                                    </p:animMotion>
                                  </p:childTnLst>
                                </p:cTn>
                              </p:par>
                              <p:par>
                                <p:cTn id="170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3" presetClass="emph" presetSubtype="2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177" dur="2000" fill="hold"/>
                                        <p:tgtEl>
                                          <p:spTgt spid="2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92D05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8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79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0" fill="hold">
                            <p:stCondLst>
                              <p:cond delay="2000"/>
                            </p:stCondLst>
                            <p:childTnLst>
                              <p:par>
                                <p:cTn id="181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2838 -0.50879 L 8.33333E-7 -3.33333E-6 " pathEditMode="relative" rAng="0" ptsTypes="AA">
                                      <p:cBhvr>
                                        <p:cTn id="184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380" y="2544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9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2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6" dur="2000" fill="hold"/>
                                        <p:tgtEl>
                                          <p:spTgt spid="2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92D05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9492 0.20277 L -0.29492 0.20277 C -0.27252 0.19837 -0.22982 0.18912 -0.22005 0.20694 C -0.20508 0.23449 -0.21953 0.28379 -0.21888 0.32199 C -0.21875 0.33101 -0.21732 0.33263 -0.21211 0.33425 C -0.20573 0.33634 -0.19922 0.3368 -0.19271 0.33819 L -0.16211 0.33634 C -0.13633 0.33472 -0.10846 0.35046 -0.08489 0.33217 C -0.07552 0.32499 -0.08581 0.29583 -0.08594 0.27754 C -0.0862 0.25208 -0.08594 0.22638 -0.08594 0.20092 L -0.08594 0.20092 " pathEditMode="relative" ptsTypes="AAAAAAAAAAA">
                                      <p:cBhvr>
                                        <p:cTn id="198" dur="5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9" fill="hold">
                            <p:stCondLst>
                              <p:cond delay="5000"/>
                            </p:stCondLst>
                            <p:childTnLst>
                              <p:par>
                                <p:cTn id="200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2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indefinite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3" presetClass="emph" presetSubtype="2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207" dur="2000" fill="hold"/>
                                        <p:tgtEl>
                                          <p:spTgt spid="2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08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09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3099 -0.50486 L -3.33333E-6 -3.03577E-17 " pathEditMode="relative" rAng="0" ptsTypes="AA">
                                      <p:cBhvr>
                                        <p:cTn id="214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76" y="251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0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1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2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7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" fill="hold">
                      <p:stCondLst>
                        <p:cond delay="indefinite"/>
                      </p:stCondLst>
                      <p:childTnLst>
                        <p:par>
                          <p:cTn id="240" fill="hold">
                            <p:stCondLst>
                              <p:cond delay="0"/>
                            </p:stCondLst>
                            <p:childTnLst>
                              <p:par>
                                <p:cTn id="241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2" dur="2000" fill="hold"/>
                                        <p:tgtEl>
                                          <p:spTgt spid="2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>
                      <p:stCondLst>
                        <p:cond delay="indefinite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53" presetClass="exit" presetSubtype="32" repeatCount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46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4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5" grpId="0" uiExpand="1" build="p"/>
      <p:bldP spid="36" grpId="0" animBg="1"/>
      <p:bldP spid="37" grpId="0" animBg="1"/>
      <p:bldP spid="38" grpId="0" animBg="1"/>
      <p:bldP spid="2" grpId="0"/>
      <p:bldP spid="2" grpId="1"/>
      <p:bldP spid="46" grpId="0" animBg="1"/>
      <p:bldP spid="46" grpId="1" animBg="1"/>
      <p:bldP spid="3" grpId="0"/>
      <p:bldP spid="3" grpId="1"/>
      <p:bldP spid="48" grpId="0" animBg="1"/>
      <p:bldP spid="48" grpId="1" animBg="1"/>
      <p:bldP spid="48" grpId="2" animBg="1"/>
      <p:bldP spid="48" grpId="3" animBg="1"/>
      <p:bldP spid="5" grpId="0"/>
      <p:bldP spid="5" grpId="1"/>
      <p:bldP spid="30" grpId="0" animBg="1"/>
      <p:bldP spid="30" grpId="1" animBg="1"/>
      <p:bldP spid="30" grpId="2" animBg="1"/>
      <p:bldP spid="30" grpId="3" animBg="1"/>
      <p:bldP spid="31" grpId="0"/>
      <p:bldP spid="31" grpId="1"/>
      <p:bldP spid="32" grpId="0" animBg="1"/>
      <p:bldP spid="32" grpId="1" animBg="1"/>
      <p:bldP spid="32" grpId="2" animBg="1"/>
      <p:bldP spid="33" grpId="0"/>
      <p:bldP spid="33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Shape 313"/>
          <p:cNvSpPr txBox="1">
            <a:spLocks noGrp="1"/>
          </p:cNvSpPr>
          <p:nvPr>
            <p:ph idx="1"/>
          </p:nvPr>
        </p:nvSpPr>
        <p:spPr>
          <a:xfrm>
            <a:off x="166111" y="899746"/>
            <a:ext cx="4336094" cy="6301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16"/>
              <a:buFont typeface="Noto Sans Symbols"/>
              <a:buNone/>
            </a:pPr>
            <a:r>
              <a:rPr lang="en-US" b="0" i="0" u="none" strike="noStrike" cap="none" dirty="0">
                <a:latin typeface="Arial"/>
                <a:ea typeface="Arial"/>
                <a:cs typeface="Arial"/>
                <a:sym typeface="Arial"/>
              </a:rPr>
              <a:t>void </a:t>
            </a:r>
            <a:r>
              <a:rPr lang="en-US" b="0" i="0" u="none" strike="noStrike" cap="none" dirty="0" err="1">
                <a:latin typeface="Arial"/>
                <a:ea typeface="Arial"/>
                <a:cs typeface="Arial"/>
                <a:sym typeface="Arial"/>
              </a:rPr>
              <a:t>insert_before</a:t>
            </a:r>
            <a:r>
              <a:rPr lang="en-US" b="0" i="0" u="none" strike="noStrike" cap="none" dirty="0">
                <a:latin typeface="Arial"/>
                <a:ea typeface="Arial"/>
                <a:cs typeface="Arial"/>
                <a:sym typeface="Arial"/>
              </a:rPr>
              <a:t>(node* &amp;top</a:t>
            </a:r>
            <a:r>
              <a:rPr lang="en-US" b="0" i="0" u="none" strike="noStrike" cap="none" dirty="0" smtClean="0">
                <a:latin typeface="Arial"/>
                <a:ea typeface="Arial"/>
                <a:cs typeface="Arial"/>
                <a:sym typeface="Arial"/>
              </a:rPr>
              <a:t>, </a:t>
            </a:r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16"/>
              <a:buFont typeface="Noto Sans Symbols"/>
              <a:buNone/>
            </a:pPr>
            <a:r>
              <a:rPr lang="en-US" dirty="0" smtClean="0">
                <a:latin typeface="Arial"/>
                <a:ea typeface="Arial"/>
                <a:cs typeface="Arial"/>
                <a:sym typeface="Arial"/>
              </a:rPr>
              <a:t>                              </a:t>
            </a:r>
            <a:r>
              <a:rPr lang="en-US" b="0" i="0" u="none" strike="noStrike" cap="none" dirty="0" smtClean="0">
                <a:latin typeface="Arial"/>
                <a:ea typeface="Arial"/>
                <a:cs typeface="Arial"/>
                <a:sym typeface="Arial"/>
              </a:rPr>
              <a:t>node</a:t>
            </a:r>
            <a:r>
              <a:rPr lang="en-US" b="0" i="0" u="none" strike="noStrike" cap="none" dirty="0">
                <a:latin typeface="Arial"/>
                <a:ea typeface="Arial"/>
                <a:cs typeface="Arial"/>
                <a:sym typeface="Arial"/>
              </a:rPr>
              <a:t>* q</a:t>
            </a:r>
            <a:r>
              <a:rPr lang="en-US" b="0" i="0" u="none" strike="noStrike" cap="none" dirty="0" smtClean="0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b="0" i="0" u="none" strike="noStrike" cap="none" dirty="0" err="1" smtClean="0"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lang="en-US" b="0" i="0" u="none" strike="noStrike" cap="none" dirty="0" smtClean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0" i="0" u="none" strike="noStrike" cap="none" dirty="0">
                <a:latin typeface="Arial"/>
                <a:ea typeface="Arial"/>
                <a:cs typeface="Arial"/>
                <a:sym typeface="Arial"/>
              </a:rPr>
              <a:t>x)</a:t>
            </a:r>
            <a:endParaRPr b="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16"/>
              <a:buFont typeface="Noto Sans Symbols"/>
              <a:buNone/>
            </a:pPr>
            <a:r>
              <a:rPr lang="en-US" b="0" i="0" u="none" strike="noStrike" cap="none" dirty="0" smtClean="0">
                <a:latin typeface="Arial"/>
                <a:ea typeface="Arial"/>
                <a:cs typeface="Arial"/>
                <a:sym typeface="Arial"/>
              </a:rPr>
              <a:t>{</a:t>
            </a:r>
            <a:r>
              <a:rPr lang="en-US" b="0" i="0" u="none" strike="noStrike" cap="none" dirty="0">
                <a:latin typeface="Arial"/>
                <a:ea typeface="Arial"/>
                <a:cs typeface="Arial"/>
                <a:sym typeface="Arial"/>
              </a:rPr>
              <a:t>	   node* p=new node;</a:t>
            </a:r>
            <a:endParaRPr b="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16"/>
              <a:buFont typeface="Noto Sans Symbols"/>
              <a:buNone/>
            </a:pPr>
            <a:r>
              <a:rPr lang="en-US" b="0" i="0" u="none" strike="noStrike" cap="none" dirty="0">
                <a:latin typeface="Arial"/>
                <a:ea typeface="Arial"/>
                <a:cs typeface="Arial"/>
                <a:sym typeface="Arial"/>
              </a:rPr>
              <a:t>	   p-&gt;data=x;</a:t>
            </a:r>
            <a:endParaRPr b="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16"/>
              <a:buFont typeface="Noto Sans Symbols"/>
              <a:buNone/>
            </a:pPr>
            <a:r>
              <a:rPr lang="en-US" b="0" i="0" u="none" strike="noStrike" cap="none" dirty="0">
                <a:latin typeface="Arial"/>
                <a:ea typeface="Arial"/>
                <a:cs typeface="Arial"/>
                <a:sym typeface="Arial"/>
              </a:rPr>
              <a:t>	   if (q==top)</a:t>
            </a:r>
            <a:endParaRPr b="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16"/>
              <a:buFont typeface="Noto Sans Symbols"/>
              <a:buNone/>
            </a:pPr>
            <a:r>
              <a:rPr lang="en-US" b="0" i="0" u="none" strike="noStrike" cap="none" dirty="0">
                <a:latin typeface="Arial"/>
                <a:ea typeface="Arial"/>
                <a:cs typeface="Arial"/>
                <a:sym typeface="Arial"/>
              </a:rPr>
              <a:t>	   </a:t>
            </a:r>
            <a:r>
              <a:rPr lang="en-US" b="0" i="0" u="none" strike="noStrike" cap="none" dirty="0" smtClean="0">
                <a:latin typeface="Arial"/>
                <a:ea typeface="Arial"/>
                <a:cs typeface="Arial"/>
                <a:sym typeface="Arial"/>
              </a:rPr>
              <a:t>{      p-</a:t>
            </a:r>
            <a:r>
              <a:rPr lang="en-US" b="0" i="0" u="none" strike="noStrike" cap="none" dirty="0">
                <a:latin typeface="Arial"/>
                <a:ea typeface="Arial"/>
                <a:cs typeface="Arial"/>
                <a:sym typeface="Arial"/>
              </a:rPr>
              <a:t>&gt;next=top; </a:t>
            </a:r>
            <a:endParaRPr b="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16"/>
              <a:buFont typeface="Noto Sans Symbols"/>
              <a:buNone/>
            </a:pPr>
            <a:r>
              <a:rPr lang="en-US" b="0" i="0" u="none" strike="noStrike" cap="none" dirty="0">
                <a:latin typeface="Arial"/>
                <a:ea typeface="Arial"/>
                <a:cs typeface="Arial"/>
                <a:sym typeface="Arial"/>
              </a:rPr>
              <a:t>		   p-&gt;</a:t>
            </a:r>
            <a:r>
              <a:rPr lang="en-US" b="0" i="0" u="none" strike="noStrike" cap="none" dirty="0" err="1">
                <a:latin typeface="Arial"/>
                <a:ea typeface="Arial"/>
                <a:cs typeface="Arial"/>
                <a:sym typeface="Arial"/>
              </a:rPr>
              <a:t>prev</a:t>
            </a:r>
            <a:r>
              <a:rPr lang="en-US" b="0" i="0" u="none" strike="noStrike" cap="none" dirty="0">
                <a:latin typeface="Arial"/>
                <a:ea typeface="Arial"/>
                <a:cs typeface="Arial"/>
                <a:sym typeface="Arial"/>
              </a:rPr>
              <a:t>=NULL;</a:t>
            </a:r>
            <a:endParaRPr b="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16"/>
              <a:buFont typeface="Noto Sans Symbols"/>
              <a:buNone/>
            </a:pPr>
            <a:r>
              <a:rPr lang="en-US" b="0" i="0" u="none" strike="noStrike" cap="none" dirty="0">
                <a:latin typeface="Arial"/>
                <a:ea typeface="Arial"/>
                <a:cs typeface="Arial"/>
                <a:sym typeface="Arial"/>
              </a:rPr>
              <a:t>		   top-&gt;</a:t>
            </a:r>
            <a:r>
              <a:rPr lang="en-US" b="0" i="0" u="none" strike="noStrike" cap="none" dirty="0" err="1">
                <a:latin typeface="Arial"/>
                <a:ea typeface="Arial"/>
                <a:cs typeface="Arial"/>
                <a:sym typeface="Arial"/>
              </a:rPr>
              <a:t>prev</a:t>
            </a:r>
            <a:r>
              <a:rPr lang="en-US" b="0" i="0" u="none" strike="noStrike" cap="none" dirty="0">
                <a:latin typeface="Arial"/>
                <a:ea typeface="Arial"/>
                <a:cs typeface="Arial"/>
                <a:sym typeface="Arial"/>
              </a:rPr>
              <a:t>=p;</a:t>
            </a:r>
            <a:endParaRPr b="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16"/>
              <a:buFont typeface="Noto Sans Symbols"/>
              <a:buNone/>
            </a:pPr>
            <a:r>
              <a:rPr lang="en-US" b="0" i="0" u="none" strike="noStrike" cap="none" dirty="0">
                <a:latin typeface="Arial"/>
                <a:ea typeface="Arial"/>
                <a:cs typeface="Arial"/>
                <a:sym typeface="Arial"/>
              </a:rPr>
              <a:t>		   top=p;</a:t>
            </a:r>
            <a:endParaRPr b="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16"/>
              <a:buFont typeface="Noto Sans Symbols"/>
              <a:buNone/>
            </a:pPr>
            <a:r>
              <a:rPr lang="en-US" b="0" i="0" u="none" strike="noStrike" cap="none" dirty="0">
                <a:latin typeface="Arial"/>
                <a:ea typeface="Arial"/>
                <a:cs typeface="Arial"/>
                <a:sym typeface="Arial"/>
              </a:rPr>
              <a:t>	   </a:t>
            </a:r>
            <a:r>
              <a:rPr lang="en-US" b="0" i="0" u="none" strike="noStrike" cap="none" dirty="0" smtClean="0">
                <a:latin typeface="Arial"/>
                <a:ea typeface="Arial"/>
                <a:cs typeface="Arial"/>
                <a:sym typeface="Arial"/>
              </a:rPr>
              <a:t>}</a:t>
            </a:r>
            <a:endParaRPr b="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16"/>
              <a:buFont typeface="Noto Sans Symbols"/>
              <a:buNone/>
            </a:pPr>
            <a:r>
              <a:rPr lang="en-US" b="0" i="0" u="none" strike="noStrike" cap="none" dirty="0">
                <a:latin typeface="Arial"/>
                <a:ea typeface="Arial"/>
                <a:cs typeface="Arial"/>
                <a:sym typeface="Arial"/>
              </a:rPr>
              <a:t>	   else</a:t>
            </a:r>
            <a:endParaRPr b="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16"/>
              <a:buFont typeface="Noto Sans Symbols"/>
              <a:buNone/>
            </a:pPr>
            <a:r>
              <a:rPr lang="en-US" b="0" i="0" u="none" strike="noStrike" cap="none" dirty="0">
                <a:latin typeface="Arial"/>
                <a:ea typeface="Arial"/>
                <a:cs typeface="Arial"/>
                <a:sym typeface="Arial"/>
              </a:rPr>
              <a:t>	   </a:t>
            </a:r>
            <a:r>
              <a:rPr lang="en-US" b="0" i="0" u="none" strike="noStrike" cap="none" dirty="0" smtClean="0">
                <a:latin typeface="Arial"/>
                <a:ea typeface="Arial"/>
                <a:cs typeface="Arial"/>
                <a:sym typeface="Arial"/>
              </a:rPr>
              <a:t>{      </a:t>
            </a:r>
            <a:r>
              <a:rPr lang="en-US" b="0" i="0" u="none" strike="noStrike" cap="none" dirty="0">
                <a:latin typeface="Arial"/>
                <a:ea typeface="Arial"/>
                <a:cs typeface="Arial"/>
                <a:sym typeface="Arial"/>
              </a:rPr>
              <a:t>p-&gt;</a:t>
            </a:r>
            <a:r>
              <a:rPr lang="en-US" b="0" i="0" u="none" strike="noStrike" cap="none" dirty="0" err="1">
                <a:latin typeface="Arial"/>
                <a:ea typeface="Arial"/>
                <a:cs typeface="Arial"/>
                <a:sym typeface="Arial"/>
              </a:rPr>
              <a:t>prev</a:t>
            </a:r>
            <a:r>
              <a:rPr lang="en-US" b="0" i="0" u="none" strike="noStrike" cap="none" dirty="0">
                <a:latin typeface="Arial"/>
                <a:ea typeface="Arial"/>
                <a:cs typeface="Arial"/>
                <a:sym typeface="Arial"/>
              </a:rPr>
              <a:t>=q-&gt;</a:t>
            </a:r>
            <a:r>
              <a:rPr lang="en-US" b="0" i="0" u="none" strike="noStrike" cap="none" dirty="0" err="1">
                <a:latin typeface="Arial"/>
                <a:ea typeface="Arial"/>
                <a:cs typeface="Arial"/>
                <a:sym typeface="Arial"/>
              </a:rPr>
              <a:t>prev</a:t>
            </a:r>
            <a:r>
              <a:rPr lang="en-US" b="0" i="0" u="none" strike="noStrike" cap="none" dirty="0">
                <a:latin typeface="Arial"/>
                <a:ea typeface="Arial"/>
                <a:cs typeface="Arial"/>
                <a:sym typeface="Arial"/>
              </a:rPr>
              <a:t>;</a:t>
            </a:r>
            <a:endParaRPr b="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16"/>
              <a:buFont typeface="Noto Sans Symbols"/>
              <a:buNone/>
            </a:pPr>
            <a:r>
              <a:rPr lang="en-US" b="0" i="0" u="none" strike="noStrike" cap="none" dirty="0">
                <a:latin typeface="Arial"/>
                <a:ea typeface="Arial"/>
                <a:cs typeface="Arial"/>
                <a:sym typeface="Arial"/>
              </a:rPr>
              <a:t>		   q-&gt;</a:t>
            </a:r>
            <a:r>
              <a:rPr lang="en-US" b="0" i="0" u="none" strike="noStrike" cap="none" dirty="0" err="1">
                <a:latin typeface="Arial"/>
                <a:ea typeface="Arial"/>
                <a:cs typeface="Arial"/>
                <a:sym typeface="Arial"/>
              </a:rPr>
              <a:t>prev</a:t>
            </a:r>
            <a:r>
              <a:rPr lang="en-US" b="0" i="0" u="none" strike="noStrike" cap="none" dirty="0">
                <a:latin typeface="Arial"/>
                <a:ea typeface="Arial"/>
                <a:cs typeface="Arial"/>
                <a:sym typeface="Arial"/>
              </a:rPr>
              <a:t>=p;</a:t>
            </a:r>
            <a:endParaRPr b="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16"/>
              <a:buFont typeface="Noto Sans Symbols"/>
              <a:buNone/>
            </a:pPr>
            <a:r>
              <a:rPr lang="en-US" b="0" i="0" u="none" strike="noStrike" cap="none" dirty="0">
                <a:latin typeface="Arial"/>
                <a:ea typeface="Arial"/>
                <a:cs typeface="Arial"/>
                <a:sym typeface="Arial"/>
              </a:rPr>
              <a:t>		   p-&gt;</a:t>
            </a:r>
            <a:r>
              <a:rPr lang="en-US" b="0" i="0" u="none" strike="noStrike" cap="none" dirty="0" err="1">
                <a:latin typeface="Arial"/>
                <a:ea typeface="Arial"/>
                <a:cs typeface="Arial"/>
                <a:sym typeface="Arial"/>
              </a:rPr>
              <a:t>prev</a:t>
            </a:r>
            <a:r>
              <a:rPr lang="en-US" b="0" i="0" u="none" strike="noStrike" cap="none" dirty="0">
                <a:latin typeface="Arial"/>
                <a:ea typeface="Arial"/>
                <a:cs typeface="Arial"/>
                <a:sym typeface="Arial"/>
              </a:rPr>
              <a:t>-&gt;next=p;</a:t>
            </a:r>
            <a:endParaRPr b="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16"/>
              <a:buFont typeface="Noto Sans Symbols"/>
              <a:buNone/>
            </a:pPr>
            <a:r>
              <a:rPr lang="en-US" b="0" i="0" u="none" strike="noStrike" cap="none" dirty="0">
                <a:latin typeface="Arial"/>
                <a:ea typeface="Arial"/>
                <a:cs typeface="Arial"/>
                <a:sym typeface="Arial"/>
              </a:rPr>
              <a:t>		   p-&gt;next=q;</a:t>
            </a:r>
            <a:endParaRPr b="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16"/>
              <a:buFont typeface="Noto Sans Symbols"/>
              <a:buNone/>
            </a:pPr>
            <a:r>
              <a:rPr lang="en-US" b="0" i="0" u="none" strike="noStrike" cap="none" dirty="0">
                <a:latin typeface="Arial"/>
                <a:ea typeface="Arial"/>
                <a:cs typeface="Arial"/>
                <a:sym typeface="Arial"/>
              </a:rPr>
              <a:t>	   }</a:t>
            </a:r>
            <a:endParaRPr b="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16"/>
              <a:buFont typeface="Noto Sans Symbols"/>
              <a:buNone/>
            </a:pPr>
            <a:r>
              <a:rPr lang="en-US" b="0" i="0" u="none" strike="noStrike" cap="none" dirty="0">
                <a:latin typeface="Arial"/>
                <a:ea typeface="Arial"/>
                <a:cs typeface="Arial"/>
                <a:sym typeface="Arial"/>
              </a:rPr>
              <a:t>}</a:t>
            </a:r>
            <a:endParaRPr b="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16"/>
              <a:buFont typeface="Noto Sans Symbols"/>
              <a:buNone/>
            </a:pPr>
            <a:endParaRPr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63569" y="41075"/>
            <a:ext cx="11436670" cy="978749"/>
          </a:xfrm>
        </p:spPr>
        <p:txBody>
          <a:bodyPr>
            <a:normAutofit fontScale="90000"/>
          </a:bodyPr>
          <a:lstStyle/>
          <a:p>
            <a:pPr algn="ctr"/>
            <a:r>
              <a:rPr lang="ru-RU" sz="4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Вставка структуры </a:t>
            </a:r>
            <a:r>
              <a:rPr lang="en-US" sz="4000" b="1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lang="en-US" sz="4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4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перед </a:t>
            </a:r>
            <a:r>
              <a:rPr lang="ru-RU" sz="4000" b="1" dirty="0">
                <a:latin typeface="Arial" panose="020B0604020202020204" pitchFamily="34" charset="0"/>
                <a:cs typeface="Arial" panose="020B0604020202020204" pitchFamily="34" charset="0"/>
              </a:rPr>
              <a:t>элементом в </a:t>
            </a:r>
            <a:r>
              <a:rPr lang="ru-RU" sz="4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списке</a:t>
            </a:r>
            <a:endParaRPr lang="ru-RU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84" name="Shape 297"/>
          <p:cNvGraphicFramePr/>
          <p:nvPr>
            <p:extLst>
              <p:ext uri="{D42A27DB-BD31-4B8C-83A1-F6EECF244321}">
                <p14:modId xmlns:p14="http://schemas.microsoft.com/office/powerpoint/2010/main" val="912043325"/>
              </p:ext>
            </p:extLst>
          </p:nvPr>
        </p:nvGraphicFramePr>
        <p:xfrm>
          <a:off x="5370690" y="2744135"/>
          <a:ext cx="1460675" cy="1849602"/>
        </p:xfrm>
        <a:graphic>
          <a:graphicData uri="http://schemas.openxmlformats.org/drawingml/2006/table">
            <a:tbl>
              <a:tblPr>
                <a:noFill/>
                <a:tableStyleId>{A658CFA3-1ECF-4F86-BB5C-CF7618A15973}</a:tableStyleId>
              </a:tblPr>
              <a:tblGrid>
                <a:gridCol w="1460675"/>
              </a:tblGrid>
              <a:tr h="61653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 b="1" dirty="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5996" marB="95996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C78D8"/>
                    </a:solidFill>
                  </a:tcPr>
                </a:tc>
              </a:tr>
              <a:tr h="61653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/>
                    </a:p>
                  </a:txBody>
                  <a:tcPr marL="91425" marR="91425" marT="95996" marB="95996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D9EEB"/>
                    </a:solidFill>
                  </a:tcPr>
                </a:tc>
              </a:tr>
              <a:tr h="61653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 dirty="0"/>
                    </a:p>
                  </a:txBody>
                  <a:tcPr marL="91425" marR="91425" marT="95996" marB="95996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</a:tr>
            </a:tbl>
          </a:graphicData>
        </a:graphic>
      </p:graphicFrame>
      <p:cxnSp>
        <p:nvCxnSpPr>
          <p:cNvPr id="85" name="Shape 298"/>
          <p:cNvCxnSpPr/>
          <p:nvPr/>
        </p:nvCxnSpPr>
        <p:spPr>
          <a:xfrm flipH="1">
            <a:off x="6831499" y="4329488"/>
            <a:ext cx="895500" cy="819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86" name="Shape 299"/>
          <p:cNvCxnSpPr/>
          <p:nvPr/>
        </p:nvCxnSpPr>
        <p:spPr>
          <a:xfrm rot="10800000" flipH="1">
            <a:off x="6854174" y="3700815"/>
            <a:ext cx="891000" cy="378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stealth" w="med" len="med"/>
          </a:ln>
        </p:spPr>
      </p:cxnSp>
      <p:graphicFrame>
        <p:nvGraphicFramePr>
          <p:cNvPr id="87" name="Shape 300"/>
          <p:cNvGraphicFramePr/>
          <p:nvPr>
            <p:extLst>
              <p:ext uri="{D42A27DB-BD31-4B8C-83A1-F6EECF244321}">
                <p14:modId xmlns:p14="http://schemas.microsoft.com/office/powerpoint/2010/main" val="1264245119"/>
              </p:ext>
            </p:extLst>
          </p:nvPr>
        </p:nvGraphicFramePr>
        <p:xfrm>
          <a:off x="7762540" y="2744146"/>
          <a:ext cx="1460675" cy="1849602"/>
        </p:xfrm>
        <a:graphic>
          <a:graphicData uri="http://schemas.openxmlformats.org/drawingml/2006/table">
            <a:tbl>
              <a:tblPr>
                <a:noFill/>
                <a:tableStyleId>{A658CFA3-1ECF-4F86-BB5C-CF7618A15973}</a:tableStyleId>
              </a:tblPr>
              <a:tblGrid>
                <a:gridCol w="1460675"/>
              </a:tblGrid>
              <a:tr h="61653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5996" marB="95996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C78D8"/>
                    </a:solidFill>
                  </a:tcPr>
                </a:tc>
              </a:tr>
              <a:tr h="61653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/>
                    </a:p>
                  </a:txBody>
                  <a:tcPr marL="91425" marR="91425" marT="95996" marB="95996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D9EEB"/>
                    </a:solidFill>
                  </a:tcPr>
                </a:tc>
              </a:tr>
              <a:tr h="61653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/>
                    </a:p>
                  </a:txBody>
                  <a:tcPr marL="91425" marR="91425" marT="95996" marB="95996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8" name="Shape 301"/>
          <p:cNvGraphicFramePr/>
          <p:nvPr>
            <p:extLst>
              <p:ext uri="{D42A27DB-BD31-4B8C-83A1-F6EECF244321}">
                <p14:modId xmlns:p14="http://schemas.microsoft.com/office/powerpoint/2010/main" val="1065974298"/>
              </p:ext>
            </p:extLst>
          </p:nvPr>
        </p:nvGraphicFramePr>
        <p:xfrm>
          <a:off x="10154377" y="2744161"/>
          <a:ext cx="1460675" cy="1849602"/>
        </p:xfrm>
        <a:graphic>
          <a:graphicData uri="http://schemas.openxmlformats.org/drawingml/2006/table">
            <a:tbl>
              <a:tblPr>
                <a:noFill/>
                <a:tableStyleId>{A658CFA3-1ECF-4F86-BB5C-CF7618A15973}</a:tableStyleId>
              </a:tblPr>
              <a:tblGrid>
                <a:gridCol w="1460675"/>
              </a:tblGrid>
              <a:tr h="61653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 b="1" dirty="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5996" marB="95996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C78D8"/>
                    </a:solidFill>
                  </a:tcPr>
                </a:tc>
              </a:tr>
              <a:tr h="61653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 dirty="0"/>
                    </a:p>
                  </a:txBody>
                  <a:tcPr marL="91425" marR="91425" marT="95996" marB="95996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D9EEB"/>
                    </a:solidFill>
                  </a:tcPr>
                </a:tc>
              </a:tr>
              <a:tr h="61653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/>
                    </a:p>
                  </a:txBody>
                  <a:tcPr marL="91425" marR="91425" marT="95996" marB="95996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</a:tr>
            </a:tbl>
          </a:graphicData>
        </a:graphic>
      </p:graphicFrame>
      <p:cxnSp>
        <p:nvCxnSpPr>
          <p:cNvPr id="89" name="Shape 302"/>
          <p:cNvCxnSpPr/>
          <p:nvPr/>
        </p:nvCxnSpPr>
        <p:spPr>
          <a:xfrm flipH="1">
            <a:off x="9240599" y="4324488"/>
            <a:ext cx="895500" cy="819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90" name="Shape 303"/>
          <p:cNvCxnSpPr/>
          <p:nvPr/>
        </p:nvCxnSpPr>
        <p:spPr>
          <a:xfrm rot="10800000" flipH="1">
            <a:off x="9263274" y="3695813"/>
            <a:ext cx="891000" cy="378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stealth" w="med" len="med"/>
          </a:ln>
        </p:spPr>
      </p:cxnSp>
      <p:grpSp>
        <p:nvGrpSpPr>
          <p:cNvPr id="91" name="Группа 90"/>
          <p:cNvGrpSpPr/>
          <p:nvPr/>
        </p:nvGrpSpPr>
        <p:grpSpPr>
          <a:xfrm>
            <a:off x="6643849" y="1472776"/>
            <a:ext cx="375300" cy="1192061"/>
            <a:chOff x="5645064" y="987493"/>
            <a:chExt cx="375300" cy="1135296"/>
          </a:xfrm>
        </p:grpSpPr>
        <p:cxnSp>
          <p:nvCxnSpPr>
            <p:cNvPr id="92" name="Shape 248"/>
            <p:cNvCxnSpPr/>
            <p:nvPr/>
          </p:nvCxnSpPr>
          <p:spPr>
            <a:xfrm rot="5400000">
              <a:off x="5288664" y="1764889"/>
              <a:ext cx="714300" cy="1500"/>
            </a:xfrm>
            <a:prstGeom prst="straightConnector1">
              <a:avLst/>
            </a:prstGeom>
            <a:noFill/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93" name="Shape 249"/>
            <p:cNvSpPr txBox="1"/>
            <p:nvPr/>
          </p:nvSpPr>
          <p:spPr>
            <a:xfrm>
              <a:off x="5645064" y="987493"/>
              <a:ext cx="3753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</a:t>
              </a:r>
              <a:endParaRPr sz="28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4" name="Группа 93"/>
          <p:cNvGrpSpPr/>
          <p:nvPr/>
        </p:nvGrpSpPr>
        <p:grpSpPr>
          <a:xfrm>
            <a:off x="7262879" y="1564972"/>
            <a:ext cx="692403" cy="1099865"/>
            <a:chOff x="7947984" y="1051299"/>
            <a:chExt cx="692403" cy="1047490"/>
          </a:xfrm>
        </p:grpSpPr>
        <p:cxnSp>
          <p:nvCxnSpPr>
            <p:cNvPr id="95" name="Shape 250"/>
            <p:cNvCxnSpPr/>
            <p:nvPr/>
          </p:nvCxnSpPr>
          <p:spPr>
            <a:xfrm rot="5400000">
              <a:off x="8282487" y="1740889"/>
              <a:ext cx="714300" cy="1500"/>
            </a:xfrm>
            <a:prstGeom prst="straightConnector1">
              <a:avLst/>
            </a:prstGeom>
            <a:noFill/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96" name="Shape 251"/>
            <p:cNvSpPr txBox="1"/>
            <p:nvPr/>
          </p:nvSpPr>
          <p:spPr>
            <a:xfrm>
              <a:off x="7947984" y="1051299"/>
              <a:ext cx="6909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top</a:t>
              </a:r>
              <a:endParaRPr sz="28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7" name="Группа 96"/>
          <p:cNvGrpSpPr/>
          <p:nvPr/>
        </p:nvGrpSpPr>
        <p:grpSpPr>
          <a:xfrm>
            <a:off x="11302634" y="1580601"/>
            <a:ext cx="889366" cy="1141206"/>
            <a:chOff x="9019769" y="1375260"/>
            <a:chExt cx="889366" cy="1086863"/>
          </a:xfrm>
        </p:grpSpPr>
        <p:cxnSp>
          <p:nvCxnSpPr>
            <p:cNvPr id="98" name="Shape 195"/>
            <p:cNvCxnSpPr/>
            <p:nvPr/>
          </p:nvCxnSpPr>
          <p:spPr>
            <a:xfrm rot="5400000">
              <a:off x="8699407" y="2104223"/>
              <a:ext cx="714300" cy="1500"/>
            </a:xfrm>
            <a:prstGeom prst="straightConnector1">
              <a:avLst/>
            </a:prstGeom>
            <a:noFill/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99" name="Shape 196"/>
            <p:cNvSpPr txBox="1"/>
            <p:nvPr/>
          </p:nvSpPr>
          <p:spPr>
            <a:xfrm>
              <a:off x="9019769" y="1375260"/>
              <a:ext cx="889366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 dirty="0" smtClean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end</a:t>
              </a:r>
              <a:endParaRPr sz="28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00" name="Рисунок 9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7172" y="4050321"/>
            <a:ext cx="1396105" cy="678544"/>
          </a:xfrm>
          <a:prstGeom prst="rect">
            <a:avLst/>
          </a:prstGeom>
        </p:spPr>
      </p:pic>
      <p:pic>
        <p:nvPicPr>
          <p:cNvPr id="101" name="Рисунок 10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2574" y="3486519"/>
            <a:ext cx="1396105" cy="678544"/>
          </a:xfrm>
          <a:prstGeom prst="rect">
            <a:avLst/>
          </a:prstGeom>
        </p:spPr>
      </p:pic>
      <p:sp>
        <p:nvSpPr>
          <p:cNvPr id="102" name="Shape 215"/>
          <p:cNvSpPr txBox="1"/>
          <p:nvPr/>
        </p:nvSpPr>
        <p:spPr>
          <a:xfrm>
            <a:off x="5901884" y="2829731"/>
            <a:ext cx="360040" cy="445631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28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Shape 216"/>
          <p:cNvSpPr txBox="1"/>
          <p:nvPr/>
        </p:nvSpPr>
        <p:spPr>
          <a:xfrm>
            <a:off x="10702295" y="2863831"/>
            <a:ext cx="360040" cy="445631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28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Shape 216"/>
          <p:cNvSpPr txBox="1"/>
          <p:nvPr/>
        </p:nvSpPr>
        <p:spPr>
          <a:xfrm>
            <a:off x="8313345" y="2840956"/>
            <a:ext cx="360040" cy="445631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8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5" name="Группа 104"/>
          <p:cNvGrpSpPr/>
          <p:nvPr/>
        </p:nvGrpSpPr>
        <p:grpSpPr>
          <a:xfrm>
            <a:off x="11532162" y="5454334"/>
            <a:ext cx="375300" cy="1192061"/>
            <a:chOff x="5645064" y="987493"/>
            <a:chExt cx="375300" cy="1135296"/>
          </a:xfrm>
        </p:grpSpPr>
        <p:cxnSp>
          <p:nvCxnSpPr>
            <p:cNvPr id="106" name="Shape 248"/>
            <p:cNvCxnSpPr/>
            <p:nvPr/>
          </p:nvCxnSpPr>
          <p:spPr>
            <a:xfrm rot="5400000">
              <a:off x="5288664" y="1764889"/>
              <a:ext cx="714300" cy="1500"/>
            </a:xfrm>
            <a:prstGeom prst="straightConnector1">
              <a:avLst/>
            </a:prstGeom>
            <a:noFill/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107" name="Shape 249"/>
            <p:cNvSpPr txBox="1"/>
            <p:nvPr/>
          </p:nvSpPr>
          <p:spPr>
            <a:xfrm>
              <a:off x="5645064" y="987493"/>
              <a:ext cx="3753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q</a:t>
              </a:r>
              <a:endParaRPr sz="28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aphicFrame>
        <p:nvGraphicFramePr>
          <p:cNvPr id="156" name="Shape 297"/>
          <p:cNvGraphicFramePr/>
          <p:nvPr>
            <p:extLst>
              <p:ext uri="{D42A27DB-BD31-4B8C-83A1-F6EECF244321}">
                <p14:modId xmlns:p14="http://schemas.microsoft.com/office/powerpoint/2010/main" val="3520182794"/>
              </p:ext>
            </p:extLst>
          </p:nvPr>
        </p:nvGraphicFramePr>
        <p:xfrm>
          <a:off x="3771870" y="5240733"/>
          <a:ext cx="1460675" cy="1849602"/>
        </p:xfrm>
        <a:graphic>
          <a:graphicData uri="http://schemas.openxmlformats.org/drawingml/2006/table">
            <a:tbl>
              <a:tblPr>
                <a:noFill/>
                <a:tableStyleId>{A658CFA3-1ECF-4F86-BB5C-CF7618A15973}</a:tableStyleId>
              </a:tblPr>
              <a:tblGrid>
                <a:gridCol w="1460675"/>
              </a:tblGrid>
              <a:tr h="61653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 b="1" dirty="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5996" marB="95996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C78D8"/>
                    </a:solidFill>
                  </a:tcPr>
                </a:tc>
              </a:tr>
              <a:tr h="61653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 dirty="0"/>
                    </a:p>
                  </a:txBody>
                  <a:tcPr marL="91425" marR="91425" marT="95996" marB="95996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D9EEB"/>
                    </a:solidFill>
                  </a:tcPr>
                </a:tc>
              </a:tr>
              <a:tr h="61653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 dirty="0"/>
                    </a:p>
                  </a:txBody>
                  <a:tcPr marL="91425" marR="91425" marT="95996" marB="95996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</a:tr>
            </a:tbl>
          </a:graphicData>
        </a:graphic>
      </p:graphicFrame>
      <p:cxnSp>
        <p:nvCxnSpPr>
          <p:cNvPr id="157" name="Shape 298"/>
          <p:cNvCxnSpPr>
            <a:endCxn id="169" idx="3"/>
          </p:cNvCxnSpPr>
          <p:nvPr/>
        </p:nvCxnSpPr>
        <p:spPr>
          <a:xfrm flipH="1">
            <a:off x="5280456" y="6802399"/>
            <a:ext cx="2464718" cy="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58" name="Shape 299"/>
          <p:cNvCxnSpPr>
            <a:stCxn id="156" idx="3"/>
            <a:endCxn id="159" idx="1"/>
          </p:cNvCxnSpPr>
          <p:nvPr/>
        </p:nvCxnSpPr>
        <p:spPr>
          <a:xfrm flipV="1">
            <a:off x="5232545" y="6138668"/>
            <a:ext cx="2512632" cy="26866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stealth" w="med" len="med"/>
          </a:ln>
        </p:spPr>
      </p:cxnSp>
      <p:graphicFrame>
        <p:nvGraphicFramePr>
          <p:cNvPr id="159" name="Shape 300"/>
          <p:cNvGraphicFramePr/>
          <p:nvPr>
            <p:extLst>
              <p:ext uri="{D42A27DB-BD31-4B8C-83A1-F6EECF244321}">
                <p14:modId xmlns:p14="http://schemas.microsoft.com/office/powerpoint/2010/main" val="3251147694"/>
              </p:ext>
            </p:extLst>
          </p:nvPr>
        </p:nvGraphicFramePr>
        <p:xfrm>
          <a:off x="7745177" y="5213867"/>
          <a:ext cx="1478175" cy="1849602"/>
        </p:xfrm>
        <a:graphic>
          <a:graphicData uri="http://schemas.openxmlformats.org/drawingml/2006/table">
            <a:tbl>
              <a:tblPr>
                <a:noFill/>
                <a:tableStyleId>{A658CFA3-1ECF-4F86-BB5C-CF7618A15973}</a:tableStyleId>
              </a:tblPr>
              <a:tblGrid>
                <a:gridCol w="1478175"/>
              </a:tblGrid>
              <a:tr h="61653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 b="1" dirty="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5996" marB="95996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C78D8"/>
                    </a:solidFill>
                  </a:tcPr>
                </a:tc>
              </a:tr>
              <a:tr h="61653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 dirty="0"/>
                    </a:p>
                  </a:txBody>
                  <a:tcPr marL="91425" marR="91425" marT="95996" marB="95996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D9EEB"/>
                    </a:solidFill>
                  </a:tcPr>
                </a:tc>
              </a:tr>
              <a:tr h="61653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 dirty="0"/>
                    </a:p>
                  </a:txBody>
                  <a:tcPr marL="91425" marR="91425" marT="95996" marB="95996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0" name="Shape 301"/>
          <p:cNvGraphicFramePr/>
          <p:nvPr>
            <p:extLst>
              <p:ext uri="{D42A27DB-BD31-4B8C-83A1-F6EECF244321}">
                <p14:modId xmlns:p14="http://schemas.microsoft.com/office/powerpoint/2010/main" val="63256956"/>
              </p:ext>
            </p:extLst>
          </p:nvPr>
        </p:nvGraphicFramePr>
        <p:xfrm>
          <a:off x="10154514" y="5213881"/>
          <a:ext cx="1460675" cy="1849602"/>
        </p:xfrm>
        <a:graphic>
          <a:graphicData uri="http://schemas.openxmlformats.org/drawingml/2006/table">
            <a:tbl>
              <a:tblPr>
                <a:noFill/>
                <a:tableStyleId>{A658CFA3-1ECF-4F86-BB5C-CF7618A15973}</a:tableStyleId>
              </a:tblPr>
              <a:tblGrid>
                <a:gridCol w="1460675"/>
              </a:tblGrid>
              <a:tr h="61653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 b="1" dirty="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5996" marB="95996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C78D8"/>
                    </a:solidFill>
                  </a:tcPr>
                </a:tc>
              </a:tr>
              <a:tr h="61653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 dirty="0"/>
                    </a:p>
                  </a:txBody>
                  <a:tcPr marL="91425" marR="91425" marT="95996" marB="95996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D9EEB"/>
                    </a:solidFill>
                  </a:tcPr>
                </a:tc>
              </a:tr>
              <a:tr h="61653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/>
                    </a:p>
                  </a:txBody>
                  <a:tcPr marL="91425" marR="91425" marT="95996" marB="95996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</a:tr>
            </a:tbl>
          </a:graphicData>
        </a:graphic>
      </p:graphicFrame>
      <p:cxnSp>
        <p:nvCxnSpPr>
          <p:cNvPr id="161" name="Shape 302"/>
          <p:cNvCxnSpPr/>
          <p:nvPr/>
        </p:nvCxnSpPr>
        <p:spPr>
          <a:xfrm flipH="1">
            <a:off x="9240736" y="6794209"/>
            <a:ext cx="895500" cy="819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62" name="Shape 303"/>
          <p:cNvCxnSpPr/>
          <p:nvPr/>
        </p:nvCxnSpPr>
        <p:spPr>
          <a:xfrm rot="10800000" flipH="1">
            <a:off x="9263411" y="6165534"/>
            <a:ext cx="891000" cy="378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stealth" w="med" len="med"/>
          </a:ln>
        </p:spPr>
      </p:cxnSp>
      <p:grpSp>
        <p:nvGrpSpPr>
          <p:cNvPr id="163" name="Группа 162"/>
          <p:cNvGrpSpPr/>
          <p:nvPr/>
        </p:nvGrpSpPr>
        <p:grpSpPr>
          <a:xfrm>
            <a:off x="3410266" y="4097236"/>
            <a:ext cx="692403" cy="1099865"/>
            <a:chOff x="7947984" y="1051299"/>
            <a:chExt cx="692403" cy="1047490"/>
          </a:xfrm>
        </p:grpSpPr>
        <p:cxnSp>
          <p:nvCxnSpPr>
            <p:cNvPr id="164" name="Shape 250"/>
            <p:cNvCxnSpPr/>
            <p:nvPr/>
          </p:nvCxnSpPr>
          <p:spPr>
            <a:xfrm rot="5400000">
              <a:off x="8282487" y="1740889"/>
              <a:ext cx="714300" cy="1500"/>
            </a:xfrm>
            <a:prstGeom prst="straightConnector1">
              <a:avLst/>
            </a:prstGeom>
            <a:noFill/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165" name="Shape 251"/>
            <p:cNvSpPr txBox="1"/>
            <p:nvPr/>
          </p:nvSpPr>
          <p:spPr>
            <a:xfrm>
              <a:off x="7947984" y="1051299"/>
              <a:ext cx="6909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top</a:t>
              </a:r>
              <a:endParaRPr sz="28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6" name="Группа 165"/>
          <p:cNvGrpSpPr/>
          <p:nvPr/>
        </p:nvGrpSpPr>
        <p:grpSpPr>
          <a:xfrm>
            <a:off x="11302771" y="4050322"/>
            <a:ext cx="889366" cy="1141206"/>
            <a:chOff x="9019769" y="1375260"/>
            <a:chExt cx="889366" cy="1086863"/>
          </a:xfrm>
        </p:grpSpPr>
        <p:cxnSp>
          <p:nvCxnSpPr>
            <p:cNvPr id="167" name="Shape 195"/>
            <p:cNvCxnSpPr/>
            <p:nvPr/>
          </p:nvCxnSpPr>
          <p:spPr>
            <a:xfrm rot="5400000">
              <a:off x="8699407" y="2104223"/>
              <a:ext cx="714300" cy="1500"/>
            </a:xfrm>
            <a:prstGeom prst="straightConnector1">
              <a:avLst/>
            </a:prstGeom>
            <a:noFill/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168" name="Shape 196"/>
            <p:cNvSpPr txBox="1"/>
            <p:nvPr/>
          </p:nvSpPr>
          <p:spPr>
            <a:xfrm>
              <a:off x="9019769" y="1375260"/>
              <a:ext cx="889366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 dirty="0" smtClean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end</a:t>
              </a:r>
              <a:endParaRPr sz="28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69" name="Рисунок 16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4354" y="6463127"/>
            <a:ext cx="1396105" cy="678544"/>
          </a:xfrm>
          <a:prstGeom prst="rect">
            <a:avLst/>
          </a:prstGeom>
        </p:spPr>
      </p:pic>
      <p:pic>
        <p:nvPicPr>
          <p:cNvPr id="170" name="Рисунок 16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2711" y="5956239"/>
            <a:ext cx="1396105" cy="678544"/>
          </a:xfrm>
          <a:prstGeom prst="rect">
            <a:avLst/>
          </a:prstGeom>
        </p:spPr>
      </p:pic>
      <p:sp>
        <p:nvSpPr>
          <p:cNvPr id="171" name="Shape 215"/>
          <p:cNvSpPr txBox="1"/>
          <p:nvPr/>
        </p:nvSpPr>
        <p:spPr>
          <a:xfrm>
            <a:off x="4275520" y="5283383"/>
            <a:ext cx="360040" cy="445631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28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Shape 216"/>
          <p:cNvSpPr txBox="1"/>
          <p:nvPr/>
        </p:nvSpPr>
        <p:spPr>
          <a:xfrm>
            <a:off x="10702432" y="5333551"/>
            <a:ext cx="360040" cy="445631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28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Shape 216"/>
          <p:cNvSpPr txBox="1"/>
          <p:nvPr/>
        </p:nvSpPr>
        <p:spPr>
          <a:xfrm>
            <a:off x="8313482" y="5310677"/>
            <a:ext cx="360040" cy="445631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8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0" name="Shape 297"/>
          <p:cNvGraphicFramePr/>
          <p:nvPr>
            <p:extLst>
              <p:ext uri="{D42A27DB-BD31-4B8C-83A1-F6EECF244321}">
                <p14:modId xmlns:p14="http://schemas.microsoft.com/office/powerpoint/2010/main" val="909194778"/>
              </p:ext>
            </p:extLst>
          </p:nvPr>
        </p:nvGraphicFramePr>
        <p:xfrm>
          <a:off x="5732280" y="3222684"/>
          <a:ext cx="1460675" cy="1849602"/>
        </p:xfrm>
        <a:graphic>
          <a:graphicData uri="http://schemas.openxmlformats.org/drawingml/2006/table">
            <a:tbl>
              <a:tblPr>
                <a:noFill/>
                <a:tableStyleId>{A658CFA3-1ECF-4F86-BB5C-CF7618A15973}</a:tableStyleId>
              </a:tblPr>
              <a:tblGrid>
                <a:gridCol w="1460675"/>
              </a:tblGrid>
              <a:tr h="61653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 b="1" dirty="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5996" marB="95996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C78D8"/>
                    </a:solidFill>
                  </a:tcPr>
                </a:tc>
              </a:tr>
              <a:tr h="61653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/>
                    </a:p>
                  </a:txBody>
                  <a:tcPr marL="91425" marR="91425" marT="95996" marB="95996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D9EEB"/>
                    </a:solidFill>
                  </a:tcPr>
                </a:tc>
              </a:tr>
              <a:tr h="61653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 dirty="0"/>
                    </a:p>
                  </a:txBody>
                  <a:tcPr marL="91425" marR="91425" marT="95996" marB="95996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</a:tr>
            </a:tbl>
          </a:graphicData>
        </a:graphic>
      </p:graphicFrame>
      <p:grpSp>
        <p:nvGrpSpPr>
          <p:cNvPr id="51" name="Группа 50"/>
          <p:cNvGrpSpPr/>
          <p:nvPr/>
        </p:nvGrpSpPr>
        <p:grpSpPr>
          <a:xfrm>
            <a:off x="7005439" y="1951326"/>
            <a:ext cx="375300" cy="1192061"/>
            <a:chOff x="5645064" y="987493"/>
            <a:chExt cx="375300" cy="1135296"/>
          </a:xfrm>
        </p:grpSpPr>
        <p:cxnSp>
          <p:nvCxnSpPr>
            <p:cNvPr id="52" name="Shape 248"/>
            <p:cNvCxnSpPr/>
            <p:nvPr/>
          </p:nvCxnSpPr>
          <p:spPr>
            <a:xfrm rot="5400000">
              <a:off x="5288664" y="1764889"/>
              <a:ext cx="714300" cy="1500"/>
            </a:xfrm>
            <a:prstGeom prst="straightConnector1">
              <a:avLst/>
            </a:prstGeom>
            <a:noFill/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53" name="Shape 249"/>
            <p:cNvSpPr txBox="1"/>
            <p:nvPr/>
          </p:nvSpPr>
          <p:spPr>
            <a:xfrm>
              <a:off x="5645064" y="987493"/>
              <a:ext cx="3753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</a:t>
              </a:r>
              <a:endParaRPr sz="28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4" name="Shape 215"/>
          <p:cNvSpPr txBox="1"/>
          <p:nvPr/>
        </p:nvSpPr>
        <p:spPr>
          <a:xfrm>
            <a:off x="6263474" y="3308281"/>
            <a:ext cx="360040" cy="445631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b="1" dirty="0" smtClean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28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5" name="Группа 54"/>
          <p:cNvGrpSpPr/>
          <p:nvPr/>
        </p:nvGrpSpPr>
        <p:grpSpPr>
          <a:xfrm>
            <a:off x="8687199" y="3991990"/>
            <a:ext cx="375300" cy="1192061"/>
            <a:chOff x="5645064" y="987493"/>
            <a:chExt cx="375300" cy="1135296"/>
          </a:xfrm>
        </p:grpSpPr>
        <p:cxnSp>
          <p:nvCxnSpPr>
            <p:cNvPr id="56" name="Shape 248"/>
            <p:cNvCxnSpPr/>
            <p:nvPr/>
          </p:nvCxnSpPr>
          <p:spPr>
            <a:xfrm rot="5400000">
              <a:off x="5288664" y="1764889"/>
              <a:ext cx="714300" cy="1500"/>
            </a:xfrm>
            <a:prstGeom prst="straightConnector1">
              <a:avLst/>
            </a:prstGeom>
            <a:noFill/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57" name="Shape 249"/>
            <p:cNvSpPr txBox="1"/>
            <p:nvPr/>
          </p:nvSpPr>
          <p:spPr>
            <a:xfrm>
              <a:off x="5645064" y="987493"/>
              <a:ext cx="3753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q</a:t>
              </a:r>
              <a:endParaRPr sz="28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8" name="Соединительная линия уступом 7"/>
          <p:cNvCxnSpPr>
            <a:endCxn id="169" idx="3"/>
          </p:cNvCxnSpPr>
          <p:nvPr/>
        </p:nvCxnSpPr>
        <p:spPr>
          <a:xfrm rot="5400000">
            <a:off x="4831907" y="5533819"/>
            <a:ext cx="1717130" cy="820030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Соединительная линия уступом 10"/>
          <p:cNvCxnSpPr/>
          <p:nvPr/>
        </p:nvCxnSpPr>
        <p:spPr>
          <a:xfrm rot="16200000" flipV="1">
            <a:off x="6420685" y="5496084"/>
            <a:ext cx="1717130" cy="895500"/>
          </a:xfrm>
          <a:prstGeom prst="bentConnector3">
            <a:avLst>
              <a:gd name="adj1" fmla="val 864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Соединительная линия уступом 20"/>
          <p:cNvCxnSpPr>
            <a:stCxn id="156" idx="3"/>
            <a:endCxn id="50" idx="1"/>
          </p:cNvCxnSpPr>
          <p:nvPr/>
        </p:nvCxnSpPr>
        <p:spPr>
          <a:xfrm flipV="1">
            <a:off x="5232545" y="4147485"/>
            <a:ext cx="499735" cy="2018049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Соединительная линия уступом 25"/>
          <p:cNvCxnSpPr>
            <a:stCxn id="50" idx="3"/>
            <a:endCxn id="159" idx="1"/>
          </p:cNvCxnSpPr>
          <p:nvPr/>
        </p:nvCxnSpPr>
        <p:spPr>
          <a:xfrm>
            <a:off x="7192955" y="4147485"/>
            <a:ext cx="552222" cy="1991183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8" name="Группа 57"/>
          <p:cNvGrpSpPr>
            <a:grpSpLocks/>
          </p:cNvGrpSpPr>
          <p:nvPr/>
        </p:nvGrpSpPr>
        <p:grpSpPr>
          <a:xfrm>
            <a:off x="10162605" y="708664"/>
            <a:ext cx="1077338" cy="1239795"/>
            <a:chOff x="9795437" y="5375754"/>
            <a:chExt cx="1077338" cy="1180757"/>
          </a:xfrm>
        </p:grpSpPr>
        <p:graphicFrame>
          <p:nvGraphicFramePr>
            <p:cNvPr id="59" name="Shape 163"/>
            <p:cNvGraphicFramePr/>
            <p:nvPr>
              <p:extLst>
                <p:ext uri="{D42A27DB-BD31-4B8C-83A1-F6EECF244321}">
                  <p14:modId xmlns:p14="http://schemas.microsoft.com/office/powerpoint/2010/main" val="2600700057"/>
                </p:ext>
              </p:extLst>
            </p:nvPr>
          </p:nvGraphicFramePr>
          <p:xfrm>
            <a:off x="9795437" y="5375754"/>
            <a:ext cx="432000" cy="1131428"/>
          </p:xfrm>
          <a:graphic>
            <a:graphicData uri="http://schemas.openxmlformats.org/drawingml/2006/table">
              <a:tbl>
                <a:tblPr>
                  <a:noFill/>
                  <a:tableStyleId>{A658CFA3-1ECF-4F86-BB5C-CF7618A15973}</a:tableStyleId>
                </a:tblPr>
                <a:tblGrid>
                  <a:gridCol w="432000"/>
                </a:tblGrid>
                <a:tr h="396000">
                  <a:tc>
                    <a:txBody>
                      <a:bodyPr/>
                      <a:lstStyle/>
                      <a:p>
                        <a:pPr marL="0" lvl="0" indent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900" b="1" dirty="0">
                          <a:solidFill>
                            <a:schemeClr val="lt1"/>
                          </a:solidFill>
                        </a:endParaRPr>
                      </a:p>
                    </a:txBody>
                    <a:tcPr marL="91425" marR="91425" marT="91425" marB="91425">
                      <a:lnL w="2857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2857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2857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2857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3C78D8"/>
                      </a:solidFill>
                    </a:tcPr>
                  </a:tc>
                </a:tr>
                <a:tr h="396000">
                  <a:tc>
                    <a:txBody>
                      <a:bodyPr/>
                      <a:lstStyle/>
                      <a:p>
                        <a:pPr marL="0" lvl="0" indent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900" dirty="0"/>
                      </a:p>
                    </a:txBody>
                    <a:tcPr marL="91425" marR="91425" marT="91425" marB="91425">
                      <a:lnL w="2857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2857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2857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2857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6D9EEB"/>
                      </a:solidFill>
                    </a:tcPr>
                  </a:tc>
                </a:tr>
                <a:tr h="396000">
                  <a:tc>
                    <a:txBody>
                      <a:bodyPr/>
                      <a:lstStyle/>
                      <a:p>
                        <a:pPr marL="0" lvl="0" indent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900" dirty="0"/>
                      </a:p>
                    </a:txBody>
                    <a:tcPr marL="91425" marR="91425" marT="91425" marB="91425">
                      <a:lnL w="2857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2857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2857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2857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A4C2F4"/>
                      </a:solidFill>
                    </a:tcPr>
                  </a:tc>
                </a:tr>
              </a:tbl>
            </a:graphicData>
          </a:graphic>
        </p:graphicFrame>
        <p:sp>
          <p:nvSpPr>
            <p:cNvPr id="60" name="TextBox 59"/>
            <p:cNvSpPr txBox="1"/>
            <p:nvPr/>
          </p:nvSpPr>
          <p:spPr>
            <a:xfrm>
              <a:off x="10200796" y="6204766"/>
              <a:ext cx="671979" cy="3517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b="1" dirty="0" err="1" smtClean="0">
                  <a:solidFill>
                    <a:schemeClr val="tx1"/>
                  </a:solidFill>
                </a:rPr>
                <a:t>prev</a:t>
              </a:r>
              <a:endParaRPr lang="ru-RU" sz="1800" b="1" dirty="0">
                <a:solidFill>
                  <a:schemeClr val="tx1"/>
                </a:solidFill>
              </a:endParaRP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10200797" y="5397150"/>
              <a:ext cx="659155" cy="3517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b="1" dirty="0" smtClean="0">
                  <a:solidFill>
                    <a:schemeClr val="tx1"/>
                  </a:solidFill>
                </a:rPr>
                <a:t>data</a:t>
              </a:r>
              <a:endParaRPr lang="ru-RU" sz="1800" b="1" dirty="0">
                <a:solidFill>
                  <a:schemeClr val="tx1"/>
                </a:solidFill>
              </a:endParaRP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10200796" y="5800958"/>
              <a:ext cx="659155" cy="3517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b="1" dirty="0" smtClean="0">
                  <a:solidFill>
                    <a:schemeClr val="tx1"/>
                  </a:solidFill>
                </a:rPr>
                <a:t>next</a:t>
              </a:r>
              <a:endParaRPr lang="ru-RU" sz="18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63" name="Группа 62"/>
          <p:cNvGrpSpPr/>
          <p:nvPr/>
        </p:nvGrpSpPr>
        <p:grpSpPr>
          <a:xfrm>
            <a:off x="8286786" y="555536"/>
            <a:ext cx="824635" cy="1125065"/>
            <a:chOff x="5806662" y="2252524"/>
            <a:chExt cx="693847" cy="1071490"/>
          </a:xfrm>
        </p:grpSpPr>
        <p:cxnSp>
          <p:nvCxnSpPr>
            <p:cNvPr id="64" name="Shape 289"/>
            <p:cNvCxnSpPr/>
            <p:nvPr/>
          </p:nvCxnSpPr>
          <p:spPr>
            <a:xfrm rot="5400000">
              <a:off x="5450262" y="2966114"/>
              <a:ext cx="714300" cy="1500"/>
            </a:xfrm>
            <a:prstGeom prst="straightConnector1">
              <a:avLst/>
            </a:prstGeom>
            <a:noFill/>
            <a:ln w="38100" cap="flat" cmpd="sng">
              <a:solidFill>
                <a:srgbClr val="FF0000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65" name="Shape 290"/>
            <p:cNvSpPr txBox="1"/>
            <p:nvPr/>
          </p:nvSpPr>
          <p:spPr>
            <a:xfrm>
              <a:off x="5809609" y="2252524"/>
              <a:ext cx="6909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 dirty="0" smtClean="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end</a:t>
              </a:r>
              <a:endParaRPr sz="2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6" name="Группа 65"/>
          <p:cNvGrpSpPr/>
          <p:nvPr/>
        </p:nvGrpSpPr>
        <p:grpSpPr>
          <a:xfrm>
            <a:off x="7211391" y="555536"/>
            <a:ext cx="690900" cy="1125065"/>
            <a:chOff x="5199994" y="2252524"/>
            <a:chExt cx="690900" cy="1071490"/>
          </a:xfrm>
        </p:grpSpPr>
        <p:cxnSp>
          <p:nvCxnSpPr>
            <p:cNvPr id="67" name="Shape 289"/>
            <p:cNvCxnSpPr/>
            <p:nvPr/>
          </p:nvCxnSpPr>
          <p:spPr>
            <a:xfrm rot="5400000">
              <a:off x="5450262" y="2966114"/>
              <a:ext cx="714300" cy="1500"/>
            </a:xfrm>
            <a:prstGeom prst="straightConnector1">
              <a:avLst/>
            </a:prstGeom>
            <a:noFill/>
            <a:ln w="38100" cap="flat" cmpd="sng">
              <a:solidFill>
                <a:srgbClr val="FF0000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68" name="Shape 290"/>
            <p:cNvSpPr txBox="1"/>
            <p:nvPr/>
          </p:nvSpPr>
          <p:spPr>
            <a:xfrm>
              <a:off x="5199994" y="2252524"/>
              <a:ext cx="6909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 dirty="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top</a:t>
              </a:r>
              <a:endParaRPr sz="2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9" name="Группа 68"/>
          <p:cNvGrpSpPr/>
          <p:nvPr/>
        </p:nvGrpSpPr>
        <p:grpSpPr>
          <a:xfrm>
            <a:off x="9253259" y="516219"/>
            <a:ext cx="415306" cy="1125065"/>
            <a:chOff x="5781900" y="2252524"/>
            <a:chExt cx="415306" cy="1071490"/>
          </a:xfrm>
        </p:grpSpPr>
        <p:cxnSp>
          <p:nvCxnSpPr>
            <p:cNvPr id="70" name="Shape 289"/>
            <p:cNvCxnSpPr/>
            <p:nvPr/>
          </p:nvCxnSpPr>
          <p:spPr>
            <a:xfrm rot="5400000">
              <a:off x="5450262" y="2966114"/>
              <a:ext cx="714300" cy="1500"/>
            </a:xfrm>
            <a:prstGeom prst="straightConnector1">
              <a:avLst/>
            </a:prstGeom>
            <a:noFill/>
            <a:ln w="38100" cap="flat" cmpd="sng">
              <a:solidFill>
                <a:srgbClr val="FF0000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71" name="Shape 290"/>
            <p:cNvSpPr txBox="1"/>
            <p:nvPr/>
          </p:nvSpPr>
          <p:spPr>
            <a:xfrm>
              <a:off x="5781900" y="2252524"/>
              <a:ext cx="415306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 dirty="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q</a:t>
              </a:r>
              <a:endParaRPr sz="2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2" name="TextBox 71"/>
          <p:cNvSpPr txBox="1"/>
          <p:nvPr/>
        </p:nvSpPr>
        <p:spPr>
          <a:xfrm>
            <a:off x="4207864" y="1155125"/>
            <a:ext cx="99418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b="1" dirty="0" smtClean="0">
                <a:solidFill>
                  <a:schemeClr val="tx1"/>
                </a:solidFill>
              </a:rPr>
              <a:t>х = </a:t>
            </a:r>
            <a:r>
              <a:rPr lang="ru-RU" sz="2800" b="1" dirty="0">
                <a:solidFill>
                  <a:srgbClr val="FF0000"/>
                </a:solidFill>
              </a:rPr>
              <a:t>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repeatCount="3000" fill="remove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50" autoRev="1" fill="remove"/>
                                        <p:tgtEl>
                                          <p:spTgt spid="3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7" dur="250" autoRev="1" fill="remove"/>
                                        <p:tgtEl>
                                          <p:spTgt spid="3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8" dur="250" autoRev="1" fill="remove"/>
                                        <p:tgtEl>
                                          <p:spTgt spid="3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250" autoRev="1" fill="remove"/>
                                        <p:tgtEl>
                                          <p:spTgt spid="3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27" presetClass="emph" presetSubtype="0" repeatCount="3000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250" autoRev="1" fill="remove"/>
                                        <p:tgtEl>
                                          <p:spTgt spid="3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2" dur="250" autoRev="1" fill="remove"/>
                                        <p:tgtEl>
                                          <p:spTgt spid="3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3" dur="250" autoRev="1" fill="remove"/>
                                        <p:tgtEl>
                                          <p:spTgt spid="3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250" autoRev="1" fill="remove"/>
                                        <p:tgtEl>
                                          <p:spTgt spid="3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3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3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3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3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3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3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3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3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3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3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31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31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31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31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31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31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500"/>
                            </p:stCondLst>
                            <p:childTnLst>
                              <p:par>
                                <p:cTn id="85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4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4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4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5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4" dur="2000" fill="hold"/>
                                        <p:tgtEl>
                                          <p:spTgt spid="3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5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6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6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6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7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1" fill="hold">
                            <p:stCondLst>
                              <p:cond delay="2000"/>
                            </p:stCondLst>
                            <p:childTnLst>
                              <p:par>
                                <p:cTn id="172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4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5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9" dur="2000" fill="hold"/>
                                        <p:tgtEl>
                                          <p:spTgt spid="3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0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8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9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9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9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>
                      <p:stCondLst>
                        <p:cond delay="indefinite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9" dur="2000" fill="hold"/>
                                        <p:tgtEl>
                                          <p:spTgt spid="3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00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7 3.7037E-6 L -0.2086 -0.54422 " pathEditMode="relative" rAng="0" ptsTypes="AA">
                                      <p:cBhvr>
                                        <p:cTn id="201" dur="2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508" y="-2689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>
                      <p:stCondLst>
                        <p:cond delay="indefinite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5" dur="2000" fill="hold"/>
                                        <p:tgtEl>
                                          <p:spTgt spid="3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0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8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9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>
                      <p:stCondLst>
                        <p:cond delay="indefinite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3" dur="2000" fill="hold"/>
                                        <p:tgtEl>
                                          <p:spTgt spid="3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14" presetID="37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95833E-6 -7.40741E-7 L -0.05247 0.04005 C -0.06328 0.04907 -0.07968 0.05394 -0.09687 0.05394 C -0.1164 0.05394 -0.13203 0.04907 -0.14283 0.04005 L -0.19518 -7.40741E-7 " pathEditMode="relative" rAng="0" ptsTypes="AAAAA">
                                      <p:cBhvr>
                                        <p:cTn id="215" dur="18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766" y="268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>
                      <p:stCondLst>
                        <p:cond delay="indefinite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9" dur="2000" fill="hold"/>
                                        <p:tgtEl>
                                          <p:spTgt spid="3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2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2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3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4" fill="hold">
                      <p:stCondLst>
                        <p:cond delay="indefinite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7" dur="2000" fill="hold"/>
                                        <p:tgtEl>
                                          <p:spTgt spid="3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28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9" dur="2000" fill="hold"/>
                                        <p:tgtEl>
                                          <p:spTgt spid="3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0" presetID="37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45833E-6 0 L -0.05182 -0.05023 C -0.0625 -0.06134 -0.07852 -0.06736 -0.09557 -0.06736 C -0.11471 -0.06736 -0.13008 -0.06134 -0.14076 -0.05023 L -0.19232 0 " pathEditMode="relative" rAng="0" ptsTypes="AAAAA">
                                      <p:cBhvr>
                                        <p:cTn id="231" dur="2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622" y="-338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2" fill="hold">
                      <p:stCondLst>
                        <p:cond delay="indefinite"/>
                      </p:stCondLst>
                      <p:childTnLst>
                        <p:par>
                          <p:cTn id="233" fill="hold">
                            <p:stCondLst>
                              <p:cond delay="0"/>
                            </p:stCondLst>
                            <p:childTnLst>
                              <p:par>
                                <p:cTn id="234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5" dur="2000" fill="hold"/>
                                        <p:tgtEl>
                                          <p:spTgt spid="3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8" fill="hold">
                      <p:stCondLst>
                        <p:cond delay="indefinite"/>
                      </p:stCondLst>
                      <p:childTnLst>
                        <p:par>
                          <p:cTn id="269" fill="hold">
                            <p:stCondLst>
                              <p:cond delay="0"/>
                            </p:stCondLst>
                            <p:childTnLst>
                              <p:par>
                                <p:cTn id="27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2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3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6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0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1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2" fill="hold">
                            <p:stCondLst>
                              <p:cond delay="500"/>
                            </p:stCondLst>
                            <p:childTnLst>
                              <p:par>
                                <p:cTn id="283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9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9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9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9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99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0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0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0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1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1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1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15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2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2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2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2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2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2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3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31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3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4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4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4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4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4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4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47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5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5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5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6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6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63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7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7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7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7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7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79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8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8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9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9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9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9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9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95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0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0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0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0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1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11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1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2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2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2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2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2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2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2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27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3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3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3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3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3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4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4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4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43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5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5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5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5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5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5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5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5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59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6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6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6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7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7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7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75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8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8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8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8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8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8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8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9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91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9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0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0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0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0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0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0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0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7" fill="hold">
                      <p:stCondLst>
                        <p:cond delay="indefinite"/>
                      </p:stCondLst>
                      <p:childTnLst>
                        <p:par>
                          <p:cTn id="508" fill="hold">
                            <p:stCondLst>
                              <p:cond delay="0"/>
                            </p:stCondLst>
                            <p:childTnLst>
                              <p:par>
                                <p:cTn id="50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1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2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3" fill="hold">
                      <p:stCondLst>
                        <p:cond delay="indefinite"/>
                      </p:stCondLst>
                      <p:childTnLst>
                        <p:par>
                          <p:cTn id="514" fill="hold">
                            <p:stCondLst>
                              <p:cond delay="0"/>
                            </p:stCondLst>
                            <p:childTnLst>
                              <p:par>
                                <p:cTn id="51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16" dur="2000" fill="hold"/>
                                        <p:tgtEl>
                                          <p:spTgt spid="31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17" presetID="3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18" dur="1000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9" dur="1000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0" dur="1000"/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21" dur="10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3" fill="hold">
                            <p:stCondLst>
                              <p:cond delay="2000"/>
                            </p:stCondLst>
                            <p:childTnLst>
                              <p:par>
                                <p:cTn id="52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9" fill="hold">
                      <p:stCondLst>
                        <p:cond delay="indefinite"/>
                      </p:stCondLst>
                      <p:childTnLst>
                        <p:par>
                          <p:cTn id="530" fill="hold">
                            <p:stCondLst>
                              <p:cond delay="0"/>
                            </p:stCondLst>
                            <p:childTnLst>
                              <p:par>
                                <p:cTn id="531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32" dur="2000" fill="hold"/>
                                        <p:tgtEl>
                                          <p:spTgt spid="31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33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9" fill="hold">
                      <p:stCondLst>
                        <p:cond delay="indefinite"/>
                      </p:stCondLst>
                      <p:childTnLst>
                        <p:par>
                          <p:cTn id="540" fill="hold">
                            <p:stCondLst>
                              <p:cond delay="0"/>
                            </p:stCondLst>
                            <p:childTnLst>
                              <p:par>
                                <p:cTn id="541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42" dur="2000" fill="hold"/>
                                        <p:tgtEl>
                                          <p:spTgt spid="31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43" presetID="3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44" dur="1000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5" dur="1000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6" dur="1000"/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47" dur="10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9" fill="hold">
                            <p:stCondLst>
                              <p:cond delay="2000"/>
                            </p:stCondLst>
                            <p:childTnLst>
                              <p:par>
                                <p:cTn id="550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5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6" fill="hold">
                      <p:stCondLst>
                        <p:cond delay="indefinite"/>
                      </p:stCondLst>
                      <p:childTnLst>
                        <p:par>
                          <p:cTn id="557" fill="hold">
                            <p:stCondLst>
                              <p:cond delay="0"/>
                            </p:stCondLst>
                            <p:childTnLst>
                              <p:par>
                                <p:cTn id="558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59" dur="2000" fill="hold"/>
                                        <p:tgtEl>
                                          <p:spTgt spid="31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60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2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5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6" fill="hold">
                      <p:stCondLst>
                        <p:cond delay="indefinite"/>
                      </p:stCondLst>
                      <p:childTnLst>
                        <p:par>
                          <p:cTn id="567" fill="hold">
                            <p:stCondLst>
                              <p:cond delay="0"/>
                            </p:stCondLst>
                            <p:childTnLst>
                              <p:par>
                                <p:cTn id="568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69" dur="2000" fill="hold"/>
                                        <p:tgtEl>
                                          <p:spTgt spid="31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70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71" dur="2000" fill="hold"/>
                                        <p:tgtEl>
                                          <p:spTgt spid="31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3" grpId="0" build="p"/>
      <p:bldP spid="102" grpId="0" animBg="1"/>
      <p:bldP spid="102" grpId="1" animBg="1"/>
      <p:bldP spid="103" grpId="0" animBg="1"/>
      <p:bldP spid="103" grpId="1" animBg="1"/>
      <p:bldP spid="104" grpId="0" animBg="1"/>
      <p:bldP spid="104" grpId="1" animBg="1"/>
      <p:bldP spid="171" grpId="0" animBg="1"/>
      <p:bldP spid="172" grpId="0" animBg="1"/>
      <p:bldP spid="173" grpId="0" animBg="1"/>
      <p:bldP spid="54" grpId="0" animBg="1"/>
      <p:bldP spid="7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" name="Shape 186"/>
          <p:cNvGraphicFramePr/>
          <p:nvPr>
            <p:extLst>
              <p:ext uri="{D42A27DB-BD31-4B8C-83A1-F6EECF244321}">
                <p14:modId xmlns:p14="http://schemas.microsoft.com/office/powerpoint/2010/main" val="145427077"/>
              </p:ext>
            </p:extLst>
          </p:nvPr>
        </p:nvGraphicFramePr>
        <p:xfrm>
          <a:off x="10202737" y="1757787"/>
          <a:ext cx="1545921" cy="1849602"/>
        </p:xfrm>
        <a:graphic>
          <a:graphicData uri="http://schemas.openxmlformats.org/drawingml/2006/table">
            <a:tbl>
              <a:tblPr>
                <a:noFill/>
                <a:tableStyleId>{A658CFA3-1ECF-4F86-BB5C-CF7618A15973}</a:tableStyleId>
              </a:tblPr>
              <a:tblGrid>
                <a:gridCol w="1545921"/>
              </a:tblGrid>
              <a:tr h="61653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 b="1" dirty="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5996" marB="95996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C78D8"/>
                    </a:solidFill>
                  </a:tcPr>
                </a:tc>
              </a:tr>
              <a:tr h="61653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 b="1" dirty="0"/>
                    </a:p>
                  </a:txBody>
                  <a:tcPr marL="91425" marR="91425" marT="95996" marB="95996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D9EEB"/>
                    </a:solidFill>
                  </a:tcPr>
                </a:tc>
              </a:tr>
              <a:tr h="61653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 dirty="0"/>
                    </a:p>
                  </a:txBody>
                  <a:tcPr marL="91425" marR="91425" marT="95996" marB="95996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</a:tr>
            </a:tbl>
          </a:graphicData>
        </a:graphic>
      </p:graphicFrame>
      <p:sp>
        <p:nvSpPr>
          <p:cNvPr id="394" name="Shape 394"/>
          <p:cNvSpPr txBox="1">
            <a:spLocks noGrp="1"/>
          </p:cNvSpPr>
          <p:nvPr>
            <p:ph type="title"/>
          </p:nvPr>
        </p:nvSpPr>
        <p:spPr>
          <a:xfrm>
            <a:off x="301175" y="164786"/>
            <a:ext cx="11198098" cy="75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>
              <a:spcBef>
                <a:spcPts val="0"/>
              </a:spcBef>
              <a:buClr>
                <a:schemeClr val="accent1"/>
              </a:buClr>
              <a:buSzPts val="3600"/>
            </a:pPr>
            <a:r>
              <a:rPr lang="ru-RU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Вставка </a:t>
            </a:r>
            <a:r>
              <a:rPr lang="ru-RU" sz="3200" b="1" dirty="0">
                <a:latin typeface="Arial" panose="020B0604020202020204" pitchFamily="34" charset="0"/>
                <a:cs typeface="Arial" panose="020B0604020202020204" pitchFamily="34" charset="0"/>
              </a:rPr>
              <a:t>структуры </a:t>
            </a:r>
            <a:r>
              <a:rPr lang="en-US" sz="3200" b="1" cap="none" dirty="0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lang="ru-RU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3200" b="1" dirty="0">
                <a:latin typeface="Arial" panose="020B0604020202020204" pitchFamily="34" charset="0"/>
                <a:cs typeface="Arial" panose="020B0604020202020204" pitchFamily="34" charset="0"/>
              </a:rPr>
              <a:t>после элемента в </a:t>
            </a:r>
            <a:r>
              <a:rPr lang="ru-RU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списке</a:t>
            </a:r>
            <a:endParaRPr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3" name="Shape 393"/>
          <p:cNvSpPr txBox="1">
            <a:spLocks noGrp="1"/>
          </p:cNvSpPr>
          <p:nvPr>
            <p:ph idx="1"/>
          </p:nvPr>
        </p:nvSpPr>
        <p:spPr>
          <a:xfrm>
            <a:off x="408711" y="1303600"/>
            <a:ext cx="4980708" cy="3831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r>
              <a:rPr lang="en-US" sz="2000" b="0" i="0" u="none" strike="noStrike" cap="none" dirty="0"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void </a:t>
            </a:r>
            <a:r>
              <a:rPr lang="en-US" sz="2000" b="0" i="0" u="none" strike="noStrike" cap="none" dirty="0" err="1"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insert_after</a:t>
            </a:r>
            <a:r>
              <a:rPr lang="en-US" sz="2000" b="0" i="0" u="none" strike="noStrike" cap="none" dirty="0"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(node* &amp;</a:t>
            </a:r>
            <a:r>
              <a:rPr lang="en-US" sz="2000" b="0" i="0" u="none" strike="noStrike" cap="none" dirty="0" err="1" smtClean="0"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top,node</a:t>
            </a:r>
            <a:r>
              <a:rPr lang="en-US" sz="2000" b="0" i="0" u="none" strike="noStrike" cap="none" dirty="0"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* &amp;end</a:t>
            </a:r>
            <a:r>
              <a:rPr lang="en-US" sz="2000" b="0" i="0" u="none" strike="noStrike" cap="none" dirty="0" smtClean="0"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,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r>
              <a:rPr lang="en-US" sz="2000" dirty="0"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 </a:t>
            </a:r>
            <a:r>
              <a:rPr lang="en-US" sz="2000" dirty="0" smtClean="0"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                          </a:t>
            </a:r>
            <a:r>
              <a:rPr lang="en-US" sz="2000" b="0" i="0" u="none" strike="noStrike" cap="none" dirty="0" smtClean="0"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node</a:t>
            </a:r>
            <a:r>
              <a:rPr lang="en-US" sz="2000" b="0" i="0" u="none" strike="noStrike" cap="none" dirty="0"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* q</a:t>
            </a:r>
            <a:r>
              <a:rPr lang="en-US" sz="2000" b="0" i="0" u="none" strike="noStrike" cap="none" dirty="0" smtClean="0"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,</a:t>
            </a:r>
            <a:r>
              <a:rPr lang="en-US" sz="2000" dirty="0" smtClean="0"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  </a:t>
            </a:r>
            <a:r>
              <a:rPr lang="en-US" sz="2000" b="0" i="0" u="none" strike="noStrike" cap="none" dirty="0" err="1" smtClean="0"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int</a:t>
            </a:r>
            <a:r>
              <a:rPr lang="en-US" sz="2000" b="0" i="0" u="none" strike="noStrike" cap="none" dirty="0" smtClean="0"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 </a:t>
            </a:r>
            <a:r>
              <a:rPr lang="en-US" sz="2000" b="0" i="0" u="none" strike="noStrike" cap="none" dirty="0"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x)</a:t>
            </a:r>
            <a:endParaRPr sz="2000" b="0" i="0" u="none" strike="noStrike" cap="none" dirty="0">
              <a:latin typeface="Arial" panose="020B0604020202020204" pitchFamily="34" charset="0"/>
              <a:ea typeface="Trebuchet MS"/>
              <a:cs typeface="Arial" panose="020B0604020202020204" pitchFamily="34" charset="0"/>
              <a:sym typeface="Trebuchet MS"/>
            </a:endParaRPr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r>
              <a:rPr lang="en-US" sz="2000" b="0" i="0" u="none" strike="noStrike" cap="none" dirty="0" smtClean="0"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{</a:t>
            </a:r>
            <a:endParaRPr sz="2000" b="0" i="0" u="none" strike="noStrike" cap="none" dirty="0">
              <a:latin typeface="Arial" panose="020B0604020202020204" pitchFamily="34" charset="0"/>
              <a:ea typeface="Trebuchet MS"/>
              <a:cs typeface="Arial" panose="020B0604020202020204" pitchFamily="34" charset="0"/>
              <a:sym typeface="Trebuchet MS"/>
            </a:endParaRPr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r>
              <a:rPr lang="en-US" sz="2000" b="0" i="0" u="none" strike="noStrike" cap="none" dirty="0"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	   if (q==end) </a:t>
            </a:r>
            <a:endParaRPr lang="en-US" sz="2000" b="0" i="0" u="none" strike="noStrike" cap="none" dirty="0" smtClean="0">
              <a:latin typeface="Arial" panose="020B0604020202020204" pitchFamily="34" charset="0"/>
              <a:ea typeface="Trebuchet MS"/>
              <a:cs typeface="Arial" panose="020B0604020202020204" pitchFamily="34" charset="0"/>
              <a:sym typeface="Trebuchet MS"/>
            </a:endParaRPr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r>
              <a:rPr lang="en-US" sz="2000" dirty="0"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 </a:t>
            </a:r>
            <a:r>
              <a:rPr lang="en-US" sz="2000" dirty="0" smtClean="0"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           </a:t>
            </a:r>
            <a:r>
              <a:rPr lang="en-US" sz="2000" b="0" i="0" u="none" strike="noStrike" cap="none" dirty="0" smtClean="0"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push(</a:t>
            </a:r>
            <a:r>
              <a:rPr lang="en-US" sz="2000" b="0" i="0" u="none" strike="noStrike" cap="none" dirty="0" err="1" smtClean="0"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top,end,x</a:t>
            </a:r>
            <a:r>
              <a:rPr lang="en-US" sz="2000" b="0" i="0" u="none" strike="noStrike" cap="none" dirty="0"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);</a:t>
            </a:r>
            <a:endParaRPr sz="2000" b="0" i="0" u="none" strike="noStrike" cap="none" dirty="0">
              <a:latin typeface="Arial" panose="020B0604020202020204" pitchFamily="34" charset="0"/>
              <a:ea typeface="Trebuchet MS"/>
              <a:cs typeface="Arial" panose="020B0604020202020204" pitchFamily="34" charset="0"/>
              <a:sym typeface="Trebuchet MS"/>
            </a:endParaRPr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r>
              <a:rPr lang="en-US" sz="2000" b="0" i="0" u="none" strike="noStrike" cap="none" dirty="0"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	   else</a:t>
            </a:r>
            <a:endParaRPr sz="2000" b="0" i="0" u="none" strike="noStrike" cap="none" dirty="0">
              <a:latin typeface="Arial" panose="020B0604020202020204" pitchFamily="34" charset="0"/>
              <a:ea typeface="Trebuchet MS"/>
              <a:cs typeface="Arial" panose="020B0604020202020204" pitchFamily="34" charset="0"/>
              <a:sym typeface="Trebuchet MS"/>
            </a:endParaRPr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r>
              <a:rPr lang="en-US" sz="2000" b="0" i="0" u="none" strike="noStrike" cap="none" dirty="0"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	   </a:t>
            </a:r>
            <a:r>
              <a:rPr lang="en-US" sz="2000" b="0" i="0" u="none" strike="noStrike" cap="none" dirty="0" smtClean="0"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  </a:t>
            </a:r>
            <a:r>
              <a:rPr lang="en-US" sz="2000" b="0" i="0" u="none" strike="noStrike" cap="none" dirty="0" err="1" smtClean="0"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insert_before</a:t>
            </a:r>
            <a:r>
              <a:rPr lang="en-US" sz="2000" b="0" i="0" u="none" strike="noStrike" cap="none" dirty="0" smtClean="0"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(</a:t>
            </a:r>
            <a:r>
              <a:rPr lang="en-US" sz="2000" b="0" i="0" u="none" strike="noStrike" cap="none" dirty="0" err="1" smtClean="0"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top,q</a:t>
            </a:r>
            <a:r>
              <a:rPr lang="en-US" sz="2000" b="0" i="0" u="none" strike="noStrike" cap="none" dirty="0" smtClean="0"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-</a:t>
            </a:r>
            <a:r>
              <a:rPr lang="en-US" sz="2000" b="0" i="0" u="none" strike="noStrike" cap="none" dirty="0"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&gt;</a:t>
            </a:r>
            <a:r>
              <a:rPr lang="en-US" sz="2000" b="0" i="0" u="none" strike="noStrike" cap="none" dirty="0" err="1"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next,x</a:t>
            </a:r>
            <a:r>
              <a:rPr lang="en-US" sz="2000" b="0" i="0" u="none" strike="noStrike" cap="none" dirty="0"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);</a:t>
            </a:r>
            <a:endParaRPr sz="2000" b="0" i="0" u="none" strike="noStrike" cap="none" dirty="0">
              <a:latin typeface="Arial" panose="020B0604020202020204" pitchFamily="34" charset="0"/>
              <a:ea typeface="Trebuchet MS"/>
              <a:cs typeface="Arial" panose="020B0604020202020204" pitchFamily="34" charset="0"/>
              <a:sym typeface="Trebuchet MS"/>
            </a:endParaRPr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r>
              <a:rPr lang="en-US" sz="2000" b="0" i="0" u="none" strike="noStrike" cap="none" dirty="0"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}</a:t>
            </a:r>
            <a:endParaRPr sz="2000" b="0" i="0" u="none" strike="noStrike" cap="none" dirty="0">
              <a:latin typeface="Arial" panose="020B0604020202020204" pitchFamily="34" charset="0"/>
              <a:ea typeface="Trebuchet MS"/>
              <a:cs typeface="Arial" panose="020B0604020202020204" pitchFamily="34" charset="0"/>
              <a:sym typeface="Trebuchet MS"/>
            </a:endParaRPr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r>
              <a:rPr lang="en-US" sz="2000" b="0" i="0" u="none" strike="noStrike" cap="none" dirty="0"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 </a:t>
            </a:r>
            <a:endParaRPr sz="2000" b="0" i="0" u="none" strike="noStrike" cap="none" dirty="0">
              <a:latin typeface="Arial" panose="020B0604020202020204" pitchFamily="34" charset="0"/>
              <a:ea typeface="Trebuchet MS"/>
              <a:cs typeface="Arial" panose="020B0604020202020204" pitchFamily="34" charset="0"/>
              <a:sym typeface="Trebuchet MS"/>
            </a:endParaRPr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endParaRPr sz="2000" b="0" i="0" u="none" strike="noStrike" cap="none" dirty="0">
              <a:latin typeface="Arial" panose="020B0604020202020204" pitchFamily="34" charset="0"/>
              <a:ea typeface="Trebuchet MS"/>
              <a:cs typeface="Arial" panose="020B0604020202020204" pitchFamily="34" charset="0"/>
              <a:sym typeface="Trebuchet MS"/>
            </a:endParaRPr>
          </a:p>
        </p:txBody>
      </p:sp>
      <p:graphicFrame>
        <p:nvGraphicFramePr>
          <p:cNvPr id="4" name="Shape 241"/>
          <p:cNvGraphicFramePr/>
          <p:nvPr>
            <p:extLst>
              <p:ext uri="{D42A27DB-BD31-4B8C-83A1-F6EECF244321}">
                <p14:modId xmlns:p14="http://schemas.microsoft.com/office/powerpoint/2010/main" val="1603403628"/>
              </p:ext>
            </p:extLst>
          </p:nvPr>
        </p:nvGraphicFramePr>
        <p:xfrm>
          <a:off x="4942963" y="1801777"/>
          <a:ext cx="1619846" cy="1849602"/>
        </p:xfrm>
        <a:graphic>
          <a:graphicData uri="http://schemas.openxmlformats.org/drawingml/2006/table">
            <a:tbl>
              <a:tblPr>
                <a:noFill/>
                <a:tableStyleId>{A658CFA3-1ECF-4F86-BB5C-CF7618A15973}</a:tableStyleId>
              </a:tblPr>
              <a:tblGrid>
                <a:gridCol w="1619846"/>
              </a:tblGrid>
              <a:tr h="61653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 b="1" dirty="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5996" marB="95996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C78D8"/>
                    </a:solidFill>
                  </a:tcPr>
                </a:tc>
              </a:tr>
              <a:tr h="61653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/>
                    </a:p>
                  </a:txBody>
                  <a:tcPr marL="91425" marR="91425" marT="95996" marB="95996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D9EEB"/>
                    </a:solidFill>
                  </a:tcPr>
                </a:tc>
              </a:tr>
              <a:tr h="61653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 dirty="0"/>
                    </a:p>
                  </a:txBody>
                  <a:tcPr marL="91425" marR="91425" marT="95996" marB="95996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</a:tr>
            </a:tbl>
          </a:graphicData>
        </a:graphic>
      </p:graphicFrame>
      <p:grpSp>
        <p:nvGrpSpPr>
          <p:cNvPr id="5" name="Группа 4"/>
          <p:cNvGrpSpPr/>
          <p:nvPr/>
        </p:nvGrpSpPr>
        <p:grpSpPr>
          <a:xfrm>
            <a:off x="11499276" y="61891"/>
            <a:ext cx="416197" cy="1192061"/>
            <a:chOff x="5645064" y="987493"/>
            <a:chExt cx="375300" cy="1135296"/>
          </a:xfrm>
        </p:grpSpPr>
        <p:cxnSp>
          <p:nvCxnSpPr>
            <p:cNvPr id="6" name="Shape 248"/>
            <p:cNvCxnSpPr/>
            <p:nvPr/>
          </p:nvCxnSpPr>
          <p:spPr>
            <a:xfrm rot="5400000">
              <a:off x="5288664" y="1764889"/>
              <a:ext cx="714300" cy="1500"/>
            </a:xfrm>
            <a:prstGeom prst="straightConnector1">
              <a:avLst/>
            </a:prstGeom>
            <a:noFill/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7" name="Shape 249"/>
            <p:cNvSpPr txBox="1"/>
            <p:nvPr/>
          </p:nvSpPr>
          <p:spPr>
            <a:xfrm>
              <a:off x="5645064" y="987493"/>
              <a:ext cx="3753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q</a:t>
              </a:r>
              <a:endParaRPr sz="28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" name="Группа 7"/>
          <p:cNvGrpSpPr/>
          <p:nvPr/>
        </p:nvGrpSpPr>
        <p:grpSpPr>
          <a:xfrm>
            <a:off x="5607135" y="657922"/>
            <a:ext cx="766188" cy="1099865"/>
            <a:chOff x="8022948" y="1051299"/>
            <a:chExt cx="690900" cy="1047490"/>
          </a:xfrm>
        </p:grpSpPr>
        <p:cxnSp>
          <p:nvCxnSpPr>
            <p:cNvPr id="9" name="Shape 250"/>
            <p:cNvCxnSpPr/>
            <p:nvPr/>
          </p:nvCxnSpPr>
          <p:spPr>
            <a:xfrm rot="5400000">
              <a:off x="8282487" y="1740889"/>
              <a:ext cx="714300" cy="1500"/>
            </a:xfrm>
            <a:prstGeom prst="straightConnector1">
              <a:avLst/>
            </a:prstGeom>
            <a:noFill/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10" name="Shape 251"/>
            <p:cNvSpPr txBox="1"/>
            <p:nvPr/>
          </p:nvSpPr>
          <p:spPr>
            <a:xfrm>
              <a:off x="8022948" y="1051299"/>
              <a:ext cx="6909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top</a:t>
              </a:r>
              <a:endParaRPr sz="28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aphicFrame>
        <p:nvGraphicFramePr>
          <p:cNvPr id="11" name="Shape 245"/>
          <p:cNvGraphicFramePr/>
          <p:nvPr>
            <p:extLst>
              <p:ext uri="{D42A27DB-BD31-4B8C-83A1-F6EECF244321}">
                <p14:modId xmlns:p14="http://schemas.microsoft.com/office/powerpoint/2010/main" val="1808903391"/>
              </p:ext>
            </p:extLst>
          </p:nvPr>
        </p:nvGraphicFramePr>
        <p:xfrm>
          <a:off x="7552320" y="1812217"/>
          <a:ext cx="1619846" cy="1849602"/>
        </p:xfrm>
        <a:graphic>
          <a:graphicData uri="http://schemas.openxmlformats.org/drawingml/2006/table">
            <a:tbl>
              <a:tblPr>
                <a:noFill/>
                <a:tableStyleId>{A658CFA3-1ECF-4F86-BB5C-CF7618A15973}</a:tableStyleId>
              </a:tblPr>
              <a:tblGrid>
                <a:gridCol w="1619846"/>
              </a:tblGrid>
              <a:tr h="61653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 b="1" dirty="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5996" marB="95996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C78D8"/>
                    </a:solidFill>
                  </a:tcPr>
                </a:tc>
              </a:tr>
              <a:tr h="61653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 dirty="0"/>
                    </a:p>
                  </a:txBody>
                  <a:tcPr marL="91425" marR="91425" marT="95996" marB="95996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D9EEB"/>
                    </a:solidFill>
                  </a:tcPr>
                </a:tc>
              </a:tr>
              <a:tr h="61653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 dirty="0"/>
                    </a:p>
                  </a:txBody>
                  <a:tcPr marL="91425" marR="91425" marT="95996" marB="95996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</a:tr>
            </a:tbl>
          </a:graphicData>
        </a:graphic>
      </p:graphicFrame>
      <p:grpSp>
        <p:nvGrpSpPr>
          <p:cNvPr id="14" name="Группа 13"/>
          <p:cNvGrpSpPr/>
          <p:nvPr/>
        </p:nvGrpSpPr>
        <p:grpSpPr>
          <a:xfrm>
            <a:off x="8509956" y="601056"/>
            <a:ext cx="986281" cy="1141206"/>
            <a:chOff x="9019769" y="1375260"/>
            <a:chExt cx="889366" cy="1086863"/>
          </a:xfrm>
        </p:grpSpPr>
        <p:cxnSp>
          <p:nvCxnSpPr>
            <p:cNvPr id="15" name="Shape 195"/>
            <p:cNvCxnSpPr/>
            <p:nvPr/>
          </p:nvCxnSpPr>
          <p:spPr>
            <a:xfrm rot="5400000">
              <a:off x="8699407" y="2104223"/>
              <a:ext cx="714300" cy="1500"/>
            </a:xfrm>
            <a:prstGeom prst="straightConnector1">
              <a:avLst/>
            </a:prstGeom>
            <a:noFill/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16" name="Shape 196"/>
            <p:cNvSpPr txBox="1"/>
            <p:nvPr/>
          </p:nvSpPr>
          <p:spPr>
            <a:xfrm>
              <a:off x="9019769" y="1375260"/>
              <a:ext cx="889366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 dirty="0" smtClean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end</a:t>
              </a:r>
              <a:endParaRPr sz="28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8" name="Shape 243"/>
          <p:cNvCxnSpPr/>
          <p:nvPr/>
        </p:nvCxnSpPr>
        <p:spPr>
          <a:xfrm flipV="1">
            <a:off x="6547466" y="2743535"/>
            <a:ext cx="988093" cy="567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3" name="Shape 240"/>
          <p:cNvSpPr txBox="1"/>
          <p:nvPr/>
        </p:nvSpPr>
        <p:spPr>
          <a:xfrm>
            <a:off x="8150959" y="1876598"/>
            <a:ext cx="369406" cy="486646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28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Shape 239"/>
          <p:cNvSpPr txBox="1"/>
          <p:nvPr/>
        </p:nvSpPr>
        <p:spPr>
          <a:xfrm>
            <a:off x="5519884" y="1857629"/>
            <a:ext cx="369406" cy="50395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28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" name="Рисунок 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9930" y="3046555"/>
            <a:ext cx="1548240" cy="678544"/>
          </a:xfrm>
          <a:prstGeom prst="rect">
            <a:avLst/>
          </a:prstGeom>
        </p:spPr>
      </p:pic>
      <p:cxnSp>
        <p:nvCxnSpPr>
          <p:cNvPr id="35" name="Shape 298"/>
          <p:cNvCxnSpPr/>
          <p:nvPr/>
        </p:nvCxnSpPr>
        <p:spPr>
          <a:xfrm flipH="1">
            <a:off x="6546153" y="3382132"/>
            <a:ext cx="989406" cy="49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39" name="Shape 191"/>
          <p:cNvCxnSpPr/>
          <p:nvPr/>
        </p:nvCxnSpPr>
        <p:spPr>
          <a:xfrm flipH="1">
            <a:off x="9144000" y="3340854"/>
            <a:ext cx="1057670" cy="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40" name="Shape 192"/>
          <p:cNvCxnSpPr/>
          <p:nvPr/>
        </p:nvCxnSpPr>
        <p:spPr>
          <a:xfrm flipV="1">
            <a:off x="9144000" y="2731796"/>
            <a:ext cx="1057670" cy="11739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48" name="Shape 240"/>
          <p:cNvSpPr txBox="1"/>
          <p:nvPr/>
        </p:nvSpPr>
        <p:spPr>
          <a:xfrm>
            <a:off x="10782034" y="1808582"/>
            <a:ext cx="369406" cy="486646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8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9" name="Shape 297"/>
          <p:cNvGraphicFramePr/>
          <p:nvPr>
            <p:extLst>
              <p:ext uri="{D42A27DB-BD31-4B8C-83A1-F6EECF244321}">
                <p14:modId xmlns:p14="http://schemas.microsoft.com/office/powerpoint/2010/main" val="1922748789"/>
              </p:ext>
            </p:extLst>
          </p:nvPr>
        </p:nvGraphicFramePr>
        <p:xfrm>
          <a:off x="5079931" y="5212681"/>
          <a:ext cx="1551438" cy="1849602"/>
        </p:xfrm>
        <a:graphic>
          <a:graphicData uri="http://schemas.openxmlformats.org/drawingml/2006/table">
            <a:tbl>
              <a:tblPr>
                <a:noFill/>
                <a:tableStyleId>{A658CFA3-1ECF-4F86-BB5C-CF7618A15973}</a:tableStyleId>
              </a:tblPr>
              <a:tblGrid>
                <a:gridCol w="1551438"/>
              </a:tblGrid>
              <a:tr h="61653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 b="1" dirty="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5996" marB="95996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C78D8"/>
                    </a:solidFill>
                  </a:tcPr>
                </a:tc>
              </a:tr>
              <a:tr h="61653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 dirty="0"/>
                    </a:p>
                  </a:txBody>
                  <a:tcPr marL="91425" marR="91425" marT="95996" marB="95996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D9EEB"/>
                    </a:solidFill>
                  </a:tcPr>
                </a:tc>
              </a:tr>
              <a:tr h="61653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 dirty="0"/>
                    </a:p>
                  </a:txBody>
                  <a:tcPr marL="91425" marR="91425" marT="95996" marB="95996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</a:tr>
            </a:tbl>
          </a:graphicData>
        </a:graphic>
      </p:graphicFrame>
      <p:cxnSp>
        <p:nvCxnSpPr>
          <p:cNvPr id="50" name="Shape 298"/>
          <p:cNvCxnSpPr>
            <a:endCxn id="53" idx="3"/>
          </p:cNvCxnSpPr>
          <p:nvPr/>
        </p:nvCxnSpPr>
        <p:spPr>
          <a:xfrm flipH="1">
            <a:off x="6679282" y="6774345"/>
            <a:ext cx="2464718" cy="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51" name="Shape 299"/>
          <p:cNvCxnSpPr>
            <a:stCxn id="49" idx="3"/>
            <a:endCxn id="52" idx="1"/>
          </p:cNvCxnSpPr>
          <p:nvPr/>
        </p:nvCxnSpPr>
        <p:spPr>
          <a:xfrm flipV="1">
            <a:off x="6631369" y="6110615"/>
            <a:ext cx="2512631" cy="26867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stealth" w="med" len="med"/>
          </a:ln>
        </p:spPr>
      </p:cxnSp>
      <p:graphicFrame>
        <p:nvGraphicFramePr>
          <p:cNvPr id="52" name="Shape 300"/>
          <p:cNvGraphicFramePr/>
          <p:nvPr>
            <p:extLst>
              <p:ext uri="{D42A27DB-BD31-4B8C-83A1-F6EECF244321}">
                <p14:modId xmlns:p14="http://schemas.microsoft.com/office/powerpoint/2010/main" val="429650367"/>
              </p:ext>
            </p:extLst>
          </p:nvPr>
        </p:nvGraphicFramePr>
        <p:xfrm>
          <a:off x="9144000" y="5185814"/>
          <a:ext cx="1638034" cy="1849602"/>
        </p:xfrm>
        <a:graphic>
          <a:graphicData uri="http://schemas.openxmlformats.org/drawingml/2006/table">
            <a:tbl>
              <a:tblPr>
                <a:noFill/>
                <a:tableStyleId>{A658CFA3-1ECF-4F86-BB5C-CF7618A15973}</a:tableStyleId>
              </a:tblPr>
              <a:tblGrid>
                <a:gridCol w="1638034"/>
              </a:tblGrid>
              <a:tr h="61653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 b="1" dirty="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5996" marB="95996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C78D8"/>
                    </a:solidFill>
                  </a:tcPr>
                </a:tc>
              </a:tr>
              <a:tr h="61653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 dirty="0"/>
                    </a:p>
                  </a:txBody>
                  <a:tcPr marL="91425" marR="91425" marT="95996" marB="95996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D9EEB"/>
                    </a:solidFill>
                  </a:tcPr>
                </a:tc>
              </a:tr>
              <a:tr h="61653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 dirty="0"/>
                    </a:p>
                  </a:txBody>
                  <a:tcPr marL="91425" marR="91425" marT="95996" marB="95996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</a:tr>
            </a:tbl>
          </a:graphicData>
        </a:graphic>
      </p:graphicFrame>
      <p:pic>
        <p:nvPicPr>
          <p:cNvPr id="53" name="Рисунок 5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3180" y="6435073"/>
            <a:ext cx="1396105" cy="678544"/>
          </a:xfrm>
          <a:prstGeom prst="rect">
            <a:avLst/>
          </a:prstGeom>
        </p:spPr>
      </p:pic>
      <p:sp>
        <p:nvSpPr>
          <p:cNvPr id="54" name="Shape 215"/>
          <p:cNvSpPr txBox="1"/>
          <p:nvPr/>
        </p:nvSpPr>
        <p:spPr>
          <a:xfrm>
            <a:off x="5632781" y="5284425"/>
            <a:ext cx="360040" cy="445631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28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Shape 216"/>
          <p:cNvSpPr txBox="1"/>
          <p:nvPr/>
        </p:nvSpPr>
        <p:spPr>
          <a:xfrm>
            <a:off x="9795438" y="5282623"/>
            <a:ext cx="360040" cy="445631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8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6" name="Shape 297"/>
          <p:cNvGraphicFramePr/>
          <p:nvPr>
            <p:extLst>
              <p:ext uri="{D42A27DB-BD31-4B8C-83A1-F6EECF244321}">
                <p14:modId xmlns:p14="http://schemas.microsoft.com/office/powerpoint/2010/main" val="2662510795"/>
              </p:ext>
            </p:extLst>
          </p:nvPr>
        </p:nvGraphicFramePr>
        <p:xfrm>
          <a:off x="7131106" y="3194631"/>
          <a:ext cx="1460675" cy="1849602"/>
        </p:xfrm>
        <a:graphic>
          <a:graphicData uri="http://schemas.openxmlformats.org/drawingml/2006/table">
            <a:tbl>
              <a:tblPr>
                <a:noFill/>
                <a:tableStyleId>{A658CFA3-1ECF-4F86-BB5C-CF7618A15973}</a:tableStyleId>
              </a:tblPr>
              <a:tblGrid>
                <a:gridCol w="1460675"/>
              </a:tblGrid>
              <a:tr h="61653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 b="1" dirty="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5996" marB="95996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C78D8"/>
                    </a:solidFill>
                  </a:tcPr>
                </a:tc>
              </a:tr>
              <a:tr h="61653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/>
                    </a:p>
                  </a:txBody>
                  <a:tcPr marL="91425" marR="91425" marT="95996" marB="95996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D9EEB"/>
                    </a:solidFill>
                  </a:tcPr>
                </a:tc>
              </a:tr>
              <a:tr h="61653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 dirty="0"/>
                    </a:p>
                  </a:txBody>
                  <a:tcPr marL="91425" marR="91425" marT="95996" marB="95996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</a:tr>
            </a:tbl>
          </a:graphicData>
        </a:graphic>
      </p:graphicFrame>
      <p:sp>
        <p:nvSpPr>
          <p:cNvPr id="57" name="Shape 215"/>
          <p:cNvSpPr txBox="1"/>
          <p:nvPr/>
        </p:nvSpPr>
        <p:spPr>
          <a:xfrm>
            <a:off x="7662300" y="3280227"/>
            <a:ext cx="360040" cy="445631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8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8" name="Соединительная линия уступом 57"/>
          <p:cNvCxnSpPr>
            <a:endCxn id="53" idx="3"/>
          </p:cNvCxnSpPr>
          <p:nvPr/>
        </p:nvCxnSpPr>
        <p:spPr>
          <a:xfrm rot="5400000">
            <a:off x="6230733" y="5505765"/>
            <a:ext cx="1717130" cy="820030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Соединительная линия уступом 58"/>
          <p:cNvCxnSpPr/>
          <p:nvPr/>
        </p:nvCxnSpPr>
        <p:spPr>
          <a:xfrm rot="16200000" flipV="1">
            <a:off x="7819511" y="5468030"/>
            <a:ext cx="1717130" cy="895500"/>
          </a:xfrm>
          <a:prstGeom prst="bentConnector3">
            <a:avLst>
              <a:gd name="adj1" fmla="val 864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Соединительная линия уступом 59"/>
          <p:cNvCxnSpPr>
            <a:stCxn id="49" idx="3"/>
            <a:endCxn id="56" idx="1"/>
          </p:cNvCxnSpPr>
          <p:nvPr/>
        </p:nvCxnSpPr>
        <p:spPr>
          <a:xfrm flipV="1">
            <a:off x="6631369" y="4119432"/>
            <a:ext cx="499737" cy="2018050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Соединительная линия уступом 60"/>
          <p:cNvCxnSpPr>
            <a:stCxn id="56" idx="3"/>
            <a:endCxn id="52" idx="1"/>
          </p:cNvCxnSpPr>
          <p:nvPr/>
        </p:nvCxnSpPr>
        <p:spPr>
          <a:xfrm>
            <a:off x="8591781" y="4119432"/>
            <a:ext cx="552219" cy="1991183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6" name="Группа 65"/>
          <p:cNvGrpSpPr/>
          <p:nvPr/>
        </p:nvGrpSpPr>
        <p:grpSpPr>
          <a:xfrm>
            <a:off x="4807336" y="4064196"/>
            <a:ext cx="766188" cy="1099865"/>
            <a:chOff x="8022948" y="1051299"/>
            <a:chExt cx="690900" cy="1047490"/>
          </a:xfrm>
        </p:grpSpPr>
        <p:cxnSp>
          <p:nvCxnSpPr>
            <p:cNvPr id="67" name="Shape 250"/>
            <p:cNvCxnSpPr/>
            <p:nvPr/>
          </p:nvCxnSpPr>
          <p:spPr>
            <a:xfrm rot="5400000">
              <a:off x="8282487" y="1740889"/>
              <a:ext cx="714300" cy="1500"/>
            </a:xfrm>
            <a:prstGeom prst="straightConnector1">
              <a:avLst/>
            </a:prstGeom>
            <a:noFill/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68" name="Shape 251"/>
            <p:cNvSpPr txBox="1"/>
            <p:nvPr/>
          </p:nvSpPr>
          <p:spPr>
            <a:xfrm>
              <a:off x="8022948" y="1051299"/>
              <a:ext cx="6909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top</a:t>
              </a:r>
              <a:endParaRPr sz="28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9" name="Группа 68"/>
          <p:cNvGrpSpPr/>
          <p:nvPr/>
        </p:nvGrpSpPr>
        <p:grpSpPr>
          <a:xfrm>
            <a:off x="10086568" y="3973815"/>
            <a:ext cx="986281" cy="1141206"/>
            <a:chOff x="9019769" y="1375260"/>
            <a:chExt cx="889366" cy="1086863"/>
          </a:xfrm>
        </p:grpSpPr>
        <p:cxnSp>
          <p:nvCxnSpPr>
            <p:cNvPr id="70" name="Shape 195"/>
            <p:cNvCxnSpPr/>
            <p:nvPr/>
          </p:nvCxnSpPr>
          <p:spPr>
            <a:xfrm rot="5400000">
              <a:off x="8699407" y="2104223"/>
              <a:ext cx="714300" cy="1500"/>
            </a:xfrm>
            <a:prstGeom prst="straightConnector1">
              <a:avLst/>
            </a:prstGeom>
            <a:noFill/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71" name="Shape 196"/>
            <p:cNvSpPr txBox="1"/>
            <p:nvPr/>
          </p:nvSpPr>
          <p:spPr>
            <a:xfrm>
              <a:off x="9019769" y="1375260"/>
              <a:ext cx="889366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 dirty="0" smtClean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end</a:t>
              </a:r>
              <a:endParaRPr sz="28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99" name="TextBox 398"/>
          <p:cNvSpPr txBox="1"/>
          <p:nvPr/>
        </p:nvSpPr>
        <p:spPr>
          <a:xfrm>
            <a:off x="2782224" y="5950327"/>
            <a:ext cx="12875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chemeClr val="tx1"/>
                </a:solidFill>
              </a:rPr>
              <a:t>q-&gt;next</a:t>
            </a:r>
            <a:endParaRPr lang="ru-RU" sz="2400" b="1" dirty="0">
              <a:solidFill>
                <a:schemeClr val="tx1"/>
              </a:solidFill>
            </a:endParaRPr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5900" y="2473040"/>
            <a:ext cx="1548240" cy="678544"/>
          </a:xfrm>
          <a:prstGeom prst="rect">
            <a:avLst/>
          </a:prstGeom>
        </p:spPr>
      </p:pic>
      <p:pic>
        <p:nvPicPr>
          <p:cNvPr id="73" name="Рисунок 7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2445" y="5827055"/>
            <a:ext cx="1548240" cy="678544"/>
          </a:xfrm>
          <a:prstGeom prst="rect">
            <a:avLst/>
          </a:prstGeom>
        </p:spPr>
      </p:pic>
      <p:grpSp>
        <p:nvGrpSpPr>
          <p:cNvPr id="46" name="Группа 45"/>
          <p:cNvGrpSpPr>
            <a:grpSpLocks/>
          </p:cNvGrpSpPr>
          <p:nvPr/>
        </p:nvGrpSpPr>
        <p:grpSpPr>
          <a:xfrm>
            <a:off x="317506" y="5563571"/>
            <a:ext cx="1077338" cy="1239795"/>
            <a:chOff x="9795437" y="5375754"/>
            <a:chExt cx="1077338" cy="1180757"/>
          </a:xfrm>
        </p:grpSpPr>
        <p:graphicFrame>
          <p:nvGraphicFramePr>
            <p:cNvPr id="47" name="Shape 163"/>
            <p:cNvGraphicFramePr/>
            <p:nvPr>
              <p:extLst>
                <p:ext uri="{D42A27DB-BD31-4B8C-83A1-F6EECF244321}">
                  <p14:modId xmlns:p14="http://schemas.microsoft.com/office/powerpoint/2010/main" val="2600700057"/>
                </p:ext>
              </p:extLst>
            </p:nvPr>
          </p:nvGraphicFramePr>
          <p:xfrm>
            <a:off x="9795437" y="5375754"/>
            <a:ext cx="432000" cy="1131428"/>
          </p:xfrm>
          <a:graphic>
            <a:graphicData uri="http://schemas.openxmlformats.org/drawingml/2006/table">
              <a:tbl>
                <a:tblPr>
                  <a:noFill/>
                  <a:tableStyleId>{A658CFA3-1ECF-4F86-BB5C-CF7618A15973}</a:tableStyleId>
                </a:tblPr>
                <a:tblGrid>
                  <a:gridCol w="432000"/>
                </a:tblGrid>
                <a:tr h="396000">
                  <a:tc>
                    <a:txBody>
                      <a:bodyPr/>
                      <a:lstStyle/>
                      <a:p>
                        <a:pPr marL="0" lvl="0" indent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900" b="1" dirty="0">
                          <a:solidFill>
                            <a:schemeClr val="lt1"/>
                          </a:solidFill>
                        </a:endParaRPr>
                      </a:p>
                    </a:txBody>
                    <a:tcPr marL="91425" marR="91425" marT="91425" marB="91425">
                      <a:lnL w="2857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2857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2857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2857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3C78D8"/>
                      </a:solidFill>
                    </a:tcPr>
                  </a:tc>
                </a:tr>
                <a:tr h="396000">
                  <a:tc>
                    <a:txBody>
                      <a:bodyPr/>
                      <a:lstStyle/>
                      <a:p>
                        <a:pPr marL="0" lvl="0" indent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900" dirty="0"/>
                      </a:p>
                    </a:txBody>
                    <a:tcPr marL="91425" marR="91425" marT="91425" marB="91425">
                      <a:lnL w="2857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2857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2857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2857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6D9EEB"/>
                      </a:solidFill>
                    </a:tcPr>
                  </a:tc>
                </a:tr>
                <a:tr h="396000">
                  <a:tc>
                    <a:txBody>
                      <a:bodyPr/>
                      <a:lstStyle/>
                      <a:p>
                        <a:pPr marL="0" lvl="0" indent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900" dirty="0"/>
                      </a:p>
                    </a:txBody>
                    <a:tcPr marL="91425" marR="91425" marT="91425" marB="91425">
                      <a:lnL w="2857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2857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2857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2857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A4C2F4"/>
                      </a:solidFill>
                    </a:tcPr>
                  </a:tc>
                </a:tr>
              </a:tbl>
            </a:graphicData>
          </a:graphic>
        </p:graphicFrame>
        <p:sp>
          <p:nvSpPr>
            <p:cNvPr id="62" name="TextBox 61"/>
            <p:cNvSpPr txBox="1"/>
            <p:nvPr/>
          </p:nvSpPr>
          <p:spPr>
            <a:xfrm>
              <a:off x="10200796" y="6204766"/>
              <a:ext cx="671979" cy="3517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b="1" dirty="0" err="1" smtClean="0">
                  <a:solidFill>
                    <a:schemeClr val="tx1"/>
                  </a:solidFill>
                </a:rPr>
                <a:t>prev</a:t>
              </a:r>
              <a:endParaRPr lang="ru-RU" sz="1800" b="1" dirty="0">
                <a:solidFill>
                  <a:schemeClr val="tx1"/>
                </a:solidFill>
              </a:endParaRP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10200797" y="5397150"/>
              <a:ext cx="659155" cy="3517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b="1" dirty="0" smtClean="0">
                  <a:solidFill>
                    <a:schemeClr val="tx1"/>
                  </a:solidFill>
                </a:rPr>
                <a:t>data</a:t>
              </a:r>
              <a:endParaRPr lang="ru-RU" sz="1800" b="1" dirty="0">
                <a:solidFill>
                  <a:schemeClr val="tx1"/>
                </a:solidFill>
              </a:endParaRP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10200796" y="5800958"/>
              <a:ext cx="659155" cy="3517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b="1" dirty="0" smtClean="0">
                  <a:solidFill>
                    <a:schemeClr val="tx1"/>
                  </a:solidFill>
                </a:rPr>
                <a:t>next</a:t>
              </a:r>
              <a:endParaRPr lang="ru-RU" sz="18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65" name="Группа 64"/>
          <p:cNvGrpSpPr/>
          <p:nvPr/>
        </p:nvGrpSpPr>
        <p:grpSpPr>
          <a:xfrm>
            <a:off x="8818245" y="778245"/>
            <a:ext cx="824635" cy="1125065"/>
            <a:chOff x="5806662" y="2252524"/>
            <a:chExt cx="693847" cy="1071490"/>
          </a:xfrm>
        </p:grpSpPr>
        <p:cxnSp>
          <p:nvCxnSpPr>
            <p:cNvPr id="72" name="Shape 289"/>
            <p:cNvCxnSpPr/>
            <p:nvPr/>
          </p:nvCxnSpPr>
          <p:spPr>
            <a:xfrm rot="5400000">
              <a:off x="5450262" y="2966114"/>
              <a:ext cx="714300" cy="1500"/>
            </a:xfrm>
            <a:prstGeom prst="straightConnector1">
              <a:avLst/>
            </a:prstGeom>
            <a:noFill/>
            <a:ln w="38100" cap="flat" cmpd="sng">
              <a:solidFill>
                <a:srgbClr val="FF0000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74" name="Shape 290"/>
            <p:cNvSpPr txBox="1"/>
            <p:nvPr/>
          </p:nvSpPr>
          <p:spPr>
            <a:xfrm>
              <a:off x="5809609" y="2252524"/>
              <a:ext cx="6909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 dirty="0" smtClean="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end</a:t>
              </a:r>
              <a:endParaRPr sz="2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5" name="Группа 74"/>
          <p:cNvGrpSpPr/>
          <p:nvPr/>
        </p:nvGrpSpPr>
        <p:grpSpPr>
          <a:xfrm>
            <a:off x="7742850" y="778245"/>
            <a:ext cx="690900" cy="1125065"/>
            <a:chOff x="5199994" y="2252524"/>
            <a:chExt cx="690900" cy="1071490"/>
          </a:xfrm>
        </p:grpSpPr>
        <p:cxnSp>
          <p:nvCxnSpPr>
            <p:cNvPr id="76" name="Shape 289"/>
            <p:cNvCxnSpPr/>
            <p:nvPr/>
          </p:nvCxnSpPr>
          <p:spPr>
            <a:xfrm rot="5400000">
              <a:off x="5450262" y="2966114"/>
              <a:ext cx="714300" cy="1500"/>
            </a:xfrm>
            <a:prstGeom prst="straightConnector1">
              <a:avLst/>
            </a:prstGeom>
            <a:noFill/>
            <a:ln w="38100" cap="flat" cmpd="sng">
              <a:solidFill>
                <a:srgbClr val="FF0000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77" name="Shape 290"/>
            <p:cNvSpPr txBox="1"/>
            <p:nvPr/>
          </p:nvSpPr>
          <p:spPr>
            <a:xfrm>
              <a:off x="5199994" y="2252524"/>
              <a:ext cx="6909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 dirty="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top</a:t>
              </a:r>
              <a:endParaRPr sz="2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8" name="Группа 77"/>
          <p:cNvGrpSpPr/>
          <p:nvPr/>
        </p:nvGrpSpPr>
        <p:grpSpPr>
          <a:xfrm>
            <a:off x="9784718" y="738928"/>
            <a:ext cx="415306" cy="1125065"/>
            <a:chOff x="5781900" y="2252524"/>
            <a:chExt cx="415306" cy="1071490"/>
          </a:xfrm>
        </p:grpSpPr>
        <p:cxnSp>
          <p:nvCxnSpPr>
            <p:cNvPr id="79" name="Shape 289"/>
            <p:cNvCxnSpPr/>
            <p:nvPr/>
          </p:nvCxnSpPr>
          <p:spPr>
            <a:xfrm rot="5400000">
              <a:off x="5450262" y="2966114"/>
              <a:ext cx="714300" cy="1500"/>
            </a:xfrm>
            <a:prstGeom prst="straightConnector1">
              <a:avLst/>
            </a:prstGeom>
            <a:noFill/>
            <a:ln w="38100" cap="flat" cmpd="sng">
              <a:solidFill>
                <a:srgbClr val="FF0000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80" name="Shape 290"/>
            <p:cNvSpPr txBox="1"/>
            <p:nvPr/>
          </p:nvSpPr>
          <p:spPr>
            <a:xfrm>
              <a:off x="5781900" y="2252524"/>
              <a:ext cx="415306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 dirty="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q</a:t>
              </a:r>
              <a:endParaRPr sz="2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1" name="TextBox 80"/>
          <p:cNvSpPr txBox="1"/>
          <p:nvPr/>
        </p:nvSpPr>
        <p:spPr>
          <a:xfrm>
            <a:off x="11047588" y="5811995"/>
            <a:ext cx="99418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b="1" dirty="0" smtClean="0">
                <a:solidFill>
                  <a:schemeClr val="tx1"/>
                </a:solidFill>
              </a:rPr>
              <a:t>х = </a:t>
            </a:r>
            <a:r>
              <a:rPr lang="ru-RU" sz="2800" b="1" dirty="0">
                <a:solidFill>
                  <a:srgbClr val="FF0000"/>
                </a:solidFill>
              </a:rPr>
              <a:t>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repeatCount="3000" fill="remove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50" autoRev="1" fill="remove"/>
                                        <p:tgtEl>
                                          <p:spTgt spid="3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7" dur="250" autoRev="1" fill="remove"/>
                                        <p:tgtEl>
                                          <p:spTgt spid="3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8" dur="250" autoRev="1" fill="remove"/>
                                        <p:tgtEl>
                                          <p:spTgt spid="3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250" autoRev="1" fill="remove"/>
                                        <p:tgtEl>
                                          <p:spTgt spid="3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27" presetClass="emph" presetSubtype="0" repeatCount="3000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250" autoRev="1" fill="remove"/>
                                        <p:tgtEl>
                                          <p:spTgt spid="3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2" dur="250" autoRev="1" fill="remove"/>
                                        <p:tgtEl>
                                          <p:spTgt spid="3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3" dur="250" autoRev="1" fill="remove"/>
                                        <p:tgtEl>
                                          <p:spTgt spid="3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250" autoRev="1" fill="remove"/>
                                        <p:tgtEl>
                                          <p:spTgt spid="3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3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3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3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3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9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39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39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39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39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0" dur="2000" fill="hold"/>
                                        <p:tgtEl>
                                          <p:spTgt spid="3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4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500"/>
                            </p:stCondLst>
                            <p:childTnLst>
                              <p:par>
                                <p:cTn id="11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19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54167E-6 -3.7037E-6 L -0.2918 0.06852 " pathEditMode="relative" rAng="0" ptsTypes="AA">
                                      <p:cBhvr>
                                        <p:cTn id="120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596" y="342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4" dur="2000" fill="hold"/>
                                        <p:tgtEl>
                                          <p:spTgt spid="39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4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3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18 0.00208 L 0.2164 -0.00903 " pathEditMode="relative" rAng="0" ptsTypes="AA">
                                      <p:cBhvr>
                                        <p:cTn id="144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872" y="-5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8" dur="2000" fill="hold"/>
                                        <p:tgtEl>
                                          <p:spTgt spid="39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4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1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2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5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6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9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0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3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4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7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8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1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2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5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6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9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0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2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54167E-6 -0.00416 L -0.4444 0.54537 " pathEditMode="relative" rAng="0" ptsTypes="AA">
                                      <p:cBhvr>
                                        <p:cTn id="223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2227" y="2747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4" fill="hold">
                      <p:stCondLst>
                        <p:cond delay="indefinite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37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4444 0.54537 L -0.37071 0.49121 C -0.35534 0.47917 -0.3323 0.47269 -0.30808 0.47269 C -0.2806 0.47269 -0.2586 0.47917 -0.24323 0.49121 L -0.1694 0.54537 " pathEditMode="relative" rAng="0" ptsTypes="AAAAA">
                                      <p:cBhvr>
                                        <p:cTn id="227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750" y="-3634"/>
                                    </p:animMotion>
                                  </p:childTnLst>
                                </p:cTn>
                              </p:par>
                              <p:par>
                                <p:cTn id="2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0" presetID="34" presetClass="emph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231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232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233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234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235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6" fill="hold">
                            <p:stCondLst>
                              <p:cond delay="2000"/>
                            </p:stCondLst>
                            <p:childTnLst>
                              <p:par>
                                <p:cTn id="237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" fill="hold">
                      <p:stCondLst>
                        <p:cond delay="indefinite"/>
                      </p:stCondLst>
                      <p:childTnLst>
                        <p:par>
                          <p:cTn id="240" fill="hold">
                            <p:stCondLst>
                              <p:cond delay="0"/>
                            </p:stCondLst>
                            <p:childTnLst>
                              <p:par>
                                <p:cTn id="241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2" dur="2000" fill="hold"/>
                                        <p:tgtEl>
                                          <p:spTgt spid="39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4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>
                      <p:stCondLst>
                        <p:cond delay="indefinite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3" fill="hold">
                      <p:stCondLst>
                        <p:cond delay="indefinite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3" grpId="0" build="p"/>
      <p:bldP spid="23" grpId="0" animBg="1"/>
      <p:bldP spid="23" grpId="1" animBg="1"/>
      <p:bldP spid="24" grpId="0" animBg="1"/>
      <p:bldP spid="24" grpId="1" animBg="1"/>
      <p:bldP spid="48" grpId="0" animBg="1"/>
      <p:bldP spid="48" grpId="1" animBg="1"/>
      <p:bldP spid="54" grpId="0" animBg="1"/>
      <p:bldP spid="55" grpId="0" animBg="1"/>
      <p:bldP spid="57" grpId="0" animBg="1"/>
      <p:bldP spid="399" grpId="0"/>
      <p:bldP spid="399" grpId="1"/>
      <p:bldP spid="399" grpId="2"/>
      <p:bldP spid="8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Shape 400"/>
          <p:cNvSpPr txBox="1">
            <a:spLocks noGrp="1"/>
          </p:cNvSpPr>
          <p:nvPr>
            <p:ph type="title"/>
          </p:nvPr>
        </p:nvSpPr>
        <p:spPr>
          <a:xfrm>
            <a:off x="301175" y="92050"/>
            <a:ext cx="10515600" cy="75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>
              <a:spcBef>
                <a:spcPts val="0"/>
              </a:spcBef>
              <a:buClr>
                <a:schemeClr val="accent1"/>
              </a:buClr>
              <a:buSzPts val="3600"/>
            </a:pPr>
            <a:r>
              <a:rPr lang="ru-RU" sz="4000" b="1" dirty="0">
                <a:latin typeface="Arial" panose="020B0604020202020204" pitchFamily="34" charset="0"/>
                <a:cs typeface="Arial" panose="020B0604020202020204" pitchFamily="34" charset="0"/>
              </a:rPr>
              <a:t>Удаление элемента из списка</a:t>
            </a:r>
            <a:endParaRPr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9" name="Shape 399"/>
          <p:cNvSpPr txBox="1">
            <a:spLocks noGrp="1"/>
          </p:cNvSpPr>
          <p:nvPr>
            <p:ph idx="1"/>
          </p:nvPr>
        </p:nvSpPr>
        <p:spPr>
          <a:xfrm>
            <a:off x="284060" y="1073725"/>
            <a:ext cx="4775322" cy="60426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24"/>
              <a:buFont typeface="Noto Sans Symbols"/>
              <a:buNone/>
            </a:pPr>
            <a:r>
              <a:rPr lang="en-US" b="0" i="0" u="none" strike="noStrike" cap="none" dirty="0">
                <a:latin typeface="Arial"/>
                <a:ea typeface="Arial"/>
                <a:cs typeface="Arial"/>
                <a:sym typeface="Arial"/>
              </a:rPr>
              <a:t>void </a:t>
            </a:r>
            <a:r>
              <a:rPr lang="en-US" b="0" i="0" u="none" strike="noStrike" cap="none" dirty="0" err="1">
                <a:latin typeface="Arial"/>
                <a:ea typeface="Arial"/>
                <a:cs typeface="Arial"/>
                <a:sym typeface="Arial"/>
              </a:rPr>
              <a:t>delete_element</a:t>
            </a:r>
            <a:r>
              <a:rPr lang="en-US" b="0" i="0" u="none" strike="noStrike" cap="none" dirty="0">
                <a:latin typeface="Arial"/>
                <a:ea typeface="Arial"/>
                <a:cs typeface="Arial"/>
                <a:sym typeface="Arial"/>
              </a:rPr>
              <a:t>(node* &amp;top, </a:t>
            </a:r>
            <a:endParaRPr lang="en-US" b="0" i="0" u="none" strike="noStrike" cap="none" dirty="0" smtClean="0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24"/>
              <a:buFont typeface="Noto Sans Symbols"/>
              <a:buNone/>
            </a:pPr>
            <a:r>
              <a:rPr lang="en-US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dirty="0" smtClean="0">
                <a:latin typeface="Arial"/>
                <a:ea typeface="Arial"/>
                <a:cs typeface="Arial"/>
                <a:sym typeface="Arial"/>
              </a:rPr>
              <a:t>                                </a:t>
            </a:r>
            <a:r>
              <a:rPr lang="en-US" b="0" i="0" u="none" strike="noStrike" cap="none" dirty="0" smtClean="0">
                <a:latin typeface="Arial"/>
                <a:ea typeface="Arial"/>
                <a:cs typeface="Arial"/>
                <a:sym typeface="Arial"/>
              </a:rPr>
              <a:t>node</a:t>
            </a:r>
            <a:r>
              <a:rPr lang="en-US" b="0" i="0" u="none" strike="noStrike" cap="none" dirty="0">
                <a:latin typeface="Arial"/>
                <a:ea typeface="Arial"/>
                <a:cs typeface="Arial"/>
                <a:sym typeface="Arial"/>
              </a:rPr>
              <a:t>* &amp;end, node* q)</a:t>
            </a:r>
            <a:endParaRPr b="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24"/>
              <a:buFont typeface="Noto Sans Symbols"/>
              <a:buNone/>
            </a:pPr>
            <a:r>
              <a:rPr lang="en-US" b="0" i="0" u="none" strike="noStrike" cap="none" dirty="0" smtClean="0">
                <a:latin typeface="Arial"/>
                <a:ea typeface="Arial"/>
                <a:cs typeface="Arial"/>
                <a:sym typeface="Arial"/>
              </a:rPr>
              <a:t>{    </a:t>
            </a:r>
            <a:r>
              <a:rPr lang="en-US" b="0" i="0" u="none" strike="noStrike" cap="none" dirty="0">
                <a:latin typeface="Arial"/>
                <a:ea typeface="Arial"/>
                <a:cs typeface="Arial"/>
                <a:sym typeface="Arial"/>
              </a:rPr>
              <a:t>if(q==top) </a:t>
            </a:r>
            <a:endParaRPr lang="en-US" b="0" i="0" u="none" strike="noStrike" cap="none" dirty="0" smtClean="0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24"/>
              <a:buFont typeface="Noto Sans Symbols"/>
              <a:buNone/>
            </a:pPr>
            <a:r>
              <a:rPr lang="en-US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dirty="0" smtClean="0">
                <a:latin typeface="Arial"/>
                <a:ea typeface="Arial"/>
                <a:cs typeface="Arial"/>
                <a:sym typeface="Arial"/>
              </a:rPr>
              <a:t>       </a:t>
            </a:r>
            <a:r>
              <a:rPr lang="en-US" b="0" i="0" u="none" strike="noStrike" cap="none" dirty="0" smtClean="0">
                <a:latin typeface="Arial"/>
                <a:ea typeface="Arial"/>
                <a:cs typeface="Arial"/>
                <a:sym typeface="Arial"/>
              </a:rPr>
              <a:t>pop(top</a:t>
            </a:r>
            <a:r>
              <a:rPr lang="en-US" b="0" i="0" u="none" strike="noStrike" cap="none" dirty="0">
                <a:latin typeface="Arial"/>
                <a:ea typeface="Arial"/>
                <a:cs typeface="Arial"/>
                <a:sym typeface="Arial"/>
              </a:rPr>
              <a:t>, end); </a:t>
            </a:r>
            <a:endParaRPr b="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24"/>
              <a:buFont typeface="Noto Sans Symbols"/>
              <a:buNone/>
            </a:pPr>
            <a:r>
              <a:rPr lang="en-US" b="0" i="0" u="none" strike="noStrike" cap="none" dirty="0">
                <a:latin typeface="Arial"/>
                <a:ea typeface="Arial"/>
                <a:cs typeface="Arial"/>
                <a:sym typeface="Arial"/>
              </a:rPr>
              <a:t>	       else</a:t>
            </a:r>
            <a:endParaRPr b="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24"/>
              <a:buFont typeface="Noto Sans Symbols"/>
              <a:buNone/>
            </a:pPr>
            <a:r>
              <a:rPr lang="en-US" b="0" i="0" u="none" strike="noStrike" cap="none" dirty="0">
                <a:latin typeface="Arial"/>
                <a:ea typeface="Arial"/>
                <a:cs typeface="Arial"/>
                <a:sym typeface="Arial"/>
              </a:rPr>
              <a:t>		if (q==end) </a:t>
            </a:r>
            <a:endParaRPr b="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24"/>
              <a:buFont typeface="Noto Sans Symbols"/>
              <a:buNone/>
            </a:pPr>
            <a:r>
              <a:rPr lang="en-US" b="0" i="0" u="none" strike="noStrike" cap="none" dirty="0">
                <a:latin typeface="Arial"/>
                <a:ea typeface="Arial"/>
                <a:cs typeface="Arial"/>
                <a:sym typeface="Arial"/>
              </a:rPr>
              <a:t>		</a:t>
            </a:r>
            <a:r>
              <a:rPr lang="en-US" b="0" i="0" u="none" strike="noStrike" cap="none" dirty="0" smtClean="0">
                <a:latin typeface="Arial"/>
                <a:ea typeface="Arial"/>
                <a:cs typeface="Arial"/>
                <a:sym typeface="Arial"/>
              </a:rPr>
              <a:t>{  </a:t>
            </a:r>
            <a:r>
              <a:rPr lang="en-US" b="0" i="0" u="none" strike="noStrike" cap="none" dirty="0">
                <a:latin typeface="Arial"/>
                <a:ea typeface="Arial"/>
                <a:cs typeface="Arial"/>
                <a:sym typeface="Arial"/>
              </a:rPr>
              <a:t>q-&gt;</a:t>
            </a:r>
            <a:r>
              <a:rPr lang="en-US" b="0" i="0" u="none" strike="noStrike" cap="none" dirty="0" err="1">
                <a:latin typeface="Arial"/>
                <a:ea typeface="Arial"/>
                <a:cs typeface="Arial"/>
                <a:sym typeface="Arial"/>
              </a:rPr>
              <a:t>prev</a:t>
            </a:r>
            <a:r>
              <a:rPr lang="en-US" b="0" i="0" u="none" strike="noStrike" cap="none" dirty="0">
                <a:latin typeface="Arial"/>
                <a:ea typeface="Arial"/>
                <a:cs typeface="Arial"/>
                <a:sym typeface="Arial"/>
              </a:rPr>
              <a:t>-&gt;next=NULL;</a:t>
            </a:r>
            <a:endParaRPr b="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24"/>
              <a:buFont typeface="Noto Sans Symbols"/>
              <a:buNone/>
            </a:pPr>
            <a:r>
              <a:rPr lang="en-US" b="0" i="0" u="none" strike="noStrike" cap="none" dirty="0">
                <a:latin typeface="Arial"/>
                <a:ea typeface="Arial"/>
                <a:cs typeface="Arial"/>
                <a:sym typeface="Arial"/>
              </a:rPr>
              <a:t>		   end=q-&gt;</a:t>
            </a:r>
            <a:r>
              <a:rPr lang="en-US" b="0" i="0" u="none" strike="noStrike" cap="none" dirty="0" err="1">
                <a:latin typeface="Arial"/>
                <a:ea typeface="Arial"/>
                <a:cs typeface="Arial"/>
                <a:sym typeface="Arial"/>
              </a:rPr>
              <a:t>prev</a:t>
            </a:r>
            <a:r>
              <a:rPr lang="en-US" b="0" i="0" u="none" strike="noStrike" cap="none" dirty="0">
                <a:latin typeface="Arial"/>
                <a:ea typeface="Arial"/>
                <a:cs typeface="Arial"/>
                <a:sym typeface="Arial"/>
              </a:rPr>
              <a:t>;</a:t>
            </a:r>
            <a:endParaRPr b="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24"/>
              <a:buFont typeface="Noto Sans Symbols"/>
              <a:buNone/>
            </a:pPr>
            <a:r>
              <a:rPr lang="en-US" b="0" i="0" u="none" strike="noStrike" cap="none" dirty="0">
                <a:latin typeface="Arial"/>
                <a:ea typeface="Arial"/>
                <a:cs typeface="Arial"/>
                <a:sym typeface="Arial"/>
              </a:rPr>
              <a:t>		   delete q;</a:t>
            </a:r>
            <a:endParaRPr b="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24"/>
              <a:buFont typeface="Noto Sans Symbols"/>
              <a:buNone/>
            </a:pPr>
            <a:r>
              <a:rPr lang="en-US" b="0" i="0" u="none" strike="noStrike" cap="none" dirty="0">
                <a:latin typeface="Arial"/>
                <a:ea typeface="Arial"/>
                <a:cs typeface="Arial"/>
                <a:sym typeface="Arial"/>
              </a:rPr>
              <a:t>		}</a:t>
            </a:r>
            <a:endParaRPr b="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24"/>
              <a:buFont typeface="Noto Sans Symbols"/>
              <a:buNone/>
            </a:pPr>
            <a:r>
              <a:rPr lang="en-US" b="0" i="0" u="none" strike="noStrike" cap="none" dirty="0">
                <a:latin typeface="Arial"/>
                <a:ea typeface="Arial"/>
                <a:cs typeface="Arial"/>
                <a:sym typeface="Arial"/>
              </a:rPr>
              <a:t>		else</a:t>
            </a:r>
            <a:endParaRPr b="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24"/>
              <a:buFont typeface="Noto Sans Symbols"/>
              <a:buNone/>
            </a:pPr>
            <a:r>
              <a:rPr lang="en-US" b="0" i="0" u="none" strike="noStrike" cap="none" dirty="0">
                <a:latin typeface="Arial"/>
                <a:ea typeface="Arial"/>
                <a:cs typeface="Arial"/>
                <a:sym typeface="Arial"/>
              </a:rPr>
              <a:t>		</a:t>
            </a:r>
            <a:r>
              <a:rPr lang="en-US" b="0" i="0" u="none" strike="noStrike" cap="none" dirty="0" smtClean="0">
                <a:latin typeface="Arial"/>
                <a:ea typeface="Arial"/>
                <a:cs typeface="Arial"/>
                <a:sym typeface="Arial"/>
              </a:rPr>
              <a:t>{  </a:t>
            </a:r>
            <a:r>
              <a:rPr lang="en-US" b="0" i="0" u="none" strike="noStrike" cap="none" dirty="0">
                <a:latin typeface="Arial"/>
                <a:ea typeface="Arial"/>
                <a:cs typeface="Arial"/>
                <a:sym typeface="Arial"/>
              </a:rPr>
              <a:t>q-&gt;</a:t>
            </a:r>
            <a:r>
              <a:rPr lang="en-US" b="0" i="0" u="none" strike="noStrike" cap="none" dirty="0" err="1">
                <a:latin typeface="Arial"/>
                <a:ea typeface="Arial"/>
                <a:cs typeface="Arial"/>
                <a:sym typeface="Arial"/>
              </a:rPr>
              <a:t>prev</a:t>
            </a:r>
            <a:r>
              <a:rPr lang="en-US" b="0" i="0" u="none" strike="noStrike" cap="none" dirty="0">
                <a:latin typeface="Arial"/>
                <a:ea typeface="Arial"/>
                <a:cs typeface="Arial"/>
                <a:sym typeface="Arial"/>
              </a:rPr>
              <a:t>-&gt;next=q-&gt;next;</a:t>
            </a:r>
            <a:endParaRPr b="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24"/>
              <a:buFont typeface="Noto Sans Symbols"/>
              <a:buNone/>
            </a:pPr>
            <a:r>
              <a:rPr lang="en-US" b="0" i="0" u="none" strike="noStrike" cap="none" dirty="0">
                <a:latin typeface="Arial"/>
                <a:ea typeface="Arial"/>
                <a:cs typeface="Arial"/>
                <a:sym typeface="Arial"/>
              </a:rPr>
              <a:t>		   q-&gt;next-&gt;</a:t>
            </a:r>
            <a:r>
              <a:rPr lang="en-US" b="0" i="0" u="none" strike="noStrike" cap="none" dirty="0" err="1">
                <a:latin typeface="Arial"/>
                <a:ea typeface="Arial"/>
                <a:cs typeface="Arial"/>
                <a:sym typeface="Arial"/>
              </a:rPr>
              <a:t>prev</a:t>
            </a:r>
            <a:r>
              <a:rPr lang="en-US" b="0" i="0" u="none" strike="noStrike" cap="none" dirty="0">
                <a:latin typeface="Arial"/>
                <a:ea typeface="Arial"/>
                <a:cs typeface="Arial"/>
                <a:sym typeface="Arial"/>
              </a:rPr>
              <a:t>=q-&gt;</a:t>
            </a:r>
            <a:r>
              <a:rPr lang="en-US" b="0" i="0" u="none" strike="noStrike" cap="none" dirty="0" err="1">
                <a:latin typeface="Arial"/>
                <a:ea typeface="Arial"/>
                <a:cs typeface="Arial"/>
                <a:sym typeface="Arial"/>
              </a:rPr>
              <a:t>prev</a:t>
            </a:r>
            <a:r>
              <a:rPr lang="en-US" b="0" i="0" u="none" strike="noStrike" cap="none" dirty="0">
                <a:latin typeface="Arial"/>
                <a:ea typeface="Arial"/>
                <a:cs typeface="Arial"/>
                <a:sym typeface="Arial"/>
              </a:rPr>
              <a:t>;</a:t>
            </a:r>
            <a:endParaRPr b="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24"/>
              <a:buFont typeface="Noto Sans Symbols"/>
              <a:buNone/>
            </a:pPr>
            <a:r>
              <a:rPr lang="en-US" b="0" i="0" u="none" strike="noStrike" cap="none" dirty="0">
                <a:latin typeface="Arial"/>
                <a:ea typeface="Arial"/>
                <a:cs typeface="Arial"/>
                <a:sym typeface="Arial"/>
              </a:rPr>
              <a:t>		   delete q;</a:t>
            </a:r>
            <a:endParaRPr b="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24"/>
              <a:buFont typeface="Noto Sans Symbols"/>
              <a:buNone/>
            </a:pPr>
            <a:r>
              <a:rPr lang="en-US" b="0" i="0" u="none" strike="noStrike" cap="none" dirty="0">
                <a:latin typeface="Arial"/>
                <a:ea typeface="Arial"/>
                <a:cs typeface="Arial"/>
                <a:sym typeface="Arial"/>
              </a:rPr>
              <a:t>		}</a:t>
            </a:r>
            <a:endParaRPr b="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24"/>
              <a:buFont typeface="Noto Sans Symbols"/>
              <a:buNone/>
            </a:pPr>
            <a:r>
              <a:rPr lang="en-US" b="0" i="0" u="none" strike="noStrike" cap="none" dirty="0">
                <a:latin typeface="Arial"/>
                <a:ea typeface="Arial"/>
                <a:cs typeface="Arial"/>
                <a:sym typeface="Arial"/>
              </a:rPr>
              <a:t>}</a:t>
            </a:r>
            <a:endParaRPr b="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24"/>
              <a:buFont typeface="Noto Sans Symbols"/>
              <a:buNone/>
            </a:pPr>
            <a:endParaRPr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8" name="Shape 280"/>
          <p:cNvGraphicFramePr/>
          <p:nvPr>
            <p:extLst>
              <p:ext uri="{D42A27DB-BD31-4B8C-83A1-F6EECF244321}">
                <p14:modId xmlns:p14="http://schemas.microsoft.com/office/powerpoint/2010/main" val="282164562"/>
              </p:ext>
            </p:extLst>
          </p:nvPr>
        </p:nvGraphicFramePr>
        <p:xfrm>
          <a:off x="5609383" y="1885823"/>
          <a:ext cx="1460675" cy="1849602"/>
        </p:xfrm>
        <a:graphic>
          <a:graphicData uri="http://schemas.openxmlformats.org/drawingml/2006/table">
            <a:tbl>
              <a:tblPr>
                <a:noFill/>
                <a:tableStyleId>{A658CFA3-1ECF-4F86-BB5C-CF7618A15973}</a:tableStyleId>
              </a:tblPr>
              <a:tblGrid>
                <a:gridCol w="1460675"/>
              </a:tblGrid>
              <a:tr h="61653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 b="1" dirty="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5996" marB="95996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C78D8"/>
                    </a:solidFill>
                  </a:tcPr>
                </a:tc>
              </a:tr>
              <a:tr h="61653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/>
                    </a:p>
                  </a:txBody>
                  <a:tcPr marL="91425" marR="91425" marT="95996" marB="95996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D9EEB"/>
                    </a:solidFill>
                  </a:tcPr>
                </a:tc>
              </a:tr>
              <a:tr h="61653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 dirty="0"/>
                    </a:p>
                  </a:txBody>
                  <a:tcPr marL="91425" marR="91425" marT="95996" marB="95996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</a:tr>
            </a:tbl>
          </a:graphicData>
        </a:graphic>
      </p:graphicFrame>
      <p:cxnSp>
        <p:nvCxnSpPr>
          <p:cNvPr id="69" name="Shape 281"/>
          <p:cNvCxnSpPr/>
          <p:nvPr/>
        </p:nvCxnSpPr>
        <p:spPr>
          <a:xfrm flipH="1">
            <a:off x="7070192" y="3471176"/>
            <a:ext cx="895500" cy="819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70" name="Shape 282"/>
          <p:cNvCxnSpPr/>
          <p:nvPr/>
        </p:nvCxnSpPr>
        <p:spPr>
          <a:xfrm rot="10800000" flipH="1">
            <a:off x="7092867" y="2842503"/>
            <a:ext cx="891000" cy="378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stealth" w="med" len="med"/>
          </a:ln>
        </p:spPr>
      </p:cxnSp>
      <p:graphicFrame>
        <p:nvGraphicFramePr>
          <p:cNvPr id="71" name="Shape 283"/>
          <p:cNvGraphicFramePr/>
          <p:nvPr>
            <p:extLst>
              <p:ext uri="{D42A27DB-BD31-4B8C-83A1-F6EECF244321}">
                <p14:modId xmlns:p14="http://schemas.microsoft.com/office/powerpoint/2010/main" val="1205517102"/>
              </p:ext>
            </p:extLst>
          </p:nvPr>
        </p:nvGraphicFramePr>
        <p:xfrm>
          <a:off x="8001233" y="1885834"/>
          <a:ext cx="1460675" cy="1849602"/>
        </p:xfrm>
        <a:graphic>
          <a:graphicData uri="http://schemas.openxmlformats.org/drawingml/2006/table">
            <a:tbl>
              <a:tblPr>
                <a:noFill/>
                <a:tableStyleId>{A658CFA3-1ECF-4F86-BB5C-CF7618A15973}</a:tableStyleId>
              </a:tblPr>
              <a:tblGrid>
                <a:gridCol w="1460675"/>
              </a:tblGrid>
              <a:tr h="61653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 b="1" dirty="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5996" marB="95996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C78D8"/>
                    </a:solidFill>
                  </a:tcPr>
                </a:tc>
              </a:tr>
              <a:tr h="61653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/>
                    </a:p>
                  </a:txBody>
                  <a:tcPr marL="91425" marR="91425" marT="95996" marB="95996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D9EEB"/>
                    </a:solidFill>
                  </a:tcPr>
                </a:tc>
              </a:tr>
              <a:tr h="61653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 dirty="0"/>
                    </a:p>
                  </a:txBody>
                  <a:tcPr marL="91425" marR="91425" marT="95996" marB="95996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2" name="Shape 284"/>
          <p:cNvGraphicFramePr/>
          <p:nvPr>
            <p:extLst>
              <p:ext uri="{D42A27DB-BD31-4B8C-83A1-F6EECF244321}">
                <p14:modId xmlns:p14="http://schemas.microsoft.com/office/powerpoint/2010/main" val="1168684196"/>
              </p:ext>
            </p:extLst>
          </p:nvPr>
        </p:nvGraphicFramePr>
        <p:xfrm>
          <a:off x="10393070" y="1885849"/>
          <a:ext cx="1460675" cy="1849602"/>
        </p:xfrm>
        <a:graphic>
          <a:graphicData uri="http://schemas.openxmlformats.org/drawingml/2006/table">
            <a:tbl>
              <a:tblPr>
                <a:noFill/>
                <a:tableStyleId>{A658CFA3-1ECF-4F86-BB5C-CF7618A15973}</a:tableStyleId>
              </a:tblPr>
              <a:tblGrid>
                <a:gridCol w="1460675"/>
              </a:tblGrid>
              <a:tr h="61653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 b="1" dirty="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5996" marB="95996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C78D8"/>
                    </a:solidFill>
                  </a:tcPr>
                </a:tc>
              </a:tr>
              <a:tr h="61653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 dirty="0"/>
                    </a:p>
                  </a:txBody>
                  <a:tcPr marL="91425" marR="91425" marT="95996" marB="95996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D9EEB"/>
                    </a:solidFill>
                  </a:tcPr>
                </a:tc>
              </a:tr>
              <a:tr h="61653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 dirty="0"/>
                    </a:p>
                  </a:txBody>
                  <a:tcPr marL="91425" marR="91425" marT="95996" marB="95996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</a:tr>
            </a:tbl>
          </a:graphicData>
        </a:graphic>
      </p:graphicFrame>
      <p:cxnSp>
        <p:nvCxnSpPr>
          <p:cNvPr id="73" name="Shape 285"/>
          <p:cNvCxnSpPr/>
          <p:nvPr/>
        </p:nvCxnSpPr>
        <p:spPr>
          <a:xfrm flipH="1">
            <a:off x="9479292" y="3466176"/>
            <a:ext cx="895500" cy="819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74" name="Shape 286"/>
          <p:cNvCxnSpPr/>
          <p:nvPr/>
        </p:nvCxnSpPr>
        <p:spPr>
          <a:xfrm rot="10800000" flipH="1">
            <a:off x="9501967" y="2837501"/>
            <a:ext cx="891000" cy="378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stealth" w="med" len="med"/>
          </a:ln>
        </p:spPr>
      </p:cxnSp>
      <p:grpSp>
        <p:nvGrpSpPr>
          <p:cNvPr id="75" name="Группа 74"/>
          <p:cNvGrpSpPr/>
          <p:nvPr/>
        </p:nvGrpSpPr>
        <p:grpSpPr>
          <a:xfrm>
            <a:off x="5400783" y="701833"/>
            <a:ext cx="690900" cy="1125065"/>
            <a:chOff x="5199994" y="2252524"/>
            <a:chExt cx="690900" cy="1071490"/>
          </a:xfrm>
        </p:grpSpPr>
        <p:cxnSp>
          <p:nvCxnSpPr>
            <p:cNvPr id="76" name="Shape 289"/>
            <p:cNvCxnSpPr/>
            <p:nvPr/>
          </p:nvCxnSpPr>
          <p:spPr>
            <a:xfrm rot="5400000">
              <a:off x="5450262" y="2966114"/>
              <a:ext cx="714300" cy="1500"/>
            </a:xfrm>
            <a:prstGeom prst="straightConnector1">
              <a:avLst/>
            </a:prstGeom>
            <a:noFill/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77" name="Shape 290"/>
            <p:cNvSpPr txBox="1"/>
            <p:nvPr/>
          </p:nvSpPr>
          <p:spPr>
            <a:xfrm>
              <a:off x="5199994" y="2252524"/>
              <a:ext cx="6909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top</a:t>
              </a:r>
              <a:endParaRPr sz="28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8" name="Shape 215"/>
          <p:cNvSpPr txBox="1"/>
          <p:nvPr/>
        </p:nvSpPr>
        <p:spPr>
          <a:xfrm>
            <a:off x="6147298" y="1989792"/>
            <a:ext cx="360040" cy="445631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28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Shape 216"/>
          <p:cNvSpPr txBox="1"/>
          <p:nvPr/>
        </p:nvSpPr>
        <p:spPr>
          <a:xfrm>
            <a:off x="10947709" y="2023892"/>
            <a:ext cx="360040" cy="445631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28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Shape 216"/>
          <p:cNvSpPr txBox="1"/>
          <p:nvPr/>
        </p:nvSpPr>
        <p:spPr>
          <a:xfrm>
            <a:off x="8558759" y="2001017"/>
            <a:ext cx="360040" cy="445631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8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1" name="Рисунок 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2372" y="3160849"/>
            <a:ext cx="1396105" cy="678544"/>
          </a:xfrm>
          <a:prstGeom prst="rect">
            <a:avLst/>
          </a:prstGeom>
        </p:spPr>
      </p:pic>
      <p:pic>
        <p:nvPicPr>
          <p:cNvPr id="82" name="Рисунок 8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0410" y="2581602"/>
            <a:ext cx="1396105" cy="678544"/>
          </a:xfrm>
          <a:prstGeom prst="rect">
            <a:avLst/>
          </a:prstGeom>
        </p:spPr>
      </p:pic>
      <p:grpSp>
        <p:nvGrpSpPr>
          <p:cNvPr id="83" name="Группа 82"/>
          <p:cNvGrpSpPr/>
          <p:nvPr/>
        </p:nvGrpSpPr>
        <p:grpSpPr>
          <a:xfrm>
            <a:off x="11242677" y="688660"/>
            <a:ext cx="824635" cy="1125065"/>
            <a:chOff x="5806662" y="2252524"/>
            <a:chExt cx="693847" cy="1071490"/>
          </a:xfrm>
        </p:grpSpPr>
        <p:cxnSp>
          <p:nvCxnSpPr>
            <p:cNvPr id="84" name="Shape 289"/>
            <p:cNvCxnSpPr/>
            <p:nvPr/>
          </p:nvCxnSpPr>
          <p:spPr>
            <a:xfrm rot="5400000">
              <a:off x="5450262" y="2966114"/>
              <a:ext cx="714300" cy="1500"/>
            </a:xfrm>
            <a:prstGeom prst="straightConnector1">
              <a:avLst/>
            </a:prstGeom>
            <a:noFill/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85" name="Shape 290"/>
            <p:cNvSpPr txBox="1"/>
            <p:nvPr/>
          </p:nvSpPr>
          <p:spPr>
            <a:xfrm>
              <a:off x="5809609" y="2252524"/>
              <a:ext cx="6909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 dirty="0" smtClean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end</a:t>
              </a:r>
              <a:endParaRPr sz="28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6" name="Группа 85"/>
          <p:cNvGrpSpPr/>
          <p:nvPr/>
        </p:nvGrpSpPr>
        <p:grpSpPr>
          <a:xfrm>
            <a:off x="6762711" y="700937"/>
            <a:ext cx="415306" cy="1125065"/>
            <a:chOff x="5781900" y="2252524"/>
            <a:chExt cx="415306" cy="1071490"/>
          </a:xfrm>
        </p:grpSpPr>
        <p:cxnSp>
          <p:nvCxnSpPr>
            <p:cNvPr id="87" name="Shape 289"/>
            <p:cNvCxnSpPr/>
            <p:nvPr/>
          </p:nvCxnSpPr>
          <p:spPr>
            <a:xfrm rot="5400000">
              <a:off x="5450262" y="2966114"/>
              <a:ext cx="714300" cy="1500"/>
            </a:xfrm>
            <a:prstGeom prst="straightConnector1">
              <a:avLst/>
            </a:prstGeom>
            <a:noFill/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88" name="Shape 290"/>
            <p:cNvSpPr txBox="1"/>
            <p:nvPr/>
          </p:nvSpPr>
          <p:spPr>
            <a:xfrm>
              <a:off x="5781900" y="2252524"/>
              <a:ext cx="415306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q</a:t>
              </a:r>
              <a:endParaRPr sz="28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9" name="Блок-схема: ИЛИ 88"/>
          <p:cNvSpPr/>
          <p:nvPr/>
        </p:nvSpPr>
        <p:spPr>
          <a:xfrm rot="18841269">
            <a:off x="5003129" y="1493683"/>
            <a:ext cx="2688840" cy="2614654"/>
          </a:xfrm>
          <a:prstGeom prst="flowChartOr">
            <a:avLst/>
          </a:prstGeom>
          <a:noFill/>
          <a:ln w="57150">
            <a:solidFill>
              <a:srgbClr val="C4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91" name="Группа 90"/>
          <p:cNvGrpSpPr/>
          <p:nvPr/>
        </p:nvGrpSpPr>
        <p:grpSpPr>
          <a:xfrm>
            <a:off x="5511660" y="687766"/>
            <a:ext cx="690900" cy="1125065"/>
            <a:chOff x="5199994" y="2252524"/>
            <a:chExt cx="690900" cy="1071490"/>
          </a:xfrm>
        </p:grpSpPr>
        <p:cxnSp>
          <p:nvCxnSpPr>
            <p:cNvPr id="92" name="Shape 289"/>
            <p:cNvCxnSpPr/>
            <p:nvPr/>
          </p:nvCxnSpPr>
          <p:spPr>
            <a:xfrm rot="5400000">
              <a:off x="5450262" y="2966114"/>
              <a:ext cx="714300" cy="1500"/>
            </a:xfrm>
            <a:prstGeom prst="straightConnector1">
              <a:avLst/>
            </a:prstGeom>
            <a:noFill/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93" name="Shape 290"/>
            <p:cNvSpPr txBox="1"/>
            <p:nvPr/>
          </p:nvSpPr>
          <p:spPr>
            <a:xfrm>
              <a:off x="5199994" y="2252524"/>
              <a:ext cx="6909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top</a:t>
              </a:r>
              <a:endParaRPr sz="28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4" name="Группа 93"/>
          <p:cNvGrpSpPr/>
          <p:nvPr/>
        </p:nvGrpSpPr>
        <p:grpSpPr>
          <a:xfrm>
            <a:off x="10583077" y="686596"/>
            <a:ext cx="415306" cy="1125065"/>
            <a:chOff x="5781900" y="2252524"/>
            <a:chExt cx="415306" cy="1071490"/>
          </a:xfrm>
        </p:grpSpPr>
        <p:cxnSp>
          <p:nvCxnSpPr>
            <p:cNvPr id="95" name="Shape 289"/>
            <p:cNvCxnSpPr/>
            <p:nvPr/>
          </p:nvCxnSpPr>
          <p:spPr>
            <a:xfrm rot="5400000">
              <a:off x="5450262" y="2966114"/>
              <a:ext cx="714300" cy="1500"/>
            </a:xfrm>
            <a:prstGeom prst="straightConnector1">
              <a:avLst/>
            </a:prstGeom>
            <a:noFill/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96" name="Shape 290"/>
            <p:cNvSpPr txBox="1"/>
            <p:nvPr/>
          </p:nvSpPr>
          <p:spPr>
            <a:xfrm>
              <a:off x="5781900" y="2252524"/>
              <a:ext cx="415306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q</a:t>
              </a:r>
              <a:endParaRPr sz="28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7" name="Блок-схема: ИЛИ 96"/>
          <p:cNvSpPr/>
          <p:nvPr/>
        </p:nvSpPr>
        <p:spPr>
          <a:xfrm rot="18841269">
            <a:off x="9783309" y="1493682"/>
            <a:ext cx="2688840" cy="2614654"/>
          </a:xfrm>
          <a:prstGeom prst="flowChartOr">
            <a:avLst/>
          </a:prstGeom>
          <a:noFill/>
          <a:ln w="57150">
            <a:solidFill>
              <a:srgbClr val="C4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98" name="Shape 186"/>
          <p:cNvGraphicFramePr/>
          <p:nvPr>
            <p:extLst>
              <p:ext uri="{D42A27DB-BD31-4B8C-83A1-F6EECF244321}">
                <p14:modId xmlns:p14="http://schemas.microsoft.com/office/powerpoint/2010/main" val="1263472764"/>
              </p:ext>
            </p:extLst>
          </p:nvPr>
        </p:nvGraphicFramePr>
        <p:xfrm>
          <a:off x="9768272" y="4355258"/>
          <a:ext cx="1460675" cy="1854358"/>
        </p:xfrm>
        <a:graphic>
          <a:graphicData uri="http://schemas.openxmlformats.org/drawingml/2006/table">
            <a:tbl>
              <a:tblPr>
                <a:noFill/>
                <a:tableStyleId>{A658CFA3-1ECF-4F86-BB5C-CF7618A15973}</a:tableStyleId>
              </a:tblPr>
              <a:tblGrid>
                <a:gridCol w="1460675"/>
              </a:tblGrid>
              <a:tr h="61653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 b="1" dirty="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5996" marB="95996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C78D8"/>
                    </a:solidFill>
                  </a:tcPr>
                </a:tc>
              </a:tr>
              <a:tr h="62129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 b="1" dirty="0"/>
                    </a:p>
                  </a:txBody>
                  <a:tcPr marL="91425" marR="91425" marT="95996" marB="95996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D9EEB"/>
                    </a:solidFill>
                  </a:tcPr>
                </a:tc>
              </a:tr>
              <a:tr h="61653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 dirty="0"/>
                    </a:p>
                  </a:txBody>
                  <a:tcPr marL="91425" marR="91425" marT="95996" marB="95996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9" name="Shape 189"/>
          <p:cNvGraphicFramePr/>
          <p:nvPr>
            <p:extLst>
              <p:ext uri="{D42A27DB-BD31-4B8C-83A1-F6EECF244321}">
                <p14:modId xmlns:p14="http://schemas.microsoft.com/office/powerpoint/2010/main" val="181422095"/>
              </p:ext>
            </p:extLst>
          </p:nvPr>
        </p:nvGraphicFramePr>
        <p:xfrm>
          <a:off x="7375471" y="4377599"/>
          <a:ext cx="1460675" cy="1849602"/>
        </p:xfrm>
        <a:graphic>
          <a:graphicData uri="http://schemas.openxmlformats.org/drawingml/2006/table">
            <a:tbl>
              <a:tblPr>
                <a:noFill/>
                <a:tableStyleId>{A658CFA3-1ECF-4F86-BB5C-CF7618A15973}</a:tableStyleId>
              </a:tblPr>
              <a:tblGrid>
                <a:gridCol w="1460675"/>
              </a:tblGrid>
              <a:tr h="61653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 b="1" dirty="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5996" marB="95996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C78D8"/>
                    </a:solidFill>
                  </a:tcPr>
                </a:tc>
              </a:tr>
              <a:tr h="61653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 dirty="0"/>
                    </a:p>
                  </a:txBody>
                  <a:tcPr marL="91425" marR="91425" marT="95996" marB="95996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D9EEB"/>
                    </a:solidFill>
                  </a:tcPr>
                </a:tc>
              </a:tr>
              <a:tr h="61653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 dirty="0"/>
                    </a:p>
                  </a:txBody>
                  <a:tcPr marL="91425" marR="91425" marT="95996" marB="95996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0" name="Shape 190"/>
          <p:cNvGraphicFramePr/>
          <p:nvPr>
            <p:extLst>
              <p:ext uri="{D42A27DB-BD31-4B8C-83A1-F6EECF244321}">
                <p14:modId xmlns:p14="http://schemas.microsoft.com/office/powerpoint/2010/main" val="460159656"/>
              </p:ext>
            </p:extLst>
          </p:nvPr>
        </p:nvGraphicFramePr>
        <p:xfrm>
          <a:off x="5003922" y="4388775"/>
          <a:ext cx="1460675" cy="1849602"/>
        </p:xfrm>
        <a:graphic>
          <a:graphicData uri="http://schemas.openxmlformats.org/drawingml/2006/table">
            <a:tbl>
              <a:tblPr>
                <a:noFill/>
                <a:tableStyleId>{A658CFA3-1ECF-4F86-BB5C-CF7618A15973}</a:tableStyleId>
              </a:tblPr>
              <a:tblGrid>
                <a:gridCol w="1460675"/>
              </a:tblGrid>
              <a:tr h="61653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 b="1" dirty="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5996" marB="95996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C78D8"/>
                    </a:solidFill>
                  </a:tcPr>
                </a:tc>
              </a:tr>
              <a:tr h="61653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 b="1" dirty="0"/>
                    </a:p>
                  </a:txBody>
                  <a:tcPr marL="91425" marR="91425" marT="95996" marB="95996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D9EEB"/>
                    </a:solidFill>
                  </a:tcPr>
                </a:tc>
              </a:tr>
              <a:tr h="61653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 b="1" dirty="0"/>
                    </a:p>
                  </a:txBody>
                  <a:tcPr marL="91425" marR="91425" marT="95996" marB="95996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</a:tr>
            </a:tbl>
          </a:graphicData>
        </a:graphic>
      </p:graphicFrame>
      <p:cxnSp>
        <p:nvCxnSpPr>
          <p:cNvPr id="105" name="Shape 187"/>
          <p:cNvCxnSpPr/>
          <p:nvPr/>
        </p:nvCxnSpPr>
        <p:spPr>
          <a:xfrm flipH="1">
            <a:off x="6444430" y="5962940"/>
            <a:ext cx="895500" cy="819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06" name="Shape 188"/>
          <p:cNvCxnSpPr/>
          <p:nvPr/>
        </p:nvCxnSpPr>
        <p:spPr>
          <a:xfrm rot="10800000" flipH="1">
            <a:off x="6467105" y="5334266"/>
            <a:ext cx="891000" cy="378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07" name="Shape 191"/>
          <p:cNvCxnSpPr/>
          <p:nvPr/>
        </p:nvCxnSpPr>
        <p:spPr>
          <a:xfrm flipH="1">
            <a:off x="8853530" y="5957939"/>
            <a:ext cx="895500" cy="819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08" name="Shape 192"/>
          <p:cNvCxnSpPr/>
          <p:nvPr/>
        </p:nvCxnSpPr>
        <p:spPr>
          <a:xfrm rot="10800000" flipH="1">
            <a:off x="8876205" y="5329266"/>
            <a:ext cx="891000" cy="378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109" name="TextBox 108"/>
          <p:cNvSpPr txBox="1"/>
          <p:nvPr/>
        </p:nvSpPr>
        <p:spPr>
          <a:xfrm>
            <a:off x="5169933" y="5715566"/>
            <a:ext cx="1297172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NULL</a:t>
            </a:r>
            <a:endParaRPr lang="ru-RU" sz="2400" b="1" dirty="0"/>
          </a:p>
        </p:txBody>
      </p:sp>
      <p:sp>
        <p:nvSpPr>
          <p:cNvPr id="110" name="TextBox 109"/>
          <p:cNvSpPr txBox="1"/>
          <p:nvPr/>
        </p:nvSpPr>
        <p:spPr>
          <a:xfrm>
            <a:off x="10034010" y="5086891"/>
            <a:ext cx="1297172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NULL</a:t>
            </a:r>
            <a:endParaRPr lang="ru-RU" sz="2400" b="1" dirty="0"/>
          </a:p>
        </p:txBody>
      </p:sp>
      <p:grpSp>
        <p:nvGrpSpPr>
          <p:cNvPr id="111" name="Группа 110"/>
          <p:cNvGrpSpPr/>
          <p:nvPr/>
        </p:nvGrpSpPr>
        <p:grpSpPr>
          <a:xfrm>
            <a:off x="10109917" y="3193114"/>
            <a:ext cx="824635" cy="1125065"/>
            <a:chOff x="5806662" y="2252524"/>
            <a:chExt cx="693847" cy="1071490"/>
          </a:xfrm>
        </p:grpSpPr>
        <p:cxnSp>
          <p:nvCxnSpPr>
            <p:cNvPr id="112" name="Shape 289"/>
            <p:cNvCxnSpPr/>
            <p:nvPr/>
          </p:nvCxnSpPr>
          <p:spPr>
            <a:xfrm rot="5400000">
              <a:off x="5450262" y="2966114"/>
              <a:ext cx="714300" cy="1500"/>
            </a:xfrm>
            <a:prstGeom prst="straightConnector1">
              <a:avLst/>
            </a:prstGeom>
            <a:noFill/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113" name="Shape 290"/>
            <p:cNvSpPr txBox="1"/>
            <p:nvPr/>
          </p:nvSpPr>
          <p:spPr>
            <a:xfrm>
              <a:off x="5809609" y="2252524"/>
              <a:ext cx="6909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 dirty="0" smtClean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end</a:t>
              </a:r>
              <a:endParaRPr sz="28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4" name="Группа 113"/>
          <p:cNvGrpSpPr/>
          <p:nvPr/>
        </p:nvGrpSpPr>
        <p:grpSpPr>
          <a:xfrm>
            <a:off x="4589895" y="3193116"/>
            <a:ext cx="690900" cy="1125065"/>
            <a:chOff x="5199994" y="2252524"/>
            <a:chExt cx="690900" cy="1071490"/>
          </a:xfrm>
        </p:grpSpPr>
        <p:cxnSp>
          <p:nvCxnSpPr>
            <p:cNvPr id="115" name="Shape 289"/>
            <p:cNvCxnSpPr/>
            <p:nvPr/>
          </p:nvCxnSpPr>
          <p:spPr>
            <a:xfrm rot="5400000">
              <a:off x="5450262" y="2966114"/>
              <a:ext cx="714300" cy="1500"/>
            </a:xfrm>
            <a:prstGeom prst="straightConnector1">
              <a:avLst/>
            </a:prstGeom>
            <a:noFill/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116" name="Shape 290"/>
            <p:cNvSpPr txBox="1"/>
            <p:nvPr/>
          </p:nvSpPr>
          <p:spPr>
            <a:xfrm>
              <a:off x="5199994" y="2252524"/>
              <a:ext cx="6909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top</a:t>
              </a:r>
              <a:endParaRPr sz="28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7" name="Shape 215"/>
          <p:cNvSpPr txBox="1"/>
          <p:nvPr/>
        </p:nvSpPr>
        <p:spPr>
          <a:xfrm>
            <a:off x="5526862" y="4447368"/>
            <a:ext cx="360040" cy="445631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28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Shape 216"/>
          <p:cNvSpPr txBox="1"/>
          <p:nvPr/>
        </p:nvSpPr>
        <p:spPr>
          <a:xfrm>
            <a:off x="10327273" y="4452373"/>
            <a:ext cx="360040" cy="445631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28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Shape 216"/>
          <p:cNvSpPr txBox="1"/>
          <p:nvPr/>
        </p:nvSpPr>
        <p:spPr>
          <a:xfrm>
            <a:off x="7938323" y="4458594"/>
            <a:ext cx="360040" cy="445631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8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0" name="Группа 119"/>
          <p:cNvGrpSpPr/>
          <p:nvPr/>
        </p:nvGrpSpPr>
        <p:grpSpPr>
          <a:xfrm>
            <a:off x="8002889" y="3193114"/>
            <a:ext cx="415306" cy="1125065"/>
            <a:chOff x="5781900" y="2252524"/>
            <a:chExt cx="415306" cy="1071490"/>
          </a:xfrm>
        </p:grpSpPr>
        <p:cxnSp>
          <p:nvCxnSpPr>
            <p:cNvPr id="121" name="Shape 289"/>
            <p:cNvCxnSpPr/>
            <p:nvPr/>
          </p:nvCxnSpPr>
          <p:spPr>
            <a:xfrm rot="5400000">
              <a:off x="5450262" y="2966114"/>
              <a:ext cx="714300" cy="1500"/>
            </a:xfrm>
            <a:prstGeom prst="straightConnector1">
              <a:avLst/>
            </a:prstGeom>
            <a:noFill/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122" name="Shape 290"/>
            <p:cNvSpPr txBox="1"/>
            <p:nvPr/>
          </p:nvSpPr>
          <p:spPr>
            <a:xfrm>
              <a:off x="5781900" y="2252524"/>
              <a:ext cx="415306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q</a:t>
              </a:r>
              <a:endParaRPr sz="28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34" name="Shape 461"/>
          <p:cNvCxnSpPr>
            <a:cxnSpLocks noChangeAspect="1"/>
          </p:cNvCxnSpPr>
          <p:nvPr/>
        </p:nvCxnSpPr>
        <p:spPr>
          <a:xfrm>
            <a:off x="6451410" y="5346572"/>
            <a:ext cx="3330000" cy="17864"/>
          </a:xfrm>
          <a:prstGeom prst="bentConnector5">
            <a:avLst>
              <a:gd name="adj1" fmla="val 14617"/>
              <a:gd name="adj2" fmla="val -6459801"/>
              <a:gd name="adj3" fmla="val 85845"/>
            </a:avLst>
          </a:prstGeom>
          <a:noFill/>
          <a:ln w="38100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48" name="Shape 461"/>
          <p:cNvCxnSpPr>
            <a:cxnSpLocks noChangeAspect="1"/>
          </p:cNvCxnSpPr>
          <p:nvPr/>
        </p:nvCxnSpPr>
        <p:spPr>
          <a:xfrm flipH="1" flipV="1">
            <a:off x="6467104" y="5986678"/>
            <a:ext cx="3330000" cy="17864"/>
          </a:xfrm>
          <a:prstGeom prst="bentConnector5">
            <a:avLst>
              <a:gd name="adj1" fmla="val 12537"/>
              <a:gd name="adj2" fmla="val -3120966"/>
              <a:gd name="adj3" fmla="val 85845"/>
            </a:avLst>
          </a:prstGeom>
          <a:noFill/>
          <a:ln w="38100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54" name="Блок-схема: ИЛИ 153"/>
          <p:cNvSpPr/>
          <p:nvPr/>
        </p:nvSpPr>
        <p:spPr>
          <a:xfrm rot="18841269">
            <a:off x="6787684" y="4100680"/>
            <a:ext cx="2688840" cy="2614654"/>
          </a:xfrm>
          <a:prstGeom prst="flowChartOr">
            <a:avLst/>
          </a:prstGeom>
          <a:noFill/>
          <a:ln w="57150">
            <a:solidFill>
              <a:srgbClr val="C4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57" name="Группа 56"/>
          <p:cNvGrpSpPr>
            <a:grpSpLocks/>
          </p:cNvGrpSpPr>
          <p:nvPr/>
        </p:nvGrpSpPr>
        <p:grpSpPr>
          <a:xfrm>
            <a:off x="3440353" y="5858151"/>
            <a:ext cx="1077338" cy="1239795"/>
            <a:chOff x="9795437" y="5375754"/>
            <a:chExt cx="1077338" cy="1180757"/>
          </a:xfrm>
        </p:grpSpPr>
        <p:graphicFrame>
          <p:nvGraphicFramePr>
            <p:cNvPr id="58" name="Shape 163"/>
            <p:cNvGraphicFramePr/>
            <p:nvPr>
              <p:extLst>
                <p:ext uri="{D42A27DB-BD31-4B8C-83A1-F6EECF244321}">
                  <p14:modId xmlns:p14="http://schemas.microsoft.com/office/powerpoint/2010/main" val="2600700057"/>
                </p:ext>
              </p:extLst>
            </p:nvPr>
          </p:nvGraphicFramePr>
          <p:xfrm>
            <a:off x="9795437" y="5375754"/>
            <a:ext cx="432000" cy="1131428"/>
          </p:xfrm>
          <a:graphic>
            <a:graphicData uri="http://schemas.openxmlformats.org/drawingml/2006/table">
              <a:tbl>
                <a:tblPr>
                  <a:noFill/>
                  <a:tableStyleId>{A658CFA3-1ECF-4F86-BB5C-CF7618A15973}</a:tableStyleId>
                </a:tblPr>
                <a:tblGrid>
                  <a:gridCol w="432000"/>
                </a:tblGrid>
                <a:tr h="396000">
                  <a:tc>
                    <a:txBody>
                      <a:bodyPr/>
                      <a:lstStyle/>
                      <a:p>
                        <a:pPr marL="0" lvl="0" indent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900" b="1" dirty="0">
                          <a:solidFill>
                            <a:schemeClr val="lt1"/>
                          </a:solidFill>
                        </a:endParaRPr>
                      </a:p>
                    </a:txBody>
                    <a:tcPr marL="91425" marR="91425" marT="91425" marB="91425">
                      <a:lnL w="2857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2857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2857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2857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3C78D8"/>
                      </a:solidFill>
                    </a:tcPr>
                  </a:tc>
                </a:tr>
                <a:tr h="396000">
                  <a:tc>
                    <a:txBody>
                      <a:bodyPr/>
                      <a:lstStyle/>
                      <a:p>
                        <a:pPr marL="0" lvl="0" indent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900" dirty="0"/>
                      </a:p>
                    </a:txBody>
                    <a:tcPr marL="91425" marR="91425" marT="91425" marB="91425">
                      <a:lnL w="2857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2857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2857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2857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6D9EEB"/>
                      </a:solidFill>
                    </a:tcPr>
                  </a:tc>
                </a:tr>
                <a:tr h="396000">
                  <a:tc>
                    <a:txBody>
                      <a:bodyPr/>
                      <a:lstStyle/>
                      <a:p>
                        <a:pPr marL="0" lvl="0" indent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900" dirty="0"/>
                      </a:p>
                    </a:txBody>
                    <a:tcPr marL="91425" marR="91425" marT="91425" marB="91425">
                      <a:lnL w="2857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2857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2857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2857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A4C2F4"/>
                      </a:solidFill>
                    </a:tcPr>
                  </a:tc>
                </a:tr>
              </a:tbl>
            </a:graphicData>
          </a:graphic>
        </p:graphicFrame>
        <p:sp>
          <p:nvSpPr>
            <p:cNvPr id="59" name="TextBox 58"/>
            <p:cNvSpPr txBox="1"/>
            <p:nvPr/>
          </p:nvSpPr>
          <p:spPr>
            <a:xfrm>
              <a:off x="10200796" y="6204766"/>
              <a:ext cx="671979" cy="3517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b="1" dirty="0" err="1" smtClean="0">
                  <a:solidFill>
                    <a:schemeClr val="tx1"/>
                  </a:solidFill>
                </a:rPr>
                <a:t>prev</a:t>
              </a:r>
              <a:endParaRPr lang="ru-RU" sz="1800" b="1" dirty="0">
                <a:solidFill>
                  <a:schemeClr val="tx1"/>
                </a:solidFill>
              </a:endParaRP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10200797" y="5397150"/>
              <a:ext cx="659155" cy="3517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b="1" dirty="0" smtClean="0">
                  <a:solidFill>
                    <a:schemeClr val="tx1"/>
                  </a:solidFill>
                </a:rPr>
                <a:t>data</a:t>
              </a:r>
              <a:endParaRPr lang="ru-RU" sz="1800" b="1" dirty="0">
                <a:solidFill>
                  <a:schemeClr val="tx1"/>
                </a:solidFill>
              </a:endParaRP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10200796" y="5800958"/>
              <a:ext cx="659155" cy="3517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b="1" dirty="0" smtClean="0">
                  <a:solidFill>
                    <a:schemeClr val="tx1"/>
                  </a:solidFill>
                </a:rPr>
                <a:t>next</a:t>
              </a:r>
              <a:endParaRPr lang="ru-RU" sz="18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62" name="Группа 61"/>
          <p:cNvGrpSpPr/>
          <p:nvPr/>
        </p:nvGrpSpPr>
        <p:grpSpPr>
          <a:xfrm>
            <a:off x="8818245" y="778245"/>
            <a:ext cx="824635" cy="1125065"/>
            <a:chOff x="5806662" y="2252524"/>
            <a:chExt cx="693847" cy="1071490"/>
          </a:xfrm>
        </p:grpSpPr>
        <p:cxnSp>
          <p:nvCxnSpPr>
            <p:cNvPr id="63" name="Shape 289"/>
            <p:cNvCxnSpPr/>
            <p:nvPr/>
          </p:nvCxnSpPr>
          <p:spPr>
            <a:xfrm rot="5400000">
              <a:off x="5450262" y="2966114"/>
              <a:ext cx="714300" cy="1500"/>
            </a:xfrm>
            <a:prstGeom prst="straightConnector1">
              <a:avLst/>
            </a:prstGeom>
            <a:noFill/>
            <a:ln w="38100" cap="flat" cmpd="sng">
              <a:solidFill>
                <a:srgbClr val="FF0000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64" name="Shape 290"/>
            <p:cNvSpPr txBox="1"/>
            <p:nvPr/>
          </p:nvSpPr>
          <p:spPr>
            <a:xfrm>
              <a:off x="5809609" y="2252524"/>
              <a:ext cx="6909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 dirty="0" smtClean="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end</a:t>
              </a:r>
              <a:endParaRPr sz="2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5" name="Группа 64"/>
          <p:cNvGrpSpPr/>
          <p:nvPr/>
        </p:nvGrpSpPr>
        <p:grpSpPr>
          <a:xfrm>
            <a:off x="7742850" y="778245"/>
            <a:ext cx="690900" cy="1125065"/>
            <a:chOff x="5199994" y="2252524"/>
            <a:chExt cx="690900" cy="1071490"/>
          </a:xfrm>
        </p:grpSpPr>
        <p:cxnSp>
          <p:nvCxnSpPr>
            <p:cNvPr id="66" name="Shape 289"/>
            <p:cNvCxnSpPr/>
            <p:nvPr/>
          </p:nvCxnSpPr>
          <p:spPr>
            <a:xfrm rot="5400000">
              <a:off x="5450262" y="2966114"/>
              <a:ext cx="714300" cy="1500"/>
            </a:xfrm>
            <a:prstGeom prst="straightConnector1">
              <a:avLst/>
            </a:prstGeom>
            <a:noFill/>
            <a:ln w="38100" cap="flat" cmpd="sng">
              <a:solidFill>
                <a:srgbClr val="FF0000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67" name="Shape 290"/>
            <p:cNvSpPr txBox="1"/>
            <p:nvPr/>
          </p:nvSpPr>
          <p:spPr>
            <a:xfrm>
              <a:off x="5199994" y="2252524"/>
              <a:ext cx="6909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 dirty="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top</a:t>
              </a:r>
              <a:endParaRPr sz="2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0" name="Группа 89"/>
          <p:cNvGrpSpPr/>
          <p:nvPr/>
        </p:nvGrpSpPr>
        <p:grpSpPr>
          <a:xfrm>
            <a:off x="9784718" y="738928"/>
            <a:ext cx="415306" cy="1125065"/>
            <a:chOff x="5781900" y="2252524"/>
            <a:chExt cx="415306" cy="1071490"/>
          </a:xfrm>
        </p:grpSpPr>
        <p:cxnSp>
          <p:nvCxnSpPr>
            <p:cNvPr id="101" name="Shape 289"/>
            <p:cNvCxnSpPr/>
            <p:nvPr/>
          </p:nvCxnSpPr>
          <p:spPr>
            <a:xfrm rot="5400000">
              <a:off x="5450262" y="2966114"/>
              <a:ext cx="714300" cy="1500"/>
            </a:xfrm>
            <a:prstGeom prst="straightConnector1">
              <a:avLst/>
            </a:prstGeom>
            <a:noFill/>
            <a:ln w="38100" cap="flat" cmpd="sng">
              <a:solidFill>
                <a:srgbClr val="FF0000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102" name="Shape 290"/>
            <p:cNvSpPr txBox="1"/>
            <p:nvPr/>
          </p:nvSpPr>
          <p:spPr>
            <a:xfrm>
              <a:off x="5781900" y="2252524"/>
              <a:ext cx="415306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 dirty="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q</a:t>
              </a:r>
              <a:endParaRPr sz="2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repeatCount="3000" fill="remove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50" autoRev="1" fill="remove"/>
                                        <p:tgtEl>
                                          <p:spTgt spid="3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7" dur="250" autoRev="1" fill="remove"/>
                                        <p:tgtEl>
                                          <p:spTgt spid="3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8" dur="250" autoRev="1" fill="remove"/>
                                        <p:tgtEl>
                                          <p:spTgt spid="3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250" autoRev="1" fill="remove"/>
                                        <p:tgtEl>
                                          <p:spTgt spid="3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27" presetClass="emph" presetSubtype="0" repeatCount="3000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250" autoRev="1" fill="remove"/>
                                        <p:tgtEl>
                                          <p:spTgt spid="3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2" dur="250" autoRev="1" fill="remove"/>
                                        <p:tgtEl>
                                          <p:spTgt spid="3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3" dur="250" autoRev="1" fill="remove"/>
                                        <p:tgtEl>
                                          <p:spTgt spid="3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250" autoRev="1" fill="remove"/>
                                        <p:tgtEl>
                                          <p:spTgt spid="3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3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3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3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3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3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3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3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3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39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39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39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39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39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5" dur="2000" fill="hold"/>
                                        <p:tgtEl>
                                          <p:spTgt spid="3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4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6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5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5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5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5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6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5" dur="2000" fill="hold"/>
                                        <p:tgtEl>
                                          <p:spTgt spid="3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4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" fill="hold">
                            <p:stCondLst>
                              <p:cond delay="2000"/>
                            </p:stCondLst>
                            <p:childTnLst>
                              <p:par>
                                <p:cTn id="169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9167E-6 3.7037E-7 L 0.19843 0.0044 " pathEditMode="relative" rAng="0" ptsTypes="AA">
                                      <p:cBhvr>
                                        <p:cTn id="170" dur="2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922" y="208"/>
                                    </p:animMotion>
                                  </p:childTnLst>
                                </p:cTn>
                              </p:par>
                              <p:par>
                                <p:cTn id="171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95833E-6 -2.96296E-6 L 0.19441 0.00232 " pathEditMode="relative" rAng="0" ptsTypes="AA">
                                      <p:cBhvr>
                                        <p:cTn id="172" dur="2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714" y="1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2" dur="2000" fill="hold"/>
                                        <p:tgtEl>
                                          <p:spTgt spid="3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4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0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0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1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1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3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2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2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2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2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29" presetID="26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3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3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4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4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45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5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5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5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5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61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6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7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7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7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7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77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8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8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8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8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8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9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9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93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0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0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0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0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0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0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0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0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09" presetID="26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1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2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2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2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2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2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25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3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3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3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3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4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41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4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5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5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5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5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57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6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6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6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6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6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7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7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73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8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8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8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8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89" presetID="26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9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9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9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0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0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0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05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1" fill="hold">
                      <p:stCondLst>
                        <p:cond delay="indefinite"/>
                      </p:stCondLst>
                      <p:childTnLst>
                        <p:par>
                          <p:cTn id="422" fill="hold">
                            <p:stCondLst>
                              <p:cond delay="0"/>
                            </p:stCondLst>
                            <p:childTnLst>
                              <p:par>
                                <p:cTn id="423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24" dur="2000" fill="hold"/>
                                        <p:tgtEl>
                                          <p:spTgt spid="3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4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25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3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3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3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3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3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3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3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4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1" fill="hold">
                      <p:stCondLst>
                        <p:cond delay="indefinite"/>
                      </p:stCondLst>
                      <p:childTnLst>
                        <p:par>
                          <p:cTn id="442" fill="hold">
                            <p:stCondLst>
                              <p:cond delay="0"/>
                            </p:stCondLst>
                            <p:childTnLst>
                              <p:par>
                                <p:cTn id="443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4" dur="2000" fill="hold"/>
                                        <p:tgtEl>
                                          <p:spTgt spid="3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45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9167E-6 -0.00209 L -0.19895 0.00046 " pathEditMode="relative" rAng="0" ptsTypes="AA">
                                      <p:cBhvr>
                                        <p:cTn id="446" dur="2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948" y="1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7" fill="hold">
                      <p:stCondLst>
                        <p:cond delay="indefinite"/>
                      </p:stCondLst>
                      <p:childTnLst>
                        <p:par>
                          <p:cTn id="448" fill="hold">
                            <p:stCondLst>
                              <p:cond delay="0"/>
                            </p:stCondLst>
                            <p:childTnLst>
                              <p:par>
                                <p:cTn id="449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50" dur="2000" fill="hold"/>
                                        <p:tgtEl>
                                          <p:spTgt spid="3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51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25E-7 -1.11111E-6 L -0.17591 0.00417 " pathEditMode="relative" rAng="0" ptsTypes="AA">
                                      <p:cBhvr>
                                        <p:cTn id="452" dur="2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802" y="20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3" fill="hold">
                      <p:stCondLst>
                        <p:cond delay="indefinite"/>
                      </p:stCondLst>
                      <p:childTnLst>
                        <p:par>
                          <p:cTn id="454" fill="hold">
                            <p:stCondLst>
                              <p:cond delay="0"/>
                            </p:stCondLst>
                            <p:childTnLst>
                              <p:par>
                                <p:cTn id="45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56" dur="2000" fill="hold"/>
                                        <p:tgtEl>
                                          <p:spTgt spid="3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4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57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58" dur="2000" fill="hold"/>
                                        <p:tgtEl>
                                          <p:spTgt spid="3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4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9" fill="hold">
                      <p:stCondLst>
                        <p:cond delay="indefinite"/>
                      </p:stCondLst>
                      <p:childTnLst>
                        <p:par>
                          <p:cTn id="460" fill="hold">
                            <p:stCondLst>
                              <p:cond delay="0"/>
                            </p:stCondLst>
                            <p:childTnLst>
                              <p:par>
                                <p:cTn id="4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3" fill="hold">
                            <p:stCondLst>
                              <p:cond delay="0"/>
                            </p:stCondLst>
                            <p:childTnLst>
                              <p:par>
                                <p:cTn id="464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6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6" fill="hold">
                      <p:stCondLst>
                        <p:cond delay="indefinite"/>
                      </p:stCondLst>
                      <p:childTnLst>
                        <p:par>
                          <p:cTn id="477" fill="hold">
                            <p:stCondLst>
                              <p:cond delay="0"/>
                            </p:stCondLst>
                            <p:childTnLst>
                              <p:par>
                                <p:cTn id="478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79" dur="2000" fill="hold"/>
                                        <p:tgtEl>
                                          <p:spTgt spid="3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4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8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4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4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4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0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6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8" fill="hold">
                      <p:stCondLst>
                        <p:cond delay="indefinite"/>
                      </p:stCondLst>
                      <p:childTnLst>
                        <p:par>
                          <p:cTn id="519" fill="hold">
                            <p:stCondLst>
                              <p:cond delay="0"/>
                            </p:stCondLst>
                            <p:childTnLst>
                              <p:par>
                                <p:cTn id="520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2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2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3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3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3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36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4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4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4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4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4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4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5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52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6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6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6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6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6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6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6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6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68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7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7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7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7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8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8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8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8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84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9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9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9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9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9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9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9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9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600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0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0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1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1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1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1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1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1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616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2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2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2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2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2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2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3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3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632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4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4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4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4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4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4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4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4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648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5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5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5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5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6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6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6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6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664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7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7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7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7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7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7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7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7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680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8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8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9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9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9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9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9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9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696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0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0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0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0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0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0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1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1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712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2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2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2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2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2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2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2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2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728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3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3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3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3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4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4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4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4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4" fill="hold">
                            <p:stCondLst>
                              <p:cond delay="2000"/>
                            </p:stCondLst>
                            <p:childTnLst>
                              <p:par>
                                <p:cTn id="745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5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5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5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5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5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5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5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6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1" fill="hold">
                      <p:stCondLst>
                        <p:cond delay="indefinite"/>
                      </p:stCondLst>
                      <p:childTnLst>
                        <p:par>
                          <p:cTn id="762" fill="hold">
                            <p:stCondLst>
                              <p:cond delay="0"/>
                            </p:stCondLst>
                            <p:childTnLst>
                              <p:par>
                                <p:cTn id="763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64" dur="2000" fill="hold"/>
                                        <p:tgtEl>
                                          <p:spTgt spid="39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4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65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7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7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7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7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7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7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7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8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7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5" fill="hold">
                      <p:stCondLst>
                        <p:cond delay="indefinite"/>
                      </p:stCondLst>
                      <p:childTnLst>
                        <p:par>
                          <p:cTn id="786" fill="hold">
                            <p:stCondLst>
                              <p:cond delay="0"/>
                            </p:stCondLst>
                            <p:childTnLst>
                              <p:par>
                                <p:cTn id="787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88" dur="2000" fill="hold"/>
                                        <p:tgtEl>
                                          <p:spTgt spid="39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4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89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9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9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9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0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0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0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0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0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80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9" fill="hold">
                      <p:stCondLst>
                        <p:cond delay="indefinite"/>
                      </p:stCondLst>
                      <p:childTnLst>
                        <p:par>
                          <p:cTn id="810" fill="hold">
                            <p:stCondLst>
                              <p:cond delay="0"/>
                            </p:stCondLst>
                            <p:childTnLst>
                              <p:par>
                                <p:cTn id="811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12" dur="2000" fill="hold"/>
                                        <p:tgtEl>
                                          <p:spTgt spid="39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4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13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14" dur="2000" fill="hold"/>
                                        <p:tgtEl>
                                          <p:spTgt spid="39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4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15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16" dur="2000" fill="hold"/>
                                        <p:tgtEl>
                                          <p:spTgt spid="39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4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9" fill="hold">
                            <p:stCondLst>
                              <p:cond delay="2000"/>
                            </p:stCondLst>
                            <p:childTnLst>
                              <p:par>
                                <p:cTn id="820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" grpId="0" build="p"/>
      <p:bldP spid="78" grpId="0" animBg="1"/>
      <p:bldP spid="78" grpId="1" animBg="1"/>
      <p:bldP spid="78" grpId="2" animBg="1"/>
      <p:bldP spid="78" grpId="3" animBg="1"/>
      <p:bldP spid="79" grpId="0" animBg="1"/>
      <p:bldP spid="79" grpId="1" animBg="1"/>
      <p:bldP spid="79" grpId="2" animBg="1"/>
      <p:bldP spid="79" grpId="3" animBg="1"/>
      <p:bldP spid="80" grpId="0" animBg="1"/>
      <p:bldP spid="80" grpId="1" animBg="1"/>
      <p:bldP spid="80" grpId="2" animBg="1"/>
      <p:bldP spid="89" grpId="0" animBg="1"/>
      <p:bldP spid="89" grpId="1" animBg="1"/>
      <p:bldP spid="89" grpId="2" animBg="1"/>
      <p:bldP spid="97" grpId="0" animBg="1"/>
      <p:bldP spid="97" grpId="1" animBg="1"/>
      <p:bldP spid="97" grpId="2" animBg="1"/>
      <p:bldP spid="109" grpId="0"/>
      <p:bldP spid="110" grpId="0"/>
      <p:bldP spid="117" grpId="0" animBg="1"/>
      <p:bldP spid="118" grpId="0" animBg="1"/>
      <p:bldP spid="119" grpId="0" animBg="1"/>
      <p:bldP spid="119" grpId="1" animBg="1"/>
      <p:bldP spid="154" grpId="0" animBg="1"/>
      <p:bldP spid="154" grpId="1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Shape 469"/>
          <p:cNvSpPr txBox="1">
            <a:spLocks noGrp="1"/>
          </p:cNvSpPr>
          <p:nvPr>
            <p:ph idx="1"/>
          </p:nvPr>
        </p:nvSpPr>
        <p:spPr>
          <a:xfrm>
            <a:off x="175348" y="1841848"/>
            <a:ext cx="5138052" cy="3831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r>
              <a:rPr lang="en-US" sz="2000" b="0" i="0" u="none" strike="noStrike" cap="none" dirty="0"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void </a:t>
            </a:r>
            <a:r>
              <a:rPr lang="en-US" sz="2000" b="0" i="0" u="none" strike="noStrike" cap="none" dirty="0" err="1"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delete_all_x</a:t>
            </a:r>
            <a:r>
              <a:rPr lang="en-US" sz="2000" b="0" i="0" u="none" strike="noStrike" cap="none" dirty="0"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(node* &amp;top, </a:t>
            </a:r>
            <a:endParaRPr lang="en-US" sz="2000" b="0" i="0" u="none" strike="noStrike" cap="none" dirty="0" smtClean="0">
              <a:latin typeface="Arial" panose="020B0604020202020204" pitchFamily="34" charset="0"/>
              <a:ea typeface="Trebuchet MS"/>
              <a:cs typeface="Arial" panose="020B0604020202020204" pitchFamily="34" charset="0"/>
              <a:sym typeface="Trebuchet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r>
              <a:rPr lang="en-US" sz="2000" dirty="0"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 </a:t>
            </a:r>
            <a:r>
              <a:rPr lang="en-US" sz="2000" dirty="0" smtClean="0"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                           </a:t>
            </a:r>
            <a:r>
              <a:rPr lang="en-US" sz="2000" b="0" i="0" u="none" strike="noStrike" cap="none" dirty="0" smtClean="0"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node</a:t>
            </a:r>
            <a:r>
              <a:rPr lang="en-US" sz="2000" b="0" i="0" u="none" strike="noStrike" cap="none" dirty="0"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* &amp;end, </a:t>
            </a:r>
            <a:r>
              <a:rPr lang="en-US" sz="2000" b="0" i="0" u="none" strike="noStrike" cap="none" dirty="0" err="1"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int</a:t>
            </a:r>
            <a:r>
              <a:rPr lang="en-US" sz="2000" b="0" i="0" u="none" strike="noStrike" cap="none" dirty="0"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 x)</a:t>
            </a:r>
            <a:endParaRPr sz="2000" b="0" i="0" u="none" strike="noStrike" cap="none" dirty="0">
              <a:latin typeface="Arial" panose="020B0604020202020204" pitchFamily="34" charset="0"/>
              <a:ea typeface="Trebuchet MS"/>
              <a:cs typeface="Arial" panose="020B0604020202020204" pitchFamily="34" charset="0"/>
              <a:sym typeface="Trebuchet MS"/>
            </a:endParaRPr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r>
              <a:rPr lang="en-US" sz="2000" b="0" i="0" u="none" strike="noStrike" cap="none" dirty="0"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{</a:t>
            </a:r>
            <a:endParaRPr sz="2000" b="0" i="0" u="none" strike="noStrike" cap="none" dirty="0">
              <a:latin typeface="Arial" panose="020B0604020202020204" pitchFamily="34" charset="0"/>
              <a:ea typeface="Trebuchet MS"/>
              <a:cs typeface="Arial" panose="020B0604020202020204" pitchFamily="34" charset="0"/>
              <a:sym typeface="Trebuchet MS"/>
            </a:endParaRPr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r>
              <a:rPr lang="en-US" sz="2000" b="0" i="0" u="none" strike="noStrike" cap="none" dirty="0"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       </a:t>
            </a:r>
            <a:r>
              <a:rPr lang="en-US" sz="2000" b="0" i="0" u="none" strike="noStrike" cap="none" dirty="0" smtClean="0"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while </a:t>
            </a:r>
            <a:r>
              <a:rPr lang="en-US" sz="2000" b="0" i="0" u="none" strike="noStrike" cap="none" dirty="0"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(</a:t>
            </a:r>
            <a:r>
              <a:rPr lang="en-US" sz="2000" b="0" i="0" u="none" strike="noStrike" cap="none" dirty="0" err="1"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find_address</a:t>
            </a:r>
            <a:r>
              <a:rPr lang="en-US" sz="2000" b="0" i="0" u="none" strike="noStrike" cap="none" dirty="0"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(</a:t>
            </a:r>
            <a:r>
              <a:rPr lang="en-US" sz="2000" b="0" i="0" u="none" strike="noStrike" cap="none" dirty="0" err="1"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top,x</a:t>
            </a:r>
            <a:r>
              <a:rPr lang="en-US" sz="2000" b="0" i="0" u="none" strike="noStrike" cap="none" dirty="0"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))</a:t>
            </a:r>
            <a:endParaRPr sz="2000" b="0" i="0" u="none" strike="noStrike" cap="none" dirty="0">
              <a:latin typeface="Arial" panose="020B0604020202020204" pitchFamily="34" charset="0"/>
              <a:ea typeface="Trebuchet MS"/>
              <a:cs typeface="Arial" panose="020B0604020202020204" pitchFamily="34" charset="0"/>
              <a:sym typeface="Trebuchet MS"/>
            </a:endParaRPr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r>
              <a:rPr lang="en-US" sz="2000" b="0" i="0" u="none" strike="noStrike" cap="none" dirty="0"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	</a:t>
            </a:r>
            <a:r>
              <a:rPr lang="en-US" sz="2000" b="0" i="0" u="none" strike="noStrike" cap="none" dirty="0" err="1"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delete_element</a:t>
            </a:r>
            <a:r>
              <a:rPr lang="en-US" sz="2000" b="0" i="0" u="none" strike="noStrike" cap="none" dirty="0"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(</a:t>
            </a:r>
            <a:r>
              <a:rPr lang="en-US" sz="2000" b="0" i="0" u="none" strike="noStrike" cap="none" dirty="0" err="1"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top,end</a:t>
            </a:r>
            <a:r>
              <a:rPr lang="en-US" sz="2000" b="0" i="0" u="none" strike="noStrike" cap="none" dirty="0" smtClean="0"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,</a:t>
            </a:r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r>
              <a:rPr lang="en-US" sz="2000" dirty="0"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 </a:t>
            </a:r>
            <a:r>
              <a:rPr lang="en-US" sz="2000" dirty="0" smtClean="0"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                               </a:t>
            </a:r>
            <a:r>
              <a:rPr lang="en-US" sz="2000" b="0" i="0" u="none" strike="noStrike" cap="none" dirty="0" err="1" smtClean="0"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find_address</a:t>
            </a:r>
            <a:r>
              <a:rPr lang="en-US" sz="2000" b="0" i="0" u="none" strike="noStrike" cap="none" dirty="0" smtClean="0"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(</a:t>
            </a:r>
            <a:r>
              <a:rPr lang="en-US" sz="2000" b="0" i="0" u="none" strike="noStrike" cap="none" dirty="0" err="1" smtClean="0"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top,x</a:t>
            </a:r>
            <a:r>
              <a:rPr lang="en-US" sz="2000" b="0" i="0" u="none" strike="noStrike" cap="none" dirty="0"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));</a:t>
            </a:r>
            <a:endParaRPr sz="2000" b="0" i="0" u="none" strike="noStrike" cap="none" dirty="0">
              <a:latin typeface="Arial" panose="020B0604020202020204" pitchFamily="34" charset="0"/>
              <a:ea typeface="Trebuchet MS"/>
              <a:cs typeface="Arial" panose="020B0604020202020204" pitchFamily="34" charset="0"/>
              <a:sym typeface="Trebuchet MS"/>
            </a:endParaRPr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r>
              <a:rPr lang="en-US" sz="2000" b="0" i="0" u="none" strike="noStrike" cap="none" dirty="0"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}</a:t>
            </a:r>
            <a:endParaRPr sz="2000" b="0" i="0" u="none" strike="noStrike" cap="none" dirty="0">
              <a:latin typeface="Arial" panose="020B0604020202020204" pitchFamily="34" charset="0"/>
              <a:ea typeface="Trebuchet MS"/>
              <a:cs typeface="Arial" panose="020B0604020202020204" pitchFamily="34" charset="0"/>
              <a:sym typeface="Trebuchet MS"/>
            </a:endParaRPr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endParaRPr sz="2000" b="0" i="0" u="none" strike="noStrike" cap="none" dirty="0">
              <a:latin typeface="Arial" panose="020B0604020202020204" pitchFamily="34" charset="0"/>
              <a:ea typeface="Trebuchet MS"/>
              <a:cs typeface="Arial" panose="020B0604020202020204" pitchFamily="34" charset="0"/>
              <a:sym typeface="Trebuchet MS"/>
            </a:endParaRPr>
          </a:p>
        </p:txBody>
      </p:sp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301625" y="91679"/>
            <a:ext cx="11447030" cy="1217576"/>
          </a:xfrm>
        </p:spPr>
        <p:txBody>
          <a:bodyPr>
            <a:noAutofit/>
          </a:bodyPr>
          <a:lstStyle/>
          <a:p>
            <a:pPr algn="ctr"/>
            <a:r>
              <a:rPr lang="ru-RU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Удаление всех элементов равных Х из списка</a:t>
            </a:r>
            <a:endParaRPr lang="ru-RU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6" name="Shape 297"/>
          <p:cNvGraphicFramePr/>
          <p:nvPr>
            <p:extLst>
              <p:ext uri="{D42A27DB-BD31-4B8C-83A1-F6EECF244321}">
                <p14:modId xmlns:p14="http://schemas.microsoft.com/office/powerpoint/2010/main" val="618447858"/>
              </p:ext>
            </p:extLst>
          </p:nvPr>
        </p:nvGraphicFramePr>
        <p:xfrm>
          <a:off x="5370690" y="2744135"/>
          <a:ext cx="1460675" cy="1849602"/>
        </p:xfrm>
        <a:graphic>
          <a:graphicData uri="http://schemas.openxmlformats.org/drawingml/2006/table">
            <a:tbl>
              <a:tblPr>
                <a:noFill/>
                <a:tableStyleId>{A658CFA3-1ECF-4F86-BB5C-CF7618A15973}</a:tableStyleId>
              </a:tblPr>
              <a:tblGrid>
                <a:gridCol w="1460675"/>
              </a:tblGrid>
              <a:tr h="61653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 b="1" dirty="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5996" marB="95996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C78D8"/>
                    </a:solidFill>
                  </a:tcPr>
                </a:tc>
              </a:tr>
              <a:tr h="61653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/>
                    </a:p>
                  </a:txBody>
                  <a:tcPr marL="91425" marR="91425" marT="95996" marB="95996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D9EEB"/>
                    </a:solidFill>
                  </a:tcPr>
                </a:tc>
              </a:tr>
              <a:tr h="61653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 dirty="0"/>
                    </a:p>
                  </a:txBody>
                  <a:tcPr marL="91425" marR="91425" marT="95996" marB="95996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</a:tr>
            </a:tbl>
          </a:graphicData>
        </a:graphic>
      </p:graphicFrame>
      <p:cxnSp>
        <p:nvCxnSpPr>
          <p:cNvPr id="27" name="Shape 298"/>
          <p:cNvCxnSpPr/>
          <p:nvPr/>
        </p:nvCxnSpPr>
        <p:spPr>
          <a:xfrm flipH="1">
            <a:off x="6831499" y="4329488"/>
            <a:ext cx="895500" cy="819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8" name="Shape 299"/>
          <p:cNvCxnSpPr/>
          <p:nvPr/>
        </p:nvCxnSpPr>
        <p:spPr>
          <a:xfrm rot="10800000" flipH="1">
            <a:off x="6854174" y="3700815"/>
            <a:ext cx="891000" cy="378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stealth" w="med" len="med"/>
          </a:ln>
        </p:spPr>
      </p:cxnSp>
      <p:graphicFrame>
        <p:nvGraphicFramePr>
          <p:cNvPr id="29" name="Shape 300"/>
          <p:cNvGraphicFramePr/>
          <p:nvPr>
            <p:extLst>
              <p:ext uri="{D42A27DB-BD31-4B8C-83A1-F6EECF244321}">
                <p14:modId xmlns:p14="http://schemas.microsoft.com/office/powerpoint/2010/main" val="4255837208"/>
              </p:ext>
            </p:extLst>
          </p:nvPr>
        </p:nvGraphicFramePr>
        <p:xfrm>
          <a:off x="7762540" y="2744146"/>
          <a:ext cx="1460675" cy="1849602"/>
        </p:xfrm>
        <a:graphic>
          <a:graphicData uri="http://schemas.openxmlformats.org/drawingml/2006/table">
            <a:tbl>
              <a:tblPr>
                <a:noFill/>
                <a:tableStyleId>{A658CFA3-1ECF-4F86-BB5C-CF7618A15973}</a:tableStyleId>
              </a:tblPr>
              <a:tblGrid>
                <a:gridCol w="1460675"/>
              </a:tblGrid>
              <a:tr h="61653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5996" marB="95996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C78D8"/>
                    </a:solidFill>
                  </a:tcPr>
                </a:tc>
              </a:tr>
              <a:tr h="61653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/>
                    </a:p>
                  </a:txBody>
                  <a:tcPr marL="91425" marR="91425" marT="95996" marB="95996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D9EEB"/>
                    </a:solidFill>
                  </a:tcPr>
                </a:tc>
              </a:tr>
              <a:tr h="61653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/>
                    </a:p>
                  </a:txBody>
                  <a:tcPr marL="91425" marR="91425" marT="95996" marB="95996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0" name="Shape 301"/>
          <p:cNvGraphicFramePr/>
          <p:nvPr>
            <p:extLst>
              <p:ext uri="{D42A27DB-BD31-4B8C-83A1-F6EECF244321}">
                <p14:modId xmlns:p14="http://schemas.microsoft.com/office/powerpoint/2010/main" val="2785962407"/>
              </p:ext>
            </p:extLst>
          </p:nvPr>
        </p:nvGraphicFramePr>
        <p:xfrm>
          <a:off x="10154377" y="2744161"/>
          <a:ext cx="1460675" cy="1849602"/>
        </p:xfrm>
        <a:graphic>
          <a:graphicData uri="http://schemas.openxmlformats.org/drawingml/2006/table">
            <a:tbl>
              <a:tblPr>
                <a:noFill/>
                <a:tableStyleId>{A658CFA3-1ECF-4F86-BB5C-CF7618A15973}</a:tableStyleId>
              </a:tblPr>
              <a:tblGrid>
                <a:gridCol w="1460675"/>
              </a:tblGrid>
              <a:tr h="61653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 b="1" dirty="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5996" marB="95996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C78D8"/>
                    </a:solidFill>
                  </a:tcPr>
                </a:tc>
              </a:tr>
              <a:tr h="61653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 dirty="0"/>
                    </a:p>
                  </a:txBody>
                  <a:tcPr marL="91425" marR="91425" marT="95996" marB="95996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D9EEB"/>
                    </a:solidFill>
                  </a:tcPr>
                </a:tc>
              </a:tr>
              <a:tr h="61653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/>
                    </a:p>
                  </a:txBody>
                  <a:tcPr marL="91425" marR="91425" marT="95996" marB="95996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</a:tr>
            </a:tbl>
          </a:graphicData>
        </a:graphic>
      </p:graphicFrame>
      <p:cxnSp>
        <p:nvCxnSpPr>
          <p:cNvPr id="31" name="Shape 302"/>
          <p:cNvCxnSpPr/>
          <p:nvPr/>
        </p:nvCxnSpPr>
        <p:spPr>
          <a:xfrm flipH="1">
            <a:off x="9240599" y="4324488"/>
            <a:ext cx="895500" cy="819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32" name="Shape 303"/>
          <p:cNvCxnSpPr/>
          <p:nvPr/>
        </p:nvCxnSpPr>
        <p:spPr>
          <a:xfrm rot="10800000" flipH="1">
            <a:off x="9263274" y="3695813"/>
            <a:ext cx="891000" cy="378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stealth" w="med" len="med"/>
          </a:ln>
        </p:spPr>
      </p:cxnSp>
      <p:grpSp>
        <p:nvGrpSpPr>
          <p:cNvPr id="33" name="Группа 32"/>
          <p:cNvGrpSpPr/>
          <p:nvPr/>
        </p:nvGrpSpPr>
        <p:grpSpPr>
          <a:xfrm>
            <a:off x="11749062" y="224043"/>
            <a:ext cx="375300" cy="1192061"/>
            <a:chOff x="5645064" y="987493"/>
            <a:chExt cx="375300" cy="1135296"/>
          </a:xfrm>
        </p:grpSpPr>
        <p:cxnSp>
          <p:nvCxnSpPr>
            <p:cNvPr id="34" name="Shape 248"/>
            <p:cNvCxnSpPr/>
            <p:nvPr/>
          </p:nvCxnSpPr>
          <p:spPr>
            <a:xfrm rot="5400000">
              <a:off x="5288664" y="1764889"/>
              <a:ext cx="714300" cy="1500"/>
            </a:xfrm>
            <a:prstGeom prst="straightConnector1">
              <a:avLst/>
            </a:prstGeom>
            <a:noFill/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35" name="Shape 249"/>
            <p:cNvSpPr txBox="1"/>
            <p:nvPr/>
          </p:nvSpPr>
          <p:spPr>
            <a:xfrm>
              <a:off x="5645064" y="987493"/>
              <a:ext cx="3753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</a:t>
              </a:r>
              <a:endParaRPr sz="28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" name="Группа 35"/>
          <p:cNvGrpSpPr/>
          <p:nvPr/>
        </p:nvGrpSpPr>
        <p:grpSpPr>
          <a:xfrm>
            <a:off x="4854848" y="1614383"/>
            <a:ext cx="692403" cy="1099865"/>
            <a:chOff x="7947984" y="1051299"/>
            <a:chExt cx="692403" cy="1047490"/>
          </a:xfrm>
        </p:grpSpPr>
        <p:cxnSp>
          <p:nvCxnSpPr>
            <p:cNvPr id="37" name="Shape 250"/>
            <p:cNvCxnSpPr/>
            <p:nvPr/>
          </p:nvCxnSpPr>
          <p:spPr>
            <a:xfrm rot="5400000">
              <a:off x="8282487" y="1740889"/>
              <a:ext cx="714300" cy="1500"/>
            </a:xfrm>
            <a:prstGeom prst="straightConnector1">
              <a:avLst/>
            </a:prstGeom>
            <a:noFill/>
            <a:ln w="38100" cap="flat" cmpd="sng">
              <a:solidFill>
                <a:srgbClr val="FF0000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38" name="Shape 251"/>
            <p:cNvSpPr txBox="1"/>
            <p:nvPr/>
          </p:nvSpPr>
          <p:spPr>
            <a:xfrm>
              <a:off x="7947984" y="1051299"/>
              <a:ext cx="6909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 dirty="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top</a:t>
              </a:r>
              <a:endParaRPr sz="2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" name="Группа 38"/>
          <p:cNvGrpSpPr/>
          <p:nvPr/>
        </p:nvGrpSpPr>
        <p:grpSpPr>
          <a:xfrm>
            <a:off x="11302634" y="1580601"/>
            <a:ext cx="889366" cy="1141206"/>
            <a:chOff x="9019769" y="1375260"/>
            <a:chExt cx="889366" cy="1086863"/>
          </a:xfrm>
        </p:grpSpPr>
        <p:cxnSp>
          <p:nvCxnSpPr>
            <p:cNvPr id="40" name="Shape 195"/>
            <p:cNvCxnSpPr/>
            <p:nvPr/>
          </p:nvCxnSpPr>
          <p:spPr>
            <a:xfrm rot="5400000">
              <a:off x="8699407" y="2104223"/>
              <a:ext cx="714300" cy="1500"/>
            </a:xfrm>
            <a:prstGeom prst="straightConnector1">
              <a:avLst/>
            </a:prstGeom>
            <a:noFill/>
            <a:ln w="38100" cap="flat" cmpd="sng">
              <a:solidFill>
                <a:srgbClr val="FF0000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41" name="Shape 196"/>
            <p:cNvSpPr txBox="1"/>
            <p:nvPr/>
          </p:nvSpPr>
          <p:spPr>
            <a:xfrm>
              <a:off x="9019769" y="1375260"/>
              <a:ext cx="889366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 dirty="0" smtClean="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end</a:t>
              </a:r>
              <a:endParaRPr sz="2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2" name="Рисунок 4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4536" y="4065766"/>
            <a:ext cx="1396105" cy="678544"/>
          </a:xfrm>
          <a:prstGeom prst="rect">
            <a:avLst/>
          </a:prstGeom>
        </p:spPr>
      </p:pic>
      <p:pic>
        <p:nvPicPr>
          <p:cNvPr id="43" name="Рисунок 4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2574" y="3486519"/>
            <a:ext cx="1396105" cy="678544"/>
          </a:xfrm>
          <a:prstGeom prst="rect">
            <a:avLst/>
          </a:prstGeom>
        </p:spPr>
      </p:pic>
      <p:sp>
        <p:nvSpPr>
          <p:cNvPr id="44" name="Shape 215"/>
          <p:cNvSpPr txBox="1"/>
          <p:nvPr/>
        </p:nvSpPr>
        <p:spPr>
          <a:xfrm>
            <a:off x="5901884" y="2829731"/>
            <a:ext cx="360040" cy="445631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28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Shape 216"/>
          <p:cNvSpPr txBox="1"/>
          <p:nvPr/>
        </p:nvSpPr>
        <p:spPr>
          <a:xfrm>
            <a:off x="10702295" y="2863831"/>
            <a:ext cx="360040" cy="445631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28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Shape 216"/>
          <p:cNvSpPr txBox="1"/>
          <p:nvPr/>
        </p:nvSpPr>
        <p:spPr>
          <a:xfrm>
            <a:off x="8313345" y="2840956"/>
            <a:ext cx="360040" cy="445631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8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9065308" y="6342328"/>
            <a:ext cx="14574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chemeClr val="tx1"/>
                </a:solidFill>
              </a:rPr>
              <a:t>p-&gt;data  </a:t>
            </a:r>
            <a:endParaRPr lang="ru-RU" sz="2400" b="1" dirty="0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263667" y="6327779"/>
            <a:ext cx="6944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>
                <a:solidFill>
                  <a:srgbClr val="FF0000"/>
                </a:solidFill>
              </a:rPr>
              <a:t>= x</a:t>
            </a:r>
            <a:endParaRPr lang="ru-RU" sz="2800" b="1" dirty="0">
              <a:solidFill>
                <a:srgbClr val="FF0000"/>
              </a:solidFill>
            </a:endParaRPr>
          </a:p>
        </p:txBody>
      </p:sp>
      <p:sp>
        <p:nvSpPr>
          <p:cNvPr id="48" name="Блок-схема: ИЛИ 47"/>
          <p:cNvSpPr/>
          <p:nvPr/>
        </p:nvSpPr>
        <p:spPr>
          <a:xfrm rot="18841269">
            <a:off x="4767623" y="2309956"/>
            <a:ext cx="2688840" cy="2614654"/>
          </a:xfrm>
          <a:prstGeom prst="flowChartOr">
            <a:avLst/>
          </a:prstGeom>
          <a:noFill/>
          <a:ln w="57150">
            <a:solidFill>
              <a:srgbClr val="C4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49" name="Рисунок 4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5299" y="4033306"/>
            <a:ext cx="1396105" cy="678544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10203553" y="6310010"/>
            <a:ext cx="8146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>
                <a:solidFill>
                  <a:srgbClr val="FF0000"/>
                </a:solidFill>
              </a:rPr>
              <a:t>!= x</a:t>
            </a:r>
            <a:endParaRPr lang="ru-RU" sz="2800" b="1" dirty="0">
              <a:solidFill>
                <a:srgbClr val="FF0000"/>
              </a:solidFill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10284018" y="6292241"/>
            <a:ext cx="6944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>
                <a:solidFill>
                  <a:srgbClr val="FF0000"/>
                </a:solidFill>
              </a:rPr>
              <a:t>= x</a:t>
            </a:r>
            <a:endParaRPr lang="ru-RU" sz="2800" b="1" dirty="0">
              <a:solidFill>
                <a:srgbClr val="FF0000"/>
              </a:solidFill>
            </a:endParaRPr>
          </a:p>
        </p:txBody>
      </p:sp>
      <p:sp>
        <p:nvSpPr>
          <p:cNvPr id="52" name="Блок-схема: ИЛИ 51"/>
          <p:cNvSpPr/>
          <p:nvPr/>
        </p:nvSpPr>
        <p:spPr>
          <a:xfrm rot="18841269">
            <a:off x="9530266" y="2364069"/>
            <a:ext cx="2688840" cy="2614654"/>
          </a:xfrm>
          <a:prstGeom prst="flowChartOr">
            <a:avLst/>
          </a:prstGeom>
          <a:noFill/>
          <a:ln w="57150">
            <a:solidFill>
              <a:srgbClr val="C4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3" name="Рисунок 5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5299" y="3444273"/>
            <a:ext cx="1396105" cy="678544"/>
          </a:xfrm>
          <a:prstGeom prst="rect">
            <a:avLst/>
          </a:prstGeom>
        </p:spPr>
      </p:pic>
      <p:grpSp>
        <p:nvGrpSpPr>
          <p:cNvPr id="47" name="Группа 46"/>
          <p:cNvGrpSpPr>
            <a:grpSpLocks/>
          </p:cNvGrpSpPr>
          <p:nvPr/>
        </p:nvGrpSpPr>
        <p:grpSpPr>
          <a:xfrm>
            <a:off x="219806" y="5698650"/>
            <a:ext cx="1077338" cy="1239795"/>
            <a:chOff x="9795437" y="5375754"/>
            <a:chExt cx="1077338" cy="1180757"/>
          </a:xfrm>
        </p:grpSpPr>
        <p:graphicFrame>
          <p:nvGraphicFramePr>
            <p:cNvPr id="54" name="Shape 163"/>
            <p:cNvGraphicFramePr/>
            <p:nvPr>
              <p:extLst>
                <p:ext uri="{D42A27DB-BD31-4B8C-83A1-F6EECF244321}">
                  <p14:modId xmlns:p14="http://schemas.microsoft.com/office/powerpoint/2010/main" val="2600700057"/>
                </p:ext>
              </p:extLst>
            </p:nvPr>
          </p:nvGraphicFramePr>
          <p:xfrm>
            <a:off x="9795437" y="5375754"/>
            <a:ext cx="432000" cy="1131428"/>
          </p:xfrm>
          <a:graphic>
            <a:graphicData uri="http://schemas.openxmlformats.org/drawingml/2006/table">
              <a:tbl>
                <a:tblPr>
                  <a:noFill/>
                  <a:tableStyleId>{A658CFA3-1ECF-4F86-BB5C-CF7618A15973}</a:tableStyleId>
                </a:tblPr>
                <a:tblGrid>
                  <a:gridCol w="432000"/>
                </a:tblGrid>
                <a:tr h="396000">
                  <a:tc>
                    <a:txBody>
                      <a:bodyPr/>
                      <a:lstStyle/>
                      <a:p>
                        <a:pPr marL="0" lvl="0" indent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900" b="1" dirty="0">
                          <a:solidFill>
                            <a:schemeClr val="lt1"/>
                          </a:solidFill>
                        </a:endParaRPr>
                      </a:p>
                    </a:txBody>
                    <a:tcPr marL="91425" marR="91425" marT="91425" marB="91425">
                      <a:lnL w="2857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2857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2857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2857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3C78D8"/>
                      </a:solidFill>
                    </a:tcPr>
                  </a:tc>
                </a:tr>
                <a:tr h="396000">
                  <a:tc>
                    <a:txBody>
                      <a:bodyPr/>
                      <a:lstStyle/>
                      <a:p>
                        <a:pPr marL="0" lvl="0" indent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900" dirty="0"/>
                      </a:p>
                    </a:txBody>
                    <a:tcPr marL="91425" marR="91425" marT="91425" marB="91425">
                      <a:lnL w="2857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2857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2857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2857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6D9EEB"/>
                      </a:solidFill>
                    </a:tcPr>
                  </a:tc>
                </a:tr>
                <a:tr h="396000">
                  <a:tc>
                    <a:txBody>
                      <a:bodyPr/>
                      <a:lstStyle/>
                      <a:p>
                        <a:pPr marL="0" lvl="0" indent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900" dirty="0"/>
                      </a:p>
                    </a:txBody>
                    <a:tcPr marL="91425" marR="91425" marT="91425" marB="91425">
                      <a:lnL w="2857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2857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2857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2857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A4C2F4"/>
                      </a:solidFill>
                    </a:tcPr>
                  </a:tc>
                </a:tr>
              </a:tbl>
            </a:graphicData>
          </a:graphic>
        </p:graphicFrame>
        <p:sp>
          <p:nvSpPr>
            <p:cNvPr id="55" name="TextBox 54"/>
            <p:cNvSpPr txBox="1"/>
            <p:nvPr/>
          </p:nvSpPr>
          <p:spPr>
            <a:xfrm>
              <a:off x="10200796" y="6204766"/>
              <a:ext cx="671979" cy="3517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b="1" dirty="0" err="1" smtClean="0">
                  <a:solidFill>
                    <a:schemeClr val="tx1"/>
                  </a:solidFill>
                </a:rPr>
                <a:t>prev</a:t>
              </a:r>
              <a:endParaRPr lang="ru-RU" sz="1800" b="1" dirty="0">
                <a:solidFill>
                  <a:schemeClr val="tx1"/>
                </a:solidFill>
              </a:endParaRP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10200797" y="5397150"/>
              <a:ext cx="659155" cy="3517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b="1" dirty="0" smtClean="0">
                  <a:solidFill>
                    <a:schemeClr val="tx1"/>
                  </a:solidFill>
                </a:rPr>
                <a:t>data</a:t>
              </a:r>
              <a:endParaRPr lang="ru-RU" sz="1800" b="1" dirty="0">
                <a:solidFill>
                  <a:schemeClr val="tx1"/>
                </a:solidFill>
              </a:endParaRP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10200796" y="5800958"/>
              <a:ext cx="659155" cy="3517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b="1" dirty="0" smtClean="0">
                  <a:solidFill>
                    <a:schemeClr val="tx1"/>
                  </a:solidFill>
                </a:rPr>
                <a:t>next</a:t>
              </a:r>
              <a:endParaRPr lang="ru-RU" sz="18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9531930" y="5592065"/>
            <a:ext cx="99418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b="1" dirty="0" smtClean="0">
                <a:solidFill>
                  <a:schemeClr val="tx1"/>
                </a:solidFill>
              </a:rPr>
              <a:t>х = </a:t>
            </a:r>
            <a:r>
              <a:rPr lang="ru-RU" sz="2800" b="1" dirty="0" smtClean="0">
                <a:solidFill>
                  <a:srgbClr val="FF0000"/>
                </a:solidFill>
              </a:rPr>
              <a:t>5</a:t>
            </a:r>
            <a:endParaRPr lang="ru-RU" sz="28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repeatCount="3000" fill="remove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50" autoRev="1" fill="remove"/>
                                        <p:tgtEl>
                                          <p:spTgt spid="4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7" dur="250" autoRev="1" fill="remove"/>
                                        <p:tgtEl>
                                          <p:spTgt spid="4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8" dur="250" autoRev="1" fill="remove"/>
                                        <p:tgtEl>
                                          <p:spTgt spid="4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250" autoRev="1" fill="remove"/>
                                        <p:tgtEl>
                                          <p:spTgt spid="4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27" presetClass="emph" presetSubtype="0" repeatCount="3000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250" autoRev="1" fill="remove"/>
                                        <p:tgtEl>
                                          <p:spTgt spid="4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2" dur="250" autoRev="1" fill="remove"/>
                                        <p:tgtEl>
                                          <p:spTgt spid="4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3" dur="250" autoRev="1" fill="remove"/>
                                        <p:tgtEl>
                                          <p:spTgt spid="4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250" autoRev="1" fill="remove"/>
                                        <p:tgtEl>
                                          <p:spTgt spid="4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4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4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4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4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46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46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46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54167E-6 1.11111E-6 L -0.41875 0.18009 " pathEditMode="relative" rAng="0" ptsTypes="AA">
                                      <p:cBhvr>
                                        <p:cTn id="103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937" y="900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7" dur="2000" fill="hold"/>
                                        <p:tgtEl>
                                          <p:spTgt spid="4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4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1" dur="2000" fill="hold"/>
                                        <p:tgtEl>
                                          <p:spTgt spid="46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2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3" dur="2000" fill="hold"/>
                                        <p:tgtEl>
                                          <p:spTgt spid="46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-2.96296E-6 L 0.20716 -2.96296E-6 " pathEditMode="relative" rAng="0" ptsTypes="AA">
                                      <p:cBhvr>
                                        <p:cTn id="127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352" y="0"/>
                                    </p:animMotion>
                                  </p:childTnLst>
                                </p:cTn>
                              </p:par>
                              <p:par>
                                <p:cTn id="128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41875 0.18009 L -0.23555 0.18194 " pathEditMode="relative" rAng="0" ptsTypes="AA">
                                      <p:cBhvr>
                                        <p:cTn id="129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154" y="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9" dur="2000" fill="hold"/>
                                        <p:tgtEl>
                                          <p:spTgt spid="4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92D05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5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>
                            <p:stCondLst>
                              <p:cond delay="2000"/>
                            </p:stCondLst>
                            <p:childTnLst>
                              <p:par>
                                <p:cTn id="157" presetID="34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8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59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60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61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62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3" presetID="34" presetClass="emph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64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5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66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67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68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3555 0.18194 L -0.10118 0.17407 " pathEditMode="relative" rAng="0" ptsTypes="AA">
                                      <p:cBhvr>
                                        <p:cTn id="172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719" y="-394"/>
                                    </p:animMotion>
                                  </p:childTnLst>
                                </p:cTn>
                              </p:par>
                              <p:par>
                                <p:cTn id="173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8" dur="2000" fill="hold"/>
                                        <p:tgtEl>
                                          <p:spTgt spid="4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C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3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4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34" presetClass="emph" presetSubtype="0" fill="hold" grpId="2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88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89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90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91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2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3" presetID="34" presetClass="emph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94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95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96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97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8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2" dur="2000" fill="hold"/>
                                        <p:tgtEl>
                                          <p:spTgt spid="46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C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03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4" dur="2000" fill="hold"/>
                                        <p:tgtEl>
                                          <p:spTgt spid="46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C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7" fill="hold">
                            <p:stCondLst>
                              <p:cond delay="2000"/>
                            </p:stCondLst>
                            <p:childTnLst>
                              <p:par>
                                <p:cTn id="208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-1.11111E-6 L -0.22005 -0.00278 " pathEditMode="relative" rAng="0" ptsTypes="AA">
                                      <p:cBhvr>
                                        <p:cTn id="209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286" y="-25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>
                      <p:stCondLst>
                        <p:cond delay="indefinite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4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>
                      <p:stCondLst>
                        <p:cond delay="indefinite"/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1" presetClass="exit" presetSubtype="0" fill="hold" grpId="3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2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4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5" dur="2000" fill="hold"/>
                                        <p:tgtEl>
                                          <p:spTgt spid="46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C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9" grpId="0" uiExpand="1" build="p"/>
      <p:bldP spid="44" grpId="0" animBg="1"/>
      <p:bldP spid="44" grpId="1" animBg="1"/>
      <p:bldP spid="45" grpId="0" animBg="1"/>
      <p:bldP spid="45" grpId="1" animBg="1"/>
      <p:bldP spid="46" grpId="0" animBg="1"/>
      <p:bldP spid="2" grpId="0"/>
      <p:bldP spid="2" grpId="1"/>
      <p:bldP spid="2" grpId="2"/>
      <p:bldP spid="2" grpId="3"/>
      <p:bldP spid="3" grpId="0"/>
      <p:bldP spid="3" grpId="1"/>
      <p:bldP spid="48" grpId="0" animBg="1"/>
      <p:bldP spid="48" grpId="1" animBg="1"/>
      <p:bldP spid="50" grpId="0"/>
      <p:bldP spid="50" grpId="1"/>
      <p:bldP spid="50" grpId="2"/>
      <p:bldP spid="51" grpId="0"/>
      <p:bldP spid="51" grpId="1"/>
      <p:bldP spid="51" grpId="2"/>
      <p:bldP spid="52" grpId="0" animBg="1"/>
      <p:bldP spid="52" grpId="2" animBg="1"/>
      <p:bldP spid="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Shape 476"/>
          <p:cNvSpPr txBox="1">
            <a:spLocks noGrp="1"/>
          </p:cNvSpPr>
          <p:nvPr>
            <p:ph type="title"/>
          </p:nvPr>
        </p:nvSpPr>
        <p:spPr>
          <a:xfrm>
            <a:off x="301175" y="92050"/>
            <a:ext cx="11059552" cy="75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</a:pPr>
            <a:r>
              <a:rPr lang="ru-RU" b="1" cap="none" dirty="0" smtClean="0">
                <a:latin typeface="Arial"/>
                <a:cs typeface="Arial"/>
                <a:sym typeface="Arial"/>
              </a:rPr>
              <a:t>ПОИСК МАКСИМАЛЬНОГО ЭЛЕМЕНТА В СПИСКЕ</a:t>
            </a:r>
            <a:endParaRPr lang="ru-RU" cap="none" dirty="0"/>
          </a:p>
        </p:txBody>
      </p:sp>
      <p:sp>
        <p:nvSpPr>
          <p:cNvPr id="475" name="Shape 475"/>
          <p:cNvSpPr txBox="1">
            <a:spLocks noGrp="1"/>
          </p:cNvSpPr>
          <p:nvPr>
            <p:ph idx="1"/>
          </p:nvPr>
        </p:nvSpPr>
        <p:spPr>
          <a:xfrm>
            <a:off x="650103" y="1581888"/>
            <a:ext cx="4073668" cy="4074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16"/>
              <a:buFont typeface="Noto Sans Symbols"/>
              <a:buNone/>
            </a:pPr>
            <a:r>
              <a:rPr lang="en-US" b="0" i="0" u="none" strike="noStrike" cap="none" dirty="0" err="1"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int</a:t>
            </a:r>
            <a:r>
              <a:rPr lang="en-US" b="0" i="0" u="none" strike="noStrike" cap="none" dirty="0"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 max(node* top)</a:t>
            </a:r>
            <a:endParaRPr b="0" i="0" u="none" strike="noStrike" cap="none" dirty="0">
              <a:latin typeface="Arial" panose="020B0604020202020204" pitchFamily="34" charset="0"/>
              <a:ea typeface="Trebuchet MS"/>
              <a:cs typeface="Arial" panose="020B0604020202020204" pitchFamily="34" charset="0"/>
              <a:sym typeface="Trebuchet MS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16"/>
              <a:buFont typeface="Noto Sans Symbols"/>
              <a:buNone/>
            </a:pPr>
            <a:r>
              <a:rPr lang="en-US" b="0" i="0" u="none" strike="noStrike" cap="none" dirty="0"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	{</a:t>
            </a:r>
            <a:endParaRPr b="0" i="0" u="none" strike="noStrike" cap="none" dirty="0">
              <a:latin typeface="Arial" panose="020B0604020202020204" pitchFamily="34" charset="0"/>
              <a:ea typeface="Trebuchet MS"/>
              <a:cs typeface="Arial" panose="020B0604020202020204" pitchFamily="34" charset="0"/>
              <a:sym typeface="Trebuchet MS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16"/>
              <a:buFont typeface="Noto Sans Symbols"/>
              <a:buNone/>
            </a:pPr>
            <a:r>
              <a:rPr lang="en-US" b="0" i="0" u="none" strike="noStrike" cap="none" dirty="0"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	        </a:t>
            </a:r>
            <a:r>
              <a:rPr lang="en-US" b="0" i="0" u="none" strike="noStrike" cap="none" dirty="0" err="1"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int</a:t>
            </a:r>
            <a:r>
              <a:rPr lang="en-US" b="0" i="0" u="none" strike="noStrike" cap="none" dirty="0"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  </a:t>
            </a:r>
            <a:r>
              <a:rPr lang="en-US" b="0" i="0" u="none" strike="noStrike" cap="none" dirty="0" err="1" smtClean="0"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maxx</a:t>
            </a:r>
            <a:r>
              <a:rPr lang="en-US" b="0" i="0" u="none" strike="noStrike" cap="none" dirty="0" smtClean="0"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; </a:t>
            </a:r>
            <a:endParaRPr b="0" i="0" u="none" strike="noStrike" cap="none" dirty="0">
              <a:latin typeface="Arial" panose="020B0604020202020204" pitchFamily="34" charset="0"/>
              <a:ea typeface="Trebuchet MS"/>
              <a:cs typeface="Arial" panose="020B0604020202020204" pitchFamily="34" charset="0"/>
              <a:sym typeface="Trebuchet MS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16"/>
              <a:buFont typeface="Noto Sans Symbols"/>
              <a:buNone/>
            </a:pPr>
            <a:r>
              <a:rPr lang="en-US" b="0" i="0" u="none" strike="noStrike" cap="none" dirty="0"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		</a:t>
            </a:r>
            <a:r>
              <a:rPr lang="en-US" b="0" i="0" u="none" strike="noStrike" cap="none" dirty="0" smtClean="0"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 node</a:t>
            </a:r>
            <a:r>
              <a:rPr lang="en-US" b="0" i="0" u="none" strike="noStrike" cap="none" dirty="0"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* p=top;</a:t>
            </a:r>
            <a:endParaRPr b="0" i="0" u="none" strike="noStrike" cap="none" dirty="0">
              <a:latin typeface="Arial" panose="020B0604020202020204" pitchFamily="34" charset="0"/>
              <a:ea typeface="Trebuchet MS"/>
              <a:cs typeface="Arial" panose="020B0604020202020204" pitchFamily="34" charset="0"/>
              <a:sym typeface="Trebuchet MS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16"/>
              <a:buFont typeface="Noto Sans Symbols"/>
              <a:buNone/>
            </a:pPr>
            <a:r>
              <a:rPr lang="en-US" b="0" i="0" u="none" strike="noStrike" cap="none" dirty="0"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	        </a:t>
            </a:r>
            <a:r>
              <a:rPr lang="en-US" b="0" i="0" u="none" strike="noStrike" cap="none" dirty="0" err="1" smtClean="0"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maxx</a:t>
            </a:r>
            <a:r>
              <a:rPr lang="en-US" b="0" i="0" u="none" strike="noStrike" cap="none" dirty="0" smtClean="0"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=top-</a:t>
            </a:r>
            <a:r>
              <a:rPr lang="en-US" b="0" i="0" u="none" strike="noStrike" cap="none" dirty="0"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&gt;data;</a:t>
            </a:r>
            <a:endParaRPr b="0" i="0" u="none" strike="noStrike" cap="none" dirty="0">
              <a:latin typeface="Arial" panose="020B0604020202020204" pitchFamily="34" charset="0"/>
              <a:ea typeface="Trebuchet MS"/>
              <a:cs typeface="Arial" panose="020B0604020202020204" pitchFamily="34" charset="0"/>
              <a:sym typeface="Trebuchet MS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16"/>
              <a:buFont typeface="Noto Sans Symbols"/>
              <a:buNone/>
            </a:pPr>
            <a:r>
              <a:rPr lang="en-US" b="0" i="0" u="none" strike="noStrike" cap="none" dirty="0"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	               while(p)</a:t>
            </a:r>
            <a:endParaRPr b="0" i="0" u="none" strike="noStrike" cap="none" dirty="0">
              <a:latin typeface="Arial" panose="020B0604020202020204" pitchFamily="34" charset="0"/>
              <a:ea typeface="Trebuchet MS"/>
              <a:cs typeface="Arial" panose="020B0604020202020204" pitchFamily="34" charset="0"/>
              <a:sym typeface="Trebuchet MS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16"/>
              <a:buFont typeface="Noto Sans Symbols"/>
              <a:buNone/>
            </a:pPr>
            <a:r>
              <a:rPr lang="en-US" b="0" i="0" u="none" strike="noStrike" cap="none" dirty="0"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			 {</a:t>
            </a:r>
            <a:endParaRPr b="0" i="0" u="none" strike="noStrike" cap="none" dirty="0">
              <a:latin typeface="Arial" panose="020B0604020202020204" pitchFamily="34" charset="0"/>
              <a:ea typeface="Trebuchet MS"/>
              <a:cs typeface="Arial" panose="020B0604020202020204" pitchFamily="34" charset="0"/>
              <a:sym typeface="Trebuchet MS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16"/>
              <a:buFont typeface="Noto Sans Symbols"/>
              <a:buNone/>
            </a:pPr>
            <a:r>
              <a:rPr lang="en-US" b="0" i="0" u="none" strike="noStrike" cap="none" dirty="0"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	                      </a:t>
            </a:r>
            <a:r>
              <a:rPr lang="en-US" b="0" i="0" u="none" strike="noStrike" cap="none" dirty="0" smtClean="0"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if </a:t>
            </a:r>
            <a:r>
              <a:rPr lang="en-US" b="0" i="0" u="none" strike="noStrike" cap="none" dirty="0"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(</a:t>
            </a:r>
            <a:r>
              <a:rPr lang="en-US" b="0" i="0" u="none" strike="noStrike" cap="none" dirty="0" err="1"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maxx</a:t>
            </a:r>
            <a:r>
              <a:rPr lang="en-US" b="0" i="0" u="none" strike="noStrike" cap="none" dirty="0"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 &lt; p-&gt;data)</a:t>
            </a:r>
            <a:endParaRPr b="0" i="0" u="none" strike="noStrike" cap="none" dirty="0">
              <a:latin typeface="Arial" panose="020B0604020202020204" pitchFamily="34" charset="0"/>
              <a:ea typeface="Trebuchet MS"/>
              <a:cs typeface="Arial" panose="020B0604020202020204" pitchFamily="34" charset="0"/>
              <a:sym typeface="Trebuchet MS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16"/>
              <a:buFont typeface="Noto Sans Symbols"/>
              <a:buNone/>
            </a:pPr>
            <a:r>
              <a:rPr lang="en-US" b="0" i="0" u="none" strike="noStrike" cap="none" dirty="0"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				</a:t>
            </a:r>
            <a:r>
              <a:rPr lang="en-US" b="0" i="0" u="none" strike="noStrike" cap="none" dirty="0" err="1"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maxx</a:t>
            </a:r>
            <a:r>
              <a:rPr lang="en-US" b="0" i="0" u="none" strike="noStrike" cap="none" dirty="0"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=p-&gt;data;</a:t>
            </a:r>
            <a:endParaRPr b="0" i="0" u="none" strike="noStrike" cap="none" dirty="0">
              <a:latin typeface="Arial" panose="020B0604020202020204" pitchFamily="34" charset="0"/>
              <a:ea typeface="Trebuchet MS"/>
              <a:cs typeface="Arial" panose="020B0604020202020204" pitchFamily="34" charset="0"/>
              <a:sym typeface="Trebuchet MS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16"/>
              <a:buFont typeface="Noto Sans Symbols"/>
              <a:buNone/>
            </a:pPr>
            <a:r>
              <a:rPr lang="en-US" b="0" i="0" u="none" strike="noStrike" cap="none" dirty="0"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				p=p-&gt;next;</a:t>
            </a:r>
            <a:endParaRPr b="0" i="0" u="none" strike="noStrike" cap="none" dirty="0">
              <a:latin typeface="Arial" panose="020B0604020202020204" pitchFamily="34" charset="0"/>
              <a:ea typeface="Trebuchet MS"/>
              <a:cs typeface="Arial" panose="020B0604020202020204" pitchFamily="34" charset="0"/>
              <a:sym typeface="Trebuchet MS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16"/>
              <a:buFont typeface="Noto Sans Symbols"/>
              <a:buNone/>
            </a:pPr>
            <a:r>
              <a:rPr lang="en-US" b="0" i="0" u="none" strike="noStrike" cap="none" dirty="0"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			 }</a:t>
            </a:r>
            <a:endParaRPr b="0" i="0" u="none" strike="noStrike" cap="none" dirty="0">
              <a:latin typeface="Arial" panose="020B0604020202020204" pitchFamily="34" charset="0"/>
              <a:ea typeface="Trebuchet MS"/>
              <a:cs typeface="Arial" panose="020B0604020202020204" pitchFamily="34" charset="0"/>
              <a:sym typeface="Trebuchet MS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16"/>
              <a:buFont typeface="Noto Sans Symbols"/>
              <a:buNone/>
            </a:pPr>
            <a:r>
              <a:rPr lang="en-US" b="0" i="0" u="none" strike="noStrike" cap="none" dirty="0"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       return </a:t>
            </a:r>
            <a:r>
              <a:rPr lang="en-US" b="0" i="0" u="none" strike="noStrike" cap="none" dirty="0" err="1"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maxx</a:t>
            </a:r>
            <a:r>
              <a:rPr lang="en-US" b="0" i="0" u="none" strike="noStrike" cap="none" dirty="0"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;</a:t>
            </a:r>
            <a:endParaRPr b="0" i="0" u="none" strike="noStrike" cap="none" dirty="0">
              <a:latin typeface="Arial" panose="020B0604020202020204" pitchFamily="34" charset="0"/>
              <a:ea typeface="Trebuchet MS"/>
              <a:cs typeface="Arial" panose="020B0604020202020204" pitchFamily="34" charset="0"/>
              <a:sym typeface="Trebuchet MS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16"/>
              <a:buFont typeface="Noto Sans Symbols"/>
              <a:buNone/>
            </a:pPr>
            <a:r>
              <a:rPr lang="en-US" b="0" i="0" u="none" strike="noStrike" cap="none" dirty="0"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}</a:t>
            </a:r>
            <a:endParaRPr b="0" i="0" u="none" strike="noStrike" cap="none" dirty="0">
              <a:latin typeface="Arial" panose="020B0604020202020204" pitchFamily="34" charset="0"/>
              <a:ea typeface="Trebuchet MS"/>
              <a:cs typeface="Arial" panose="020B0604020202020204" pitchFamily="34" charset="0"/>
              <a:sym typeface="Trebuchet MS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16"/>
              <a:buFont typeface="Noto Sans Symbols"/>
              <a:buNone/>
            </a:pPr>
            <a:endParaRPr b="0" i="0" u="none" strike="noStrike" cap="none" dirty="0">
              <a:latin typeface="Arial" panose="020B0604020202020204" pitchFamily="34" charset="0"/>
              <a:ea typeface="Trebuchet MS"/>
              <a:cs typeface="Arial" panose="020B0604020202020204" pitchFamily="34" charset="0"/>
              <a:sym typeface="Trebuchet MS"/>
            </a:endParaRPr>
          </a:p>
        </p:txBody>
      </p:sp>
      <p:graphicFrame>
        <p:nvGraphicFramePr>
          <p:cNvPr id="4" name="Shape 280"/>
          <p:cNvGraphicFramePr/>
          <p:nvPr>
            <p:extLst>
              <p:ext uri="{D42A27DB-BD31-4B8C-83A1-F6EECF244321}">
                <p14:modId xmlns:p14="http://schemas.microsoft.com/office/powerpoint/2010/main" val="2975378200"/>
              </p:ext>
            </p:extLst>
          </p:nvPr>
        </p:nvGraphicFramePr>
        <p:xfrm>
          <a:off x="5291872" y="2787715"/>
          <a:ext cx="1460675" cy="1849602"/>
        </p:xfrm>
        <a:graphic>
          <a:graphicData uri="http://schemas.openxmlformats.org/drawingml/2006/table">
            <a:tbl>
              <a:tblPr>
                <a:noFill/>
                <a:tableStyleId>{A658CFA3-1ECF-4F86-BB5C-CF7618A15973}</a:tableStyleId>
              </a:tblPr>
              <a:tblGrid>
                <a:gridCol w="1460675"/>
              </a:tblGrid>
              <a:tr h="61653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 b="1" dirty="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5996" marB="95996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C78D8"/>
                    </a:solidFill>
                  </a:tcPr>
                </a:tc>
              </a:tr>
              <a:tr h="61653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/>
                    </a:p>
                  </a:txBody>
                  <a:tcPr marL="91425" marR="91425" marT="95996" marB="95996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D9EEB"/>
                    </a:solidFill>
                  </a:tcPr>
                </a:tc>
              </a:tr>
              <a:tr h="61653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 dirty="0"/>
                    </a:p>
                  </a:txBody>
                  <a:tcPr marL="91425" marR="91425" marT="95996" marB="95996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</a:tr>
            </a:tbl>
          </a:graphicData>
        </a:graphic>
      </p:graphicFrame>
      <p:cxnSp>
        <p:nvCxnSpPr>
          <p:cNvPr id="5" name="Shape 281"/>
          <p:cNvCxnSpPr/>
          <p:nvPr/>
        </p:nvCxnSpPr>
        <p:spPr>
          <a:xfrm flipH="1">
            <a:off x="6752681" y="4373069"/>
            <a:ext cx="895500" cy="819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6" name="Shape 282"/>
          <p:cNvCxnSpPr/>
          <p:nvPr/>
        </p:nvCxnSpPr>
        <p:spPr>
          <a:xfrm rot="10800000" flipH="1">
            <a:off x="6775356" y="3744396"/>
            <a:ext cx="891000" cy="378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stealth" w="med" len="med"/>
          </a:ln>
        </p:spPr>
      </p:cxnSp>
      <p:graphicFrame>
        <p:nvGraphicFramePr>
          <p:cNvPr id="7" name="Shape 283"/>
          <p:cNvGraphicFramePr/>
          <p:nvPr>
            <p:extLst>
              <p:ext uri="{D42A27DB-BD31-4B8C-83A1-F6EECF244321}">
                <p14:modId xmlns:p14="http://schemas.microsoft.com/office/powerpoint/2010/main" val="1047846497"/>
              </p:ext>
            </p:extLst>
          </p:nvPr>
        </p:nvGraphicFramePr>
        <p:xfrm>
          <a:off x="7683722" y="2787728"/>
          <a:ext cx="1460675" cy="1849602"/>
        </p:xfrm>
        <a:graphic>
          <a:graphicData uri="http://schemas.openxmlformats.org/drawingml/2006/table">
            <a:tbl>
              <a:tblPr>
                <a:noFill/>
                <a:tableStyleId>{A658CFA3-1ECF-4F86-BB5C-CF7618A15973}</a:tableStyleId>
              </a:tblPr>
              <a:tblGrid>
                <a:gridCol w="1460675"/>
              </a:tblGrid>
              <a:tr h="61653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 b="1" dirty="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5996" marB="95996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C78D8"/>
                    </a:solidFill>
                  </a:tcPr>
                </a:tc>
              </a:tr>
              <a:tr h="61653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/>
                    </a:p>
                  </a:txBody>
                  <a:tcPr marL="91425" marR="91425" marT="95996" marB="95996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D9EEB"/>
                    </a:solidFill>
                  </a:tcPr>
                </a:tc>
              </a:tr>
              <a:tr h="61653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 dirty="0"/>
                    </a:p>
                  </a:txBody>
                  <a:tcPr marL="91425" marR="91425" marT="95996" marB="95996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Shape 284"/>
          <p:cNvGraphicFramePr/>
          <p:nvPr>
            <p:extLst>
              <p:ext uri="{D42A27DB-BD31-4B8C-83A1-F6EECF244321}">
                <p14:modId xmlns:p14="http://schemas.microsoft.com/office/powerpoint/2010/main" val="122157292"/>
              </p:ext>
            </p:extLst>
          </p:nvPr>
        </p:nvGraphicFramePr>
        <p:xfrm>
          <a:off x="10075559" y="2787741"/>
          <a:ext cx="1460675" cy="1849602"/>
        </p:xfrm>
        <a:graphic>
          <a:graphicData uri="http://schemas.openxmlformats.org/drawingml/2006/table">
            <a:tbl>
              <a:tblPr>
                <a:noFill/>
                <a:tableStyleId>{A658CFA3-1ECF-4F86-BB5C-CF7618A15973}</a:tableStyleId>
              </a:tblPr>
              <a:tblGrid>
                <a:gridCol w="1460675"/>
              </a:tblGrid>
              <a:tr h="61653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 b="1" dirty="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5996" marB="95996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C78D8"/>
                    </a:solidFill>
                  </a:tcPr>
                </a:tc>
              </a:tr>
              <a:tr h="61653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 dirty="0"/>
                    </a:p>
                  </a:txBody>
                  <a:tcPr marL="91425" marR="91425" marT="95996" marB="95996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D9EEB"/>
                    </a:solidFill>
                  </a:tcPr>
                </a:tc>
              </a:tr>
              <a:tr h="61653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/>
                    </a:p>
                  </a:txBody>
                  <a:tcPr marL="91425" marR="91425" marT="95996" marB="95996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</a:tr>
            </a:tbl>
          </a:graphicData>
        </a:graphic>
      </p:graphicFrame>
      <p:cxnSp>
        <p:nvCxnSpPr>
          <p:cNvPr id="9" name="Shape 285"/>
          <p:cNvCxnSpPr/>
          <p:nvPr/>
        </p:nvCxnSpPr>
        <p:spPr>
          <a:xfrm flipH="1">
            <a:off x="9161781" y="4368069"/>
            <a:ext cx="895500" cy="819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0" name="Shape 286"/>
          <p:cNvCxnSpPr/>
          <p:nvPr/>
        </p:nvCxnSpPr>
        <p:spPr>
          <a:xfrm rot="10800000" flipH="1">
            <a:off x="9184456" y="3739394"/>
            <a:ext cx="891000" cy="378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stealth" w="med" len="med"/>
          </a:ln>
        </p:spPr>
      </p:cxnSp>
      <p:grpSp>
        <p:nvGrpSpPr>
          <p:cNvPr id="11" name="Группа 10"/>
          <p:cNvGrpSpPr/>
          <p:nvPr/>
        </p:nvGrpSpPr>
        <p:grpSpPr>
          <a:xfrm>
            <a:off x="10886949" y="1581887"/>
            <a:ext cx="1057119" cy="1125066"/>
            <a:chOff x="5806662" y="2252524"/>
            <a:chExt cx="701234" cy="1071491"/>
          </a:xfrm>
        </p:grpSpPr>
        <p:cxnSp>
          <p:nvCxnSpPr>
            <p:cNvPr id="12" name="Shape 289"/>
            <p:cNvCxnSpPr/>
            <p:nvPr/>
          </p:nvCxnSpPr>
          <p:spPr>
            <a:xfrm rot="5400000">
              <a:off x="5450262" y="2966115"/>
              <a:ext cx="714300" cy="1500"/>
            </a:xfrm>
            <a:prstGeom prst="straightConnector1">
              <a:avLst/>
            </a:prstGeom>
            <a:noFill/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13" name="Shape 290"/>
            <p:cNvSpPr txBox="1"/>
            <p:nvPr/>
          </p:nvSpPr>
          <p:spPr>
            <a:xfrm>
              <a:off x="5816996" y="2252524"/>
              <a:ext cx="6909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 dirty="0" smtClean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end</a:t>
              </a:r>
              <a:endParaRPr sz="28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" name="Shape 215"/>
          <p:cNvSpPr txBox="1"/>
          <p:nvPr/>
        </p:nvSpPr>
        <p:spPr>
          <a:xfrm>
            <a:off x="5829787" y="2891685"/>
            <a:ext cx="360040" cy="445631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28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Shape 216"/>
          <p:cNvSpPr txBox="1"/>
          <p:nvPr/>
        </p:nvSpPr>
        <p:spPr>
          <a:xfrm>
            <a:off x="10630198" y="2882142"/>
            <a:ext cx="360040" cy="445631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 smtClean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28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Shape 216"/>
          <p:cNvSpPr txBox="1"/>
          <p:nvPr/>
        </p:nvSpPr>
        <p:spPr>
          <a:xfrm>
            <a:off x="8241248" y="2902911"/>
            <a:ext cx="360040" cy="445631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28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" name="Рисунок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4861" y="4062743"/>
            <a:ext cx="1396105" cy="678544"/>
          </a:xfrm>
          <a:prstGeom prst="rect">
            <a:avLst/>
          </a:prstGeom>
        </p:spPr>
      </p:pic>
      <p:pic>
        <p:nvPicPr>
          <p:cNvPr id="18" name="Рисунок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7454" y="3407014"/>
            <a:ext cx="1396105" cy="678544"/>
          </a:xfrm>
          <a:prstGeom prst="rect">
            <a:avLst/>
          </a:prstGeom>
        </p:spPr>
      </p:pic>
      <p:grpSp>
        <p:nvGrpSpPr>
          <p:cNvPr id="19" name="Группа 18"/>
          <p:cNvGrpSpPr/>
          <p:nvPr/>
        </p:nvGrpSpPr>
        <p:grpSpPr>
          <a:xfrm>
            <a:off x="5594353" y="1581887"/>
            <a:ext cx="1057119" cy="1125066"/>
            <a:chOff x="5806662" y="2252524"/>
            <a:chExt cx="701234" cy="1071491"/>
          </a:xfrm>
        </p:grpSpPr>
        <p:cxnSp>
          <p:nvCxnSpPr>
            <p:cNvPr id="20" name="Shape 289"/>
            <p:cNvCxnSpPr/>
            <p:nvPr/>
          </p:nvCxnSpPr>
          <p:spPr>
            <a:xfrm rot="5400000">
              <a:off x="5450262" y="2966115"/>
              <a:ext cx="714300" cy="1500"/>
            </a:xfrm>
            <a:prstGeom prst="straightConnector1">
              <a:avLst/>
            </a:prstGeom>
            <a:noFill/>
            <a:ln w="38100" cap="flat" cmpd="sng">
              <a:solidFill>
                <a:srgbClr val="FF0000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21" name="Shape 290"/>
            <p:cNvSpPr txBox="1"/>
            <p:nvPr/>
          </p:nvSpPr>
          <p:spPr>
            <a:xfrm>
              <a:off x="5816996" y="2252524"/>
              <a:ext cx="6909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 dirty="0" smtClean="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top</a:t>
              </a:r>
              <a:endParaRPr sz="2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" name="Группа 21"/>
          <p:cNvGrpSpPr/>
          <p:nvPr/>
        </p:nvGrpSpPr>
        <p:grpSpPr>
          <a:xfrm>
            <a:off x="6591065" y="1581887"/>
            <a:ext cx="1057119" cy="1125066"/>
            <a:chOff x="5806662" y="2252524"/>
            <a:chExt cx="701234" cy="1071491"/>
          </a:xfrm>
        </p:grpSpPr>
        <p:cxnSp>
          <p:nvCxnSpPr>
            <p:cNvPr id="23" name="Shape 289"/>
            <p:cNvCxnSpPr/>
            <p:nvPr/>
          </p:nvCxnSpPr>
          <p:spPr>
            <a:xfrm rot="5400000">
              <a:off x="5450262" y="2966115"/>
              <a:ext cx="714300" cy="1500"/>
            </a:xfrm>
            <a:prstGeom prst="straightConnector1">
              <a:avLst/>
            </a:prstGeom>
            <a:noFill/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24" name="Shape 290"/>
            <p:cNvSpPr txBox="1"/>
            <p:nvPr/>
          </p:nvSpPr>
          <p:spPr>
            <a:xfrm>
              <a:off x="5816996" y="2252524"/>
              <a:ext cx="6909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</a:t>
              </a:r>
              <a:endParaRPr sz="28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8815884" y="6203120"/>
            <a:ext cx="158729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err="1" smtClean="0">
                <a:solidFill>
                  <a:schemeClr val="tx1"/>
                </a:solidFill>
              </a:rPr>
              <a:t>maxx</a:t>
            </a:r>
            <a:r>
              <a:rPr lang="en-US" sz="3200" b="1" dirty="0" smtClean="0">
                <a:solidFill>
                  <a:schemeClr val="tx1"/>
                </a:solidFill>
              </a:rPr>
              <a:t> =</a:t>
            </a:r>
            <a:endParaRPr lang="ru-RU" sz="3200" b="1" dirty="0">
              <a:solidFill>
                <a:schemeClr val="tx1"/>
              </a:solidFill>
            </a:endParaRPr>
          </a:p>
        </p:txBody>
      </p:sp>
      <p:sp>
        <p:nvSpPr>
          <p:cNvPr id="26" name="Shape 215"/>
          <p:cNvSpPr txBox="1"/>
          <p:nvPr/>
        </p:nvSpPr>
        <p:spPr>
          <a:xfrm>
            <a:off x="10587225" y="6209855"/>
            <a:ext cx="445986" cy="558611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36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868179" y="5576981"/>
            <a:ext cx="200728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solidFill>
                  <a:schemeClr val="tx1"/>
                </a:solidFill>
              </a:rPr>
              <a:t>p-&gt;data =</a:t>
            </a:r>
            <a:endParaRPr lang="ru-RU" sz="3200" b="1" dirty="0">
              <a:solidFill>
                <a:schemeClr val="tx1"/>
              </a:solidFill>
            </a:endParaRPr>
          </a:p>
        </p:txBody>
      </p:sp>
      <p:sp>
        <p:nvSpPr>
          <p:cNvPr id="28" name="Shape 215"/>
          <p:cNvSpPr txBox="1"/>
          <p:nvPr/>
        </p:nvSpPr>
        <p:spPr>
          <a:xfrm>
            <a:off x="10902525" y="5604681"/>
            <a:ext cx="445986" cy="558611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36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479229" y="5054318"/>
            <a:ext cx="11079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solidFill>
                  <a:schemeClr val="tx1"/>
                </a:solidFill>
              </a:rPr>
              <a:t>5 &lt; 6</a:t>
            </a:r>
            <a:endParaRPr lang="ru-RU" sz="3200" b="1" dirty="0">
              <a:solidFill>
                <a:schemeClr val="tx1"/>
              </a:solidFill>
            </a:endParaRPr>
          </a:p>
        </p:txBody>
      </p:sp>
      <p:sp>
        <p:nvSpPr>
          <p:cNvPr id="30" name="Shape 215"/>
          <p:cNvSpPr txBox="1"/>
          <p:nvPr/>
        </p:nvSpPr>
        <p:spPr>
          <a:xfrm>
            <a:off x="10907294" y="5614704"/>
            <a:ext cx="445986" cy="558611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36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9452161" y="5066444"/>
            <a:ext cx="11079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solidFill>
                  <a:schemeClr val="tx1"/>
                </a:solidFill>
              </a:rPr>
              <a:t>5 = 5</a:t>
            </a:r>
            <a:endParaRPr lang="ru-RU" sz="3200" b="1" dirty="0">
              <a:solidFill>
                <a:schemeClr val="tx1"/>
              </a:solidFill>
            </a:endParaRPr>
          </a:p>
        </p:txBody>
      </p:sp>
      <p:sp>
        <p:nvSpPr>
          <p:cNvPr id="32" name="Shape 215"/>
          <p:cNvSpPr txBox="1"/>
          <p:nvPr/>
        </p:nvSpPr>
        <p:spPr>
          <a:xfrm>
            <a:off x="10810218" y="5594658"/>
            <a:ext cx="445986" cy="558611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 smtClean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36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9433537" y="5089694"/>
            <a:ext cx="11079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solidFill>
                  <a:schemeClr val="tx1"/>
                </a:solidFill>
              </a:rPr>
              <a:t>5 &gt; 4</a:t>
            </a:r>
            <a:endParaRPr lang="ru-RU" sz="3200" b="1" dirty="0">
              <a:solidFill>
                <a:schemeClr val="tx1"/>
              </a:solidFill>
            </a:endParaRPr>
          </a:p>
        </p:txBody>
      </p:sp>
      <p:grpSp>
        <p:nvGrpSpPr>
          <p:cNvPr id="34" name="Группа 33"/>
          <p:cNvGrpSpPr>
            <a:grpSpLocks/>
          </p:cNvGrpSpPr>
          <p:nvPr/>
        </p:nvGrpSpPr>
        <p:grpSpPr>
          <a:xfrm>
            <a:off x="3191437" y="5733329"/>
            <a:ext cx="1077338" cy="1239795"/>
            <a:chOff x="9795437" y="5375754"/>
            <a:chExt cx="1077338" cy="1180757"/>
          </a:xfrm>
        </p:grpSpPr>
        <p:graphicFrame>
          <p:nvGraphicFramePr>
            <p:cNvPr id="35" name="Shape 163"/>
            <p:cNvGraphicFramePr/>
            <p:nvPr>
              <p:extLst>
                <p:ext uri="{D42A27DB-BD31-4B8C-83A1-F6EECF244321}">
                  <p14:modId xmlns:p14="http://schemas.microsoft.com/office/powerpoint/2010/main" val="2600700057"/>
                </p:ext>
              </p:extLst>
            </p:nvPr>
          </p:nvGraphicFramePr>
          <p:xfrm>
            <a:off x="9795437" y="5375754"/>
            <a:ext cx="432000" cy="1131428"/>
          </p:xfrm>
          <a:graphic>
            <a:graphicData uri="http://schemas.openxmlformats.org/drawingml/2006/table">
              <a:tbl>
                <a:tblPr>
                  <a:noFill/>
                  <a:tableStyleId>{A658CFA3-1ECF-4F86-BB5C-CF7618A15973}</a:tableStyleId>
                </a:tblPr>
                <a:tblGrid>
                  <a:gridCol w="432000"/>
                </a:tblGrid>
                <a:tr h="396000">
                  <a:tc>
                    <a:txBody>
                      <a:bodyPr/>
                      <a:lstStyle/>
                      <a:p>
                        <a:pPr marL="0" lvl="0" indent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900" b="1" dirty="0">
                          <a:solidFill>
                            <a:schemeClr val="lt1"/>
                          </a:solidFill>
                        </a:endParaRPr>
                      </a:p>
                    </a:txBody>
                    <a:tcPr marL="91425" marR="91425" marT="91425" marB="91425">
                      <a:lnL w="2857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2857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2857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2857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3C78D8"/>
                      </a:solidFill>
                    </a:tcPr>
                  </a:tc>
                </a:tr>
                <a:tr h="396000">
                  <a:tc>
                    <a:txBody>
                      <a:bodyPr/>
                      <a:lstStyle/>
                      <a:p>
                        <a:pPr marL="0" lvl="0" indent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900" dirty="0"/>
                      </a:p>
                    </a:txBody>
                    <a:tcPr marL="91425" marR="91425" marT="91425" marB="91425">
                      <a:lnL w="2857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2857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2857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2857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6D9EEB"/>
                      </a:solidFill>
                    </a:tcPr>
                  </a:tc>
                </a:tr>
                <a:tr h="396000">
                  <a:tc>
                    <a:txBody>
                      <a:bodyPr/>
                      <a:lstStyle/>
                      <a:p>
                        <a:pPr marL="0" lvl="0" indent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900" dirty="0"/>
                      </a:p>
                    </a:txBody>
                    <a:tcPr marL="91425" marR="91425" marT="91425" marB="91425">
                      <a:lnL w="2857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2857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2857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2857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A4C2F4"/>
                      </a:solidFill>
                    </a:tcPr>
                  </a:tc>
                </a:tr>
              </a:tbl>
            </a:graphicData>
          </a:graphic>
        </p:graphicFrame>
        <p:sp>
          <p:nvSpPr>
            <p:cNvPr id="36" name="TextBox 35"/>
            <p:cNvSpPr txBox="1"/>
            <p:nvPr/>
          </p:nvSpPr>
          <p:spPr>
            <a:xfrm>
              <a:off x="10200796" y="6204766"/>
              <a:ext cx="671979" cy="3517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b="1" dirty="0" err="1" smtClean="0">
                  <a:solidFill>
                    <a:schemeClr val="tx1"/>
                  </a:solidFill>
                </a:rPr>
                <a:t>prev</a:t>
              </a:r>
              <a:endParaRPr lang="ru-RU" sz="1800" b="1" dirty="0">
                <a:solidFill>
                  <a:schemeClr val="tx1"/>
                </a:solidFill>
              </a:endParaRP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10200797" y="5397150"/>
              <a:ext cx="659155" cy="3517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b="1" dirty="0" smtClean="0">
                  <a:solidFill>
                    <a:schemeClr val="tx1"/>
                  </a:solidFill>
                </a:rPr>
                <a:t>data</a:t>
              </a:r>
              <a:endParaRPr lang="ru-RU" sz="1800" b="1" dirty="0">
                <a:solidFill>
                  <a:schemeClr val="tx1"/>
                </a:solidFill>
              </a:endParaRP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10200796" y="5800958"/>
              <a:ext cx="659155" cy="3517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b="1" dirty="0" smtClean="0">
                  <a:solidFill>
                    <a:schemeClr val="tx1"/>
                  </a:solidFill>
                </a:rPr>
                <a:t>next</a:t>
              </a:r>
              <a:endParaRPr lang="ru-RU" sz="1800" b="1" dirty="0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repeatCount="3000" fill="remove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50" autoRev="1" fill="remove"/>
                                        <p:tgtEl>
                                          <p:spTgt spid="4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7" dur="250" autoRev="1" fill="remove"/>
                                        <p:tgtEl>
                                          <p:spTgt spid="4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8" dur="250" autoRev="1" fill="remove"/>
                                        <p:tgtEl>
                                          <p:spTgt spid="4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250" autoRev="1" fill="remove"/>
                                        <p:tgtEl>
                                          <p:spTgt spid="4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4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4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4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4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4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4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4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4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4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4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47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47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47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2" dur="2000" fill="hold"/>
                                        <p:tgtEl>
                                          <p:spTgt spid="4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4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3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2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2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2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2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2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2" dur="2000" fill="hold"/>
                                        <p:tgtEl>
                                          <p:spTgt spid="4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4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3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4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4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4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4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2" dur="2000" fill="hold"/>
                                        <p:tgtEl>
                                          <p:spTgt spid="4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4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39349 -0.46875 L -4.58333E-6 4.07407E-6 " pathEditMode="relative" rAng="0" ptsTypes="AA">
                                      <p:cBhvr>
                                        <p:cTn id="156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544" y="2342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0" dur="2000" fill="hold"/>
                                        <p:tgtEl>
                                          <p:spTgt spid="4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4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1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2" dur="2000" fill="hold"/>
                                        <p:tgtEl>
                                          <p:spTgt spid="4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4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66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0" dur="2000" fill="hold"/>
                                        <p:tgtEl>
                                          <p:spTgt spid="4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4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42018 -0.39051 L -6.25E-7 1.48148E-6 " pathEditMode="relative" rAng="0" ptsTypes="AA">
                                      <p:cBhvr>
                                        <p:cTn id="178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003" y="1951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9" fill="hold">
                            <p:stCondLst>
                              <p:cond delay="2000"/>
                            </p:stCondLst>
                            <p:childTnLst>
                              <p:par>
                                <p:cTn id="18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4" fill="hold">
                            <p:stCondLst>
                              <p:cond delay="2500"/>
                            </p:stCondLst>
                            <p:childTnLst>
                              <p:par>
                                <p:cTn id="185" presetID="16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8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8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8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2" dur="2000" fill="hold"/>
                                        <p:tgtEl>
                                          <p:spTgt spid="4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4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3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75E-6 0.00416 L 0.10469 0.00254 " pathEditMode="relative" rAng="0" ptsTypes="AA">
                                      <p:cBhvr>
                                        <p:cTn id="194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34" y="-93"/>
                                    </p:animMotion>
                                  </p:childTnLst>
                                </p:cTn>
                              </p:par>
                              <p:par>
                                <p:cTn id="195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0" dur="2000" fill="hold"/>
                                        <p:tgtEl>
                                          <p:spTgt spid="4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92D05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01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2" dur="2000" fill="hold"/>
                                        <p:tgtEl>
                                          <p:spTgt spid="4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92D05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03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04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05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0" dur="2000" fill="hold"/>
                                        <p:tgtEl>
                                          <p:spTgt spid="4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92D05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2161 -0.38287 L 0 3.7037E-7 " pathEditMode="relative" rAng="0" ptsTypes="AA">
                                      <p:cBhvr>
                                        <p:cTn id="214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081" y="191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5" fill="hold">
                            <p:stCondLst>
                              <p:cond delay="2000"/>
                            </p:stCondLst>
                            <p:childTnLst>
                              <p:par>
                                <p:cTn id="21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21" presetID="16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2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2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2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>
                      <p:stCondLst>
                        <p:cond delay="indefinite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8" dur="2000" fill="hold"/>
                                        <p:tgtEl>
                                          <p:spTgt spid="4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4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29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1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42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3.7037E-7 L -0.02044 0.08588 " pathEditMode="relative" rAng="0" ptsTypes="AA">
                                      <p:cBhvr>
                                        <p:cTn id="234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29" y="428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" fill="hold">
                      <p:stCondLst>
                        <p:cond delay="indefinite"/>
                      </p:stCondLst>
                      <p:childTnLst>
                        <p:par>
                          <p:cTn id="236" fill="hold">
                            <p:stCondLst>
                              <p:cond delay="0"/>
                            </p:stCondLst>
                            <p:childTnLst>
                              <p:par>
                                <p:cTn id="237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8" dur="2000" fill="hold"/>
                                        <p:tgtEl>
                                          <p:spTgt spid="4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92D05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9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5404 0.00648 L 0.30417 0.00671 " pathEditMode="relative" rAng="0" ptsTypes="AA">
                                      <p:cBhvr>
                                        <p:cTn id="240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5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1" fill="hold">
                      <p:stCondLst>
                        <p:cond delay="indefinite"/>
                      </p:stCondLst>
                      <p:childTnLst>
                        <p:par>
                          <p:cTn id="242" fill="hold">
                            <p:stCondLst>
                              <p:cond delay="0"/>
                            </p:stCondLst>
                            <p:childTnLst>
                              <p:par>
                                <p:cTn id="243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4" dur="2000" fill="hold"/>
                                        <p:tgtEl>
                                          <p:spTgt spid="4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C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45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6" dur="2000" fill="hold"/>
                                        <p:tgtEl>
                                          <p:spTgt spid="4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C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47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48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9" fill="hold">
                      <p:stCondLst>
                        <p:cond delay="indefinite"/>
                      </p:stCondLst>
                      <p:childTnLst>
                        <p:par>
                          <p:cTn id="250" fill="hold">
                            <p:stCondLst>
                              <p:cond delay="0"/>
                            </p:stCondLst>
                            <p:childTnLst>
                              <p:par>
                                <p:cTn id="251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2" dur="2000" fill="hold"/>
                                        <p:tgtEl>
                                          <p:spTgt spid="4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C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5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823 -0.38426 L 1.47451E-17 2.96296E-6 " pathEditMode="relative" rAng="0" ptsTypes="AA">
                                      <p:cBhvr>
                                        <p:cTn id="256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89" y="1935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7" fill="hold">
                            <p:stCondLst>
                              <p:cond delay="2000"/>
                            </p:stCondLst>
                            <p:childTnLst>
                              <p:par>
                                <p:cTn id="25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2" fill="hold">
                            <p:stCondLst>
                              <p:cond delay="2500"/>
                            </p:stCondLst>
                            <p:childTnLst>
                              <p:par>
                                <p:cTn id="263" presetID="16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6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6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6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7" fill="hold">
                      <p:stCondLst>
                        <p:cond delay="indefinite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0" dur="2000" fill="hold"/>
                                        <p:tgtEl>
                                          <p:spTgt spid="4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C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71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2" dur="2000" fill="hold"/>
                                        <p:tgtEl>
                                          <p:spTgt spid="47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C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73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5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0417 0.00671 L 0.39675 -0.21088 " pathEditMode="relative" rAng="0" ptsTypes="AA">
                                      <p:cBhvr>
                                        <p:cTn id="276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622" y="-1088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7" fill="hold">
                      <p:stCondLst>
                        <p:cond delay="indefinite"/>
                      </p:stCondLst>
                      <p:childTnLst>
                        <p:par>
                          <p:cTn id="278" fill="hold">
                            <p:stCondLst>
                              <p:cond delay="0"/>
                            </p:stCondLst>
                            <p:childTnLst>
                              <p:par>
                                <p:cTn id="279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0" dur="2000" fill="hold"/>
                                        <p:tgtEl>
                                          <p:spTgt spid="47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C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81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2" dur="2000" fill="hold"/>
                                        <p:tgtEl>
                                          <p:spTgt spid="47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C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83" presetID="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84" dur="2000" fill="hold"/>
                                        <p:tgtEl>
                                          <p:spTgt spid="2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285" presetID="6" presetClass="emph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86" dur="2000" fill="hold"/>
                                        <p:tgtEl>
                                          <p:spTgt spid="28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5" grpId="0" uiExpand="1" build="p"/>
      <p:bldP spid="14" grpId="0" animBg="1"/>
      <p:bldP spid="15" grpId="0" animBg="1"/>
      <p:bldP spid="16" grpId="0" animBg="1"/>
      <p:bldP spid="2" grpId="0"/>
      <p:bldP spid="2" grpId="1"/>
      <p:bldP spid="26" grpId="0" animBg="1"/>
      <p:bldP spid="26" grpId="1" animBg="1"/>
      <p:bldP spid="26" grpId="2" animBg="1"/>
      <p:bldP spid="27" grpId="0"/>
      <p:bldP spid="28" grpId="0" animBg="1"/>
      <p:bldP spid="28" grpId="1" animBg="1"/>
      <p:bldP spid="28" grpId="2" animBg="1"/>
      <p:bldP spid="28" grpId="3" animBg="1"/>
      <p:bldP spid="3" grpId="0"/>
      <p:bldP spid="3" grpId="1"/>
      <p:bldP spid="3" grpId="2"/>
      <p:bldP spid="30" grpId="0" animBg="1"/>
      <p:bldP spid="30" grpId="1" animBg="1"/>
      <p:bldP spid="30" grpId="2" animBg="1"/>
      <p:bldP spid="31" grpId="0"/>
      <p:bldP spid="31" grpId="1"/>
      <p:bldP spid="31" grpId="2"/>
      <p:bldP spid="32" grpId="0" animBg="1"/>
      <p:bldP spid="32" grpId="1" animBg="1"/>
      <p:bldP spid="33" grpId="0"/>
      <p:bldP spid="33" grpId="1"/>
      <p:bldP spid="33" grpId="2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Shape 482"/>
          <p:cNvSpPr txBox="1">
            <a:spLocks noGrp="1"/>
          </p:cNvSpPr>
          <p:nvPr>
            <p:ph type="title"/>
          </p:nvPr>
        </p:nvSpPr>
        <p:spPr>
          <a:xfrm>
            <a:off x="301175" y="92050"/>
            <a:ext cx="10515600" cy="75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</a:pPr>
            <a:r>
              <a:rPr lang="ru-RU" sz="4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Показать справа налево</a:t>
            </a:r>
            <a:endParaRPr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1" name="Shape 481"/>
          <p:cNvSpPr txBox="1">
            <a:spLocks noGrp="1"/>
          </p:cNvSpPr>
          <p:nvPr>
            <p:ph idx="1"/>
          </p:nvPr>
        </p:nvSpPr>
        <p:spPr>
          <a:xfrm>
            <a:off x="301176" y="1201768"/>
            <a:ext cx="5132616" cy="3831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r>
              <a:rPr lang="en-US" sz="2000" b="0" i="0" u="none" strike="noStrike" cap="none" dirty="0"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void </a:t>
            </a:r>
            <a:r>
              <a:rPr lang="en-US" sz="2000" b="0" i="0" u="none" strike="noStrike" cap="none" dirty="0" err="1"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show_from_right_to_left</a:t>
            </a:r>
            <a:r>
              <a:rPr lang="en-US" sz="2000" b="0" i="0" u="none" strike="noStrike" cap="none" dirty="0"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( node* end)</a:t>
            </a:r>
            <a:endParaRPr sz="2000" b="0" i="0" u="none" strike="noStrike" cap="none" dirty="0">
              <a:latin typeface="Arial" panose="020B0604020202020204" pitchFamily="34" charset="0"/>
              <a:ea typeface="Trebuchet MS"/>
              <a:cs typeface="Arial" panose="020B0604020202020204" pitchFamily="34" charset="0"/>
              <a:sym typeface="Trebuchet M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r>
              <a:rPr lang="en-US" sz="2000" b="0" i="0" u="none" strike="noStrike" cap="none" dirty="0" smtClean="0"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{</a:t>
            </a:r>
            <a:r>
              <a:rPr lang="ru-RU" sz="2000" b="0" i="0" u="none" strike="noStrike" cap="none" dirty="0" smtClean="0"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 </a:t>
            </a:r>
            <a:r>
              <a:rPr lang="en-US" sz="2000" b="0" i="0" u="none" strike="noStrike" cap="none" dirty="0" smtClean="0"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      </a:t>
            </a:r>
            <a:r>
              <a:rPr lang="en-US" sz="2000" b="0" i="0" u="none" strike="noStrike" cap="none" dirty="0"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node* p;</a:t>
            </a:r>
            <a:endParaRPr sz="2000" b="0" i="0" u="none" strike="noStrike" cap="none" dirty="0">
              <a:latin typeface="Arial" panose="020B0604020202020204" pitchFamily="34" charset="0"/>
              <a:ea typeface="Trebuchet MS"/>
              <a:cs typeface="Arial" panose="020B0604020202020204" pitchFamily="34" charset="0"/>
              <a:sym typeface="Trebuchet M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r>
              <a:rPr lang="en-US" sz="2000" b="0" i="0" u="none" strike="noStrike" cap="none" dirty="0"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        p=end;</a:t>
            </a:r>
            <a:endParaRPr sz="2000" b="0" i="0" u="none" strike="noStrike" cap="none" dirty="0">
              <a:latin typeface="Arial" panose="020B0604020202020204" pitchFamily="34" charset="0"/>
              <a:ea typeface="Trebuchet MS"/>
              <a:cs typeface="Arial" panose="020B0604020202020204" pitchFamily="34" charset="0"/>
              <a:sym typeface="Trebuchet M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r>
              <a:rPr lang="en-US" sz="2000" b="0" i="0" u="none" strike="noStrike" cap="none" dirty="0"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     while (p)</a:t>
            </a:r>
            <a:endParaRPr sz="2000" b="0" i="0" u="none" strike="noStrike" cap="none" dirty="0">
              <a:latin typeface="Arial" panose="020B0604020202020204" pitchFamily="34" charset="0"/>
              <a:ea typeface="Trebuchet MS"/>
              <a:cs typeface="Arial" panose="020B0604020202020204" pitchFamily="34" charset="0"/>
              <a:sym typeface="Trebuchet M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r>
              <a:rPr lang="en-US" sz="2000" b="0" i="0" u="none" strike="noStrike" cap="none" dirty="0"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	 {</a:t>
            </a:r>
            <a:endParaRPr sz="2000" b="0" i="0" u="none" strike="noStrike" cap="none" dirty="0">
              <a:latin typeface="Arial" panose="020B0604020202020204" pitchFamily="34" charset="0"/>
              <a:ea typeface="Trebuchet MS"/>
              <a:cs typeface="Arial" panose="020B0604020202020204" pitchFamily="34" charset="0"/>
              <a:sym typeface="Trebuchet M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r>
              <a:rPr lang="en-US" sz="2000" b="0" i="0" u="none" strike="noStrike" cap="none" dirty="0"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              </a:t>
            </a:r>
            <a:r>
              <a:rPr lang="en-US" sz="2000" b="0" i="0" u="none" strike="noStrike" cap="none" dirty="0" err="1"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cout</a:t>
            </a:r>
            <a:r>
              <a:rPr lang="en-US" sz="2000" b="0" i="0" u="none" strike="noStrike" cap="none" dirty="0"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&lt;&lt;p-&gt;data&lt;&lt;" ";</a:t>
            </a:r>
            <a:endParaRPr sz="2000" b="0" i="0" u="none" strike="noStrike" cap="none" dirty="0">
              <a:latin typeface="Arial" panose="020B0604020202020204" pitchFamily="34" charset="0"/>
              <a:ea typeface="Trebuchet MS"/>
              <a:cs typeface="Arial" panose="020B0604020202020204" pitchFamily="34" charset="0"/>
              <a:sym typeface="Trebuchet M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r>
              <a:rPr lang="en-US" sz="2000" b="0" i="0" u="none" strike="noStrike" cap="none" dirty="0"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              p=p-&gt;</a:t>
            </a:r>
            <a:r>
              <a:rPr lang="en-US" sz="2000" b="0" i="0" u="none" strike="noStrike" cap="none" dirty="0" err="1"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prev</a:t>
            </a:r>
            <a:r>
              <a:rPr lang="en-US" sz="2000" b="0" i="0" u="none" strike="noStrike" cap="none" dirty="0"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;</a:t>
            </a:r>
            <a:endParaRPr sz="2000" b="0" i="0" u="none" strike="noStrike" cap="none" dirty="0">
              <a:latin typeface="Arial" panose="020B0604020202020204" pitchFamily="34" charset="0"/>
              <a:ea typeface="Trebuchet MS"/>
              <a:cs typeface="Arial" panose="020B0604020202020204" pitchFamily="34" charset="0"/>
              <a:sym typeface="Trebuchet M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r>
              <a:rPr lang="en-US" sz="2000" b="0" i="0" u="none" strike="noStrike" cap="none" dirty="0"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	 }</a:t>
            </a:r>
            <a:endParaRPr sz="2000" b="0" i="0" u="none" strike="noStrike" cap="none" dirty="0">
              <a:latin typeface="Arial" panose="020B0604020202020204" pitchFamily="34" charset="0"/>
              <a:ea typeface="Trebuchet MS"/>
              <a:cs typeface="Arial" panose="020B0604020202020204" pitchFamily="34" charset="0"/>
              <a:sym typeface="Trebuchet M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r>
              <a:rPr lang="en-US" sz="2000" b="0" i="0" u="none" strike="noStrike" cap="none" dirty="0"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}</a:t>
            </a:r>
            <a:endParaRPr sz="2000" b="0" i="0" u="none" strike="noStrike" cap="none" dirty="0">
              <a:latin typeface="Arial" panose="020B0604020202020204" pitchFamily="34" charset="0"/>
              <a:ea typeface="Trebuchet MS"/>
              <a:cs typeface="Arial" panose="020B0604020202020204" pitchFamily="34" charset="0"/>
              <a:sym typeface="Trebuchet M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endParaRPr sz="2000" b="0" i="0" u="none" strike="noStrike" cap="none" dirty="0">
              <a:latin typeface="Arial" panose="020B0604020202020204" pitchFamily="34" charset="0"/>
              <a:ea typeface="Trebuchet MS"/>
              <a:cs typeface="Arial" panose="020B0604020202020204" pitchFamily="34" charset="0"/>
              <a:sym typeface="Trebuchet MS"/>
            </a:endParaRPr>
          </a:p>
        </p:txBody>
      </p:sp>
      <p:graphicFrame>
        <p:nvGraphicFramePr>
          <p:cNvPr id="4" name="Shape 280"/>
          <p:cNvGraphicFramePr/>
          <p:nvPr>
            <p:extLst>
              <p:ext uri="{D42A27DB-BD31-4B8C-83A1-F6EECF244321}">
                <p14:modId xmlns:p14="http://schemas.microsoft.com/office/powerpoint/2010/main" val="1069170307"/>
              </p:ext>
            </p:extLst>
          </p:nvPr>
        </p:nvGraphicFramePr>
        <p:xfrm>
          <a:off x="5499691" y="4252026"/>
          <a:ext cx="1460675" cy="1849602"/>
        </p:xfrm>
        <a:graphic>
          <a:graphicData uri="http://schemas.openxmlformats.org/drawingml/2006/table">
            <a:tbl>
              <a:tblPr>
                <a:noFill/>
                <a:tableStyleId>{A658CFA3-1ECF-4F86-BB5C-CF7618A15973}</a:tableStyleId>
              </a:tblPr>
              <a:tblGrid>
                <a:gridCol w="1460675"/>
              </a:tblGrid>
              <a:tr h="61653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 b="1" dirty="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5996" marB="95996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C78D8"/>
                    </a:solidFill>
                  </a:tcPr>
                </a:tc>
              </a:tr>
              <a:tr h="61653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/>
                    </a:p>
                  </a:txBody>
                  <a:tcPr marL="91425" marR="91425" marT="95996" marB="95996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D9EEB"/>
                    </a:solidFill>
                  </a:tcPr>
                </a:tc>
              </a:tr>
              <a:tr h="61653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 dirty="0"/>
                    </a:p>
                  </a:txBody>
                  <a:tcPr marL="91425" marR="91425" marT="95996" marB="95996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</a:tr>
            </a:tbl>
          </a:graphicData>
        </a:graphic>
      </p:graphicFrame>
      <p:cxnSp>
        <p:nvCxnSpPr>
          <p:cNvPr id="5" name="Shape 281"/>
          <p:cNvCxnSpPr/>
          <p:nvPr/>
        </p:nvCxnSpPr>
        <p:spPr>
          <a:xfrm flipH="1">
            <a:off x="6960500" y="5837379"/>
            <a:ext cx="895500" cy="819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6" name="Shape 282"/>
          <p:cNvCxnSpPr/>
          <p:nvPr/>
        </p:nvCxnSpPr>
        <p:spPr>
          <a:xfrm rot="10800000" flipH="1">
            <a:off x="6983175" y="5208706"/>
            <a:ext cx="891000" cy="378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stealth" w="med" len="med"/>
          </a:ln>
        </p:spPr>
      </p:cxnSp>
      <p:graphicFrame>
        <p:nvGraphicFramePr>
          <p:cNvPr id="7" name="Shape 283"/>
          <p:cNvGraphicFramePr/>
          <p:nvPr>
            <p:extLst>
              <p:ext uri="{D42A27DB-BD31-4B8C-83A1-F6EECF244321}">
                <p14:modId xmlns:p14="http://schemas.microsoft.com/office/powerpoint/2010/main" val="522689521"/>
              </p:ext>
            </p:extLst>
          </p:nvPr>
        </p:nvGraphicFramePr>
        <p:xfrm>
          <a:off x="7891541" y="4252039"/>
          <a:ext cx="1460675" cy="1849602"/>
        </p:xfrm>
        <a:graphic>
          <a:graphicData uri="http://schemas.openxmlformats.org/drawingml/2006/table">
            <a:tbl>
              <a:tblPr>
                <a:noFill/>
                <a:tableStyleId>{A658CFA3-1ECF-4F86-BB5C-CF7618A15973}</a:tableStyleId>
              </a:tblPr>
              <a:tblGrid>
                <a:gridCol w="1460675"/>
              </a:tblGrid>
              <a:tr h="61653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 b="1" dirty="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5996" marB="95996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C78D8"/>
                    </a:solidFill>
                  </a:tcPr>
                </a:tc>
              </a:tr>
              <a:tr h="61653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/>
                    </a:p>
                  </a:txBody>
                  <a:tcPr marL="91425" marR="91425" marT="95996" marB="95996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D9EEB"/>
                    </a:solidFill>
                  </a:tcPr>
                </a:tc>
              </a:tr>
              <a:tr h="61653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 dirty="0"/>
                    </a:p>
                  </a:txBody>
                  <a:tcPr marL="91425" marR="91425" marT="95996" marB="95996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Shape 284"/>
          <p:cNvGraphicFramePr/>
          <p:nvPr>
            <p:extLst>
              <p:ext uri="{D42A27DB-BD31-4B8C-83A1-F6EECF244321}">
                <p14:modId xmlns:p14="http://schemas.microsoft.com/office/powerpoint/2010/main" val="2151361031"/>
              </p:ext>
            </p:extLst>
          </p:nvPr>
        </p:nvGraphicFramePr>
        <p:xfrm>
          <a:off x="10283378" y="4252052"/>
          <a:ext cx="1460675" cy="1849602"/>
        </p:xfrm>
        <a:graphic>
          <a:graphicData uri="http://schemas.openxmlformats.org/drawingml/2006/table">
            <a:tbl>
              <a:tblPr>
                <a:noFill/>
                <a:tableStyleId>{A658CFA3-1ECF-4F86-BB5C-CF7618A15973}</a:tableStyleId>
              </a:tblPr>
              <a:tblGrid>
                <a:gridCol w="1460675"/>
              </a:tblGrid>
              <a:tr h="61653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 b="1" dirty="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5996" marB="95996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C78D8"/>
                    </a:solidFill>
                  </a:tcPr>
                </a:tc>
              </a:tr>
              <a:tr h="61653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 dirty="0"/>
                    </a:p>
                  </a:txBody>
                  <a:tcPr marL="91425" marR="91425" marT="95996" marB="95996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D9EEB"/>
                    </a:solidFill>
                  </a:tcPr>
                </a:tc>
              </a:tr>
              <a:tr h="61653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/>
                    </a:p>
                  </a:txBody>
                  <a:tcPr marL="91425" marR="91425" marT="95996" marB="95996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</a:tr>
            </a:tbl>
          </a:graphicData>
        </a:graphic>
      </p:graphicFrame>
      <p:cxnSp>
        <p:nvCxnSpPr>
          <p:cNvPr id="9" name="Shape 285"/>
          <p:cNvCxnSpPr/>
          <p:nvPr/>
        </p:nvCxnSpPr>
        <p:spPr>
          <a:xfrm flipH="1">
            <a:off x="9369600" y="5832379"/>
            <a:ext cx="895500" cy="819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0" name="Shape 286"/>
          <p:cNvCxnSpPr/>
          <p:nvPr/>
        </p:nvCxnSpPr>
        <p:spPr>
          <a:xfrm rot="10800000" flipH="1">
            <a:off x="9392275" y="5203706"/>
            <a:ext cx="891000" cy="378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stealth" w="med" len="med"/>
          </a:ln>
        </p:spPr>
      </p:cxnSp>
      <p:grpSp>
        <p:nvGrpSpPr>
          <p:cNvPr id="11" name="Группа 10"/>
          <p:cNvGrpSpPr/>
          <p:nvPr/>
        </p:nvGrpSpPr>
        <p:grpSpPr>
          <a:xfrm>
            <a:off x="11245715" y="3059370"/>
            <a:ext cx="1057119" cy="1125067"/>
            <a:chOff x="5806662" y="2252524"/>
            <a:chExt cx="701234" cy="1071492"/>
          </a:xfrm>
        </p:grpSpPr>
        <p:cxnSp>
          <p:nvCxnSpPr>
            <p:cNvPr id="12" name="Shape 289"/>
            <p:cNvCxnSpPr/>
            <p:nvPr/>
          </p:nvCxnSpPr>
          <p:spPr>
            <a:xfrm rot="5400000">
              <a:off x="5450262" y="2966116"/>
              <a:ext cx="714300" cy="1500"/>
            </a:xfrm>
            <a:prstGeom prst="straightConnector1">
              <a:avLst/>
            </a:prstGeom>
            <a:noFill/>
            <a:ln w="38100" cap="flat" cmpd="sng">
              <a:solidFill>
                <a:srgbClr val="FF0000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13" name="Shape 290"/>
            <p:cNvSpPr txBox="1"/>
            <p:nvPr/>
          </p:nvSpPr>
          <p:spPr>
            <a:xfrm>
              <a:off x="5816996" y="2252524"/>
              <a:ext cx="6909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 dirty="0" smtClean="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end</a:t>
              </a:r>
              <a:endParaRPr sz="2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" name="Shape 215"/>
          <p:cNvSpPr txBox="1"/>
          <p:nvPr/>
        </p:nvSpPr>
        <p:spPr>
          <a:xfrm>
            <a:off x="6037606" y="4355995"/>
            <a:ext cx="360040" cy="445631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28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Shape 216"/>
          <p:cNvSpPr txBox="1"/>
          <p:nvPr/>
        </p:nvSpPr>
        <p:spPr>
          <a:xfrm>
            <a:off x="10838017" y="4390095"/>
            <a:ext cx="360040" cy="445631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28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Shape 216"/>
          <p:cNvSpPr txBox="1"/>
          <p:nvPr/>
        </p:nvSpPr>
        <p:spPr>
          <a:xfrm>
            <a:off x="8449067" y="4367221"/>
            <a:ext cx="360040" cy="445631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8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" name="Рисунок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2680" y="5527053"/>
            <a:ext cx="1396105" cy="678544"/>
          </a:xfrm>
          <a:prstGeom prst="rect">
            <a:avLst/>
          </a:prstGeom>
        </p:spPr>
      </p:pic>
      <p:grpSp>
        <p:nvGrpSpPr>
          <p:cNvPr id="3" name="Группа 2"/>
          <p:cNvGrpSpPr/>
          <p:nvPr/>
        </p:nvGrpSpPr>
        <p:grpSpPr>
          <a:xfrm>
            <a:off x="7408253" y="950409"/>
            <a:ext cx="3376867" cy="1880835"/>
            <a:chOff x="7408250" y="905150"/>
            <a:chExt cx="3376867" cy="1791271"/>
          </a:xfrm>
        </p:grpSpPr>
        <p:grpSp>
          <p:nvGrpSpPr>
            <p:cNvPr id="14" name="Группа 13"/>
            <p:cNvGrpSpPr/>
            <p:nvPr/>
          </p:nvGrpSpPr>
          <p:grpSpPr>
            <a:xfrm>
              <a:off x="7408250" y="905150"/>
              <a:ext cx="3376867" cy="1791271"/>
              <a:chOff x="6659231" y="973256"/>
              <a:chExt cx="3376867" cy="1791271"/>
            </a:xfrm>
          </p:grpSpPr>
          <p:pic>
            <p:nvPicPr>
              <p:cNvPr id="15" name="Picture 3"/>
              <p:cNvPicPr>
                <a:picLocks noChangeAspect="1" noChangeArrowheads="1"/>
              </p:cNvPicPr>
              <p:nvPr/>
            </p:nvPicPr>
            <p:blipFill>
              <a:blip r:embed="rId4"/>
              <a:srcRect l="15312" t="8841" r="63862" b="70529"/>
              <a:stretch>
                <a:fillRect/>
              </a:stretch>
            </p:blipFill>
            <p:spPr bwMode="auto">
              <a:xfrm>
                <a:off x="6659231" y="973256"/>
                <a:ext cx="3375569" cy="179127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sp>
            <p:nvSpPr>
              <p:cNvPr id="16" name="Прямоугольник 15"/>
              <p:cNvSpPr/>
              <p:nvPr/>
            </p:nvSpPr>
            <p:spPr>
              <a:xfrm>
                <a:off x="6960363" y="1048215"/>
                <a:ext cx="3075735" cy="18957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sp>
          <p:nvSpPr>
            <p:cNvPr id="2" name="Прямоугольник 1"/>
            <p:cNvSpPr/>
            <p:nvPr/>
          </p:nvSpPr>
          <p:spPr>
            <a:xfrm>
              <a:off x="7428674" y="1800785"/>
              <a:ext cx="2409101" cy="776160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480" name="Прямоугольник 479"/>
          <p:cNvSpPr/>
          <p:nvPr/>
        </p:nvSpPr>
        <p:spPr>
          <a:xfrm>
            <a:off x="7532090" y="1990564"/>
            <a:ext cx="603814" cy="69279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dirty="0" smtClean="0"/>
              <a:t>7</a:t>
            </a:r>
            <a:endParaRPr lang="ru-RU" sz="6600" dirty="0"/>
          </a:p>
        </p:txBody>
      </p:sp>
      <p:sp>
        <p:nvSpPr>
          <p:cNvPr id="35" name="Прямоугольник 34"/>
          <p:cNvSpPr/>
          <p:nvPr/>
        </p:nvSpPr>
        <p:spPr>
          <a:xfrm>
            <a:off x="8307019" y="2004972"/>
            <a:ext cx="603814" cy="69279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dirty="0"/>
              <a:t>3</a:t>
            </a:r>
            <a:endParaRPr lang="ru-RU" sz="6600" dirty="0"/>
          </a:p>
        </p:txBody>
      </p:sp>
      <p:sp>
        <p:nvSpPr>
          <p:cNvPr id="36" name="Прямоугольник 35"/>
          <p:cNvSpPr/>
          <p:nvPr/>
        </p:nvSpPr>
        <p:spPr>
          <a:xfrm>
            <a:off x="9116089" y="2007257"/>
            <a:ext cx="603814" cy="69279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dirty="0" smtClean="0"/>
              <a:t>5</a:t>
            </a:r>
            <a:endParaRPr lang="ru-RU" sz="6600" dirty="0"/>
          </a:p>
        </p:txBody>
      </p:sp>
      <p:pic>
        <p:nvPicPr>
          <p:cNvPr id="37" name="Рисунок 3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5273" y="4871324"/>
            <a:ext cx="1396105" cy="678544"/>
          </a:xfrm>
          <a:prstGeom prst="rect">
            <a:avLst/>
          </a:prstGeom>
        </p:spPr>
      </p:pic>
      <p:grpSp>
        <p:nvGrpSpPr>
          <p:cNvPr id="41" name="Группа 40"/>
          <p:cNvGrpSpPr/>
          <p:nvPr/>
        </p:nvGrpSpPr>
        <p:grpSpPr>
          <a:xfrm>
            <a:off x="11117910" y="288266"/>
            <a:ext cx="1057119" cy="1125066"/>
            <a:chOff x="5806662" y="2252524"/>
            <a:chExt cx="701234" cy="1071491"/>
          </a:xfrm>
        </p:grpSpPr>
        <p:cxnSp>
          <p:nvCxnSpPr>
            <p:cNvPr id="42" name="Shape 289"/>
            <p:cNvCxnSpPr/>
            <p:nvPr/>
          </p:nvCxnSpPr>
          <p:spPr>
            <a:xfrm rot="5400000">
              <a:off x="5450262" y="2966115"/>
              <a:ext cx="714300" cy="1500"/>
            </a:xfrm>
            <a:prstGeom prst="straightConnector1">
              <a:avLst/>
            </a:prstGeom>
            <a:noFill/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43" name="Shape 290"/>
            <p:cNvSpPr txBox="1"/>
            <p:nvPr/>
          </p:nvSpPr>
          <p:spPr>
            <a:xfrm>
              <a:off x="5816996" y="2252524"/>
              <a:ext cx="6909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</a:t>
              </a:r>
              <a:endParaRPr sz="28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" name="Группа 32"/>
          <p:cNvGrpSpPr>
            <a:grpSpLocks/>
          </p:cNvGrpSpPr>
          <p:nvPr/>
        </p:nvGrpSpPr>
        <p:grpSpPr>
          <a:xfrm>
            <a:off x="301175" y="5827315"/>
            <a:ext cx="1077338" cy="1239795"/>
            <a:chOff x="9795437" y="5375754"/>
            <a:chExt cx="1077338" cy="1180757"/>
          </a:xfrm>
        </p:grpSpPr>
        <p:graphicFrame>
          <p:nvGraphicFramePr>
            <p:cNvPr id="34" name="Shape 163"/>
            <p:cNvGraphicFramePr/>
            <p:nvPr>
              <p:extLst>
                <p:ext uri="{D42A27DB-BD31-4B8C-83A1-F6EECF244321}">
                  <p14:modId xmlns:p14="http://schemas.microsoft.com/office/powerpoint/2010/main" val="2600700057"/>
                </p:ext>
              </p:extLst>
            </p:nvPr>
          </p:nvGraphicFramePr>
          <p:xfrm>
            <a:off x="9795437" y="5375754"/>
            <a:ext cx="432000" cy="1131428"/>
          </p:xfrm>
          <a:graphic>
            <a:graphicData uri="http://schemas.openxmlformats.org/drawingml/2006/table">
              <a:tbl>
                <a:tblPr>
                  <a:noFill/>
                  <a:tableStyleId>{A658CFA3-1ECF-4F86-BB5C-CF7618A15973}</a:tableStyleId>
                </a:tblPr>
                <a:tblGrid>
                  <a:gridCol w="432000"/>
                </a:tblGrid>
                <a:tr h="396000">
                  <a:tc>
                    <a:txBody>
                      <a:bodyPr/>
                      <a:lstStyle/>
                      <a:p>
                        <a:pPr marL="0" lvl="0" indent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900" b="1" dirty="0">
                          <a:solidFill>
                            <a:schemeClr val="lt1"/>
                          </a:solidFill>
                        </a:endParaRPr>
                      </a:p>
                    </a:txBody>
                    <a:tcPr marL="91425" marR="91425" marT="91425" marB="91425">
                      <a:lnL w="2857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2857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2857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2857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3C78D8"/>
                      </a:solidFill>
                    </a:tcPr>
                  </a:tc>
                </a:tr>
                <a:tr h="396000">
                  <a:tc>
                    <a:txBody>
                      <a:bodyPr/>
                      <a:lstStyle/>
                      <a:p>
                        <a:pPr marL="0" lvl="0" indent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900" dirty="0"/>
                      </a:p>
                    </a:txBody>
                    <a:tcPr marL="91425" marR="91425" marT="91425" marB="91425">
                      <a:lnL w="2857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2857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2857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2857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6D9EEB"/>
                      </a:solidFill>
                    </a:tcPr>
                  </a:tc>
                </a:tr>
                <a:tr h="396000">
                  <a:tc>
                    <a:txBody>
                      <a:bodyPr/>
                      <a:lstStyle/>
                      <a:p>
                        <a:pPr marL="0" lvl="0" indent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900" dirty="0"/>
                      </a:p>
                    </a:txBody>
                    <a:tcPr marL="91425" marR="91425" marT="91425" marB="91425">
                      <a:lnL w="2857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2857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2857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2857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A4C2F4"/>
                      </a:solidFill>
                    </a:tcPr>
                  </a:tc>
                </a:tr>
              </a:tbl>
            </a:graphicData>
          </a:graphic>
        </p:graphicFrame>
        <p:sp>
          <p:nvSpPr>
            <p:cNvPr id="44" name="TextBox 43"/>
            <p:cNvSpPr txBox="1"/>
            <p:nvPr/>
          </p:nvSpPr>
          <p:spPr>
            <a:xfrm>
              <a:off x="10200796" y="6204766"/>
              <a:ext cx="671979" cy="3517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b="1" dirty="0" err="1" smtClean="0">
                  <a:solidFill>
                    <a:schemeClr val="tx1"/>
                  </a:solidFill>
                </a:rPr>
                <a:t>prev</a:t>
              </a:r>
              <a:endParaRPr lang="ru-RU" sz="1800" b="1" dirty="0">
                <a:solidFill>
                  <a:schemeClr val="tx1"/>
                </a:solidFill>
              </a:endParaRP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10200797" y="5397150"/>
              <a:ext cx="659155" cy="3517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b="1" dirty="0" smtClean="0">
                  <a:solidFill>
                    <a:schemeClr val="tx1"/>
                  </a:solidFill>
                </a:rPr>
                <a:t>data</a:t>
              </a:r>
              <a:endParaRPr lang="ru-RU" sz="1800" b="1" dirty="0">
                <a:solidFill>
                  <a:schemeClr val="tx1"/>
                </a:solidFill>
              </a:endParaRP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10200796" y="5800958"/>
              <a:ext cx="659155" cy="3517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b="1" dirty="0" smtClean="0">
                  <a:solidFill>
                    <a:schemeClr val="tx1"/>
                  </a:solidFill>
                </a:rPr>
                <a:t>next</a:t>
              </a:r>
              <a:endParaRPr lang="ru-RU" sz="1800" b="1" dirty="0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repeatCount="3000" fill="remove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50" autoRev="1" fill="remove"/>
                                        <p:tgtEl>
                                          <p:spTgt spid="4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7" dur="250" autoRev="1" fill="remove"/>
                                        <p:tgtEl>
                                          <p:spTgt spid="4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8" dur="250" autoRev="1" fill="remove"/>
                                        <p:tgtEl>
                                          <p:spTgt spid="4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250" autoRev="1" fill="remove"/>
                                        <p:tgtEl>
                                          <p:spTgt spid="4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4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4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4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4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48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48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48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48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48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6" dur="2000" fill="hold"/>
                                        <p:tgtEl>
                                          <p:spTgt spid="4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4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4" dur="2000" fill="hold"/>
                                        <p:tgtEl>
                                          <p:spTgt spid="4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4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5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4.44444E-6 L -0.05664 0.38796 " pathEditMode="relative" rAng="0" ptsTypes="AA">
                                      <p:cBhvr>
                                        <p:cTn id="106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839" y="1939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0" dur="2000" fill="hold"/>
                                        <p:tgtEl>
                                          <p:spTgt spid="4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4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1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2" dur="2000" fill="hold"/>
                                        <p:tgtEl>
                                          <p:spTgt spid="48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4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3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14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8" dur="2000" fill="hold"/>
                                        <p:tgtEl>
                                          <p:spTgt spid="48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4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9" presetID="34" presetClass="emph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20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21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22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23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24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0" dur="500"/>
                                        <p:tgtEl>
                                          <p:spTgt spid="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4" dur="2000" fill="hold"/>
                                        <p:tgtEl>
                                          <p:spTgt spid="48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4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5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5664 0.38796 L -0.20755 0.38819 " pathEditMode="relative" rAng="0" ptsTypes="AA">
                                      <p:cBhvr>
                                        <p:cTn id="136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55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0" dur="2000" fill="hold"/>
                                        <p:tgtEl>
                                          <p:spTgt spid="4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92D05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1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2" dur="2000" fill="hold"/>
                                        <p:tgtEl>
                                          <p:spTgt spid="48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92D05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3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44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8" dur="2000" fill="hold"/>
                                        <p:tgtEl>
                                          <p:spTgt spid="48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92D05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9" presetID="34" presetClass="emph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0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51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52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53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54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0" dur="2000" fill="hold"/>
                                        <p:tgtEl>
                                          <p:spTgt spid="48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92D05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1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0755 0.38819 L -0.36888 0.38819 " pathEditMode="relative" rAng="0" ptsTypes="AA">
                                      <p:cBhvr>
                                        <p:cTn id="162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07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6" dur="2000" fill="hold"/>
                                        <p:tgtEl>
                                          <p:spTgt spid="4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C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7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8" dur="2000" fill="hold"/>
                                        <p:tgtEl>
                                          <p:spTgt spid="48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C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9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70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4" dur="2000" fill="hold"/>
                                        <p:tgtEl>
                                          <p:spTgt spid="48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C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5" presetID="34" presetClass="emph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7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7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8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8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7" dur="2000" fill="hold"/>
                                        <p:tgtEl>
                                          <p:spTgt spid="48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C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8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9" dur="2000" fill="hold"/>
                                        <p:tgtEl>
                                          <p:spTgt spid="48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C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0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1" dur="2000" fill="hold"/>
                                        <p:tgtEl>
                                          <p:spTgt spid="48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C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2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36888 0.38819 L 3.54167E-6 4.81481E-6 " pathEditMode="relative" rAng="0" ptsTypes="AA">
                                      <p:cBhvr>
                                        <p:cTn id="193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073" y="-1949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" grpId="0" uiExpand="1" build="p"/>
      <p:bldP spid="17" grpId="0" animBg="1"/>
      <p:bldP spid="17" grpId="1" animBg="1"/>
      <p:bldP spid="18" grpId="0" animBg="1"/>
      <p:bldP spid="18" grpId="1" animBg="1"/>
      <p:bldP spid="19" grpId="0" animBg="1"/>
      <p:bldP spid="19" grpId="1" animBg="1"/>
      <p:bldP spid="480" grpId="0" animBg="1"/>
      <p:bldP spid="35" grpId="0" animBg="1"/>
      <p:bldP spid="3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Shape 488"/>
          <p:cNvSpPr txBox="1">
            <a:spLocks noGrp="1"/>
          </p:cNvSpPr>
          <p:nvPr>
            <p:ph type="title"/>
          </p:nvPr>
        </p:nvSpPr>
        <p:spPr>
          <a:xfrm>
            <a:off x="301175" y="92050"/>
            <a:ext cx="10515600" cy="75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</a:pPr>
            <a:r>
              <a:rPr lang="ru-RU" sz="4000" b="1" i="0" u="none" strike="noStrike" cap="none" dirty="0" smtClean="0">
                <a:latin typeface="Arial"/>
                <a:ea typeface="Arial"/>
                <a:cs typeface="Arial"/>
                <a:sym typeface="Arial"/>
              </a:rPr>
              <a:t>УПОРЯДОЧИВАН</a:t>
            </a:r>
            <a:r>
              <a:rPr lang="ru-RU" sz="4000" b="1" cap="none" dirty="0" smtClean="0">
                <a:latin typeface="Arial"/>
                <a:ea typeface="Arial"/>
                <a:cs typeface="Arial"/>
                <a:sym typeface="Arial"/>
              </a:rPr>
              <a:t>ИЕ ПО НЕУБЫВАНИЮ</a:t>
            </a:r>
            <a:endParaRPr lang="ru-RU" sz="4000" cap="none" dirty="0"/>
          </a:p>
        </p:txBody>
      </p:sp>
      <p:sp>
        <p:nvSpPr>
          <p:cNvPr id="487" name="Shape 487"/>
          <p:cNvSpPr txBox="1">
            <a:spLocks noGrp="1"/>
          </p:cNvSpPr>
          <p:nvPr>
            <p:ph idx="1"/>
          </p:nvPr>
        </p:nvSpPr>
        <p:spPr>
          <a:xfrm>
            <a:off x="503350" y="993808"/>
            <a:ext cx="3572900" cy="62070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None/>
            </a:pPr>
            <a:r>
              <a:rPr lang="en-US" i="0" u="none" strike="noStrike" cap="none" dirty="0"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void </a:t>
            </a:r>
            <a:r>
              <a:rPr lang="en-US" i="0" u="none" strike="noStrike" cap="none" dirty="0" err="1"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order_list</a:t>
            </a:r>
            <a:r>
              <a:rPr lang="en-US" i="0" u="none" strike="noStrike" cap="none" dirty="0"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(node* top)</a:t>
            </a:r>
            <a:endParaRPr i="0" u="none" strike="noStrike" cap="none" dirty="0">
              <a:latin typeface="Arial" panose="020B0604020202020204" pitchFamily="34" charset="0"/>
              <a:ea typeface="Trebuchet MS"/>
              <a:cs typeface="Arial" panose="020B0604020202020204" pitchFamily="34" charset="0"/>
              <a:sym typeface="Trebuchet MS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None/>
            </a:pPr>
            <a:r>
              <a:rPr lang="en-US" i="0" u="none" strike="noStrike" cap="none" dirty="0" smtClean="0"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{    </a:t>
            </a:r>
            <a:r>
              <a:rPr lang="en-US" i="0" u="none" strike="noStrike" cap="none" dirty="0"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node* p, *q;</a:t>
            </a:r>
            <a:endParaRPr i="0" u="none" strike="noStrike" cap="none" dirty="0">
              <a:latin typeface="Arial" panose="020B0604020202020204" pitchFamily="34" charset="0"/>
              <a:ea typeface="Trebuchet MS"/>
              <a:cs typeface="Arial" panose="020B0604020202020204" pitchFamily="34" charset="0"/>
              <a:sym typeface="Trebuchet MS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None/>
            </a:pPr>
            <a:r>
              <a:rPr lang="en-US" i="0" u="none" strike="noStrike" cap="none" dirty="0"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      </a:t>
            </a:r>
            <a:r>
              <a:rPr lang="en-US" i="0" u="none" strike="noStrike" cap="none" dirty="0" err="1"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int</a:t>
            </a:r>
            <a:r>
              <a:rPr lang="en-US" i="0" u="none" strike="noStrike" cap="none" dirty="0"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 r;</a:t>
            </a:r>
            <a:endParaRPr i="0" u="none" strike="noStrike" cap="none" dirty="0">
              <a:latin typeface="Arial" panose="020B0604020202020204" pitchFamily="34" charset="0"/>
              <a:ea typeface="Trebuchet MS"/>
              <a:cs typeface="Arial" panose="020B0604020202020204" pitchFamily="34" charset="0"/>
              <a:sym typeface="Trebuchet MS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None/>
            </a:pPr>
            <a:r>
              <a:rPr lang="en-US" i="0" u="none" strike="noStrike" cap="none" dirty="0"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       p=top;</a:t>
            </a:r>
            <a:endParaRPr i="0" u="none" strike="noStrike" cap="none" dirty="0">
              <a:latin typeface="Arial" panose="020B0604020202020204" pitchFamily="34" charset="0"/>
              <a:ea typeface="Trebuchet MS"/>
              <a:cs typeface="Arial" panose="020B0604020202020204" pitchFamily="34" charset="0"/>
              <a:sym typeface="Trebuchet MS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None/>
            </a:pPr>
            <a:r>
              <a:rPr lang="en-US" i="0" u="none" strike="noStrike" cap="none" dirty="0"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    while (p-&gt;next)</a:t>
            </a:r>
            <a:endParaRPr i="0" u="none" strike="noStrike" cap="none" dirty="0">
              <a:latin typeface="Arial" panose="020B0604020202020204" pitchFamily="34" charset="0"/>
              <a:ea typeface="Trebuchet MS"/>
              <a:cs typeface="Arial" panose="020B0604020202020204" pitchFamily="34" charset="0"/>
              <a:sym typeface="Trebuchet MS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None/>
            </a:pPr>
            <a:r>
              <a:rPr lang="en-US" i="0" u="none" strike="noStrike" cap="none" dirty="0"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	</a:t>
            </a:r>
            <a:r>
              <a:rPr lang="en-US" i="0" u="none" strike="noStrike" cap="none" dirty="0" smtClean="0"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{ </a:t>
            </a:r>
            <a:r>
              <a:rPr lang="en-US" i="0" u="none" strike="noStrike" cap="none" dirty="0"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q=p-&gt;next;</a:t>
            </a:r>
            <a:endParaRPr i="0" u="none" strike="noStrike" cap="none" dirty="0">
              <a:latin typeface="Arial" panose="020B0604020202020204" pitchFamily="34" charset="0"/>
              <a:ea typeface="Trebuchet MS"/>
              <a:cs typeface="Arial" panose="020B0604020202020204" pitchFamily="34" charset="0"/>
              <a:sym typeface="Trebuchet MS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None/>
            </a:pPr>
            <a:r>
              <a:rPr lang="en-US" i="0" u="none" strike="noStrike" cap="none" dirty="0"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	</a:t>
            </a:r>
            <a:r>
              <a:rPr lang="ru-RU" i="0" u="none" strike="noStrike" cap="none" dirty="0" smtClean="0"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   </a:t>
            </a:r>
            <a:r>
              <a:rPr lang="en-US" i="0" u="none" strike="noStrike" cap="none" dirty="0" smtClean="0"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 </a:t>
            </a:r>
            <a:r>
              <a:rPr lang="en-US" i="0" u="none" strike="noStrike" cap="none" dirty="0"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while(q)</a:t>
            </a:r>
            <a:endParaRPr i="0" u="none" strike="noStrike" cap="none" dirty="0">
              <a:latin typeface="Arial" panose="020B0604020202020204" pitchFamily="34" charset="0"/>
              <a:ea typeface="Trebuchet MS"/>
              <a:cs typeface="Arial" panose="020B0604020202020204" pitchFamily="34" charset="0"/>
              <a:sym typeface="Trebuchet MS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None/>
            </a:pPr>
            <a:r>
              <a:rPr lang="en-US" i="0" u="none" strike="noStrike" cap="none" dirty="0"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	</a:t>
            </a:r>
            <a:r>
              <a:rPr lang="en-US" i="0" u="none" strike="noStrike" cap="none" dirty="0" smtClean="0"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 </a:t>
            </a:r>
            <a:r>
              <a:rPr lang="ru-RU" i="0" u="none" strike="noStrike" cap="none" dirty="0" smtClean="0"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  </a:t>
            </a:r>
            <a:r>
              <a:rPr lang="en-US" i="0" u="none" strike="noStrike" cap="none" dirty="0" smtClean="0"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  </a:t>
            </a:r>
            <a:r>
              <a:rPr lang="ru-RU" i="0" u="none" strike="noStrike" cap="none" dirty="0" smtClean="0"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  </a:t>
            </a:r>
            <a:r>
              <a:rPr lang="en-US" i="0" u="none" strike="noStrike" cap="none" dirty="0" smtClean="0"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{  </a:t>
            </a:r>
            <a:r>
              <a:rPr lang="en-US" i="0" u="none" strike="noStrike" cap="none" dirty="0"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if (p-&gt;data&gt;q-&gt;data)</a:t>
            </a:r>
            <a:endParaRPr i="0" u="none" strike="noStrike" cap="none" dirty="0">
              <a:latin typeface="Arial" panose="020B0604020202020204" pitchFamily="34" charset="0"/>
              <a:ea typeface="Trebuchet MS"/>
              <a:cs typeface="Arial" panose="020B0604020202020204" pitchFamily="34" charset="0"/>
              <a:sym typeface="Trebuchet MS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None/>
            </a:pPr>
            <a:r>
              <a:rPr lang="en-US" i="0" u="none" strike="noStrike" cap="none" dirty="0"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		</a:t>
            </a:r>
            <a:r>
              <a:rPr lang="en-US" i="0" u="none" strike="noStrike" cap="none" dirty="0" smtClean="0"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 {</a:t>
            </a:r>
            <a:r>
              <a:rPr lang="ru-RU" i="0" u="none" strike="noStrike" cap="none" dirty="0" smtClean="0"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 </a:t>
            </a:r>
            <a:r>
              <a:rPr lang="en-US" i="0" u="none" strike="noStrike" cap="none" dirty="0" smtClean="0"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 </a:t>
            </a:r>
            <a:r>
              <a:rPr lang="en-US" i="0" u="none" strike="noStrike" cap="none" dirty="0"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r=p-&gt;data;</a:t>
            </a:r>
            <a:endParaRPr i="0" u="none" strike="noStrike" cap="none" dirty="0">
              <a:latin typeface="Arial" panose="020B0604020202020204" pitchFamily="34" charset="0"/>
              <a:ea typeface="Trebuchet MS"/>
              <a:cs typeface="Arial" panose="020B0604020202020204" pitchFamily="34" charset="0"/>
              <a:sym typeface="Trebuchet MS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None/>
            </a:pPr>
            <a:r>
              <a:rPr lang="en-US" i="0" u="none" strike="noStrike" cap="none" dirty="0"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		</a:t>
            </a:r>
            <a:r>
              <a:rPr lang="ru-RU" i="0" u="none" strike="noStrike" cap="none" dirty="0" smtClean="0"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  </a:t>
            </a:r>
            <a:r>
              <a:rPr lang="en-US" i="0" u="none" strike="noStrike" cap="none" dirty="0" smtClean="0"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  </a:t>
            </a:r>
            <a:r>
              <a:rPr lang="en-US" i="0" u="none" strike="noStrike" cap="none" dirty="0"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p-&gt;data=q-&gt;data;</a:t>
            </a:r>
            <a:endParaRPr i="0" u="none" strike="noStrike" cap="none" dirty="0">
              <a:latin typeface="Arial" panose="020B0604020202020204" pitchFamily="34" charset="0"/>
              <a:ea typeface="Trebuchet MS"/>
              <a:cs typeface="Arial" panose="020B0604020202020204" pitchFamily="34" charset="0"/>
              <a:sym typeface="Trebuchet MS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None/>
            </a:pPr>
            <a:r>
              <a:rPr lang="en-US" i="0" u="none" strike="noStrike" cap="none" dirty="0"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		</a:t>
            </a:r>
            <a:r>
              <a:rPr lang="ru-RU" i="0" u="none" strike="noStrike" cap="none" dirty="0" smtClean="0"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 </a:t>
            </a:r>
            <a:r>
              <a:rPr lang="en-US" i="0" u="none" strike="noStrike" cap="none" dirty="0" smtClean="0"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   </a:t>
            </a:r>
            <a:r>
              <a:rPr lang="en-US" i="0" u="none" strike="noStrike" cap="none" dirty="0"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q-&gt;data=r;</a:t>
            </a:r>
            <a:endParaRPr i="0" u="none" strike="noStrike" cap="none" dirty="0">
              <a:latin typeface="Arial" panose="020B0604020202020204" pitchFamily="34" charset="0"/>
              <a:ea typeface="Trebuchet MS"/>
              <a:cs typeface="Arial" panose="020B0604020202020204" pitchFamily="34" charset="0"/>
              <a:sym typeface="Trebuchet MS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None/>
            </a:pPr>
            <a:r>
              <a:rPr lang="en-US" i="0" u="none" strike="noStrike" cap="none" dirty="0"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	</a:t>
            </a:r>
            <a:r>
              <a:rPr lang="ru-RU" i="0" u="none" strike="noStrike" cap="none" dirty="0" smtClean="0"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    </a:t>
            </a:r>
            <a:r>
              <a:rPr lang="en-US" i="0" u="none" strike="noStrike" cap="none" dirty="0" smtClean="0"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  </a:t>
            </a:r>
            <a:r>
              <a:rPr lang="ru-RU" i="0" u="none" strike="noStrike" cap="none" dirty="0" smtClean="0"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   </a:t>
            </a:r>
            <a:r>
              <a:rPr lang="en-US" i="0" u="none" strike="noStrike" cap="none" dirty="0" smtClean="0"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 </a:t>
            </a:r>
            <a:r>
              <a:rPr lang="en-US" i="0" u="none" strike="noStrike" cap="none" dirty="0"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}</a:t>
            </a:r>
            <a:endParaRPr i="0" u="none" strike="noStrike" cap="none" dirty="0">
              <a:latin typeface="Arial" panose="020B0604020202020204" pitchFamily="34" charset="0"/>
              <a:ea typeface="Trebuchet MS"/>
              <a:cs typeface="Arial" panose="020B0604020202020204" pitchFamily="34" charset="0"/>
              <a:sym typeface="Trebuchet MS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None/>
            </a:pPr>
            <a:r>
              <a:rPr lang="en-US" i="0" u="none" strike="noStrike" cap="none" dirty="0"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	</a:t>
            </a:r>
            <a:r>
              <a:rPr lang="ru-RU" i="0" u="none" strike="noStrike" cap="none" dirty="0" smtClean="0"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   </a:t>
            </a:r>
            <a:r>
              <a:rPr lang="en-US" i="0" u="none" strike="noStrike" cap="none" dirty="0" smtClean="0"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  </a:t>
            </a:r>
            <a:r>
              <a:rPr lang="ru-RU" i="0" u="none" strike="noStrike" cap="none" dirty="0" smtClean="0"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     </a:t>
            </a:r>
            <a:r>
              <a:rPr lang="en-US" i="0" u="none" strike="noStrike" cap="none" dirty="0" smtClean="0"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q=q-</a:t>
            </a:r>
            <a:r>
              <a:rPr lang="en-US" i="0" u="none" strike="noStrike" cap="none" dirty="0"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&gt;next;</a:t>
            </a:r>
            <a:endParaRPr i="0" u="none" strike="noStrike" cap="none" dirty="0">
              <a:latin typeface="Arial" panose="020B0604020202020204" pitchFamily="34" charset="0"/>
              <a:ea typeface="Trebuchet MS"/>
              <a:cs typeface="Arial" panose="020B0604020202020204" pitchFamily="34" charset="0"/>
              <a:sym typeface="Trebuchet MS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None/>
            </a:pPr>
            <a:r>
              <a:rPr lang="ru-RU" dirty="0"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 </a:t>
            </a:r>
            <a:r>
              <a:rPr lang="ru-RU" dirty="0" smtClean="0"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           </a:t>
            </a:r>
            <a:r>
              <a:rPr lang="en-US" i="0" u="none" strike="noStrike" cap="none" dirty="0" smtClean="0"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 </a:t>
            </a:r>
            <a:r>
              <a:rPr lang="ru-RU" i="0" u="none" strike="noStrike" cap="none" dirty="0" smtClean="0"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   </a:t>
            </a:r>
            <a:r>
              <a:rPr lang="en-US" i="0" u="none" strike="noStrike" cap="none" dirty="0" smtClean="0"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}</a:t>
            </a:r>
            <a:endParaRPr i="0" u="none" strike="noStrike" cap="none" dirty="0">
              <a:latin typeface="Arial" panose="020B0604020202020204" pitchFamily="34" charset="0"/>
              <a:ea typeface="Trebuchet MS"/>
              <a:cs typeface="Arial" panose="020B0604020202020204" pitchFamily="34" charset="0"/>
              <a:sym typeface="Trebuchet MS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None/>
            </a:pPr>
            <a:r>
              <a:rPr lang="en-US" i="0" u="none" strike="noStrike" cap="none" dirty="0"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	</a:t>
            </a:r>
            <a:r>
              <a:rPr lang="ru-RU" i="0" u="none" strike="noStrike" cap="none" dirty="0" smtClean="0"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   </a:t>
            </a:r>
            <a:r>
              <a:rPr lang="en-US" i="0" u="none" strike="noStrike" cap="none" dirty="0" smtClean="0"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p=p-</a:t>
            </a:r>
            <a:r>
              <a:rPr lang="en-US" i="0" u="none" strike="noStrike" cap="none" dirty="0"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&gt;next;</a:t>
            </a:r>
            <a:endParaRPr i="0" u="none" strike="noStrike" cap="none" dirty="0">
              <a:latin typeface="Arial" panose="020B0604020202020204" pitchFamily="34" charset="0"/>
              <a:ea typeface="Trebuchet MS"/>
              <a:cs typeface="Arial" panose="020B0604020202020204" pitchFamily="34" charset="0"/>
              <a:sym typeface="Trebuchet MS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None/>
            </a:pPr>
            <a:r>
              <a:rPr lang="en-US" i="0" u="none" strike="noStrike" cap="none" dirty="0"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	}  </a:t>
            </a:r>
            <a:endParaRPr i="0" u="none" strike="noStrike" cap="none" dirty="0">
              <a:latin typeface="Arial" panose="020B0604020202020204" pitchFamily="34" charset="0"/>
              <a:ea typeface="Trebuchet MS"/>
              <a:cs typeface="Arial" panose="020B0604020202020204" pitchFamily="34" charset="0"/>
              <a:sym typeface="Trebuchet MS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None/>
            </a:pPr>
            <a:r>
              <a:rPr lang="en-US" i="0" u="none" strike="noStrike" cap="none" dirty="0">
                <a:latin typeface="Arial" panose="020B0604020202020204" pitchFamily="34" charset="0"/>
                <a:ea typeface="Trebuchet MS"/>
                <a:cs typeface="Arial" panose="020B0604020202020204" pitchFamily="34" charset="0"/>
                <a:sym typeface="Trebuchet MS"/>
              </a:rPr>
              <a:t>}</a:t>
            </a:r>
            <a:endParaRPr i="0" u="none" strike="noStrike" cap="none" dirty="0">
              <a:latin typeface="Arial" panose="020B0604020202020204" pitchFamily="34" charset="0"/>
              <a:ea typeface="Trebuchet MS"/>
              <a:cs typeface="Arial" panose="020B0604020202020204" pitchFamily="34" charset="0"/>
              <a:sym typeface="Trebuchet MS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None/>
            </a:pPr>
            <a:endParaRPr i="0" u="none" strike="noStrike" cap="none" dirty="0">
              <a:latin typeface="Arial" panose="020B0604020202020204" pitchFamily="34" charset="0"/>
              <a:ea typeface="Trebuchet MS"/>
              <a:cs typeface="Arial" panose="020B0604020202020204" pitchFamily="34" charset="0"/>
              <a:sym typeface="Trebuchet MS"/>
            </a:endParaRPr>
          </a:p>
        </p:txBody>
      </p:sp>
      <p:graphicFrame>
        <p:nvGraphicFramePr>
          <p:cNvPr id="4" name="Shape 280"/>
          <p:cNvGraphicFramePr/>
          <p:nvPr>
            <p:extLst>
              <p:ext uri="{D42A27DB-BD31-4B8C-83A1-F6EECF244321}">
                <p14:modId xmlns:p14="http://schemas.microsoft.com/office/powerpoint/2010/main" val="467544295"/>
              </p:ext>
            </p:extLst>
          </p:nvPr>
        </p:nvGraphicFramePr>
        <p:xfrm>
          <a:off x="5291872" y="2787715"/>
          <a:ext cx="1460675" cy="1849602"/>
        </p:xfrm>
        <a:graphic>
          <a:graphicData uri="http://schemas.openxmlformats.org/drawingml/2006/table">
            <a:tbl>
              <a:tblPr>
                <a:noFill/>
                <a:tableStyleId>{A658CFA3-1ECF-4F86-BB5C-CF7618A15973}</a:tableStyleId>
              </a:tblPr>
              <a:tblGrid>
                <a:gridCol w="1460675"/>
              </a:tblGrid>
              <a:tr h="61653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 b="1" dirty="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5996" marB="95996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C78D8"/>
                    </a:solidFill>
                  </a:tcPr>
                </a:tc>
              </a:tr>
              <a:tr h="61653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 dirty="0"/>
                    </a:p>
                  </a:txBody>
                  <a:tcPr marL="91425" marR="91425" marT="95996" marB="95996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D9EEB"/>
                    </a:solidFill>
                  </a:tcPr>
                </a:tc>
              </a:tr>
              <a:tr h="61653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 dirty="0"/>
                    </a:p>
                  </a:txBody>
                  <a:tcPr marL="91425" marR="91425" marT="95996" marB="95996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</a:tr>
            </a:tbl>
          </a:graphicData>
        </a:graphic>
      </p:graphicFrame>
      <p:cxnSp>
        <p:nvCxnSpPr>
          <p:cNvPr id="5" name="Shape 281"/>
          <p:cNvCxnSpPr/>
          <p:nvPr/>
        </p:nvCxnSpPr>
        <p:spPr>
          <a:xfrm flipH="1">
            <a:off x="6752681" y="4373069"/>
            <a:ext cx="895500" cy="819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6" name="Shape 282"/>
          <p:cNvCxnSpPr/>
          <p:nvPr/>
        </p:nvCxnSpPr>
        <p:spPr>
          <a:xfrm rot="10800000" flipH="1">
            <a:off x="6775356" y="3744396"/>
            <a:ext cx="891000" cy="378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stealth" w="med" len="med"/>
          </a:ln>
        </p:spPr>
      </p:cxnSp>
      <p:graphicFrame>
        <p:nvGraphicFramePr>
          <p:cNvPr id="7" name="Shape 283"/>
          <p:cNvGraphicFramePr/>
          <p:nvPr>
            <p:extLst>
              <p:ext uri="{D42A27DB-BD31-4B8C-83A1-F6EECF244321}">
                <p14:modId xmlns:p14="http://schemas.microsoft.com/office/powerpoint/2010/main" val="4198699560"/>
              </p:ext>
            </p:extLst>
          </p:nvPr>
        </p:nvGraphicFramePr>
        <p:xfrm>
          <a:off x="7683722" y="2787728"/>
          <a:ext cx="1460675" cy="1849602"/>
        </p:xfrm>
        <a:graphic>
          <a:graphicData uri="http://schemas.openxmlformats.org/drawingml/2006/table">
            <a:tbl>
              <a:tblPr>
                <a:noFill/>
                <a:tableStyleId>{A658CFA3-1ECF-4F86-BB5C-CF7618A15973}</a:tableStyleId>
              </a:tblPr>
              <a:tblGrid>
                <a:gridCol w="1460675"/>
              </a:tblGrid>
              <a:tr h="61653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 b="1" dirty="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5996" marB="95996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C78D8"/>
                    </a:solidFill>
                  </a:tcPr>
                </a:tc>
              </a:tr>
              <a:tr h="61653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/>
                    </a:p>
                  </a:txBody>
                  <a:tcPr marL="91425" marR="91425" marT="95996" marB="95996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D9EEB"/>
                    </a:solidFill>
                  </a:tcPr>
                </a:tc>
              </a:tr>
              <a:tr h="61653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 dirty="0"/>
                    </a:p>
                  </a:txBody>
                  <a:tcPr marL="91425" marR="91425" marT="95996" marB="95996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Shape 284"/>
          <p:cNvGraphicFramePr/>
          <p:nvPr>
            <p:extLst>
              <p:ext uri="{D42A27DB-BD31-4B8C-83A1-F6EECF244321}">
                <p14:modId xmlns:p14="http://schemas.microsoft.com/office/powerpoint/2010/main" val="3001781169"/>
              </p:ext>
            </p:extLst>
          </p:nvPr>
        </p:nvGraphicFramePr>
        <p:xfrm>
          <a:off x="10075559" y="2787741"/>
          <a:ext cx="1460675" cy="1849602"/>
        </p:xfrm>
        <a:graphic>
          <a:graphicData uri="http://schemas.openxmlformats.org/drawingml/2006/table">
            <a:tbl>
              <a:tblPr>
                <a:noFill/>
                <a:tableStyleId>{A658CFA3-1ECF-4F86-BB5C-CF7618A15973}</a:tableStyleId>
              </a:tblPr>
              <a:tblGrid>
                <a:gridCol w="1460675"/>
              </a:tblGrid>
              <a:tr h="61653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 b="1" dirty="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5996" marB="95996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C78D8"/>
                    </a:solidFill>
                  </a:tcPr>
                </a:tc>
              </a:tr>
              <a:tr h="61653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 dirty="0"/>
                    </a:p>
                  </a:txBody>
                  <a:tcPr marL="91425" marR="91425" marT="95996" marB="95996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D9EEB"/>
                    </a:solidFill>
                  </a:tcPr>
                </a:tc>
              </a:tr>
              <a:tr h="61653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 dirty="0"/>
                    </a:p>
                  </a:txBody>
                  <a:tcPr marL="91425" marR="91425" marT="95996" marB="95996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</a:tr>
            </a:tbl>
          </a:graphicData>
        </a:graphic>
      </p:graphicFrame>
      <p:cxnSp>
        <p:nvCxnSpPr>
          <p:cNvPr id="9" name="Shape 285"/>
          <p:cNvCxnSpPr/>
          <p:nvPr/>
        </p:nvCxnSpPr>
        <p:spPr>
          <a:xfrm flipH="1">
            <a:off x="9161781" y="4368069"/>
            <a:ext cx="895500" cy="819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0" name="Shape 286"/>
          <p:cNvCxnSpPr/>
          <p:nvPr/>
        </p:nvCxnSpPr>
        <p:spPr>
          <a:xfrm rot="10800000" flipH="1">
            <a:off x="9184456" y="3739394"/>
            <a:ext cx="891000" cy="378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stealth" w="med" len="med"/>
          </a:ln>
        </p:spPr>
      </p:cxnSp>
      <p:grpSp>
        <p:nvGrpSpPr>
          <p:cNvPr id="11" name="Группа 10"/>
          <p:cNvGrpSpPr/>
          <p:nvPr/>
        </p:nvGrpSpPr>
        <p:grpSpPr>
          <a:xfrm>
            <a:off x="10886949" y="1581887"/>
            <a:ext cx="1057119" cy="1125066"/>
            <a:chOff x="5806662" y="2252524"/>
            <a:chExt cx="701234" cy="1071491"/>
          </a:xfrm>
        </p:grpSpPr>
        <p:cxnSp>
          <p:nvCxnSpPr>
            <p:cNvPr id="12" name="Shape 289"/>
            <p:cNvCxnSpPr/>
            <p:nvPr/>
          </p:nvCxnSpPr>
          <p:spPr>
            <a:xfrm rot="5400000">
              <a:off x="5450262" y="2966115"/>
              <a:ext cx="714300" cy="1500"/>
            </a:xfrm>
            <a:prstGeom prst="straightConnector1">
              <a:avLst/>
            </a:prstGeom>
            <a:noFill/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13" name="Shape 290"/>
            <p:cNvSpPr txBox="1"/>
            <p:nvPr/>
          </p:nvSpPr>
          <p:spPr>
            <a:xfrm>
              <a:off x="5816996" y="2252524"/>
              <a:ext cx="6909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 dirty="0" smtClean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end</a:t>
              </a:r>
              <a:endParaRPr sz="28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" name="Shape 215"/>
          <p:cNvSpPr txBox="1"/>
          <p:nvPr/>
        </p:nvSpPr>
        <p:spPr>
          <a:xfrm>
            <a:off x="5829787" y="2891685"/>
            <a:ext cx="360040" cy="445631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28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Shape 216"/>
          <p:cNvSpPr txBox="1"/>
          <p:nvPr/>
        </p:nvSpPr>
        <p:spPr>
          <a:xfrm>
            <a:off x="10630198" y="2882142"/>
            <a:ext cx="360040" cy="445631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28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Shape 216"/>
          <p:cNvSpPr txBox="1"/>
          <p:nvPr/>
        </p:nvSpPr>
        <p:spPr>
          <a:xfrm>
            <a:off x="8241248" y="2902911"/>
            <a:ext cx="360040" cy="445631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8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" name="Рисунок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1856" y="4036987"/>
            <a:ext cx="1396105" cy="678544"/>
          </a:xfrm>
          <a:prstGeom prst="rect">
            <a:avLst/>
          </a:prstGeom>
        </p:spPr>
      </p:pic>
      <p:pic>
        <p:nvPicPr>
          <p:cNvPr id="18" name="Рисунок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7454" y="3407014"/>
            <a:ext cx="1396105" cy="678544"/>
          </a:xfrm>
          <a:prstGeom prst="rect">
            <a:avLst/>
          </a:prstGeom>
        </p:spPr>
      </p:pic>
      <p:grpSp>
        <p:nvGrpSpPr>
          <p:cNvPr id="19" name="Группа 18"/>
          <p:cNvGrpSpPr/>
          <p:nvPr/>
        </p:nvGrpSpPr>
        <p:grpSpPr>
          <a:xfrm>
            <a:off x="5594353" y="1581887"/>
            <a:ext cx="1057119" cy="1125066"/>
            <a:chOff x="5806662" y="2252524"/>
            <a:chExt cx="701234" cy="1071491"/>
          </a:xfrm>
        </p:grpSpPr>
        <p:cxnSp>
          <p:nvCxnSpPr>
            <p:cNvPr id="20" name="Shape 289"/>
            <p:cNvCxnSpPr/>
            <p:nvPr/>
          </p:nvCxnSpPr>
          <p:spPr>
            <a:xfrm rot="5400000">
              <a:off x="5450262" y="2966115"/>
              <a:ext cx="714300" cy="1500"/>
            </a:xfrm>
            <a:prstGeom prst="straightConnector1">
              <a:avLst/>
            </a:prstGeom>
            <a:noFill/>
            <a:ln w="38100" cap="flat" cmpd="sng">
              <a:solidFill>
                <a:srgbClr val="FF0000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21" name="Shape 290"/>
            <p:cNvSpPr txBox="1"/>
            <p:nvPr/>
          </p:nvSpPr>
          <p:spPr>
            <a:xfrm>
              <a:off x="5816996" y="2252524"/>
              <a:ext cx="6909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 dirty="0" smtClean="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top</a:t>
              </a:r>
              <a:endParaRPr sz="2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" name="Группа 21"/>
          <p:cNvGrpSpPr/>
          <p:nvPr/>
        </p:nvGrpSpPr>
        <p:grpSpPr>
          <a:xfrm>
            <a:off x="9716037" y="543489"/>
            <a:ext cx="474756" cy="1125066"/>
            <a:chOff x="5806662" y="2252524"/>
            <a:chExt cx="701234" cy="1071491"/>
          </a:xfrm>
        </p:grpSpPr>
        <p:cxnSp>
          <p:nvCxnSpPr>
            <p:cNvPr id="23" name="Shape 289"/>
            <p:cNvCxnSpPr/>
            <p:nvPr/>
          </p:nvCxnSpPr>
          <p:spPr>
            <a:xfrm rot="5400000">
              <a:off x="5450262" y="2966115"/>
              <a:ext cx="714300" cy="1500"/>
            </a:xfrm>
            <a:prstGeom prst="straightConnector1">
              <a:avLst/>
            </a:prstGeom>
            <a:noFill/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24" name="Shape 290"/>
            <p:cNvSpPr txBox="1"/>
            <p:nvPr/>
          </p:nvSpPr>
          <p:spPr>
            <a:xfrm>
              <a:off x="5816996" y="2252524"/>
              <a:ext cx="6909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</a:t>
              </a:r>
              <a:endParaRPr sz="28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" name="Группа 24"/>
          <p:cNvGrpSpPr/>
          <p:nvPr/>
        </p:nvGrpSpPr>
        <p:grpSpPr>
          <a:xfrm>
            <a:off x="10197451" y="556661"/>
            <a:ext cx="474756" cy="1125066"/>
            <a:chOff x="5806662" y="2252524"/>
            <a:chExt cx="701234" cy="1071491"/>
          </a:xfrm>
        </p:grpSpPr>
        <p:cxnSp>
          <p:nvCxnSpPr>
            <p:cNvPr id="26" name="Shape 289"/>
            <p:cNvCxnSpPr/>
            <p:nvPr/>
          </p:nvCxnSpPr>
          <p:spPr>
            <a:xfrm rot="5400000">
              <a:off x="5450262" y="2966115"/>
              <a:ext cx="714300" cy="1500"/>
            </a:xfrm>
            <a:prstGeom prst="straightConnector1">
              <a:avLst/>
            </a:prstGeom>
            <a:noFill/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27" name="Shape 290"/>
            <p:cNvSpPr txBox="1"/>
            <p:nvPr/>
          </p:nvSpPr>
          <p:spPr>
            <a:xfrm>
              <a:off x="5816996" y="2252524"/>
              <a:ext cx="6909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 dirty="0" smtClean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q</a:t>
              </a:r>
              <a:endParaRPr sz="28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" name="TextBox 27"/>
          <p:cNvSpPr txBox="1"/>
          <p:nvPr/>
        </p:nvSpPr>
        <p:spPr>
          <a:xfrm>
            <a:off x="10508857" y="5107829"/>
            <a:ext cx="6992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chemeClr val="tx1"/>
                </a:solidFill>
              </a:rPr>
              <a:t>r</a:t>
            </a:r>
            <a:r>
              <a:rPr lang="en-US" sz="3200" b="1" dirty="0" smtClean="0">
                <a:solidFill>
                  <a:schemeClr val="tx1"/>
                </a:solidFill>
              </a:rPr>
              <a:t> =</a:t>
            </a:r>
            <a:endParaRPr lang="ru-RU" sz="3200" b="1" dirty="0">
              <a:solidFill>
                <a:schemeClr val="tx1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202229" y="5774449"/>
            <a:ext cx="200728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chemeClr val="tx1"/>
                </a:solidFill>
              </a:rPr>
              <a:t>q</a:t>
            </a:r>
            <a:r>
              <a:rPr lang="en-US" sz="3200" b="1" dirty="0" smtClean="0">
                <a:solidFill>
                  <a:schemeClr val="tx1"/>
                </a:solidFill>
              </a:rPr>
              <a:t>-&gt;data =</a:t>
            </a:r>
            <a:endParaRPr lang="ru-RU" sz="3200" b="1" dirty="0">
              <a:solidFill>
                <a:schemeClr val="tx1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9200809" y="6363328"/>
            <a:ext cx="200728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solidFill>
                  <a:schemeClr val="tx1"/>
                </a:solidFill>
              </a:rPr>
              <a:t>p-&gt;data =</a:t>
            </a:r>
            <a:endParaRPr lang="ru-RU" sz="3200" b="1" dirty="0">
              <a:solidFill>
                <a:schemeClr val="tx1"/>
              </a:solidFill>
            </a:endParaRPr>
          </a:p>
        </p:txBody>
      </p:sp>
      <p:sp>
        <p:nvSpPr>
          <p:cNvPr id="31" name="Shape 215"/>
          <p:cNvSpPr txBox="1"/>
          <p:nvPr/>
        </p:nvSpPr>
        <p:spPr>
          <a:xfrm>
            <a:off x="11167911" y="6441067"/>
            <a:ext cx="445986" cy="558611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36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Shape 215"/>
          <p:cNvSpPr txBox="1"/>
          <p:nvPr/>
        </p:nvSpPr>
        <p:spPr>
          <a:xfrm>
            <a:off x="11167911" y="5789350"/>
            <a:ext cx="445986" cy="558611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36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068082" y="6068657"/>
            <a:ext cx="11079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solidFill>
                  <a:schemeClr val="tx1"/>
                </a:solidFill>
              </a:rPr>
              <a:t>5 &gt; 3</a:t>
            </a:r>
            <a:endParaRPr lang="ru-RU" sz="3200" b="1" dirty="0">
              <a:solidFill>
                <a:schemeClr val="tx1"/>
              </a:solidFill>
            </a:endParaRPr>
          </a:p>
        </p:txBody>
      </p:sp>
      <p:sp>
        <p:nvSpPr>
          <p:cNvPr id="34" name="Shape 215"/>
          <p:cNvSpPr txBox="1"/>
          <p:nvPr/>
        </p:nvSpPr>
        <p:spPr>
          <a:xfrm>
            <a:off x="5829787" y="2909501"/>
            <a:ext cx="360040" cy="445631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28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Shape 216"/>
          <p:cNvSpPr txBox="1"/>
          <p:nvPr/>
        </p:nvSpPr>
        <p:spPr>
          <a:xfrm>
            <a:off x="8241248" y="2920727"/>
            <a:ext cx="360040" cy="445631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8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Shape 215"/>
          <p:cNvSpPr txBox="1"/>
          <p:nvPr/>
        </p:nvSpPr>
        <p:spPr>
          <a:xfrm>
            <a:off x="11147570" y="5804253"/>
            <a:ext cx="445986" cy="558611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36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7094183" y="5721843"/>
            <a:ext cx="11079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chemeClr val="tx1"/>
                </a:solidFill>
              </a:rPr>
              <a:t>3</a:t>
            </a:r>
            <a:r>
              <a:rPr lang="en-US" sz="3200" b="1" dirty="0" smtClean="0">
                <a:solidFill>
                  <a:schemeClr val="tx1"/>
                </a:solidFill>
              </a:rPr>
              <a:t> &lt; 7</a:t>
            </a:r>
            <a:endParaRPr lang="ru-RU" sz="3200" b="1" dirty="0">
              <a:solidFill>
                <a:schemeClr val="tx1"/>
              </a:solidFill>
            </a:endParaRPr>
          </a:p>
        </p:txBody>
      </p:sp>
      <p:sp>
        <p:nvSpPr>
          <p:cNvPr id="38" name="Shape 215"/>
          <p:cNvSpPr txBox="1"/>
          <p:nvPr/>
        </p:nvSpPr>
        <p:spPr>
          <a:xfrm>
            <a:off x="11167911" y="6478733"/>
            <a:ext cx="445986" cy="558611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36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121021" y="5317194"/>
            <a:ext cx="11079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solidFill>
                  <a:schemeClr val="tx1"/>
                </a:solidFill>
              </a:rPr>
              <a:t>5 &lt; 7</a:t>
            </a:r>
            <a:endParaRPr lang="ru-RU" sz="3200" b="1" dirty="0">
              <a:solidFill>
                <a:schemeClr val="tx1"/>
              </a:solidFill>
            </a:endParaRPr>
          </a:p>
        </p:txBody>
      </p:sp>
      <p:grpSp>
        <p:nvGrpSpPr>
          <p:cNvPr id="40" name="Группа 39"/>
          <p:cNvGrpSpPr>
            <a:grpSpLocks/>
          </p:cNvGrpSpPr>
          <p:nvPr/>
        </p:nvGrpSpPr>
        <p:grpSpPr>
          <a:xfrm>
            <a:off x="3337011" y="5849605"/>
            <a:ext cx="1077338" cy="1239795"/>
            <a:chOff x="9795437" y="5375754"/>
            <a:chExt cx="1077338" cy="1180757"/>
          </a:xfrm>
        </p:grpSpPr>
        <p:graphicFrame>
          <p:nvGraphicFramePr>
            <p:cNvPr id="41" name="Shape 163"/>
            <p:cNvGraphicFramePr/>
            <p:nvPr>
              <p:extLst>
                <p:ext uri="{D42A27DB-BD31-4B8C-83A1-F6EECF244321}">
                  <p14:modId xmlns:p14="http://schemas.microsoft.com/office/powerpoint/2010/main" val="1234941154"/>
                </p:ext>
              </p:extLst>
            </p:nvPr>
          </p:nvGraphicFramePr>
          <p:xfrm>
            <a:off x="9795437" y="5375754"/>
            <a:ext cx="432000" cy="1131428"/>
          </p:xfrm>
          <a:graphic>
            <a:graphicData uri="http://schemas.openxmlformats.org/drawingml/2006/table">
              <a:tbl>
                <a:tblPr>
                  <a:noFill/>
                  <a:tableStyleId>{A658CFA3-1ECF-4F86-BB5C-CF7618A15973}</a:tableStyleId>
                </a:tblPr>
                <a:tblGrid>
                  <a:gridCol w="432000"/>
                </a:tblGrid>
                <a:tr h="396000">
                  <a:tc>
                    <a:txBody>
                      <a:bodyPr/>
                      <a:lstStyle/>
                      <a:p>
                        <a:pPr marL="0" lvl="0" indent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900" b="1" dirty="0">
                          <a:solidFill>
                            <a:schemeClr val="lt1"/>
                          </a:solidFill>
                        </a:endParaRPr>
                      </a:p>
                    </a:txBody>
                    <a:tcPr marL="91425" marR="91425" marT="91425" marB="91425">
                      <a:lnL w="2857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2857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2857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2857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3C78D8"/>
                      </a:solidFill>
                    </a:tcPr>
                  </a:tc>
                </a:tr>
                <a:tr h="396000">
                  <a:tc>
                    <a:txBody>
                      <a:bodyPr/>
                      <a:lstStyle/>
                      <a:p>
                        <a:pPr marL="0" lvl="0" indent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900" dirty="0"/>
                      </a:p>
                    </a:txBody>
                    <a:tcPr marL="91425" marR="91425" marT="91425" marB="91425">
                      <a:lnL w="2857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2857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2857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2857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6D9EEB"/>
                      </a:solidFill>
                    </a:tcPr>
                  </a:tc>
                </a:tr>
                <a:tr h="396000">
                  <a:tc>
                    <a:txBody>
                      <a:bodyPr/>
                      <a:lstStyle/>
                      <a:p>
                        <a:pPr marL="0" lvl="0" indent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900" dirty="0"/>
                      </a:p>
                    </a:txBody>
                    <a:tcPr marL="91425" marR="91425" marT="91425" marB="91425">
                      <a:lnL w="2857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2857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2857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2857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A4C2F4"/>
                      </a:solidFill>
                    </a:tcPr>
                  </a:tc>
                </a:tr>
              </a:tbl>
            </a:graphicData>
          </a:graphic>
        </p:graphicFrame>
        <p:sp>
          <p:nvSpPr>
            <p:cNvPr id="42" name="TextBox 41"/>
            <p:cNvSpPr txBox="1"/>
            <p:nvPr/>
          </p:nvSpPr>
          <p:spPr>
            <a:xfrm>
              <a:off x="10200796" y="6204766"/>
              <a:ext cx="671979" cy="3517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b="1" dirty="0" err="1" smtClean="0">
                  <a:solidFill>
                    <a:schemeClr val="tx1"/>
                  </a:solidFill>
                </a:rPr>
                <a:t>prev</a:t>
              </a:r>
              <a:endParaRPr lang="ru-RU" sz="1800" b="1" dirty="0">
                <a:solidFill>
                  <a:schemeClr val="tx1"/>
                </a:solidFill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10200797" y="5397150"/>
              <a:ext cx="659155" cy="3517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b="1" dirty="0" smtClean="0">
                  <a:solidFill>
                    <a:schemeClr val="tx1"/>
                  </a:solidFill>
                </a:rPr>
                <a:t>data</a:t>
              </a:r>
              <a:endParaRPr lang="ru-RU" sz="1800" b="1" dirty="0">
                <a:solidFill>
                  <a:schemeClr val="tx1"/>
                </a:solidFill>
              </a:endParaRP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10200796" y="5800958"/>
              <a:ext cx="659155" cy="3517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b="1" dirty="0" smtClean="0">
                  <a:solidFill>
                    <a:schemeClr val="tx1"/>
                  </a:solidFill>
                </a:rPr>
                <a:t>next</a:t>
              </a:r>
              <a:endParaRPr lang="ru-RU" sz="1800" b="1" dirty="0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repeatCount="3000" fill="remove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50" autoRev="1" fill="remove"/>
                                        <p:tgtEl>
                                          <p:spTgt spid="4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7" dur="250" autoRev="1" fill="remove"/>
                                        <p:tgtEl>
                                          <p:spTgt spid="4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8" dur="250" autoRev="1" fill="remove"/>
                                        <p:tgtEl>
                                          <p:spTgt spid="4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250" autoRev="1" fill="remove"/>
                                        <p:tgtEl>
                                          <p:spTgt spid="4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4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4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4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4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4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4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4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4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4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4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48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48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48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48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48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48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48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4" dur="2000" fill="hold"/>
                                        <p:tgtEl>
                                          <p:spTgt spid="4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4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6" dur="2000" fill="hold"/>
                                        <p:tgtEl>
                                          <p:spTgt spid="4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4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7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4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4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5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5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6" dur="2000" fill="hold"/>
                                        <p:tgtEl>
                                          <p:spTgt spid="4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4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95833E-6 -0.00208 L -0.26967 0.15093 " pathEditMode="relative" rAng="0" ptsTypes="AA">
                                      <p:cBhvr>
                                        <p:cTn id="158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490" y="76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2" dur="2000" fill="hold"/>
                                        <p:tgtEl>
                                          <p:spTgt spid="4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4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3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64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8" dur="2000" fill="hold"/>
                                        <p:tgtEl>
                                          <p:spTgt spid="4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4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9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25E-7 -4.07407E-6 L -0.15039 0.14005 " pathEditMode="relative" rAng="0" ptsTypes="AA">
                                      <p:cBhvr>
                                        <p:cTn id="170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526" y="699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4" dur="2000" fill="hold"/>
                                        <p:tgtEl>
                                          <p:spTgt spid="4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4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76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0" dur="2000" fill="hold"/>
                                        <p:tgtEl>
                                          <p:spTgt spid="4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4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44114 -0.49907 L -0.00013 -0.00509 " pathEditMode="relative" rAng="0" ptsTypes="AA">
                                      <p:cBhvr>
                                        <p:cTn id="194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044" y="24699"/>
                                    </p:animMotion>
                                  </p:childTnLst>
                                </p:cTn>
                              </p:par>
                              <p:par>
                                <p:cTn id="195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4335 -0.40856 L -8.33333E-7 -4.07407E-6 " pathEditMode="relative" rAng="0" ptsTypes="AA">
                                      <p:cBhvr>
                                        <p:cTn id="196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044" y="2044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7" fill="hold">
                            <p:stCondLst>
                              <p:cond delay="2000"/>
                            </p:stCondLst>
                            <p:childTnLst>
                              <p:par>
                                <p:cTn id="19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2" presetID="16" presetClass="emph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0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0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0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>
                      <p:stCondLst>
                        <p:cond delay="indefinite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9" dur="2000" fill="hold"/>
                                        <p:tgtEl>
                                          <p:spTgt spid="4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4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10" presetID="42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7.40741E-7 L -0.00247 -0.18055 " pathEditMode="relative" rAng="0" ptsTypes="AA">
                                      <p:cBhvr>
                                        <p:cTn id="211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7" y="-877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indefinite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5" dur="2000" fill="hold"/>
                                        <p:tgtEl>
                                          <p:spTgt spid="4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>
                      <p:stCondLst>
                        <p:cond delay="indefinite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9167E-6 -2.59259E-6 L -4.58333E-6 0.09051 " pathEditMode="relative" rAng="0" ptsTypes="AA">
                                      <p:cBhvr>
                                        <p:cTn id="219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" y="425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>
                      <p:stCondLst>
                        <p:cond delay="indefinite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2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3" dur="2000" fill="hold"/>
                                        <p:tgtEl>
                                          <p:spTgt spid="48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4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4" fill="hold">
                      <p:stCondLst>
                        <p:cond delay="indefinite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42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47 -0.18055 L -4.58333E-6 -0.09051 " pathEditMode="relative" rAng="0" ptsTypes="AA">
                                      <p:cBhvr>
                                        <p:cTn id="227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7" y="451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>
                      <p:stCondLst>
                        <p:cond delay="indefinite"/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8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414 0.40764 L 0.19805 -0.00092 " pathEditMode="relative" rAng="0" ptsTypes="AA">
                                      <p:cBhvr>
                                        <p:cTn id="239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174" y="-20208"/>
                                    </p:animMotion>
                                  </p:childTnLst>
                                </p:cTn>
                              </p:par>
                              <p:par>
                                <p:cTn id="240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4349 0.49144 L -0.19753 -0.00254 " pathEditMode="relative" rAng="0" ptsTypes="AA">
                                      <p:cBhvr>
                                        <p:cTn id="241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927" y="-24722"/>
                                    </p:animMotion>
                                  </p:childTnLst>
                                </p:cTn>
                              </p:par>
                              <p:par>
                                <p:cTn id="242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4" fill="hold">
                      <p:stCondLst>
                        <p:cond delay="indefinite"/>
                      </p:stCondLst>
                      <p:childTnLst>
                        <p:par>
                          <p:cTn id="245" fill="hold">
                            <p:stCondLst>
                              <p:cond delay="0"/>
                            </p:stCondLst>
                            <p:childTnLst>
                              <p:par>
                                <p:cTn id="246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7" dur="2000" fill="hold"/>
                                        <p:tgtEl>
                                          <p:spTgt spid="48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4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48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9" dur="2000" fill="hold"/>
                                        <p:tgtEl>
                                          <p:spTgt spid="48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4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50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5039 0.1463 L 0.00612 0.1463 " pathEditMode="relative" rAng="0" ptsTypes="AA">
                                      <p:cBhvr>
                                        <p:cTn id="251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826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2" fill="hold">
                      <p:stCondLst>
                        <p:cond delay="indefinite"/>
                      </p:stCondLst>
                      <p:childTnLst>
                        <p:par>
                          <p:cTn id="253" fill="hold">
                            <p:stCondLst>
                              <p:cond delay="0"/>
                            </p:stCondLst>
                            <p:childTnLst>
                              <p:par>
                                <p:cTn id="254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5" dur="2000" fill="hold"/>
                                        <p:tgtEl>
                                          <p:spTgt spid="4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56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57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8" fill="hold">
                      <p:stCondLst>
                        <p:cond delay="indefinite"/>
                      </p:stCondLst>
                      <p:childTnLst>
                        <p:par>
                          <p:cTn id="259" fill="hold">
                            <p:stCondLst>
                              <p:cond delay="0"/>
                            </p:stCondLst>
                            <p:childTnLst>
                              <p:par>
                                <p:cTn id="260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1" dur="2000" fill="hold"/>
                                        <p:tgtEl>
                                          <p:spTgt spid="4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62" presetID="1" presetClass="exit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6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5768 -0.41065 L -2.08333E-6 4.07407E-6 " pathEditMode="relative" rAng="0" ptsTypes="AA">
                                      <p:cBhvr>
                                        <p:cTn id="267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878" y="2053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8" fill="hold">
                            <p:stCondLst>
                              <p:cond delay="2000"/>
                            </p:stCondLst>
                            <p:childTnLst>
                              <p:par>
                                <p:cTn id="26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3" presetID="16" presetClass="emph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7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7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7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7" fill="hold">
                      <p:stCondLst>
                        <p:cond delay="indefinite"/>
                      </p:stCondLst>
                      <p:childTnLst>
                        <p:par>
                          <p:cTn id="278" fill="hold">
                            <p:stCondLst>
                              <p:cond delay="0"/>
                            </p:stCondLst>
                            <p:childTnLst>
                              <p:par>
                                <p:cTn id="279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0" dur="2000" fill="hold"/>
                                        <p:tgtEl>
                                          <p:spTgt spid="48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81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3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612 0.14629 L -0.43737 0.67291 " pathEditMode="relative" rAng="0" ptsTypes="AA">
                                      <p:cBhvr>
                                        <p:cTn id="284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2174" y="2631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5" fill="hold">
                      <p:stCondLst>
                        <p:cond delay="indefinite"/>
                      </p:stCondLst>
                      <p:childTnLst>
                        <p:par>
                          <p:cTn id="286" fill="hold">
                            <p:stCondLst>
                              <p:cond delay="0"/>
                            </p:stCondLst>
                            <p:childTnLst>
                              <p:par>
                                <p:cTn id="287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8" dur="2000" fill="hold"/>
                                        <p:tgtEl>
                                          <p:spTgt spid="48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89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0" dur="2000" fill="hold"/>
                                        <p:tgtEl>
                                          <p:spTgt spid="48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91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6967 0.15093 L -0.11081 0.14815 " pathEditMode="relative" rAng="0" ptsTypes="AA">
                                      <p:cBhvr>
                                        <p:cTn id="292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943" y="-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3" fill="hold">
                      <p:stCondLst>
                        <p:cond delay="indefinite"/>
                      </p:stCondLst>
                      <p:childTnLst>
                        <p:par>
                          <p:cTn id="294" fill="hold">
                            <p:stCondLst>
                              <p:cond delay="0"/>
                            </p:stCondLst>
                            <p:childTnLst>
                              <p:par>
                                <p:cTn id="29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6" dur="2000" fill="hold"/>
                                        <p:tgtEl>
                                          <p:spTgt spid="4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C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97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98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9" fill="hold">
                      <p:stCondLst>
                        <p:cond delay="indefinite"/>
                      </p:stCondLst>
                      <p:childTnLst>
                        <p:par>
                          <p:cTn id="300" fill="hold">
                            <p:stCondLst>
                              <p:cond delay="0"/>
                            </p:stCondLst>
                            <p:childTnLst>
                              <p:par>
                                <p:cTn id="301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2" dur="2000" fill="hold"/>
                                        <p:tgtEl>
                                          <p:spTgt spid="4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C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03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43412 0.5926 L 0.00612 0.1463 " pathEditMode="relative" rAng="0" ptsTypes="AA">
                                      <p:cBhvr>
                                        <p:cTn id="304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005" y="-2231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5" fill="hold">
                      <p:stCondLst>
                        <p:cond delay="indefinite"/>
                      </p:stCondLst>
                      <p:childTnLst>
                        <p:par>
                          <p:cTn id="306" fill="hold">
                            <p:stCondLst>
                              <p:cond delay="0"/>
                            </p:stCondLst>
                            <p:childTnLst>
                              <p:par>
                                <p:cTn id="307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8" dur="2000" fill="hold"/>
                                        <p:tgtEl>
                                          <p:spTgt spid="4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C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09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310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1" fill="hold">
                      <p:stCondLst>
                        <p:cond delay="indefinite"/>
                      </p:stCondLst>
                      <p:childTnLst>
                        <p:par>
                          <p:cTn id="312" fill="hold">
                            <p:stCondLst>
                              <p:cond delay="0"/>
                            </p:stCondLst>
                            <p:childTnLst>
                              <p:par>
                                <p:cTn id="313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4" dur="2000" fill="hold"/>
                                        <p:tgtEl>
                                          <p:spTgt spid="4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C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15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9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5208 -0.50324 L -4.79167E-6 4.07407E-6 " pathEditMode="relative" rAng="0" ptsTypes="AA">
                                      <p:cBhvr>
                                        <p:cTn id="320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604" y="2516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1" fill="hold">
                            <p:stCondLst>
                              <p:cond delay="2000"/>
                            </p:stCondLst>
                            <p:childTnLst>
                              <p:par>
                                <p:cTn id="32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6" presetID="16" presetClass="emph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2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2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2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0" fill="hold">
                      <p:stCondLst>
                        <p:cond delay="indefinite"/>
                      </p:stCondLst>
                      <p:childTnLst>
                        <p:par>
                          <p:cTn id="331" fill="hold">
                            <p:stCondLst>
                              <p:cond delay="0"/>
                            </p:stCondLst>
                            <p:childTnLst>
                              <p:par>
                                <p:cTn id="332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3" dur="2000" fill="hold"/>
                                        <p:tgtEl>
                                          <p:spTgt spid="48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C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34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5" dur="2000" fill="hold"/>
                                        <p:tgtEl>
                                          <p:spTgt spid="48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C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36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8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612 0.14629 L -0.43412 0.5926 " pathEditMode="relative" rAng="0" ptsTypes="AA">
                                      <p:cBhvr>
                                        <p:cTn id="339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719" y="2081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0" fill="hold">
                      <p:stCondLst>
                        <p:cond delay="indefinite"/>
                      </p:stCondLst>
                      <p:childTnLst>
                        <p:par>
                          <p:cTn id="341" fill="hold">
                            <p:stCondLst>
                              <p:cond delay="0"/>
                            </p:stCondLst>
                            <p:childTnLst>
                              <p:par>
                                <p:cTn id="342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3" dur="2000" fill="hold"/>
                                        <p:tgtEl>
                                          <p:spTgt spid="48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C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44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5" dur="2000" fill="hold"/>
                                        <p:tgtEl>
                                          <p:spTgt spid="48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C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46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1081 0.1419 L 0.04571 0.14815 " pathEditMode="relative" rAng="0" ptsTypes="AA">
                                      <p:cBhvr>
                                        <p:cTn id="347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32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8" fill="hold">
                      <p:stCondLst>
                        <p:cond delay="indefinite"/>
                      </p:stCondLst>
                      <p:childTnLst>
                        <p:par>
                          <p:cTn id="349" fill="hold">
                            <p:stCondLst>
                              <p:cond delay="0"/>
                            </p:stCondLst>
                            <p:childTnLst>
                              <p:par>
                                <p:cTn id="350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51" dur="2000" fill="hold"/>
                                        <p:tgtEl>
                                          <p:spTgt spid="4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8ED2C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52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57 0.14815 L -0.3155 0.59213 " pathEditMode="relative" rAng="0" ptsTypes="AA">
                                      <p:cBhvr>
                                        <p:cTn id="353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8060" y="22199"/>
                                    </p:animMotion>
                                  </p:childTnLst>
                                </p:cTn>
                              </p:par>
                              <p:par>
                                <p:cTn id="354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55" dur="2000" fill="hold"/>
                                        <p:tgtEl>
                                          <p:spTgt spid="48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56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57" dur="2000" fill="hold"/>
                                        <p:tgtEl>
                                          <p:spTgt spid="48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5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4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6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7" grpId="0" uiExpand="1" build="p"/>
      <p:bldP spid="14" grpId="0" animBg="1"/>
      <p:bldP spid="14" grpId="1" animBg="1"/>
      <p:bldP spid="15" grpId="0" animBg="1"/>
      <p:bldP spid="16" grpId="0" animBg="1"/>
      <p:bldP spid="16" grpId="1" animBg="1"/>
      <p:bldP spid="28" grpId="0"/>
      <p:bldP spid="28" grpId="1"/>
      <p:bldP spid="29" grpId="0"/>
      <p:bldP spid="29" grpId="1"/>
      <p:bldP spid="30" grpId="0"/>
      <p:bldP spid="30" grpId="1"/>
      <p:bldP spid="31" grpId="0" animBg="1"/>
      <p:bldP spid="31" grpId="1" animBg="1"/>
      <p:bldP spid="31" grpId="2" animBg="1"/>
      <p:bldP spid="31" grpId="3" animBg="1"/>
      <p:bldP spid="31" grpId="4" animBg="1"/>
      <p:bldP spid="32" grpId="0" animBg="1"/>
      <p:bldP spid="32" grpId="1" animBg="1"/>
      <p:bldP spid="32" grpId="2" animBg="1"/>
      <p:bldP spid="32" grpId="3" animBg="1"/>
      <p:bldP spid="33" grpId="0"/>
      <p:bldP spid="33" grpId="1"/>
      <p:bldP spid="33" grpId="2"/>
      <p:bldP spid="34" grpId="0" animBg="1"/>
      <p:bldP spid="34" grpId="1" animBg="1"/>
      <p:bldP spid="35" grpId="0" animBg="1"/>
      <p:bldP spid="35" grpId="1" animBg="1"/>
      <p:bldP spid="36" grpId="0" animBg="1"/>
      <p:bldP spid="36" grpId="1" animBg="1"/>
      <p:bldP spid="36" grpId="2" animBg="1"/>
      <p:bldP spid="37" grpId="0"/>
      <p:bldP spid="37" grpId="1"/>
      <p:bldP spid="37" grpId="2"/>
      <p:bldP spid="38" grpId="0" animBg="1"/>
      <p:bldP spid="38" grpId="1" animBg="1"/>
      <p:bldP spid="38" grpId="2" animBg="1"/>
      <p:bldP spid="39" grpId="0"/>
      <p:bldP spid="39" grpId="1"/>
      <p:bldP spid="39" grpId="2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738" b="5824"/>
          <a:stretch/>
        </p:blipFill>
        <p:spPr>
          <a:xfrm>
            <a:off x="721003" y="108350"/>
            <a:ext cx="10872282" cy="705826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7030A0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674716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94880" y="2823305"/>
            <a:ext cx="1028399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9600" b="1" dirty="0" smtClean="0">
                <a:ln w="18000">
                  <a:solidFill>
                    <a:srgbClr val="CC0066"/>
                  </a:solidFill>
                  <a:prstDash val="solid"/>
                  <a:miter lim="800000"/>
                </a:ln>
                <a:solidFill>
                  <a:schemeClr val="tx1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  <a:latin typeface="a_BosaNovaCpsRgh" pitchFamily="82" charset="-52"/>
              </a:rPr>
              <a:t>Спасибо за внимание!</a:t>
            </a:r>
            <a:endParaRPr lang="ru-RU" sz="9600" b="1" dirty="0">
              <a:ln w="18000">
                <a:solidFill>
                  <a:srgbClr val="CC0066"/>
                </a:solidFill>
                <a:prstDash val="solid"/>
                <a:miter lim="800000"/>
              </a:ln>
              <a:solidFill>
                <a:schemeClr val="tx1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  <a:latin typeface="a_BosaNovaCpsRgh" pitchFamily="8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2654809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Небеса">
  <a:themeElements>
    <a:clrScheme name="Небеса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Небеса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Небеса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TM03457452[[fn=Небесная]]</Template>
  <TotalTime>1317</TotalTime>
  <Words>885</Words>
  <Application>Microsoft Office PowerPoint</Application>
  <PresentationFormat>Произвольный</PresentationFormat>
  <Paragraphs>454</Paragraphs>
  <Slides>20</Slides>
  <Notes>18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7" baseType="lpstr">
      <vt:lpstr>Arial</vt:lpstr>
      <vt:lpstr>a_BosaNovaCpsRgh</vt:lpstr>
      <vt:lpstr>Calibri Light</vt:lpstr>
      <vt:lpstr>Trebuchet MS</vt:lpstr>
      <vt:lpstr>Calibri</vt:lpstr>
      <vt:lpstr>Noto Sans Symbols</vt:lpstr>
      <vt:lpstr>Небеса</vt:lpstr>
      <vt:lpstr>СОЗДАНИЕ ДВУСВЯЗАННОГО СПИСКА         </vt:lpstr>
      <vt:lpstr>ПОНЯТИЕ ДВУСВЯЗНОГО СПИСКА</vt:lpstr>
      <vt:lpstr>Элемент списка задается с помощью структуры </vt:lpstr>
      <vt:lpstr>Существует ли список</vt:lpstr>
      <vt:lpstr>Создание списка</vt:lpstr>
      <vt:lpstr>Нахождение длины списка</vt:lpstr>
      <vt:lpstr>Взять первый элемент из списка </vt:lpstr>
      <vt:lpstr>Положить элемент в список</vt:lpstr>
      <vt:lpstr>Создание списка при помощи push</vt:lpstr>
      <vt:lpstr>Показать список</vt:lpstr>
      <vt:lpstr>Нахождение адреса элемента </vt:lpstr>
      <vt:lpstr>Вставка структуры q перед элементом в списке</vt:lpstr>
      <vt:lpstr>Вставка структуры q после элемента в списке</vt:lpstr>
      <vt:lpstr>Удаление элемента из списка</vt:lpstr>
      <vt:lpstr>Удаление всех элементов равных Х из списка</vt:lpstr>
      <vt:lpstr>ПОИСК МАКСИМАЛЬНОГО ЭЛЕМЕНТА В СПИСКЕ</vt:lpstr>
      <vt:lpstr>Показать справа налево</vt:lpstr>
      <vt:lpstr>УПОРЯДОЧИВАНИЕ ПО НЕУБЫВАНИЮ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Создание двусвязанного списка</dc:title>
  <dc:creator>Администратор</dc:creator>
  <cp:lastModifiedBy>IrAAleksandrova</cp:lastModifiedBy>
  <cp:revision>141</cp:revision>
  <dcterms:modified xsi:type="dcterms:W3CDTF">2018-12-25T09:58:25Z</dcterms:modified>
</cp:coreProperties>
</file>