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69" autoAdjust="0"/>
    <p:restoredTop sz="94660"/>
  </p:normalViewPr>
  <p:slideViewPr>
    <p:cSldViewPr snapToGrid="0">
      <p:cViewPr varScale="1">
        <p:scale>
          <a:sx n="64" d="100"/>
          <a:sy n="64" d="100"/>
        </p:scale>
        <p:origin x="-108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58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47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3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0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5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8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32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0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5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9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48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5635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36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38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586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638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1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4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  <p:sldLayoutId id="21474840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A0D40A3-A990-4CEC-B73D-AE0490050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05" t="17320" r="10994" b="8007"/>
          <a:stretch/>
        </p:blipFill>
        <p:spPr>
          <a:xfrm>
            <a:off x="218219" y="2266066"/>
            <a:ext cx="5454700" cy="41506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14F0D4D-8E34-4DB4-8715-81D5E177C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3374" y="370431"/>
            <a:ext cx="10754139" cy="3591340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Упорядочивание последовательности</a:t>
            </a:r>
            <a:br>
              <a:rPr lang="ru-RU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ru-RU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           через список</a:t>
            </a:r>
            <a:br>
              <a:rPr lang="ru-RU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ru-RU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6CC205C-E3F7-4D78-947F-E2965B2F3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9083" y="4158350"/>
            <a:ext cx="8825658" cy="861420"/>
          </a:xfrm>
        </p:spPr>
        <p:txBody>
          <a:bodyPr/>
          <a:lstStyle/>
          <a:p>
            <a:r>
              <a:rPr lang="ru-RU" dirty="0">
                <a:latin typeface="Bahnschrift SemiBold SemiConden" panose="020B0502040204020203" pitchFamily="34" charset="0"/>
              </a:rPr>
              <a:t>выполнила: Плотникова Анна, гр. 09-712</a:t>
            </a:r>
            <a:endParaRPr lang="en-US" dirty="0">
              <a:latin typeface="Bahnschrift SemiBold SemiConden" panose="020B0502040204020203" pitchFamily="34" charset="0"/>
            </a:endParaRPr>
          </a:p>
          <a:p>
            <a:r>
              <a:rPr lang="ru-RU" b="1" dirty="0"/>
              <a:t>Проверил: </a:t>
            </a:r>
            <a:r>
              <a:rPr lang="ru-RU" b="1" dirty="0" err="1"/>
              <a:t>ахтямов</a:t>
            </a:r>
            <a:r>
              <a:rPr lang="ru-RU" b="1" dirty="0"/>
              <a:t> Р.Б.</a:t>
            </a:r>
          </a:p>
        </p:txBody>
      </p:sp>
    </p:spTree>
    <p:extLst>
      <p:ext uri="{BB962C8B-B14F-4D97-AF65-F5344CB8AC3E}">
        <p14:creationId xmlns:p14="http://schemas.microsoft.com/office/powerpoint/2010/main" val="342198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0" y="167095"/>
            <a:ext cx="10018713" cy="944216"/>
          </a:xfrm>
        </p:spPr>
        <p:txBody>
          <a:bodyPr>
            <a:normAutofit fontScale="90000"/>
          </a:bodyPr>
          <a:lstStyle/>
          <a:p>
            <a:r>
              <a:rPr lang="ru-RU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Задание элемента списка с помощью структуры.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837D522-D1CD-4092-BC91-152635C26407}"/>
              </a:ext>
            </a:extLst>
          </p:cNvPr>
          <p:cNvSpPr txBox="1"/>
          <p:nvPr/>
        </p:nvSpPr>
        <p:spPr>
          <a:xfrm>
            <a:off x="1948069" y="1358734"/>
            <a:ext cx="401541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struct node</a:t>
            </a:r>
            <a:endParaRPr lang="ru-RU" sz="2800" dirty="0"/>
          </a:p>
          <a:p>
            <a:r>
              <a:rPr lang="en-US" sz="2800" dirty="0"/>
              <a:t>{ 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en-US" sz="2800" dirty="0" err="1"/>
              <a:t>int</a:t>
            </a:r>
            <a:r>
              <a:rPr lang="en-US" sz="2800" dirty="0"/>
              <a:t> data;</a:t>
            </a:r>
            <a:endParaRPr lang="ru-RU" sz="2800" dirty="0"/>
          </a:p>
          <a:p>
            <a:r>
              <a:rPr lang="en-US" sz="2800" dirty="0"/>
              <a:t>    node* next;</a:t>
            </a:r>
            <a:endParaRPr lang="ru-RU" sz="2800" dirty="0"/>
          </a:p>
          <a:p>
            <a:r>
              <a:rPr lang="en-US" sz="2800" dirty="0"/>
              <a:t>};</a:t>
            </a:r>
            <a:endParaRPr lang="ru-RU" sz="2800" dirty="0"/>
          </a:p>
          <a:p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581911CF-5C24-48A9-AE88-84CD8B14787D}"/>
              </a:ext>
            </a:extLst>
          </p:cNvPr>
          <p:cNvSpPr/>
          <p:nvPr/>
        </p:nvSpPr>
        <p:spPr>
          <a:xfrm>
            <a:off x="6228523" y="2328230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535892AE-4C3C-4E8C-AE2A-0795BFA02CDE}"/>
              </a:ext>
            </a:extLst>
          </p:cNvPr>
          <p:cNvSpPr/>
          <p:nvPr/>
        </p:nvSpPr>
        <p:spPr>
          <a:xfrm>
            <a:off x="6228523" y="1519848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17988F5-A16C-461A-BAB8-4DE70FBC8FA9}"/>
              </a:ext>
            </a:extLst>
          </p:cNvPr>
          <p:cNvSpPr txBox="1"/>
          <p:nvPr/>
        </p:nvSpPr>
        <p:spPr>
          <a:xfrm>
            <a:off x="6228523" y="1646989"/>
            <a:ext cx="1577009" cy="584775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data</a:t>
            </a:r>
            <a:endParaRPr lang="ru-RU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79307F0-71D2-46B1-A889-B336C722881B}"/>
              </a:ext>
            </a:extLst>
          </p:cNvPr>
          <p:cNvSpPr txBox="1"/>
          <p:nvPr/>
        </p:nvSpPr>
        <p:spPr>
          <a:xfrm>
            <a:off x="6228523" y="2358905"/>
            <a:ext cx="1577009" cy="584775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next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C7E0C390-E11A-462E-AC9C-A5D56EAA5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91" y="1263236"/>
            <a:ext cx="5566183" cy="556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392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44216"/>
          </a:xfrm>
        </p:spPr>
        <p:txBody>
          <a:bodyPr>
            <a:normAutofit/>
          </a:bodyPr>
          <a:lstStyle/>
          <a:p>
            <a:r>
              <a:rPr lang="ru-RU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Добавление элемента в начало списка.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E290C15-4DEC-4A2F-862D-4B17B30B9BCF}"/>
              </a:ext>
            </a:extLst>
          </p:cNvPr>
          <p:cNvSpPr txBox="1"/>
          <p:nvPr/>
        </p:nvSpPr>
        <p:spPr>
          <a:xfrm>
            <a:off x="1590261" y="1073426"/>
            <a:ext cx="598998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push(node* &amp;</a:t>
            </a:r>
            <a:r>
              <a:rPr lang="en-US" sz="2800" dirty="0" err="1"/>
              <a:t>top,int</a:t>
            </a:r>
            <a:r>
              <a:rPr lang="ru-RU" sz="2800" dirty="0"/>
              <a:t> </a:t>
            </a:r>
            <a:r>
              <a:rPr lang="en-US" sz="2800" dirty="0"/>
              <a:t>data) </a:t>
            </a:r>
            <a:endParaRPr lang="ru-RU" sz="2800" dirty="0"/>
          </a:p>
          <a:p>
            <a:r>
              <a:rPr lang="en-US" sz="2800" dirty="0"/>
              <a:t>{</a:t>
            </a:r>
            <a:endParaRPr lang="ru-RU" sz="2800" dirty="0"/>
          </a:p>
          <a:p>
            <a:r>
              <a:rPr lang="en-US" sz="2800" dirty="0"/>
              <a:t>    node* p;</a:t>
            </a:r>
            <a:endParaRPr lang="ru-RU" sz="2800" dirty="0"/>
          </a:p>
          <a:p>
            <a:r>
              <a:rPr lang="en-US" sz="2800" dirty="0"/>
              <a:t>    p=new node;</a:t>
            </a:r>
            <a:endParaRPr lang="ru-RU" sz="2800" dirty="0"/>
          </a:p>
          <a:p>
            <a:r>
              <a:rPr lang="en-US" sz="2800" dirty="0"/>
              <a:t>    p-&gt;data=data;</a:t>
            </a:r>
            <a:endParaRPr lang="ru-RU" sz="2800" dirty="0"/>
          </a:p>
          <a:p>
            <a:r>
              <a:rPr lang="en-US" sz="2800" dirty="0"/>
              <a:t>    p-&gt;next=top;</a:t>
            </a:r>
            <a:endParaRPr lang="ru-RU" sz="2800" dirty="0"/>
          </a:p>
          <a:p>
            <a:r>
              <a:rPr lang="en-US" sz="2800" dirty="0"/>
              <a:t>    top=p;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211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44216"/>
          </a:xfrm>
        </p:spPr>
        <p:txBody>
          <a:bodyPr>
            <a:normAutofit/>
          </a:bodyPr>
          <a:lstStyle/>
          <a:p>
            <a:r>
              <a:rPr lang="ru-RU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Вывод списка на экран.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3C7D2EF-A2F6-4D60-AFBD-9A7F6BCA4010}"/>
              </a:ext>
            </a:extLst>
          </p:cNvPr>
          <p:cNvSpPr txBox="1"/>
          <p:nvPr/>
        </p:nvSpPr>
        <p:spPr>
          <a:xfrm>
            <a:off x="1749287" y="1046922"/>
            <a:ext cx="626827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show_list</a:t>
            </a:r>
            <a:r>
              <a:rPr lang="en-US" sz="2800" dirty="0"/>
              <a:t>(node* top)</a:t>
            </a:r>
            <a:endParaRPr lang="ru-RU" sz="2800" dirty="0"/>
          </a:p>
          <a:p>
            <a:r>
              <a:rPr lang="en-US" sz="2800" dirty="0"/>
              <a:t>	{ </a:t>
            </a:r>
            <a:endParaRPr lang="ru-RU" sz="2800" dirty="0"/>
          </a:p>
          <a:p>
            <a:r>
              <a:rPr lang="en-US" sz="2800" dirty="0"/>
              <a:t>	    	node* p;</a:t>
            </a:r>
            <a:endParaRPr lang="ru-RU" sz="2800" dirty="0"/>
          </a:p>
          <a:p>
            <a:r>
              <a:rPr lang="en-US" sz="2800" dirty="0"/>
              <a:t>               p=top;</a:t>
            </a:r>
            <a:endParaRPr lang="ru-RU" sz="2800" dirty="0"/>
          </a:p>
          <a:p>
            <a:r>
              <a:rPr lang="en-US" sz="2800" dirty="0"/>
              <a:t>	     while (p)</a:t>
            </a:r>
            <a:endParaRPr lang="ru-RU" sz="2800" dirty="0"/>
          </a:p>
          <a:p>
            <a:r>
              <a:rPr lang="en-US" sz="2800" dirty="0"/>
              <a:t>	      {</a:t>
            </a:r>
            <a:endParaRPr lang="ru-RU" sz="2800" dirty="0"/>
          </a:p>
          <a:p>
            <a:r>
              <a:rPr lang="en-US" sz="2800" dirty="0"/>
              <a:t>	       </a:t>
            </a:r>
            <a:r>
              <a:rPr lang="en-US" sz="2800" dirty="0" err="1"/>
              <a:t>cout</a:t>
            </a:r>
            <a:r>
              <a:rPr lang="en-US" sz="2800" dirty="0"/>
              <a:t>&lt;&lt;p-&gt;data&lt;&lt;" ";</a:t>
            </a:r>
            <a:endParaRPr lang="ru-RU" sz="2800" dirty="0"/>
          </a:p>
          <a:p>
            <a:r>
              <a:rPr lang="en-US" sz="2800" dirty="0"/>
              <a:t>	        p=p-&gt;next;</a:t>
            </a:r>
            <a:endParaRPr lang="ru-RU" sz="2800" dirty="0"/>
          </a:p>
          <a:p>
            <a:r>
              <a:rPr lang="en-US" sz="2800" dirty="0"/>
              <a:t>	   }</a:t>
            </a:r>
            <a:endParaRPr lang="ru-RU" sz="2800" dirty="0"/>
          </a:p>
          <a:p>
            <a:r>
              <a:rPr lang="en-US" sz="2800" dirty="0"/>
              <a:t>	      </a:t>
            </a:r>
            <a:r>
              <a:rPr lang="en-US" sz="2800" dirty="0" err="1"/>
              <a:t>cout</a:t>
            </a:r>
            <a:r>
              <a:rPr lang="en-US" sz="2800" dirty="0"/>
              <a:t>&lt;&lt;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en-US" sz="2800" dirty="0"/>
              <a:t>		} </a:t>
            </a:r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098652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44216"/>
          </a:xfrm>
        </p:spPr>
        <p:txBody>
          <a:bodyPr>
            <a:normAutofit/>
          </a:bodyPr>
          <a:lstStyle/>
          <a:p>
            <a:r>
              <a:rPr lang="ru-RU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Взятие адреса предыдущего элемента.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D03FE7F-934A-4CB8-B1B7-FBDE1B347434}"/>
              </a:ext>
            </a:extLst>
          </p:cNvPr>
          <p:cNvSpPr txBox="1"/>
          <p:nvPr/>
        </p:nvSpPr>
        <p:spPr>
          <a:xfrm>
            <a:off x="2173290" y="944216"/>
            <a:ext cx="675860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node* previous(node* </a:t>
            </a:r>
            <a:r>
              <a:rPr lang="en-US" sz="2800" dirty="0" err="1"/>
              <a:t>top,node</a:t>
            </a:r>
            <a:r>
              <a:rPr lang="en-US" sz="2800" dirty="0"/>
              <a:t>* p) </a:t>
            </a:r>
            <a:endParaRPr lang="ru-RU" sz="2800" dirty="0"/>
          </a:p>
          <a:p>
            <a:r>
              <a:rPr lang="en-US" sz="2800" dirty="0"/>
              <a:t>{</a:t>
            </a:r>
            <a:endParaRPr lang="ru-RU" sz="2800" dirty="0"/>
          </a:p>
          <a:p>
            <a:r>
              <a:rPr lang="en-US" sz="2800" dirty="0"/>
              <a:t>      node* </a:t>
            </a:r>
            <a:r>
              <a:rPr lang="en-US" sz="2800" dirty="0" err="1"/>
              <a:t>pr</a:t>
            </a:r>
            <a:r>
              <a:rPr lang="en-US" sz="2800" dirty="0"/>
              <a:t>, *q;</a:t>
            </a:r>
            <a:endParaRPr lang="ru-RU" sz="2800" dirty="0"/>
          </a:p>
          <a:p>
            <a:r>
              <a:rPr lang="en-US" sz="2800" dirty="0"/>
              <a:t>      q=top;</a:t>
            </a:r>
            <a:endParaRPr lang="ru-RU" sz="2800" dirty="0"/>
          </a:p>
          <a:p>
            <a:r>
              <a:rPr lang="en-US" sz="2800" dirty="0"/>
              <a:t>      </a:t>
            </a:r>
            <a:r>
              <a:rPr lang="en-US" sz="2800" dirty="0" err="1"/>
              <a:t>pr</a:t>
            </a:r>
            <a:r>
              <a:rPr lang="en-US" sz="2800" dirty="0"/>
              <a:t>=NULL;</a:t>
            </a:r>
            <a:endParaRPr lang="ru-RU" sz="2800" dirty="0"/>
          </a:p>
          <a:p>
            <a:r>
              <a:rPr lang="en-US" sz="2800" dirty="0"/>
              <a:t>      while ( q!=p &amp;&amp; q)</a:t>
            </a:r>
            <a:endParaRPr lang="ru-RU" sz="2800" dirty="0"/>
          </a:p>
          <a:p>
            <a:r>
              <a:rPr lang="en-US" sz="2800" dirty="0"/>
              <a:t>	  {</a:t>
            </a:r>
            <a:endParaRPr lang="ru-RU" sz="2800" dirty="0"/>
          </a:p>
          <a:p>
            <a:r>
              <a:rPr lang="en-US" sz="2800" dirty="0"/>
              <a:t>      	</a:t>
            </a:r>
            <a:r>
              <a:rPr lang="en-US" sz="2800" dirty="0" err="1"/>
              <a:t>pr</a:t>
            </a:r>
            <a:r>
              <a:rPr lang="en-US" sz="2800" dirty="0"/>
              <a:t>=q;</a:t>
            </a:r>
            <a:endParaRPr lang="ru-RU" sz="2800" dirty="0"/>
          </a:p>
          <a:p>
            <a:r>
              <a:rPr lang="en-US" sz="2800" dirty="0"/>
              <a:t>     	q=q-&gt;next;</a:t>
            </a:r>
            <a:endParaRPr lang="ru-RU" sz="2800" dirty="0"/>
          </a:p>
          <a:p>
            <a:r>
              <a:rPr lang="en-US" sz="2800" dirty="0"/>
              <a:t>	  }</a:t>
            </a:r>
            <a:endParaRPr lang="ru-RU" sz="2800" dirty="0"/>
          </a:p>
          <a:p>
            <a:r>
              <a:rPr lang="en-US" sz="2800" dirty="0"/>
              <a:t>        if (q==p) return </a:t>
            </a:r>
            <a:r>
              <a:rPr lang="en-US" sz="2800" dirty="0" err="1"/>
              <a:t>pr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en-US" sz="2800" dirty="0"/>
              <a:t>     return NULL; </a:t>
            </a:r>
            <a:endParaRPr lang="ru-RU" sz="2800" dirty="0"/>
          </a:p>
          <a:p>
            <a:r>
              <a:rPr lang="en-US" sz="2800" dirty="0"/>
              <a:t>} 	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5143189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7" y="0"/>
            <a:ext cx="10136354" cy="944216"/>
          </a:xfrm>
        </p:spPr>
        <p:txBody>
          <a:bodyPr>
            <a:normAutofit fontScale="90000"/>
          </a:bodyPr>
          <a:lstStyle/>
          <a:p>
            <a:r>
              <a:rPr lang="ru-RU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Вставка элемента в список перед указанным элементом</a:t>
            </a:r>
            <a:r>
              <a:rPr lang="en-US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q</a:t>
            </a:r>
            <a:endParaRPr lang="ru-RU" sz="32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3E6A45F-99DB-477A-8934-F07256B91DDA}"/>
              </a:ext>
            </a:extLst>
          </p:cNvPr>
          <p:cNvSpPr txBox="1"/>
          <p:nvPr/>
        </p:nvSpPr>
        <p:spPr>
          <a:xfrm>
            <a:off x="2660764" y="733246"/>
            <a:ext cx="771276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insert_list_before</a:t>
            </a:r>
            <a:r>
              <a:rPr lang="en-US" sz="2800" dirty="0"/>
              <a:t>(node* &amp;top, node* q, </a:t>
            </a:r>
            <a:r>
              <a:rPr lang="en-US" sz="2800" dirty="0" err="1"/>
              <a:t>int</a:t>
            </a:r>
            <a:r>
              <a:rPr lang="en-US" sz="2800" dirty="0"/>
              <a:t> x)</a:t>
            </a:r>
            <a:endParaRPr lang="ru-RU" sz="2800" dirty="0"/>
          </a:p>
          <a:p>
            <a:r>
              <a:rPr lang="en-US" sz="2800" dirty="0"/>
              <a:t>{</a:t>
            </a:r>
            <a:endParaRPr lang="ru-RU" sz="2800" dirty="0"/>
          </a:p>
          <a:p>
            <a:r>
              <a:rPr lang="en-US" sz="2800" dirty="0"/>
              <a:t>     node* p,* g;</a:t>
            </a:r>
            <a:endParaRPr lang="ru-RU" sz="2800" dirty="0"/>
          </a:p>
          <a:p>
            <a:r>
              <a:rPr lang="en-US" sz="2800" dirty="0"/>
              <a:t>     p = new node;</a:t>
            </a:r>
            <a:endParaRPr lang="ru-RU" sz="2800" dirty="0"/>
          </a:p>
          <a:p>
            <a:r>
              <a:rPr lang="en-US" sz="2800" dirty="0"/>
              <a:t>     g=previous(</a:t>
            </a:r>
            <a:r>
              <a:rPr lang="en-US" sz="2800" dirty="0" err="1"/>
              <a:t>top,q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     if (q==top) push(</a:t>
            </a:r>
            <a:r>
              <a:rPr lang="en-US" sz="2800" dirty="0" err="1"/>
              <a:t>top,x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      else</a:t>
            </a:r>
            <a:endParaRPr lang="ru-RU" sz="2800" dirty="0"/>
          </a:p>
          <a:p>
            <a:r>
              <a:rPr lang="en-US" sz="2800" dirty="0"/>
              <a:t>	  {</a:t>
            </a:r>
            <a:endParaRPr lang="ru-RU" sz="2800" dirty="0"/>
          </a:p>
          <a:p>
            <a:r>
              <a:rPr lang="en-US" sz="2800" dirty="0"/>
              <a:t>          p-&gt;data=x;</a:t>
            </a:r>
            <a:endParaRPr lang="ru-RU" sz="2800" dirty="0"/>
          </a:p>
          <a:p>
            <a:r>
              <a:rPr lang="en-US" sz="2800" dirty="0"/>
              <a:t>          p-&gt;next=g-&gt;next;</a:t>
            </a:r>
            <a:endParaRPr lang="ru-RU" sz="2800" dirty="0"/>
          </a:p>
          <a:p>
            <a:r>
              <a:rPr lang="en-US" sz="2800" dirty="0"/>
              <a:t>          g-&gt;next=p;</a:t>
            </a:r>
            <a:endParaRPr lang="ru-RU" sz="2800" dirty="0"/>
          </a:p>
          <a:p>
            <a:r>
              <a:rPr lang="en-US" sz="2800" dirty="0"/>
              <a:t>	  }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0609896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7" y="0"/>
            <a:ext cx="10136354" cy="944216"/>
          </a:xfrm>
        </p:spPr>
        <p:txBody>
          <a:bodyPr>
            <a:normAutofit fontScale="90000"/>
          </a:bodyPr>
          <a:lstStyle/>
          <a:p>
            <a:r>
              <a:rPr lang="ru-RU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Вставка элемента в список после указанного элемента </a:t>
            </a:r>
            <a:r>
              <a:rPr lang="en-US" sz="32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</a:t>
            </a:r>
            <a:endParaRPr lang="ru-RU" sz="32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3E6A45F-99DB-477A-8934-F07256B91DDA}"/>
              </a:ext>
            </a:extLst>
          </p:cNvPr>
          <p:cNvSpPr txBox="1"/>
          <p:nvPr/>
        </p:nvSpPr>
        <p:spPr>
          <a:xfrm>
            <a:off x="1047115" y="1687988"/>
            <a:ext cx="84679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insert_list_after</a:t>
            </a:r>
            <a:r>
              <a:rPr lang="en-US" sz="2800" dirty="0"/>
              <a:t>(node* top, node* &amp;q, int x)</a:t>
            </a:r>
            <a:endParaRPr lang="ru-RU" sz="2800" dirty="0"/>
          </a:p>
          <a:p>
            <a:r>
              <a:rPr lang="en-US" sz="2800" dirty="0"/>
              <a:t>{</a:t>
            </a:r>
            <a:endParaRPr lang="ru-RU" sz="2800" dirty="0"/>
          </a:p>
          <a:p>
            <a:r>
              <a:rPr lang="en-US" sz="2800" dirty="0"/>
              <a:t>          node* p;</a:t>
            </a:r>
            <a:endParaRPr lang="ru-RU" sz="2800" dirty="0"/>
          </a:p>
          <a:p>
            <a:r>
              <a:rPr lang="en-US" sz="2800" dirty="0"/>
              <a:t>          p = new node;</a:t>
            </a:r>
            <a:endParaRPr lang="ru-RU" sz="2800" dirty="0"/>
          </a:p>
          <a:p>
            <a:r>
              <a:rPr lang="en-US" sz="2800" dirty="0"/>
              <a:t>          p-&gt;data=x;</a:t>
            </a:r>
            <a:endParaRPr lang="ru-RU" sz="2800" dirty="0"/>
          </a:p>
          <a:p>
            <a:r>
              <a:rPr lang="en-US" sz="2800" dirty="0"/>
              <a:t>          p-&gt;next=q-&gt;next;</a:t>
            </a:r>
            <a:endParaRPr lang="ru-RU" sz="2800" dirty="0"/>
          </a:p>
          <a:p>
            <a:r>
              <a:rPr lang="en-US" sz="2800" dirty="0"/>
              <a:t>          q-&gt;next=p;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1888621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492" y="-472108"/>
            <a:ext cx="10018713" cy="944216"/>
          </a:xfrm>
        </p:spPr>
        <p:txBody>
          <a:bodyPr>
            <a:normAutofit/>
          </a:bodyPr>
          <a:lstStyle/>
          <a:p>
            <a:endParaRPr lang="ru-RU" sz="3200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068CC82-F77C-4494-9B28-9921F9D17DCD}"/>
              </a:ext>
            </a:extLst>
          </p:cNvPr>
          <p:cNvSpPr txBox="1"/>
          <p:nvPr/>
        </p:nvSpPr>
        <p:spPr>
          <a:xfrm>
            <a:off x="110836" y="181162"/>
            <a:ext cx="825731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create_order_list</a:t>
            </a:r>
            <a:r>
              <a:rPr lang="en-US" sz="2800" dirty="0"/>
              <a:t>(</a:t>
            </a:r>
            <a:r>
              <a:rPr lang="en-US" sz="2800" dirty="0" err="1"/>
              <a:t>ifstream</a:t>
            </a:r>
            <a:r>
              <a:rPr lang="en-US" sz="2800" dirty="0"/>
              <a:t> &amp;f, node* &amp;top)</a:t>
            </a:r>
            <a:endParaRPr lang="ru-RU" sz="2800" dirty="0"/>
          </a:p>
          <a:p>
            <a:r>
              <a:rPr lang="it-IT" sz="2800" dirty="0"/>
              <a:t>{</a:t>
            </a:r>
            <a:endParaRPr lang="ru-RU" sz="2800" dirty="0"/>
          </a:p>
          <a:p>
            <a:r>
              <a:rPr lang="it-IT" sz="2800" dirty="0"/>
              <a:t>	int	data;</a:t>
            </a:r>
            <a:endParaRPr lang="ru-RU" sz="2800" dirty="0"/>
          </a:p>
          <a:p>
            <a:r>
              <a:rPr lang="it-IT" sz="2800" dirty="0"/>
              <a:t>	node* p;</a:t>
            </a:r>
            <a:endParaRPr lang="ru-RU" sz="2800" dirty="0"/>
          </a:p>
          <a:p>
            <a:r>
              <a:rPr lang="it-IT" sz="2800" dirty="0"/>
              <a:t>	node* pr;</a:t>
            </a:r>
            <a:endParaRPr lang="ru-RU" sz="2800" dirty="0"/>
          </a:p>
          <a:p>
            <a:r>
              <a:rPr lang="it-IT" sz="2800" dirty="0"/>
              <a:t>	</a:t>
            </a:r>
            <a:r>
              <a:rPr lang="en-US" sz="2800" dirty="0"/>
              <a:t>top = NULL;</a:t>
            </a:r>
            <a:endParaRPr lang="ru-RU" sz="2800" dirty="0"/>
          </a:p>
          <a:p>
            <a:r>
              <a:rPr lang="en-US" sz="2800" dirty="0"/>
              <a:t>	if(!f)</a:t>
            </a:r>
            <a:endParaRPr lang="ru-RU" sz="2800" dirty="0"/>
          </a:p>
          <a:p>
            <a:r>
              <a:rPr lang="en-US" sz="2800" dirty="0"/>
              <a:t>	{</a:t>
            </a:r>
            <a:endParaRPr lang="ru-RU" sz="2800" dirty="0"/>
          </a:p>
          <a:p>
            <a:r>
              <a:rPr lang="en-US" sz="2800" dirty="0"/>
              <a:t>	    </a:t>
            </a:r>
            <a:r>
              <a:rPr lang="en-US" sz="2800" dirty="0" err="1"/>
              <a:t>cout</a:t>
            </a:r>
            <a:r>
              <a:rPr lang="en-US" sz="2800" dirty="0"/>
              <a:t>&lt;&lt;"Can't open file"&lt;&lt;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en-US" sz="2800" dirty="0"/>
              <a:t>	    exit(-1); </a:t>
            </a:r>
            <a:endParaRPr lang="ru-RU" sz="2800" dirty="0"/>
          </a:p>
          <a:p>
            <a:r>
              <a:rPr lang="en-US" sz="2800" dirty="0"/>
              <a:t>	} </a:t>
            </a:r>
            <a:endParaRPr lang="ru-RU" sz="2800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54854B-2F06-4583-B0E4-59D53363B1DC}"/>
              </a:ext>
            </a:extLst>
          </p:cNvPr>
          <p:cNvSpPr txBox="1"/>
          <p:nvPr/>
        </p:nvSpPr>
        <p:spPr>
          <a:xfrm>
            <a:off x="3592078" y="1044490"/>
            <a:ext cx="7826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Создание новых переменных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CF543CC-9E90-4E01-AF63-C9B305ACCB39}"/>
              </a:ext>
            </a:extLst>
          </p:cNvPr>
          <p:cNvSpPr txBox="1"/>
          <p:nvPr/>
        </p:nvSpPr>
        <p:spPr>
          <a:xfrm>
            <a:off x="3592078" y="2373923"/>
            <a:ext cx="6448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Создание пустого списка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A9464C0-9A39-4809-8354-20A1EA42EE07}"/>
              </a:ext>
            </a:extLst>
          </p:cNvPr>
          <p:cNvSpPr txBox="1"/>
          <p:nvPr/>
        </p:nvSpPr>
        <p:spPr>
          <a:xfrm>
            <a:off x="3592078" y="4572000"/>
            <a:ext cx="8141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Проверка на существование файла</a:t>
            </a:r>
          </a:p>
        </p:txBody>
      </p:sp>
    </p:spTree>
    <p:extLst>
      <p:ext uri="{BB962C8B-B14F-4D97-AF65-F5344CB8AC3E}">
        <p14:creationId xmlns:p14="http://schemas.microsoft.com/office/powerpoint/2010/main" val="1456507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41FD4E-764A-4D8F-BF12-AE1A9384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44216"/>
          </a:xfrm>
        </p:spPr>
        <p:txBody>
          <a:bodyPr>
            <a:normAutofit/>
          </a:bodyPr>
          <a:lstStyle/>
          <a:p>
            <a:endParaRPr lang="ru-RU" sz="3200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1AB680B-4D88-47DE-ACC9-26C4C60AD40F}"/>
              </a:ext>
            </a:extLst>
          </p:cNvPr>
          <p:cNvSpPr txBox="1"/>
          <p:nvPr/>
        </p:nvSpPr>
        <p:spPr>
          <a:xfrm>
            <a:off x="0" y="93871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	void </a:t>
            </a:r>
            <a:r>
              <a:rPr lang="en-US" sz="2800" dirty="0" err="1"/>
              <a:t>create_order_list</a:t>
            </a:r>
            <a:r>
              <a:rPr lang="en-US" sz="2800" dirty="0"/>
              <a:t>(</a:t>
            </a:r>
            <a:r>
              <a:rPr lang="en-US" sz="2800" dirty="0" err="1"/>
              <a:t>ifstream</a:t>
            </a:r>
            <a:r>
              <a:rPr lang="en-US" sz="2800" dirty="0"/>
              <a:t> &amp;f, node* &amp;top)</a:t>
            </a:r>
            <a:endParaRPr lang="ru-RU" sz="2800" dirty="0"/>
          </a:p>
          <a:p>
            <a:r>
              <a:rPr lang="it-IT" sz="2800" dirty="0"/>
              <a:t>{</a:t>
            </a:r>
            <a:endParaRPr lang="ru-RU" sz="2800" dirty="0"/>
          </a:p>
          <a:p>
            <a:r>
              <a:rPr lang="it-IT" sz="2800" dirty="0"/>
              <a:t>	int	data;</a:t>
            </a:r>
            <a:endParaRPr lang="ru-RU" sz="2800" dirty="0"/>
          </a:p>
          <a:p>
            <a:r>
              <a:rPr lang="it-IT" sz="2800" dirty="0"/>
              <a:t>	node* p;</a:t>
            </a:r>
            <a:endParaRPr lang="ru-RU" sz="2800" dirty="0"/>
          </a:p>
          <a:p>
            <a:r>
              <a:rPr lang="it-IT" sz="2800" dirty="0"/>
              <a:t>	node* pr;</a:t>
            </a:r>
            <a:endParaRPr lang="ru-RU" sz="2800" dirty="0"/>
          </a:p>
          <a:p>
            <a:r>
              <a:rPr lang="it-IT" sz="2800" dirty="0"/>
              <a:t>	</a:t>
            </a:r>
            <a:r>
              <a:rPr lang="en-US" sz="2800" dirty="0"/>
              <a:t>top = NULL;</a:t>
            </a:r>
            <a:endParaRPr lang="ru-RU" sz="2800" dirty="0"/>
          </a:p>
          <a:p>
            <a:r>
              <a:rPr lang="en-US" sz="2800" dirty="0"/>
              <a:t>	if(!f)</a:t>
            </a:r>
            <a:endParaRPr lang="ru-RU" sz="2800" dirty="0"/>
          </a:p>
          <a:p>
            <a:r>
              <a:rPr lang="en-US" sz="2800" dirty="0"/>
              <a:t>	{</a:t>
            </a:r>
            <a:endParaRPr lang="ru-RU" sz="2800" dirty="0"/>
          </a:p>
          <a:p>
            <a:r>
              <a:rPr lang="en-US" sz="2800" dirty="0"/>
              <a:t>	    </a:t>
            </a:r>
            <a:r>
              <a:rPr lang="en-US" sz="2800" dirty="0" err="1"/>
              <a:t>cout</a:t>
            </a:r>
            <a:r>
              <a:rPr lang="en-US" sz="2800" dirty="0"/>
              <a:t>&lt;&lt;"Can't open file"&lt;&lt;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en-US" sz="2800" dirty="0"/>
              <a:t>	    exit(-1); </a:t>
            </a:r>
            <a:endParaRPr lang="ru-RU" sz="2800" dirty="0"/>
          </a:p>
          <a:p>
            <a:r>
              <a:rPr lang="en-US" sz="2800" dirty="0"/>
              <a:t>	} </a:t>
            </a:r>
            <a:endParaRPr lang="ru-RU" sz="2800" dirty="0"/>
          </a:p>
          <a:p>
            <a:r>
              <a:rPr lang="en-US" sz="2800" dirty="0"/>
              <a:t>	f&gt;&gt;data;</a:t>
            </a:r>
            <a:endParaRPr lang="ru-RU" sz="2800" dirty="0"/>
          </a:p>
          <a:p>
            <a:r>
              <a:rPr lang="en-US" sz="2800" dirty="0"/>
              <a:t>	push(</a:t>
            </a:r>
            <a:r>
              <a:rPr lang="en-US" sz="2800" dirty="0" err="1"/>
              <a:t>top,data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ru-RU" sz="2800" dirty="0"/>
              <a:t>     </a:t>
            </a:r>
            <a:r>
              <a:rPr lang="en-US" sz="2800" dirty="0"/>
              <a:t>while (f&gt;&gt;data)</a:t>
            </a:r>
            <a:endParaRPr lang="ru-RU" sz="2800" dirty="0"/>
          </a:p>
          <a:p>
            <a:r>
              <a:rPr lang="ru-RU" sz="2800" dirty="0"/>
              <a:t> </a:t>
            </a:r>
            <a:r>
              <a:rPr lang="en-US" sz="2800" dirty="0"/>
              <a:t>{ …. }       }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F2787FB-B73B-4BFB-9D83-88750DB33774}"/>
              </a:ext>
            </a:extLst>
          </p:cNvPr>
          <p:cNvSpPr txBox="1"/>
          <p:nvPr/>
        </p:nvSpPr>
        <p:spPr>
          <a:xfrm>
            <a:off x="3076575" y="1115080"/>
            <a:ext cx="6858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Чтение данных из файла </a:t>
            </a:r>
            <a: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:</a:t>
            </a:r>
            <a: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data=5</a:t>
            </a:r>
            <a:r>
              <a:rPr lang="ru-RU" sz="2800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ru-RU" sz="2800" u="sng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ru-RU" sz="2800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F5015AD5-AF1D-457A-91DC-148D155AB125}"/>
              </a:ext>
            </a:extLst>
          </p:cNvPr>
          <p:cNvSpPr/>
          <p:nvPr/>
        </p:nvSpPr>
        <p:spPr>
          <a:xfrm>
            <a:off x="3076574" y="2314450"/>
            <a:ext cx="76104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Создание первого элемента списка:</a:t>
            </a:r>
            <a:br>
              <a:rPr lang="ru-RU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ru-RU" sz="28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F4CAA18-D37D-41A0-9B33-84EF20FC86EB}"/>
              </a:ext>
            </a:extLst>
          </p:cNvPr>
          <p:cNvSpPr/>
          <p:nvPr/>
        </p:nvSpPr>
        <p:spPr>
          <a:xfrm>
            <a:off x="8976276" y="3742459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F6C58F9E-C5CB-4FFF-A2D5-428E27DCBB05}"/>
              </a:ext>
            </a:extLst>
          </p:cNvPr>
          <p:cNvSpPr/>
          <p:nvPr/>
        </p:nvSpPr>
        <p:spPr>
          <a:xfrm>
            <a:off x="8976277" y="4569074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32C2ACF-0A0D-4020-B347-1C3EF7C5EAB5}"/>
              </a:ext>
            </a:extLst>
          </p:cNvPr>
          <p:cNvSpPr txBox="1"/>
          <p:nvPr/>
        </p:nvSpPr>
        <p:spPr>
          <a:xfrm>
            <a:off x="9056686" y="3819254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data=5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CDF9472-93E2-41CB-A398-616469286552}"/>
              </a:ext>
            </a:extLst>
          </p:cNvPr>
          <p:cNvSpPr txBox="1"/>
          <p:nvPr/>
        </p:nvSpPr>
        <p:spPr>
          <a:xfrm>
            <a:off x="9229309" y="4713146"/>
            <a:ext cx="14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NULL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DEDDC5D-28EE-4408-B063-D5950DE063F8}"/>
              </a:ext>
            </a:extLst>
          </p:cNvPr>
          <p:cNvSpPr txBox="1"/>
          <p:nvPr/>
        </p:nvSpPr>
        <p:spPr>
          <a:xfrm>
            <a:off x="9229309" y="3116009"/>
            <a:ext cx="1267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8717586-3BDC-4B71-8F7C-CECAAE0B493F}"/>
              </a:ext>
            </a:extLst>
          </p:cNvPr>
          <p:cNvSpPr txBox="1"/>
          <p:nvPr/>
        </p:nvSpPr>
        <p:spPr>
          <a:xfrm>
            <a:off x="3752850" y="5714806"/>
            <a:ext cx="7296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Пока можно читать из файла повторяем следующие действия: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78DFF9A-8FB8-4525-A519-0246984C0B43}"/>
              </a:ext>
            </a:extLst>
          </p:cNvPr>
          <p:cNvSpPr/>
          <p:nvPr/>
        </p:nvSpPr>
        <p:spPr>
          <a:xfrm>
            <a:off x="8611405" y="888350"/>
            <a:ext cx="3267855" cy="1075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 </a:t>
            </a:r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  <a:endParaRPr lang="ru-RU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FBAF190-36C5-42F8-8A37-8D8BD773D265}"/>
              </a:ext>
            </a:extLst>
          </p:cNvPr>
          <p:cNvSpPr txBox="1"/>
          <p:nvPr/>
        </p:nvSpPr>
        <p:spPr>
          <a:xfrm>
            <a:off x="8786823" y="1077133"/>
            <a:ext cx="53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862555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mph" presetSubtype="0" fill="hold" nodeType="withEffect">
                                  <p:stCondLst>
                                    <p:cond delay="21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12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12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12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противолежащие углы 4">
            <a:extLst>
              <a:ext uri="{FF2B5EF4-FFF2-40B4-BE49-F238E27FC236}">
                <a16:creationId xmlns:a16="http://schemas.microsoft.com/office/drawing/2014/main" xmlns="" id="{21581385-515D-49C4-B9A1-414AE756BFAF}"/>
              </a:ext>
            </a:extLst>
          </p:cNvPr>
          <p:cNvSpPr/>
          <p:nvPr/>
        </p:nvSpPr>
        <p:spPr>
          <a:xfrm>
            <a:off x="6969006" y="3881618"/>
            <a:ext cx="5186597" cy="2603328"/>
          </a:xfrm>
          <a:prstGeom prst="round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0FA2783B-88F4-46C5-982D-653BCA1CFC92}"/>
              </a:ext>
            </a:extLst>
          </p:cNvPr>
          <p:cNvSpPr/>
          <p:nvPr/>
        </p:nvSpPr>
        <p:spPr>
          <a:xfrm>
            <a:off x="10492617" y="1198956"/>
            <a:ext cx="496130" cy="5232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C3FE224C-8889-4957-93AC-0A8FB97C62A4}"/>
              </a:ext>
            </a:extLst>
          </p:cNvPr>
          <p:cNvSpPr/>
          <p:nvPr/>
        </p:nvSpPr>
        <p:spPr>
          <a:xfrm>
            <a:off x="10040388" y="1812236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1914605-49EC-47B1-86CB-97B3E26A430F}"/>
              </a:ext>
            </a:extLst>
          </p:cNvPr>
          <p:cNvSpPr/>
          <p:nvPr/>
        </p:nvSpPr>
        <p:spPr>
          <a:xfrm>
            <a:off x="10040388" y="2620618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414F0BF-37AD-40E0-BC55-09C24BB3D743}"/>
              </a:ext>
            </a:extLst>
          </p:cNvPr>
          <p:cNvSpPr txBox="1"/>
          <p:nvPr/>
        </p:nvSpPr>
        <p:spPr>
          <a:xfrm>
            <a:off x="10040388" y="1954817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data=5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C61FBED-5648-4DA0-8D20-AFCF6798448B}"/>
              </a:ext>
            </a:extLst>
          </p:cNvPr>
          <p:cNvSpPr txBox="1"/>
          <p:nvPr/>
        </p:nvSpPr>
        <p:spPr>
          <a:xfrm>
            <a:off x="10316198" y="2763199"/>
            <a:ext cx="14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NULL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6A07DA4-D9F7-49F1-B38F-CAE52B18EF89}"/>
              </a:ext>
            </a:extLst>
          </p:cNvPr>
          <p:cNvSpPr txBox="1"/>
          <p:nvPr/>
        </p:nvSpPr>
        <p:spPr>
          <a:xfrm>
            <a:off x="10988747" y="1217726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5B9054A-137C-4061-80F6-EAF090861B86}"/>
              </a:ext>
            </a:extLst>
          </p:cNvPr>
          <p:cNvSpPr txBox="1"/>
          <p:nvPr/>
        </p:nvSpPr>
        <p:spPr>
          <a:xfrm>
            <a:off x="-582300" y="324886"/>
            <a:ext cx="76581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          </a:t>
            </a:r>
            <a:r>
              <a:rPr lang="en-US" sz="2800" dirty="0"/>
              <a:t>while (f&gt;&gt;data)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    </a:t>
            </a:r>
            <a:r>
              <a:rPr lang="en-US" sz="2800" dirty="0"/>
              <a:t>{  </a:t>
            </a:r>
            <a:endParaRPr lang="ru-RU" sz="2800" dirty="0"/>
          </a:p>
          <a:p>
            <a:r>
              <a:rPr lang="en-US" sz="2800" dirty="0"/>
              <a:t>		    p=top;</a:t>
            </a:r>
            <a:endParaRPr lang="ru-RU" sz="2800" dirty="0"/>
          </a:p>
          <a:p>
            <a:r>
              <a:rPr lang="en-US" sz="2800" dirty="0"/>
              <a:t>			</a:t>
            </a:r>
            <a:r>
              <a:rPr lang="en-US" sz="2800" dirty="0" err="1"/>
              <a:t>pr</a:t>
            </a:r>
            <a:r>
              <a:rPr lang="en-US" sz="2800" dirty="0"/>
              <a:t>=p;</a:t>
            </a:r>
            <a:endParaRPr lang="ru-RU" sz="2800" dirty="0"/>
          </a:p>
          <a:p>
            <a:r>
              <a:rPr lang="en-US" sz="2800" dirty="0"/>
              <a:t>		    while ( p &amp;&amp;  p-&gt;data &lt; data )</a:t>
            </a:r>
            <a:endParaRPr lang="ru-RU" sz="2800" dirty="0"/>
          </a:p>
          <a:p>
            <a:r>
              <a:rPr lang="en-US" sz="2800" dirty="0"/>
              <a:t>			{ </a:t>
            </a:r>
            <a:endParaRPr lang="ru-RU" sz="2800" dirty="0"/>
          </a:p>
          <a:p>
            <a:r>
              <a:rPr lang="en-US" sz="2800" dirty="0"/>
              <a:t>			   </a:t>
            </a:r>
            <a:r>
              <a:rPr lang="en-US" sz="2800" dirty="0" err="1"/>
              <a:t>pr</a:t>
            </a:r>
            <a:r>
              <a:rPr lang="en-US" sz="2800" dirty="0"/>
              <a:t>=p;</a:t>
            </a:r>
            <a:endParaRPr lang="ru-RU" sz="2800" dirty="0"/>
          </a:p>
          <a:p>
            <a:r>
              <a:rPr lang="en-US" sz="2800" dirty="0"/>
              <a:t>			   p=p-&gt;next;</a:t>
            </a:r>
            <a:endParaRPr lang="ru-RU" sz="2800" dirty="0"/>
          </a:p>
          <a:p>
            <a:r>
              <a:rPr lang="en-US" sz="2800" dirty="0"/>
              <a:t>			}</a:t>
            </a:r>
            <a:endParaRPr lang="ru-RU" sz="2800" dirty="0"/>
          </a:p>
          <a:p>
            <a:r>
              <a:rPr lang="en-US" sz="2800" dirty="0"/>
              <a:t>		      if (p==NULL)</a:t>
            </a:r>
            <a:endParaRPr lang="ru-RU" sz="2800" dirty="0"/>
          </a:p>
          <a:p>
            <a:r>
              <a:rPr lang="en-US" sz="2800" dirty="0"/>
              <a:t>		       </a:t>
            </a:r>
            <a:r>
              <a:rPr lang="en-US" sz="2800" dirty="0" err="1"/>
              <a:t>insert_list_after</a:t>
            </a:r>
            <a:r>
              <a:rPr lang="en-US" sz="2800" dirty="0"/>
              <a:t>(top, </a:t>
            </a:r>
            <a:r>
              <a:rPr lang="en-US" sz="2800" dirty="0" err="1"/>
              <a:t>pr,data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	      else</a:t>
            </a:r>
            <a:endParaRPr lang="ru-RU" sz="2800" dirty="0"/>
          </a:p>
          <a:p>
            <a:r>
              <a:rPr lang="en-US" sz="2800" dirty="0"/>
              <a:t>                </a:t>
            </a:r>
            <a:r>
              <a:rPr lang="en-US" sz="2800" dirty="0" err="1"/>
              <a:t>insert_list_before</a:t>
            </a:r>
            <a:r>
              <a:rPr lang="en-US" sz="2800" dirty="0"/>
              <a:t>(top, </a:t>
            </a:r>
            <a:r>
              <a:rPr lang="en-US" sz="2800" dirty="0" err="1"/>
              <a:t>p,data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    </a:t>
            </a:r>
            <a:r>
              <a:rPr lang="en-US" sz="2800" dirty="0"/>
              <a:t>}	</a:t>
            </a:r>
            <a:endParaRPr lang="ru-RU" sz="2800" dirty="0"/>
          </a:p>
          <a:p>
            <a:r>
              <a:rPr lang="ru-RU" sz="2800" dirty="0"/>
              <a:t>      </a:t>
            </a:r>
            <a:r>
              <a:rPr lang="en-US" sz="2800" dirty="0"/>
              <a:t>}</a:t>
            </a:r>
            <a:endParaRPr lang="ru-RU" sz="2800" dirty="0"/>
          </a:p>
          <a:p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FDE7568-7D95-4126-BBF1-D1C40543A9A9}"/>
              </a:ext>
            </a:extLst>
          </p:cNvPr>
          <p:cNvSpPr txBox="1"/>
          <p:nvPr/>
        </p:nvSpPr>
        <p:spPr>
          <a:xfrm>
            <a:off x="7533480" y="267288"/>
            <a:ext cx="4057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</a:t>
            </a:r>
            <a:r>
              <a:rPr lang="ru-RU" sz="2800" dirty="0"/>
              <a:t>:</a:t>
            </a:r>
            <a:r>
              <a:rPr lang="en-US" sz="2800" dirty="0"/>
              <a:t>   5 </a:t>
            </a:r>
            <a:r>
              <a:rPr lang="ru-RU" sz="2800" dirty="0"/>
              <a:t>1</a:t>
            </a:r>
            <a:r>
              <a:rPr lang="en-US" sz="2800" dirty="0"/>
              <a:t> 20 3</a:t>
            </a:r>
            <a:r>
              <a:rPr lang="ru-RU" sz="2800" dirty="0"/>
              <a:t> </a:t>
            </a:r>
            <a:r>
              <a:rPr lang="en-US" sz="2800" dirty="0"/>
              <a:t/>
            </a:r>
            <a:br>
              <a:rPr lang="en-US" sz="2800" dirty="0"/>
            </a:b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0C5B367-7FB4-47E1-9AFE-9610D3E8EE15}"/>
              </a:ext>
            </a:extLst>
          </p:cNvPr>
          <p:cNvSpPr txBox="1"/>
          <p:nvPr/>
        </p:nvSpPr>
        <p:spPr>
          <a:xfrm>
            <a:off x="10492617" y="1182081"/>
            <a:ext cx="672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  <a:endParaRPr lang="ru-RU" sz="28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EA291221-1F39-4314-8D62-B992171318FF}"/>
              </a:ext>
            </a:extLst>
          </p:cNvPr>
          <p:cNvSpPr/>
          <p:nvPr/>
        </p:nvSpPr>
        <p:spPr>
          <a:xfrm>
            <a:off x="9777744" y="1182081"/>
            <a:ext cx="665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 </a:t>
            </a:r>
            <a:r>
              <a:rPr lang="en-US" sz="2800" dirty="0" err="1"/>
              <a:t>pr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9175E12C-5D86-4419-AF71-CACD67A0C6FF}"/>
              </a:ext>
            </a:extLst>
          </p:cNvPr>
          <p:cNvSpPr/>
          <p:nvPr/>
        </p:nvSpPr>
        <p:spPr>
          <a:xfrm>
            <a:off x="10150547" y="4274921"/>
            <a:ext cx="16578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data=1 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F94B1F6-C3A3-434D-B9FA-D8D491082AAE}"/>
              </a:ext>
            </a:extLst>
          </p:cNvPr>
          <p:cNvSpPr txBox="1"/>
          <p:nvPr/>
        </p:nvSpPr>
        <p:spPr>
          <a:xfrm>
            <a:off x="7340048" y="4283851"/>
            <a:ext cx="4875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p-&gt;data=5     &lt;                  ?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7639E8B-63BA-42AF-9BEC-CD4C267002F5}"/>
              </a:ext>
            </a:extLst>
          </p:cNvPr>
          <p:cNvSpPr txBox="1"/>
          <p:nvPr/>
        </p:nvSpPr>
        <p:spPr>
          <a:xfrm>
            <a:off x="9482407" y="4921672"/>
            <a:ext cx="2325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NO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C65BC21-D0D6-41E9-B953-125FF2D95909}"/>
              </a:ext>
            </a:extLst>
          </p:cNvPr>
          <p:cNvSpPr txBox="1"/>
          <p:nvPr/>
        </p:nvSpPr>
        <p:spPr>
          <a:xfrm>
            <a:off x="9359277" y="5558784"/>
            <a:ext cx="3240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p=5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0F505D24-CCDB-4D0E-A67B-FA889EFA0B18}"/>
              </a:ext>
            </a:extLst>
          </p:cNvPr>
          <p:cNvSpPr/>
          <p:nvPr/>
        </p:nvSpPr>
        <p:spPr>
          <a:xfrm>
            <a:off x="7474928" y="31671"/>
            <a:ext cx="3267855" cy="1075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 </a:t>
            </a:r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  <a:endParaRPr lang="ru-RU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968B59B-0C2F-4DD0-9640-3554BBEA3FF5}"/>
              </a:ext>
            </a:extLst>
          </p:cNvPr>
          <p:cNvSpPr txBox="1"/>
          <p:nvPr/>
        </p:nvSpPr>
        <p:spPr>
          <a:xfrm>
            <a:off x="7677813" y="215289"/>
            <a:ext cx="53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ru-RU" sz="4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22AB827-709C-4099-ADE1-F5EB24E22B1B}"/>
              </a:ext>
            </a:extLst>
          </p:cNvPr>
          <p:cNvSpPr txBox="1"/>
          <p:nvPr/>
        </p:nvSpPr>
        <p:spPr>
          <a:xfrm>
            <a:off x="8156909" y="218314"/>
            <a:ext cx="53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5588806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7" presetClass="emph" presetSubtype="0" fill="remove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1600" autoRev="1" fill="remove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animClr clrSpc="rgb" dir="cw">
                                      <p:cBhvr>
                                        <p:cTn id="20" dur="1600" autoRev="1" fill="remove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set>
                                      <p:cBhvr>
                                        <p:cTn id="21" dur="1600" autoRev="1" fill="remove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600" autoRev="1" fill="remove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7" presetClass="emph" presetSubtype="0" fill="remove" nodeType="withEffect">
                                  <p:stCondLst>
                                    <p:cond delay="1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9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37" dur="19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8" dur="19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9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325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25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25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2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7" presetClass="emph" presetSubtype="0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850" autoRev="1" fill="remove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54" dur="1850" autoRev="1" fill="remove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5" dur="1850" autoRev="1" fill="remove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850" autoRev="1" fill="remove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2050" autoRev="1" fill="remove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animClr clrSpc="rgb" dir="cw">
                                      <p:cBhvr>
                                        <p:cTn id="68" dur="2050" autoRev="1" fill="remove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set>
                                      <p:cBhvr>
                                        <p:cTn id="69" dur="2050" autoRev="1" fill="remove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50" autoRev="1" fill="remove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2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7" presetClass="emph" presetSubtype="0" fill="remove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250" autoRev="1" fill="remove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animClr clrSpc="rgb" dir="cw">
                                      <p:cBhvr>
                                        <p:cTn id="78" dur="2250" autoRev="1" fill="remove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set>
                                      <p:cBhvr>
                                        <p:cTn id="79" dur="2250" autoRev="1" fill="remove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250" autoRev="1" fill="remove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4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7" presetClass="emph" presetSubtype="0" fill="remove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000" autoRev="1" fill="remov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animClr clrSpc="rgb" dir="cw">
                                      <p:cBhvr>
                                        <p:cTn id="95" dur="2000" autoRev="1" fill="remov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F81E1"/>
                                      </p:to>
                                    </p:animClr>
                                    <p:set>
                                      <p:cBhvr>
                                        <p:cTn id="96" dur="2000" autoRev="1" fill="remov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autoRev="1" fill="remov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1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7" grpId="0"/>
      <p:bldP spid="18" grpId="0" build="allAtOnce"/>
      <p:bldP spid="19" grpId="0" build="allAtOnce"/>
      <p:bldP spid="20" grpId="0" build="allAtOnce"/>
      <p:bldP spid="22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: скругленные противолежащие углы 28">
            <a:extLst>
              <a:ext uri="{FF2B5EF4-FFF2-40B4-BE49-F238E27FC236}">
                <a16:creationId xmlns:a16="http://schemas.microsoft.com/office/drawing/2014/main" xmlns="" id="{B4F9BFE9-0894-423C-82F2-5279F819C8F8}"/>
              </a:ext>
            </a:extLst>
          </p:cNvPr>
          <p:cNvSpPr/>
          <p:nvPr/>
        </p:nvSpPr>
        <p:spPr>
          <a:xfrm>
            <a:off x="6969006" y="3938559"/>
            <a:ext cx="5186597" cy="2603328"/>
          </a:xfrm>
          <a:prstGeom prst="round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4EAA67B9-4DE7-49FA-A5C0-0CC29178654B}"/>
              </a:ext>
            </a:extLst>
          </p:cNvPr>
          <p:cNvSpPr/>
          <p:nvPr/>
        </p:nvSpPr>
        <p:spPr>
          <a:xfrm>
            <a:off x="7424981" y="2638851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C3FE224C-8889-4957-93AC-0A8FB97C62A4}"/>
              </a:ext>
            </a:extLst>
          </p:cNvPr>
          <p:cNvSpPr/>
          <p:nvPr/>
        </p:nvSpPr>
        <p:spPr>
          <a:xfrm>
            <a:off x="10040388" y="1812236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1914605-49EC-47B1-86CB-97B3E26A430F}"/>
              </a:ext>
            </a:extLst>
          </p:cNvPr>
          <p:cNvSpPr/>
          <p:nvPr/>
        </p:nvSpPr>
        <p:spPr>
          <a:xfrm>
            <a:off x="10040388" y="2620618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414F0BF-37AD-40E0-BC55-09C24BB3D743}"/>
              </a:ext>
            </a:extLst>
          </p:cNvPr>
          <p:cNvSpPr txBox="1"/>
          <p:nvPr/>
        </p:nvSpPr>
        <p:spPr>
          <a:xfrm>
            <a:off x="10040388" y="1954817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data=5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C61FBED-5648-4DA0-8D20-AFCF6798448B}"/>
              </a:ext>
            </a:extLst>
          </p:cNvPr>
          <p:cNvSpPr txBox="1"/>
          <p:nvPr/>
        </p:nvSpPr>
        <p:spPr>
          <a:xfrm>
            <a:off x="10316198" y="2763199"/>
            <a:ext cx="14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NULL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6A07DA4-D9F7-49F1-B38F-CAE52B18EF89}"/>
              </a:ext>
            </a:extLst>
          </p:cNvPr>
          <p:cNvSpPr txBox="1"/>
          <p:nvPr/>
        </p:nvSpPr>
        <p:spPr>
          <a:xfrm>
            <a:off x="10988747" y="1217726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5B9054A-137C-4061-80F6-EAF090861B86}"/>
              </a:ext>
            </a:extLst>
          </p:cNvPr>
          <p:cNvSpPr txBox="1"/>
          <p:nvPr/>
        </p:nvSpPr>
        <p:spPr>
          <a:xfrm>
            <a:off x="-582300" y="324886"/>
            <a:ext cx="76581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          </a:t>
            </a:r>
            <a:r>
              <a:rPr lang="en-US" sz="2800" dirty="0"/>
              <a:t>while (f&gt;&gt;data)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    </a:t>
            </a:r>
            <a:r>
              <a:rPr lang="en-US" sz="2800" dirty="0"/>
              <a:t>{  </a:t>
            </a:r>
            <a:endParaRPr lang="ru-RU" sz="2800" dirty="0"/>
          </a:p>
          <a:p>
            <a:r>
              <a:rPr lang="en-US" sz="2800" dirty="0"/>
              <a:t>		    p=top;</a:t>
            </a:r>
            <a:endParaRPr lang="ru-RU" sz="2800" dirty="0"/>
          </a:p>
          <a:p>
            <a:r>
              <a:rPr lang="en-US" sz="2800" dirty="0"/>
              <a:t>			</a:t>
            </a:r>
            <a:r>
              <a:rPr lang="en-US" sz="2800" dirty="0" err="1"/>
              <a:t>pr</a:t>
            </a:r>
            <a:r>
              <a:rPr lang="en-US" sz="2800" dirty="0"/>
              <a:t>=p;</a:t>
            </a:r>
            <a:endParaRPr lang="ru-RU" sz="2800" dirty="0"/>
          </a:p>
          <a:p>
            <a:r>
              <a:rPr lang="en-US" sz="2800" dirty="0"/>
              <a:t>		    while ( p &amp;&amp;  p-&gt;data &lt; data )</a:t>
            </a:r>
            <a:endParaRPr lang="ru-RU" sz="2800" dirty="0"/>
          </a:p>
          <a:p>
            <a:r>
              <a:rPr lang="en-US" sz="2800" dirty="0"/>
              <a:t>			{ </a:t>
            </a:r>
            <a:endParaRPr lang="ru-RU" sz="2800" dirty="0"/>
          </a:p>
          <a:p>
            <a:r>
              <a:rPr lang="en-US" sz="2800" dirty="0"/>
              <a:t>			   </a:t>
            </a:r>
            <a:r>
              <a:rPr lang="en-US" sz="2800" dirty="0" err="1"/>
              <a:t>pr</a:t>
            </a:r>
            <a:r>
              <a:rPr lang="en-US" sz="2800" dirty="0"/>
              <a:t>=p;</a:t>
            </a:r>
            <a:endParaRPr lang="ru-RU" sz="2800" dirty="0"/>
          </a:p>
          <a:p>
            <a:r>
              <a:rPr lang="en-US" sz="2800" dirty="0"/>
              <a:t>			   p=p-&gt;next;</a:t>
            </a:r>
            <a:endParaRPr lang="ru-RU" sz="2800" dirty="0"/>
          </a:p>
          <a:p>
            <a:r>
              <a:rPr lang="en-US" sz="2800" dirty="0"/>
              <a:t>			}</a:t>
            </a:r>
            <a:endParaRPr lang="ru-RU" sz="2800" dirty="0"/>
          </a:p>
          <a:p>
            <a:r>
              <a:rPr lang="en-US" sz="2800" dirty="0"/>
              <a:t>		      if (p==NULL)</a:t>
            </a:r>
            <a:endParaRPr lang="ru-RU" sz="2800" dirty="0"/>
          </a:p>
          <a:p>
            <a:r>
              <a:rPr lang="en-US" sz="2800" dirty="0"/>
              <a:t>		       </a:t>
            </a:r>
            <a:r>
              <a:rPr lang="en-US" sz="2800" dirty="0" err="1"/>
              <a:t>insert_list_after</a:t>
            </a:r>
            <a:r>
              <a:rPr lang="en-US" sz="2800" dirty="0"/>
              <a:t>(top, </a:t>
            </a:r>
            <a:r>
              <a:rPr lang="en-US" sz="2800" dirty="0" err="1"/>
              <a:t>pr,data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	      else</a:t>
            </a:r>
            <a:endParaRPr lang="ru-RU" sz="2800" dirty="0"/>
          </a:p>
          <a:p>
            <a:r>
              <a:rPr lang="en-US" sz="2800" dirty="0"/>
              <a:t>                </a:t>
            </a:r>
            <a:r>
              <a:rPr lang="en-US" sz="2800" dirty="0" err="1"/>
              <a:t>insert_list_before</a:t>
            </a:r>
            <a:r>
              <a:rPr lang="en-US" sz="2800" dirty="0"/>
              <a:t>(top, </a:t>
            </a:r>
            <a:r>
              <a:rPr lang="en-US" sz="2800" dirty="0" err="1"/>
              <a:t>p,data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    </a:t>
            </a:r>
            <a:r>
              <a:rPr lang="en-US" sz="2800" dirty="0"/>
              <a:t>}	</a:t>
            </a:r>
            <a:endParaRPr lang="ru-RU" sz="2800" dirty="0"/>
          </a:p>
          <a:p>
            <a:r>
              <a:rPr lang="ru-RU" sz="2800" dirty="0"/>
              <a:t>      </a:t>
            </a:r>
            <a:r>
              <a:rPr lang="en-US" sz="2800" dirty="0"/>
              <a:t>}</a:t>
            </a:r>
            <a:endParaRPr lang="ru-RU" sz="2800" dirty="0"/>
          </a:p>
          <a:p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FDE7568-7D95-4126-BBF1-D1C40543A9A9}"/>
              </a:ext>
            </a:extLst>
          </p:cNvPr>
          <p:cNvSpPr txBox="1"/>
          <p:nvPr/>
        </p:nvSpPr>
        <p:spPr>
          <a:xfrm>
            <a:off x="7533480" y="267288"/>
            <a:ext cx="4057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0C5B367-7FB4-47E1-9AFE-9610D3E8EE15}"/>
              </a:ext>
            </a:extLst>
          </p:cNvPr>
          <p:cNvSpPr txBox="1"/>
          <p:nvPr/>
        </p:nvSpPr>
        <p:spPr>
          <a:xfrm>
            <a:off x="10452395" y="1181874"/>
            <a:ext cx="672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  <a:endParaRPr lang="ru-RU" sz="28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EA291221-1F39-4314-8D62-B992171318FF}"/>
              </a:ext>
            </a:extLst>
          </p:cNvPr>
          <p:cNvSpPr/>
          <p:nvPr/>
        </p:nvSpPr>
        <p:spPr>
          <a:xfrm>
            <a:off x="9777744" y="1182081"/>
            <a:ext cx="665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 </a:t>
            </a:r>
            <a:r>
              <a:rPr lang="en-US" sz="2800" dirty="0" err="1"/>
              <a:t>pr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9175E12C-5D86-4419-AF71-CACD67A0C6FF}"/>
              </a:ext>
            </a:extLst>
          </p:cNvPr>
          <p:cNvSpPr/>
          <p:nvPr/>
        </p:nvSpPr>
        <p:spPr>
          <a:xfrm>
            <a:off x="10150547" y="4274921"/>
            <a:ext cx="16578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data=1 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F94B1F6-C3A3-434D-B9FA-D8D491082AAE}"/>
              </a:ext>
            </a:extLst>
          </p:cNvPr>
          <p:cNvSpPr txBox="1"/>
          <p:nvPr/>
        </p:nvSpPr>
        <p:spPr>
          <a:xfrm>
            <a:off x="7316609" y="4274921"/>
            <a:ext cx="4875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p-&gt;data=5     &lt;                  ?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7639E8B-63BA-42AF-9BEC-CD4C267002F5}"/>
              </a:ext>
            </a:extLst>
          </p:cNvPr>
          <p:cNvSpPr txBox="1"/>
          <p:nvPr/>
        </p:nvSpPr>
        <p:spPr>
          <a:xfrm>
            <a:off x="9482407" y="4921672"/>
            <a:ext cx="2325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NO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C65BC21-D0D6-41E9-B953-125FF2D95909}"/>
              </a:ext>
            </a:extLst>
          </p:cNvPr>
          <p:cNvSpPr txBox="1"/>
          <p:nvPr/>
        </p:nvSpPr>
        <p:spPr>
          <a:xfrm>
            <a:off x="9359277" y="5558784"/>
            <a:ext cx="3240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p=5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53FCBD23-AE14-4E5B-B33B-B1F3B3DE3E85}"/>
              </a:ext>
            </a:extLst>
          </p:cNvPr>
          <p:cNvSpPr/>
          <p:nvPr/>
        </p:nvSpPr>
        <p:spPr>
          <a:xfrm>
            <a:off x="7424980" y="1812236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81109A8-DCE6-49CF-8A5D-4FAE78E6BE44}"/>
              </a:ext>
            </a:extLst>
          </p:cNvPr>
          <p:cNvSpPr txBox="1"/>
          <p:nvPr/>
        </p:nvSpPr>
        <p:spPr>
          <a:xfrm>
            <a:off x="7505390" y="1889031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</a:t>
            </a:r>
            <a:r>
              <a:rPr lang="ru-RU" sz="2800" dirty="0"/>
              <a:t>1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xmlns="" id="{154A2E99-2106-4FAC-B0A0-725C73AE0793}"/>
              </a:ext>
            </a:extLst>
          </p:cNvPr>
          <p:cNvCxnSpPr>
            <a:cxnSpLocks/>
          </p:cNvCxnSpPr>
          <p:nvPr/>
        </p:nvCxnSpPr>
        <p:spPr>
          <a:xfrm>
            <a:off x="8814216" y="2935411"/>
            <a:ext cx="1501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D4998BDE-9949-4CBC-A45B-171079D1BC40}"/>
              </a:ext>
            </a:extLst>
          </p:cNvPr>
          <p:cNvSpPr/>
          <p:nvPr/>
        </p:nvSpPr>
        <p:spPr>
          <a:xfrm>
            <a:off x="7505390" y="84482"/>
            <a:ext cx="3267855" cy="1075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 </a:t>
            </a:r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  <a:endParaRPr lang="ru-RU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7126E8E8-81B3-4E92-985A-2AB642199356}"/>
              </a:ext>
            </a:extLst>
          </p:cNvPr>
          <p:cNvSpPr txBox="1"/>
          <p:nvPr/>
        </p:nvSpPr>
        <p:spPr>
          <a:xfrm>
            <a:off x="7677813" y="263750"/>
            <a:ext cx="53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1930288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4"/>
                                  </p:iterate>
                                  <p:childTnLst>
                                    <p:set>
                                      <p:cBhvr override="childStyle">
                                        <p:cTn id="6" dur="123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23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23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4.16667E-6 3.33333E-6 L -0.21159 0.22963 " pathEditMode="relative" rAng="0" ptsTypes="AA">
                                      <p:cBhvr>
                                        <p:cTn id="22" dur="3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86" y="1148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67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4" dur="32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7" grpId="0"/>
      <p:bldP spid="24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противолежащие углы 34">
            <a:extLst>
              <a:ext uri="{FF2B5EF4-FFF2-40B4-BE49-F238E27FC236}">
                <a16:creationId xmlns:a16="http://schemas.microsoft.com/office/drawing/2014/main" xmlns="" id="{7AF3A734-7463-4C77-8DE4-F8AD20433791}"/>
              </a:ext>
            </a:extLst>
          </p:cNvPr>
          <p:cNvSpPr/>
          <p:nvPr/>
        </p:nvSpPr>
        <p:spPr>
          <a:xfrm>
            <a:off x="6562058" y="3707287"/>
            <a:ext cx="5186597" cy="2603328"/>
          </a:xfrm>
          <a:prstGeom prst="round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D64778F1-1DAB-466F-8BA4-E55769108558}"/>
              </a:ext>
            </a:extLst>
          </p:cNvPr>
          <p:cNvSpPr/>
          <p:nvPr/>
        </p:nvSpPr>
        <p:spPr>
          <a:xfrm>
            <a:off x="6331829" y="1886149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7E0E335F-BD81-4B5A-A470-EBD22494E8D7}"/>
              </a:ext>
            </a:extLst>
          </p:cNvPr>
          <p:cNvSpPr/>
          <p:nvPr/>
        </p:nvSpPr>
        <p:spPr>
          <a:xfrm>
            <a:off x="10155635" y="2680087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5E6AE4B5-F9DB-4BAE-902B-CBEE09AF7C61}"/>
              </a:ext>
            </a:extLst>
          </p:cNvPr>
          <p:cNvSpPr/>
          <p:nvPr/>
        </p:nvSpPr>
        <p:spPr>
          <a:xfrm>
            <a:off x="6331830" y="2712764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C3FE224C-8889-4957-93AC-0A8FB97C62A4}"/>
              </a:ext>
            </a:extLst>
          </p:cNvPr>
          <p:cNvSpPr/>
          <p:nvPr/>
        </p:nvSpPr>
        <p:spPr>
          <a:xfrm>
            <a:off x="8208879" y="1871705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1914605-49EC-47B1-86CB-97B3E26A430F}"/>
              </a:ext>
            </a:extLst>
          </p:cNvPr>
          <p:cNvSpPr/>
          <p:nvPr/>
        </p:nvSpPr>
        <p:spPr>
          <a:xfrm>
            <a:off x="8208879" y="2680087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414F0BF-37AD-40E0-BC55-09C24BB3D743}"/>
              </a:ext>
            </a:extLst>
          </p:cNvPr>
          <p:cNvSpPr txBox="1"/>
          <p:nvPr/>
        </p:nvSpPr>
        <p:spPr>
          <a:xfrm>
            <a:off x="8208879" y="2014286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data=5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C61FBED-5648-4DA0-8D20-AFCF6798448B}"/>
              </a:ext>
            </a:extLst>
          </p:cNvPr>
          <p:cNvSpPr txBox="1"/>
          <p:nvPr/>
        </p:nvSpPr>
        <p:spPr>
          <a:xfrm>
            <a:off x="8484689" y="2822668"/>
            <a:ext cx="14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NULL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6A07DA4-D9F7-49F1-B38F-CAE52B18EF89}"/>
              </a:ext>
            </a:extLst>
          </p:cNvPr>
          <p:cNvSpPr txBox="1"/>
          <p:nvPr/>
        </p:nvSpPr>
        <p:spPr>
          <a:xfrm>
            <a:off x="6096000" y="1254253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5B9054A-137C-4061-80F6-EAF090861B86}"/>
              </a:ext>
            </a:extLst>
          </p:cNvPr>
          <p:cNvSpPr txBox="1"/>
          <p:nvPr/>
        </p:nvSpPr>
        <p:spPr>
          <a:xfrm>
            <a:off x="-582300" y="324886"/>
            <a:ext cx="76581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          </a:t>
            </a:r>
            <a:r>
              <a:rPr lang="en-US" sz="2800" dirty="0"/>
              <a:t>while (f&gt;&gt;data)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    </a:t>
            </a:r>
            <a:r>
              <a:rPr lang="en-US" sz="2800" dirty="0"/>
              <a:t>{  </a:t>
            </a:r>
            <a:endParaRPr lang="ru-RU" sz="2800" dirty="0"/>
          </a:p>
          <a:p>
            <a:r>
              <a:rPr lang="en-US" sz="2800" dirty="0"/>
              <a:t>		    p=top;</a:t>
            </a:r>
            <a:endParaRPr lang="ru-RU" sz="2800" dirty="0"/>
          </a:p>
          <a:p>
            <a:r>
              <a:rPr lang="en-US" sz="2800" dirty="0"/>
              <a:t>			</a:t>
            </a:r>
            <a:r>
              <a:rPr lang="en-US" sz="2800" dirty="0" err="1"/>
              <a:t>pr</a:t>
            </a:r>
            <a:r>
              <a:rPr lang="en-US" sz="2800" dirty="0"/>
              <a:t>=p;</a:t>
            </a:r>
            <a:endParaRPr lang="ru-RU" sz="2800" dirty="0"/>
          </a:p>
          <a:p>
            <a:r>
              <a:rPr lang="en-US" sz="2800" dirty="0"/>
              <a:t>		    while ( p &amp;&amp;  p-&gt;data &lt; data )</a:t>
            </a:r>
            <a:endParaRPr lang="ru-RU" sz="2800" dirty="0"/>
          </a:p>
          <a:p>
            <a:r>
              <a:rPr lang="en-US" sz="2800" dirty="0"/>
              <a:t>			{ </a:t>
            </a:r>
            <a:endParaRPr lang="ru-RU" sz="2800" dirty="0"/>
          </a:p>
          <a:p>
            <a:r>
              <a:rPr lang="en-US" sz="2800" dirty="0"/>
              <a:t>			   </a:t>
            </a:r>
            <a:r>
              <a:rPr lang="en-US" sz="2800" dirty="0" err="1"/>
              <a:t>pr</a:t>
            </a:r>
            <a:r>
              <a:rPr lang="en-US" sz="2800" dirty="0"/>
              <a:t>=p;</a:t>
            </a:r>
            <a:endParaRPr lang="ru-RU" sz="2800" dirty="0"/>
          </a:p>
          <a:p>
            <a:r>
              <a:rPr lang="en-US" sz="2800" dirty="0"/>
              <a:t>			   p=p-&gt;next;</a:t>
            </a:r>
            <a:endParaRPr lang="ru-RU" sz="2800" dirty="0"/>
          </a:p>
          <a:p>
            <a:r>
              <a:rPr lang="en-US" sz="2800" dirty="0"/>
              <a:t>			}</a:t>
            </a:r>
            <a:endParaRPr lang="ru-RU" sz="2800" dirty="0"/>
          </a:p>
          <a:p>
            <a:r>
              <a:rPr lang="en-US" sz="2800" dirty="0"/>
              <a:t>		      if (p==NULL)</a:t>
            </a:r>
            <a:endParaRPr lang="ru-RU" sz="2800" dirty="0"/>
          </a:p>
          <a:p>
            <a:r>
              <a:rPr lang="en-US" sz="2800" dirty="0"/>
              <a:t>		       </a:t>
            </a:r>
            <a:r>
              <a:rPr lang="en-US" sz="2800" dirty="0" err="1"/>
              <a:t>insert_list_after</a:t>
            </a:r>
            <a:r>
              <a:rPr lang="en-US" sz="2800" dirty="0"/>
              <a:t>(top, </a:t>
            </a:r>
            <a:r>
              <a:rPr lang="en-US" sz="2800" dirty="0" err="1"/>
              <a:t>pr</a:t>
            </a:r>
            <a:r>
              <a:rPr lang="en-US" sz="2800" dirty="0"/>
              <a:t>, data);</a:t>
            </a:r>
            <a:endParaRPr lang="ru-RU" sz="2800" dirty="0"/>
          </a:p>
          <a:p>
            <a:r>
              <a:rPr lang="en-US" sz="2800" dirty="0"/>
              <a:t>		      else</a:t>
            </a:r>
            <a:endParaRPr lang="ru-RU" sz="2800" dirty="0"/>
          </a:p>
          <a:p>
            <a:r>
              <a:rPr lang="en-US" sz="2800" dirty="0"/>
              <a:t>                </a:t>
            </a:r>
            <a:r>
              <a:rPr lang="en-US" sz="2800" dirty="0" err="1"/>
              <a:t>insert_list_before</a:t>
            </a:r>
            <a:r>
              <a:rPr lang="en-US" sz="2800" dirty="0"/>
              <a:t>(top, p, data);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    </a:t>
            </a:r>
            <a:r>
              <a:rPr lang="en-US" sz="2800" dirty="0"/>
              <a:t>}	</a:t>
            </a:r>
            <a:endParaRPr lang="ru-RU" sz="2800" dirty="0"/>
          </a:p>
          <a:p>
            <a:r>
              <a:rPr lang="ru-RU" sz="2800" dirty="0"/>
              <a:t>      </a:t>
            </a:r>
            <a:r>
              <a:rPr lang="en-US" sz="2800" dirty="0"/>
              <a:t>}</a:t>
            </a:r>
            <a:endParaRPr lang="ru-RU" sz="2800" dirty="0"/>
          </a:p>
          <a:p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FDE7568-7D95-4126-BBF1-D1C40543A9A9}"/>
              </a:ext>
            </a:extLst>
          </p:cNvPr>
          <p:cNvSpPr txBox="1"/>
          <p:nvPr/>
        </p:nvSpPr>
        <p:spPr>
          <a:xfrm>
            <a:off x="7674994" y="114674"/>
            <a:ext cx="4057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0C5B367-7FB4-47E1-9AFE-9610D3E8EE15}"/>
              </a:ext>
            </a:extLst>
          </p:cNvPr>
          <p:cNvSpPr txBox="1"/>
          <p:nvPr/>
        </p:nvSpPr>
        <p:spPr>
          <a:xfrm>
            <a:off x="6975183" y="2798789"/>
            <a:ext cx="672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  <a:endParaRPr lang="ru-RU" sz="28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9175E12C-5D86-4419-AF71-CACD67A0C6FF}"/>
              </a:ext>
            </a:extLst>
          </p:cNvPr>
          <p:cNvSpPr/>
          <p:nvPr/>
        </p:nvSpPr>
        <p:spPr>
          <a:xfrm>
            <a:off x="9122862" y="3833447"/>
            <a:ext cx="18565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data=20 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F94B1F6-C3A3-434D-B9FA-D8D491082AAE}"/>
              </a:ext>
            </a:extLst>
          </p:cNvPr>
          <p:cNvSpPr txBox="1"/>
          <p:nvPr/>
        </p:nvSpPr>
        <p:spPr>
          <a:xfrm>
            <a:off x="6619168" y="3851353"/>
            <a:ext cx="4875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p-&gt;data=</a:t>
            </a:r>
            <a:r>
              <a:rPr lang="ru-RU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1</a:t>
            </a:r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&lt;                   ?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7639E8B-63BA-42AF-9BEC-CD4C267002F5}"/>
              </a:ext>
            </a:extLst>
          </p:cNvPr>
          <p:cNvSpPr txBox="1"/>
          <p:nvPr/>
        </p:nvSpPr>
        <p:spPr>
          <a:xfrm>
            <a:off x="8629978" y="4541033"/>
            <a:ext cx="2325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YES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C65BC21-D0D6-41E9-B953-125FF2D95909}"/>
              </a:ext>
            </a:extLst>
          </p:cNvPr>
          <p:cNvSpPr txBox="1"/>
          <p:nvPr/>
        </p:nvSpPr>
        <p:spPr>
          <a:xfrm>
            <a:off x="9359277" y="5558784"/>
            <a:ext cx="3240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p=NULL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E47A8F58-F480-4721-8AEA-D5EB7053C916}"/>
              </a:ext>
            </a:extLst>
          </p:cNvPr>
          <p:cNvSpPr txBox="1"/>
          <p:nvPr/>
        </p:nvSpPr>
        <p:spPr>
          <a:xfrm>
            <a:off x="6412239" y="1962944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</a:t>
            </a:r>
            <a:r>
              <a:rPr lang="ru-RU" sz="2800" dirty="0"/>
              <a:t>1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xmlns="" id="{A18BC078-C1BA-4AAF-B67C-2FCFC2D440FD}"/>
              </a:ext>
            </a:extLst>
          </p:cNvPr>
          <p:cNvCxnSpPr>
            <a:cxnSpLocks/>
          </p:cNvCxnSpPr>
          <p:nvPr/>
        </p:nvCxnSpPr>
        <p:spPr>
          <a:xfrm>
            <a:off x="7716825" y="2984199"/>
            <a:ext cx="49205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F95FB821-DB84-4DC2-9A6B-7CCCA8C82658}"/>
              </a:ext>
            </a:extLst>
          </p:cNvPr>
          <p:cNvSpPr/>
          <p:nvPr/>
        </p:nvSpPr>
        <p:spPr>
          <a:xfrm>
            <a:off x="8234318" y="1186336"/>
            <a:ext cx="665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 </a:t>
            </a:r>
            <a:r>
              <a:rPr lang="en-US" sz="2800" dirty="0" err="1"/>
              <a:t>pr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F2483C0-7660-4DFE-8D47-AC213B866284}"/>
              </a:ext>
            </a:extLst>
          </p:cNvPr>
          <p:cNvSpPr txBox="1"/>
          <p:nvPr/>
        </p:nvSpPr>
        <p:spPr>
          <a:xfrm>
            <a:off x="6640529" y="2809383"/>
            <a:ext cx="1577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next</a:t>
            </a:r>
            <a:endParaRPr lang="ru-RU" sz="2800" dirty="0"/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xmlns="" id="{E36F0524-2AD8-4F52-B789-A3BBBF679B9F}"/>
              </a:ext>
            </a:extLst>
          </p:cNvPr>
          <p:cNvCxnSpPr>
            <a:cxnSpLocks/>
          </p:cNvCxnSpPr>
          <p:nvPr/>
        </p:nvCxnSpPr>
        <p:spPr>
          <a:xfrm>
            <a:off x="9619145" y="3013824"/>
            <a:ext cx="55922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xmlns="" id="{98C7CC14-FD42-4F2B-B4D4-FAF027FB7136}"/>
              </a:ext>
            </a:extLst>
          </p:cNvPr>
          <p:cNvSpPr/>
          <p:nvPr/>
        </p:nvSpPr>
        <p:spPr>
          <a:xfrm>
            <a:off x="10130462" y="1871705"/>
            <a:ext cx="1618193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A5745D3-01AD-4156-BF2A-BFD9C138EE89}"/>
              </a:ext>
            </a:extLst>
          </p:cNvPr>
          <p:cNvSpPr txBox="1"/>
          <p:nvPr/>
        </p:nvSpPr>
        <p:spPr>
          <a:xfrm>
            <a:off x="10112685" y="2028730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data=20</a:t>
            </a:r>
            <a:endParaRPr lang="ru-RU" sz="28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E2F4D936-84FA-423A-9F82-B30E91429AC4}"/>
              </a:ext>
            </a:extLst>
          </p:cNvPr>
          <p:cNvSpPr/>
          <p:nvPr/>
        </p:nvSpPr>
        <p:spPr>
          <a:xfrm>
            <a:off x="8485206" y="2822668"/>
            <a:ext cx="933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next</a:t>
            </a:r>
            <a:endParaRPr lang="ru-RU" sz="28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xmlns="" id="{AF9A2B22-44C1-46F9-94CE-E3C77DB579E4}"/>
              </a:ext>
            </a:extLst>
          </p:cNvPr>
          <p:cNvSpPr/>
          <p:nvPr/>
        </p:nvSpPr>
        <p:spPr>
          <a:xfrm>
            <a:off x="6602114" y="3858078"/>
            <a:ext cx="4756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p-&gt;data=5    &lt;                   ?</a:t>
            </a:r>
            <a:endParaRPr lang="ru-RU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xmlns="" id="{42CD46EB-0998-486E-9134-71668ECFA3EF}"/>
              </a:ext>
            </a:extLst>
          </p:cNvPr>
          <p:cNvSpPr/>
          <p:nvPr/>
        </p:nvSpPr>
        <p:spPr>
          <a:xfrm>
            <a:off x="7505390" y="84482"/>
            <a:ext cx="3267855" cy="1075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      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  <a:endParaRPr lang="ru-RU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DD6529F4-EC03-4FB8-ABAC-CDBC48257117}"/>
              </a:ext>
            </a:extLst>
          </p:cNvPr>
          <p:cNvSpPr txBox="1"/>
          <p:nvPr/>
        </p:nvSpPr>
        <p:spPr>
          <a:xfrm>
            <a:off x="7694593" y="260752"/>
            <a:ext cx="53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ru-RU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9994F84-85B4-4AD3-A578-A910BCE11236}"/>
              </a:ext>
            </a:extLst>
          </p:cNvPr>
          <p:cNvSpPr txBox="1"/>
          <p:nvPr/>
        </p:nvSpPr>
        <p:spPr>
          <a:xfrm>
            <a:off x="8733342" y="274743"/>
            <a:ext cx="885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3733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9231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2.08333E-7 -3.33333E-6 L -0.00664 -0.2229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-1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0664 -0.22291 L 0.16484 -0.23333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68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2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4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8" dur="18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7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6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6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3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-4.375E-6 -4.07407E-6 L 0.15925 -4.07407E-6 " pathEditMode="relative" rAng="0" ptsTypes="AA">
                                      <p:cBhvr>
                                        <p:cTn id="132" dur="16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56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9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7" grpId="0" build="allAtOnce"/>
      <p:bldP spid="17" grpId="1" build="allAtOnce"/>
      <p:bldP spid="21" grpId="0" build="allAtOnce"/>
      <p:bldP spid="22" grpId="0" build="allAtOnce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B170AFC-17E1-454C-A93F-F74E6BF85D9F}"/>
              </a:ext>
            </a:extLst>
          </p:cNvPr>
          <p:cNvSpPr/>
          <p:nvPr/>
        </p:nvSpPr>
        <p:spPr>
          <a:xfrm>
            <a:off x="4384454" y="4699479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7170DDB-2AD0-4486-BC8B-B107E35BD19B}"/>
              </a:ext>
            </a:extLst>
          </p:cNvPr>
          <p:cNvSpPr/>
          <p:nvPr/>
        </p:nvSpPr>
        <p:spPr>
          <a:xfrm>
            <a:off x="10198755" y="5509805"/>
            <a:ext cx="1593020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92F17674-34FE-4067-9671-8E64CA86F729}"/>
              </a:ext>
            </a:extLst>
          </p:cNvPr>
          <p:cNvSpPr/>
          <p:nvPr/>
        </p:nvSpPr>
        <p:spPr>
          <a:xfrm>
            <a:off x="4382875" y="5491572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8CB9B04C-DF7D-4A75-B84E-59CCFE5A73D4}"/>
              </a:ext>
            </a:extLst>
          </p:cNvPr>
          <p:cNvSpPr/>
          <p:nvPr/>
        </p:nvSpPr>
        <p:spPr>
          <a:xfrm>
            <a:off x="7782992" y="4683190"/>
            <a:ext cx="1577009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69AF2917-F91D-48C1-9A03-BDBFDCC7E42A}"/>
              </a:ext>
            </a:extLst>
          </p:cNvPr>
          <p:cNvSpPr/>
          <p:nvPr/>
        </p:nvSpPr>
        <p:spPr>
          <a:xfrm>
            <a:off x="7782992" y="5509805"/>
            <a:ext cx="1577009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03493CB-6B7E-4E92-A451-DC04D4D6ACCA}"/>
              </a:ext>
            </a:extLst>
          </p:cNvPr>
          <p:cNvSpPr txBox="1"/>
          <p:nvPr/>
        </p:nvSpPr>
        <p:spPr>
          <a:xfrm>
            <a:off x="7782992" y="4825771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data=5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EA763F4-8BCD-43E9-B07A-DCF15797DA93}"/>
              </a:ext>
            </a:extLst>
          </p:cNvPr>
          <p:cNvSpPr txBox="1"/>
          <p:nvPr/>
        </p:nvSpPr>
        <p:spPr>
          <a:xfrm>
            <a:off x="10427654" y="5666830"/>
            <a:ext cx="14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NULL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6786C8F-AD9B-42EE-A2D9-CDBC9CCDC068}"/>
              </a:ext>
            </a:extLst>
          </p:cNvPr>
          <p:cNvSpPr txBox="1"/>
          <p:nvPr/>
        </p:nvSpPr>
        <p:spPr>
          <a:xfrm>
            <a:off x="4492741" y="4840116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</a:t>
            </a:r>
            <a:r>
              <a:rPr lang="ru-RU" sz="28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D168FA8-EA4C-47F1-AB0E-034B5F2E0E44}"/>
              </a:ext>
            </a:extLst>
          </p:cNvPr>
          <p:cNvSpPr txBox="1"/>
          <p:nvPr/>
        </p:nvSpPr>
        <p:spPr>
          <a:xfrm>
            <a:off x="4667733" y="5632209"/>
            <a:ext cx="1577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next</a:t>
            </a:r>
            <a:endParaRPr lang="ru-RU" sz="2800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xmlns="" id="{E37AF911-EB2E-49CE-B471-C4553CAD3577}"/>
              </a:ext>
            </a:extLst>
          </p:cNvPr>
          <p:cNvCxnSpPr>
            <a:cxnSpLocks/>
          </p:cNvCxnSpPr>
          <p:nvPr/>
        </p:nvCxnSpPr>
        <p:spPr>
          <a:xfrm>
            <a:off x="8992588" y="5750196"/>
            <a:ext cx="121283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DD1DF4F4-F65F-4F97-B2DF-2C1DE886BFDA}"/>
              </a:ext>
            </a:extLst>
          </p:cNvPr>
          <p:cNvSpPr/>
          <p:nvPr/>
        </p:nvSpPr>
        <p:spPr>
          <a:xfrm>
            <a:off x="10173582" y="4701423"/>
            <a:ext cx="1618193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88084C3-FB97-4BC4-AB68-88B65F82ED98}"/>
              </a:ext>
            </a:extLst>
          </p:cNvPr>
          <p:cNvSpPr txBox="1"/>
          <p:nvPr/>
        </p:nvSpPr>
        <p:spPr>
          <a:xfrm>
            <a:off x="10155805" y="4858448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data=20</a:t>
            </a:r>
            <a:endParaRPr lang="ru-RU" sz="28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CB88C5E5-42EC-4E6D-B0D8-C016218B5D3D}"/>
              </a:ext>
            </a:extLst>
          </p:cNvPr>
          <p:cNvSpPr/>
          <p:nvPr/>
        </p:nvSpPr>
        <p:spPr>
          <a:xfrm>
            <a:off x="8059319" y="5634153"/>
            <a:ext cx="933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next</a:t>
            </a:r>
            <a:endParaRPr lang="ru-R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F0B73E9-6B05-47BF-BDA6-68E11022CD27}"/>
              </a:ext>
            </a:extLst>
          </p:cNvPr>
          <p:cNvSpPr txBox="1"/>
          <p:nvPr/>
        </p:nvSpPr>
        <p:spPr>
          <a:xfrm>
            <a:off x="233073" y="141851"/>
            <a:ext cx="104463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Таким же образом добавляются в список оставшиеся числа: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E24845AB-96EB-456D-9CBD-D807DFDCC968}"/>
              </a:ext>
            </a:extLst>
          </p:cNvPr>
          <p:cNvSpPr/>
          <p:nvPr/>
        </p:nvSpPr>
        <p:spPr>
          <a:xfrm>
            <a:off x="4395025" y="3748516"/>
            <a:ext cx="1642760" cy="8083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345C835B-D0F9-480C-A9B3-C1096F976EE4}"/>
              </a:ext>
            </a:extLst>
          </p:cNvPr>
          <p:cNvSpPr txBox="1"/>
          <p:nvPr/>
        </p:nvSpPr>
        <p:spPr>
          <a:xfrm>
            <a:off x="4772170" y="3870002"/>
            <a:ext cx="14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next</a:t>
            </a:r>
            <a:endParaRPr lang="ru-RU" sz="2800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60CF4469-639E-4335-AD4E-BDE2CD5A5085}"/>
              </a:ext>
            </a:extLst>
          </p:cNvPr>
          <p:cNvCxnSpPr>
            <a:cxnSpLocks/>
          </p:cNvCxnSpPr>
          <p:nvPr/>
        </p:nvCxnSpPr>
        <p:spPr>
          <a:xfrm>
            <a:off x="2641320" y="5800655"/>
            <a:ext cx="1728969" cy="25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F59048D8-7232-49D0-918B-9D158B33938F}"/>
              </a:ext>
            </a:extLst>
          </p:cNvPr>
          <p:cNvSpPr/>
          <p:nvPr/>
        </p:nvSpPr>
        <p:spPr>
          <a:xfrm>
            <a:off x="4395025" y="2956423"/>
            <a:ext cx="1642760" cy="80838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F47362C-4601-47F0-9FA5-B821D526EE9F}"/>
              </a:ext>
            </a:extLst>
          </p:cNvPr>
          <p:cNvSpPr txBox="1"/>
          <p:nvPr/>
        </p:nvSpPr>
        <p:spPr>
          <a:xfrm>
            <a:off x="4511192" y="3099585"/>
            <a:ext cx="173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data=</a:t>
            </a:r>
            <a:r>
              <a:rPr lang="ru-RU" sz="2800" dirty="0"/>
              <a:t>3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2A05C853-615B-4EF5-BCDB-6FA2B54A5495}"/>
              </a:ext>
            </a:extLst>
          </p:cNvPr>
          <p:cNvSpPr/>
          <p:nvPr/>
        </p:nvSpPr>
        <p:spPr>
          <a:xfrm>
            <a:off x="6998546" y="741178"/>
            <a:ext cx="3680854" cy="1075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5 1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</a:t>
            </a:r>
            <a:endParaRPr lang="ru-RU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F176B52-3E24-4F57-9ECD-3CBF25BE2B80}"/>
              </a:ext>
            </a:extLst>
          </p:cNvPr>
          <p:cNvSpPr txBox="1"/>
          <p:nvPr/>
        </p:nvSpPr>
        <p:spPr>
          <a:xfrm>
            <a:off x="9907361" y="924796"/>
            <a:ext cx="496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xmlns="" id="{89100AC4-2B8D-4800-BDAE-FF7BD9863585}"/>
              </a:ext>
            </a:extLst>
          </p:cNvPr>
          <p:cNvCxnSpPr>
            <a:cxnSpLocks/>
          </p:cNvCxnSpPr>
          <p:nvPr/>
        </p:nvCxnSpPr>
        <p:spPr>
          <a:xfrm flipV="1">
            <a:off x="5747084" y="5791080"/>
            <a:ext cx="2023322" cy="191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6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4.07407E-6 L -4.58333E-6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81481E-6 L -1.875E-6 0.2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6 L -4.58333E-6 0.25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4.16667E-6 0.2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2" grpId="0"/>
      <p:bldP spid="14" grpId="0"/>
      <p:bldP spid="21" grpId="0" animBg="1"/>
      <p:bldP spid="21" grpId="1" animBg="1"/>
      <p:bldP spid="22" grpId="0"/>
      <p:bldP spid="22" grpId="1"/>
      <p:bldP spid="24" grpId="0" animBg="1"/>
      <p:bldP spid="24" grpId="1" animBg="1"/>
      <p:bldP spid="25" grpId="0"/>
      <p:bldP spid="2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6ECA2C-1971-4E20-A3CB-54BF2E2E3E13}"/>
              </a:ext>
            </a:extLst>
          </p:cNvPr>
          <p:cNvSpPr txBox="1"/>
          <p:nvPr/>
        </p:nvSpPr>
        <p:spPr>
          <a:xfrm>
            <a:off x="618565" y="2025908"/>
            <a:ext cx="77320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main( )</a:t>
            </a:r>
            <a:endParaRPr lang="ru-RU" sz="2800" dirty="0"/>
          </a:p>
          <a:p>
            <a:r>
              <a:rPr lang="en-US" sz="2800" dirty="0"/>
              <a:t>	{</a:t>
            </a:r>
            <a:endParaRPr lang="ru-RU" sz="2800" dirty="0"/>
          </a:p>
          <a:p>
            <a:r>
              <a:rPr lang="en-US" sz="2800" dirty="0"/>
              <a:t>         	node* </a:t>
            </a:r>
            <a:r>
              <a:rPr lang="en-US" sz="2800" dirty="0" err="1"/>
              <a:t>top_my_list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en-US" sz="2800" dirty="0"/>
              <a:t>        	</a:t>
            </a:r>
            <a:r>
              <a:rPr lang="en-US" sz="2800" dirty="0" err="1"/>
              <a:t>ifstream</a:t>
            </a:r>
            <a:r>
              <a:rPr lang="en-US" sz="2800" dirty="0"/>
              <a:t> my("data.txt");</a:t>
            </a:r>
            <a:endParaRPr lang="ru-RU" sz="2800" dirty="0"/>
          </a:p>
          <a:p>
            <a:r>
              <a:rPr lang="en-US" sz="2800" dirty="0"/>
              <a:t>    	       </a:t>
            </a:r>
            <a:r>
              <a:rPr lang="en-US" sz="2800" dirty="0" err="1"/>
              <a:t>create_order_list</a:t>
            </a:r>
            <a:r>
              <a:rPr lang="en-US" sz="2800" dirty="0"/>
              <a:t>(</a:t>
            </a:r>
            <a:r>
              <a:rPr lang="en-US" sz="2800" dirty="0" err="1"/>
              <a:t>my,top_my_list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               </a:t>
            </a:r>
            <a:r>
              <a:rPr lang="en-US" sz="2800" dirty="0" err="1"/>
              <a:t>my.close</a:t>
            </a:r>
            <a:r>
              <a:rPr lang="en-US" sz="2800" dirty="0"/>
              <a:t>();</a:t>
            </a:r>
            <a:endParaRPr lang="ru-RU" sz="2800" dirty="0"/>
          </a:p>
          <a:p>
            <a:r>
              <a:rPr lang="en-US" sz="2800" dirty="0"/>
              <a:t>		</a:t>
            </a:r>
            <a:r>
              <a:rPr lang="en-US" sz="2800" dirty="0" err="1"/>
              <a:t>cout</a:t>
            </a:r>
            <a:r>
              <a:rPr lang="en-US" sz="2800" dirty="0"/>
              <a:t>&lt;&lt;"  order list  = ";</a:t>
            </a:r>
            <a:endParaRPr lang="ru-RU" sz="2800" dirty="0"/>
          </a:p>
          <a:p>
            <a:r>
              <a:rPr lang="en-US" sz="2800" dirty="0"/>
              <a:t>         	</a:t>
            </a:r>
            <a:r>
              <a:rPr lang="en-US" sz="2800" dirty="0" err="1"/>
              <a:t>show_list</a:t>
            </a:r>
            <a:r>
              <a:rPr lang="en-US" sz="2800" dirty="0"/>
              <a:t>(</a:t>
            </a:r>
            <a:r>
              <a:rPr lang="en-US" sz="2800" dirty="0" err="1"/>
              <a:t>top_my_list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</a:t>
            </a:r>
            <a:r>
              <a:rPr lang="ru-RU" sz="2800" dirty="0"/>
              <a:t>}	</a:t>
            </a:r>
          </a:p>
          <a:p>
            <a:r>
              <a:rPr lang="en-US" sz="2800" dirty="0"/>
              <a:t> </a:t>
            </a:r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1612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AA0D40A3-A990-4CEC-B73D-AE0490050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405" t="17320" r="10994" b="8007"/>
          <a:stretch/>
        </p:blipFill>
        <p:spPr>
          <a:xfrm>
            <a:off x="1514006" y="33236"/>
            <a:ext cx="8969051" cy="68247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1613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3087</TotalTime>
  <Words>384</Words>
  <Application>Microsoft Office PowerPoint</Application>
  <PresentationFormat>Произвольный</PresentationFormat>
  <Paragraphs>216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Ион</vt:lpstr>
      <vt:lpstr>Упорядочивание последовательности             через список </vt:lpstr>
      <vt:lpstr>Задание элемента списка с помощью структуры.</vt:lpstr>
      <vt:lpstr>Добавление элемента в начало списка.</vt:lpstr>
      <vt:lpstr>Вывод списка на экран.</vt:lpstr>
      <vt:lpstr>Взятие адреса предыдущего элемента.</vt:lpstr>
      <vt:lpstr>Вставка элемента в список перед указанным элементом q</vt:lpstr>
      <vt:lpstr>Вставка элемента в список после указанного элемента q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Упорядочение последовательности             через список</dc:title>
  <dc:creator>user_guide123@outlook.com</dc:creator>
  <cp:lastModifiedBy>Ахтямов Рауф Баграмович</cp:lastModifiedBy>
  <cp:revision>65</cp:revision>
  <dcterms:created xsi:type="dcterms:W3CDTF">2018-04-19T07:16:52Z</dcterms:created>
  <dcterms:modified xsi:type="dcterms:W3CDTF">2018-12-25T09:43:57Z</dcterms:modified>
</cp:coreProperties>
</file>