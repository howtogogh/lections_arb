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88085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92" y="-90"/>
      </p:cViewPr>
      <p:guideLst>
        <p:guide orient="horz" pos="2160"/>
        <p:guide pos="37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1064" y="2130427"/>
            <a:ext cx="10098723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82128" y="3886200"/>
            <a:ext cx="831659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8505" y="4406901"/>
            <a:ext cx="1009872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38505" y="2906715"/>
            <a:ext cx="1009872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94043" y="1600202"/>
            <a:ext cx="5247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39432" y="1600202"/>
            <a:ext cx="5247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94044" y="1535113"/>
            <a:ext cx="524943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94044" y="2174875"/>
            <a:ext cx="52494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035309" y="1535113"/>
            <a:ext cx="52515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035309" y="2174875"/>
            <a:ext cx="52515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4044" y="273050"/>
            <a:ext cx="390871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45083" y="273052"/>
            <a:ext cx="664172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94044" y="1435102"/>
            <a:ext cx="390871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8730" y="4800601"/>
            <a:ext cx="71285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28730" y="612775"/>
            <a:ext cx="71285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28730" y="5367339"/>
            <a:ext cx="71285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613616" y="274640"/>
            <a:ext cx="2673191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94042" y="274640"/>
            <a:ext cx="782156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4043" y="274638"/>
            <a:ext cx="1069276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94043" y="1600202"/>
            <a:ext cx="1069276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94043" y="6356352"/>
            <a:ext cx="2772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79BA0-0974-4767-A31A-4B658CFD2ED1}" type="datetimeFigureOut">
              <a:rPr lang="ru-RU" smtClean="0"/>
              <a:pPr/>
              <a:t>16.05.2016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59291" y="6356352"/>
            <a:ext cx="37622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514609" y="6356352"/>
            <a:ext cx="2772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FFA2C-AC65-4187-B29B-48A7DFF2C74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654915976_CLIPART_OF_16433_SMJP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085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40029" y="1000108"/>
            <a:ext cx="5786479" cy="171451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accent4"/>
                </a:solidFill>
                <a:latin typeface="Book Antiqua" pitchFamily="18" charset="0"/>
              </a:rPr>
              <a:t>Базовые функции для работы со списками.</a:t>
            </a:r>
            <a:endParaRPr lang="ru-RU" sz="3200" b="1" dirty="0">
              <a:solidFill>
                <a:schemeClr val="accent4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2517" y="285728"/>
            <a:ext cx="10692765" cy="1143000"/>
          </a:xfrm>
        </p:spPr>
        <p:txBody>
          <a:bodyPr>
            <a:noAutofit/>
          </a:bodyPr>
          <a:lstStyle/>
          <a:p>
            <a:r>
              <a:rPr lang="ru-RU" sz="3200" dirty="0" smtClean="0"/>
              <a:t>Элемент списка задается с помощью структуры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94043" y="1214422"/>
            <a:ext cx="5247375" cy="4911743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s</a:t>
            </a:r>
            <a:r>
              <a:rPr lang="en-US" dirty="0" err="1" smtClean="0"/>
              <a:t>truct</a:t>
            </a:r>
            <a:r>
              <a:rPr lang="en-US" dirty="0" smtClean="0"/>
              <a:t> node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node *next;</a:t>
            </a:r>
          </a:p>
          <a:p>
            <a:pPr>
              <a:buNone/>
            </a:pPr>
            <a:r>
              <a:rPr lang="en-US" dirty="0" smtClean="0"/>
              <a:t>};</a:t>
            </a:r>
            <a:endParaRPr lang="ru-RU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half" idx="2"/>
          </p:nvPr>
        </p:nvGraphicFramePr>
        <p:xfrm>
          <a:off x="6011863" y="2285992"/>
          <a:ext cx="1964411" cy="154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411"/>
              </a:tblGrid>
              <a:tr h="771524">
                <a:tc>
                  <a:txBody>
                    <a:bodyPr/>
                    <a:lstStyle/>
                    <a:p>
                      <a:pPr algn="ctr"/>
                      <a:endParaRPr lang="ru-RU" sz="1800" dirty="0" smtClean="0"/>
                    </a:p>
                    <a:p>
                      <a:pPr algn="ctr"/>
                      <a:r>
                        <a:rPr lang="en-US" sz="2400" dirty="0" smtClean="0"/>
                        <a:t>data</a:t>
                      </a:r>
                      <a:endParaRPr lang="ru-RU" sz="2400" dirty="0"/>
                    </a:p>
                  </a:txBody>
                  <a:tcPr marL="118809" marR="118809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71524">
                <a:tc>
                  <a:txBody>
                    <a:bodyPr/>
                    <a:lstStyle/>
                    <a:p>
                      <a:endParaRPr lang="en-US" sz="1800" dirty="0" smtClean="0"/>
                    </a:p>
                    <a:p>
                      <a:pPr algn="ctr"/>
                      <a:r>
                        <a:rPr lang="en-US" sz="2400" dirty="0" smtClean="0"/>
                        <a:t>next</a:t>
                      </a:r>
                      <a:endParaRPr lang="ru-RU" sz="2400" dirty="0"/>
                    </a:p>
                  </a:txBody>
                  <a:tcPr marL="118809" marR="118809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Рисунок 5" descr="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17" y="4143381"/>
            <a:ext cx="4436748" cy="2561030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rot="10800000">
            <a:off x="7704000" y="2714621"/>
            <a:ext cx="139229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10800000">
            <a:off x="7704002" y="3500439"/>
            <a:ext cx="1485117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5400000">
            <a:off x="6511434" y="1650344"/>
            <a:ext cx="714380" cy="55691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54262" y="1357298"/>
            <a:ext cx="2133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Структура элемента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161395" y="2500306"/>
            <a:ext cx="2093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Значение элемента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9189118" y="3286125"/>
            <a:ext cx="2691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Адрес следующего</a:t>
            </a:r>
          </a:p>
          <a:p>
            <a:r>
              <a:rPr lang="ru-RU" dirty="0" smtClean="0"/>
              <a:t> элемента</a:t>
            </a:r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8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8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4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4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8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8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9698" y="1"/>
            <a:ext cx="10692765" cy="71435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Существует ли список</a:t>
            </a:r>
            <a:endParaRPr lang="ru-RU" sz="3200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71238" y="857234"/>
            <a:ext cx="5470180" cy="4525963"/>
          </a:xfrm>
        </p:spPr>
        <p:txBody>
          <a:bodyPr/>
          <a:lstStyle/>
          <a:p>
            <a:pPr>
              <a:buNone/>
            </a:pPr>
            <a:r>
              <a:rPr lang="en-US" dirty="0" err="1"/>
              <a:t>b</a:t>
            </a:r>
            <a:r>
              <a:rPr lang="en-US" dirty="0" err="1" smtClean="0"/>
              <a:t>ool</a:t>
            </a:r>
            <a:r>
              <a:rPr lang="en-US" dirty="0" smtClean="0"/>
              <a:t> </a:t>
            </a:r>
            <a:r>
              <a:rPr lang="en-US" dirty="0" err="1" smtClean="0"/>
              <a:t>empty_list</a:t>
            </a:r>
            <a:r>
              <a:rPr lang="ru-RU" dirty="0" smtClean="0"/>
              <a:t> </a:t>
            </a:r>
            <a:r>
              <a:rPr lang="en-US" dirty="0" smtClean="0"/>
              <a:t>(node*top)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return top==NUUL;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ru-RU" dirty="0"/>
          </a:p>
        </p:txBody>
      </p:sp>
      <p:pic>
        <p:nvPicPr>
          <p:cNvPr id="6" name="Содержимое 5" descr="115456327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8008"/>
          <a:stretch>
            <a:fillRect/>
          </a:stretch>
        </p:blipFill>
        <p:spPr>
          <a:xfrm>
            <a:off x="7083433" y="2143116"/>
            <a:ext cx="3214710" cy="3138826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4059" y="1"/>
            <a:ext cx="10692765" cy="71435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Создание списка </a:t>
            </a:r>
            <a:endParaRPr lang="ru-RU" sz="3200" dirty="0"/>
          </a:p>
        </p:txBody>
      </p:sp>
      <p:sp>
        <p:nvSpPr>
          <p:cNvPr id="5" name="Содержимое 4"/>
          <p:cNvSpPr>
            <a:spLocks noGrp="1"/>
          </p:cNvSpPr>
          <p:nvPr>
            <p:ph sz="half" idx="1"/>
          </p:nvPr>
        </p:nvSpPr>
        <p:spPr>
          <a:xfrm>
            <a:off x="185599" y="714356"/>
            <a:ext cx="6126106" cy="614364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400" dirty="0"/>
              <a:t>void </a:t>
            </a:r>
            <a:r>
              <a:rPr lang="en-US" sz="3400" dirty="0" err="1" smtClean="0"/>
              <a:t>create_list</a:t>
            </a:r>
            <a:r>
              <a:rPr lang="en-US" sz="3400" dirty="0" smtClean="0"/>
              <a:t> (</a:t>
            </a:r>
            <a:r>
              <a:rPr lang="en-US" sz="3400" dirty="0"/>
              <a:t>node* &amp;</a:t>
            </a:r>
            <a:r>
              <a:rPr lang="en-US" sz="3400" dirty="0" smtClean="0"/>
              <a:t>top, </a:t>
            </a:r>
            <a:r>
              <a:rPr lang="en-US" sz="3400" dirty="0" err="1" smtClean="0"/>
              <a:t>int</a:t>
            </a:r>
            <a:r>
              <a:rPr lang="ru-RU" sz="3400" dirty="0"/>
              <a:t> </a:t>
            </a:r>
            <a:r>
              <a:rPr lang="en-US" sz="3400" dirty="0" smtClean="0"/>
              <a:t>n</a:t>
            </a:r>
            <a:r>
              <a:rPr lang="en-US" sz="3400" dirty="0"/>
              <a:t>)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{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</a:t>
            </a:r>
            <a:r>
              <a:rPr lang="en-US" sz="3400" dirty="0" err="1"/>
              <a:t>int</a:t>
            </a:r>
            <a:r>
              <a:rPr lang="en-US" sz="3400" dirty="0"/>
              <a:t> </a:t>
            </a:r>
            <a:r>
              <a:rPr lang="en-US" sz="3400" dirty="0" err="1"/>
              <a:t>i</a:t>
            </a:r>
            <a:r>
              <a:rPr lang="en-US" sz="3400" dirty="0"/>
              <a:t>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node* p</a:t>
            </a:r>
            <a:r>
              <a:rPr lang="en-US" sz="3400" dirty="0" smtClean="0"/>
              <a:t>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top = NULL;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for (</a:t>
            </a:r>
            <a:r>
              <a:rPr lang="en-US" sz="3400" dirty="0" err="1"/>
              <a:t>i</a:t>
            </a:r>
            <a:r>
              <a:rPr lang="en-US" sz="3400" dirty="0"/>
              <a:t>=0</a:t>
            </a:r>
            <a:r>
              <a:rPr lang="en-US" sz="3400" dirty="0" smtClean="0"/>
              <a:t>;</a:t>
            </a:r>
            <a:r>
              <a:rPr lang="ru-RU" sz="3400" dirty="0" smtClean="0"/>
              <a:t> </a:t>
            </a:r>
            <a:r>
              <a:rPr lang="en-US" sz="3400" dirty="0" err="1" smtClean="0"/>
              <a:t>i</a:t>
            </a:r>
            <a:r>
              <a:rPr lang="en-US" sz="3400" dirty="0" smtClean="0"/>
              <a:t>&lt;n;</a:t>
            </a:r>
            <a:r>
              <a:rPr lang="ru-RU" sz="3400" dirty="0" smtClean="0"/>
              <a:t> </a:t>
            </a:r>
            <a:r>
              <a:rPr lang="en-US" sz="3400" dirty="0" err="1" smtClean="0"/>
              <a:t>i</a:t>
            </a:r>
            <a:r>
              <a:rPr lang="en-US" sz="3400" dirty="0"/>
              <a:t>++)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{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         	p=new node;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     	      </a:t>
            </a:r>
            <a:r>
              <a:rPr lang="en-US" sz="3400" dirty="0" err="1" smtClean="0"/>
              <a:t>cout</a:t>
            </a:r>
            <a:r>
              <a:rPr lang="en-US" sz="3400" dirty="0"/>
              <a:t>&lt;&lt;" enter p-&gt;data=";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     	      </a:t>
            </a:r>
            <a:r>
              <a:rPr lang="en-US" sz="3400" dirty="0" err="1" smtClean="0"/>
              <a:t>cin</a:t>
            </a:r>
            <a:r>
              <a:rPr lang="en-US" sz="3400" dirty="0"/>
              <a:t>&gt;&gt;p-&gt;data;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    	       p-&gt;next=top;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     	       top=p;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	}	</a:t>
            </a:r>
            <a:endParaRPr lang="ru-RU" sz="3400" dirty="0"/>
          </a:p>
          <a:p>
            <a:pPr>
              <a:buNone/>
            </a:pPr>
            <a:r>
              <a:rPr lang="en-US" sz="3400" dirty="0"/>
              <a:t>}</a:t>
            </a:r>
            <a:endParaRPr lang="ru-RU" sz="3400" dirty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4868855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Содержимое 6"/>
          <p:cNvGraphicFramePr>
            <a:graphicFrameLocks/>
          </p:cNvGraphicFramePr>
          <p:nvPr/>
        </p:nvGraphicFramePr>
        <p:xfrm>
          <a:off x="7083433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Содержимое 6"/>
          <p:cNvGraphicFramePr>
            <a:graphicFrameLocks/>
          </p:cNvGraphicFramePr>
          <p:nvPr/>
        </p:nvGraphicFramePr>
        <p:xfrm>
          <a:off x="9226573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 rot="5400000">
            <a:off x="11084755" y="399971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369713" y="3286124"/>
            <a:ext cx="375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</a:t>
            </a:r>
            <a:endParaRPr lang="ru-RU" sz="28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10799003" y="399971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98209" y="3286124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369317" y="1000108"/>
            <a:ext cx="1756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Enter p-&gt;data=</a:t>
            </a:r>
            <a:endParaRPr lang="ru-RU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0083829" y="1000108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5</a:t>
            </a:r>
            <a:endParaRPr lang="ru-RU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0155267" y="1000108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3</a:t>
            </a:r>
            <a:endParaRPr lang="ru-RU" sz="2000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7940689" y="5286388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26639" y="507207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0155267" y="1071546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7</a:t>
            </a:r>
            <a:endParaRPr lang="ru-RU" sz="2000" b="1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726111" y="5286388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3499" y="5143512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368921" y="507207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2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6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00"/>
                            </p:stCondLst>
                            <p:childTnLst>
                              <p:par>
                                <p:cTn id="80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0437E-6 2.48844E-6 L -0.15159 2.48844E-6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3423E-6 -2.08189E-6 L -0.15158 0.0037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2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2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4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9246E-6 4.42183E-6 L -0.01217 0.51642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" y="2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720"/>
                            </p:stCondLst>
                            <p:childTnLst>
                              <p:par>
                                <p:cTn id="122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"/>
                            </p:stCondLst>
                            <p:childTnLst>
                              <p:par>
                                <p:cTn id="13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1107E-6 -2.48439E-6 L -0.15907 -2.48439E-6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5033E-6 -2.08189E-6 L -0.14704 0.0037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" y="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40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2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4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6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8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0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2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4" dur="2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6" dur="2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8" dur="2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60" dur="2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62" dur="2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800"/>
                            </p:stCondLst>
                            <p:childTnLst>
                              <p:par>
                                <p:cTn id="174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480"/>
                            </p:stCondLst>
                            <p:childTnLst>
                              <p:par>
                                <p:cTn id="17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159 1.47814E-6 L -0.3299 0.00069 " pathEditMode="relative" rAng="0" ptsTypes="AA">
                                      <p:cBhvr>
                                        <p:cTn id="18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158 0.0037 L -0.33351 0.0037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920"/>
                            </p:stCondLst>
                            <p:childTnLst>
                              <p:par>
                                <p:cTn id="19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920"/>
                            </p:stCondLst>
                            <p:childTnLst>
                              <p:par>
                                <p:cTn id="1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740"/>
                            </p:stCondLst>
                            <p:childTnLst>
                              <p:par>
                                <p:cTn id="20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1055E-6 1.44344E-6 L -0.19837 0.51353 " pathEditMode="relative" rAng="0" ptsTypes="AA">
                                      <p:cBhvr>
                                        <p:cTn id="20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" y="2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720"/>
                            </p:stCondLst>
                            <p:childTnLst>
                              <p:par>
                                <p:cTn id="217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600"/>
                            </p:stCondLst>
                            <p:childTnLst>
                              <p:par>
                                <p:cTn id="230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704 0.0037 L -0.32897 0.0037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0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907 1.47814E-6 L -0.33017 0.00069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" y="0"/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35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37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39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1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3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5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7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9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51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53" dur="2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55" dur="2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57" dur="2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59" dur="2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61" dur="2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800"/>
                            </p:stCondLst>
                            <p:childTnLst>
                              <p:par>
                                <p:cTn id="273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480"/>
                            </p:stCondLst>
                            <p:childTnLst>
                              <p:par>
                                <p:cTn id="278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351 0.0037 L -0.51544 0.0037 " pathEditMode="relative" rAng="0" ptsTypes="AA">
                                      <p:cBhvr>
                                        <p:cTn id="2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0"/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99 0.00069 L -0.50582 0.00069 " pathEditMode="relative" rAng="0" ptsTypes="AA">
                                      <p:cBhvr>
                                        <p:cTn id="2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920"/>
                            </p:stCondLst>
                            <p:childTnLst>
                              <p:par>
                                <p:cTn id="295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1920"/>
                            </p:stCondLst>
                            <p:childTnLst>
                              <p:par>
                                <p:cTn id="29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740"/>
                            </p:stCondLst>
                            <p:childTnLst>
                              <p:par>
                                <p:cTn id="30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1055E-6 4.85661E-6 L -0.38631 0.49259 " pathEditMode="relative" rAng="0" ptsTypes="AA">
                                      <p:cBhvr>
                                        <p:cTn id="30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" y="2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720"/>
                            </p:stCondLst>
                            <p:childTnLst>
                              <p:par>
                                <p:cTn id="31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600"/>
                            </p:stCondLst>
                            <p:childTnLst>
                              <p:par>
                                <p:cTn id="32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584 0.0007 L -0.51812 0.0007 " pathEditMode="relative" rAng="0" ptsTypes="AA">
                                      <p:cBhvr>
                                        <p:cTn id="3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" y="0"/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862 0.0037 L -0.51691 0.0037 " pathEditMode="relative" rAng="0" ptsTypes="AA">
                                      <p:cBhvr>
                                        <p:cTn id="3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34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3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38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4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42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44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46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48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50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52" dur="2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54" dur="2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56" dur="2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58" dur="2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60" dur="2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3" grpId="3"/>
      <p:bldP spid="15" grpId="0"/>
      <p:bldP spid="15" grpId="1"/>
      <p:bldP spid="15" grpId="2"/>
      <p:bldP spid="15" grpId="3"/>
      <p:bldP spid="16" grpId="0"/>
      <p:bldP spid="16" grpId="2"/>
      <p:bldP spid="18" grpId="0" animBg="1"/>
      <p:bldP spid="18" grpId="1" animBg="1"/>
      <p:bldP spid="22" grpId="0"/>
      <p:bldP spid="22" grpId="1"/>
      <p:bldP spid="23" grpId="0" animBg="1"/>
      <p:bldP spid="23" grpId="1" animBg="1"/>
      <p:bldP spid="20" grpId="1"/>
      <p:bldP spid="20" grpId="2"/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85723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Взять первый элемент из списка</a:t>
            </a:r>
            <a:endParaRPr lang="ru-RU" sz="3200" dirty="0"/>
          </a:p>
        </p:txBody>
      </p:sp>
      <p:sp>
        <p:nvSpPr>
          <p:cNvPr id="5" name="Содержимое 4"/>
          <p:cNvSpPr>
            <a:spLocks noGrp="1"/>
          </p:cNvSpPr>
          <p:nvPr>
            <p:ph sz="half" idx="1"/>
          </p:nvPr>
        </p:nvSpPr>
        <p:spPr>
          <a:xfrm>
            <a:off x="296823" y="785794"/>
            <a:ext cx="5572164" cy="571504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pop(node* &amp;top)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 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node*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if (top)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	      data=top-&gt;data;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  p=top-&gt;next;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 delete top;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 top=p;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}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return 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7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5011731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7369185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9798077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54673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012127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0441019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6011863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8440755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369581" y="5214950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3798079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rot="5400000">
            <a:off x="4941087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40293" y="3286124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940161" y="328612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226441" y="1500174"/>
            <a:ext cx="845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data =</a:t>
            </a:r>
            <a:endParaRPr lang="ru-RU" sz="20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40"/>
                            </p:stCondLst>
                            <p:childTnLst>
                              <p:par>
                                <p:cTn id="5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2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2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20"/>
                            </p:stCondLst>
                            <p:childTnLst>
                              <p:par>
                                <p:cTn id="11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80"/>
                            </p:stCondLst>
                            <p:childTnLst>
                              <p:par>
                                <p:cTn id="121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0941E-6 3.03423E-6 L 0.27817 -0.44519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" y="-2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720"/>
                            </p:stCondLst>
                            <p:childTnLst>
                              <p:par>
                                <p:cTn id="13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3373E-6 -4.54209E-6 L 0.16255 0.14755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74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4061E-7 2.13691E-6 L 0.17016 0.14593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" y="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720"/>
                            </p:stCondLst>
                            <p:childTnLst>
                              <p:par>
                                <p:cTn id="13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54 0.14755 L 0.25344 0.14755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016 0.14593 L 0.25571 0.13992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720"/>
                            </p:stCondLst>
                            <p:childTnLst>
                              <p:par>
                                <p:cTn id="140" presetID="6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571 0.13992 L 0.29822 0.0037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68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344 0.14755 L 0.29595 0.00069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680"/>
                            </p:stCondLst>
                            <p:childTnLst>
                              <p:par>
                                <p:cTn id="15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600"/>
                            </p:stCondLst>
                            <p:childTnLst>
                              <p:par>
                                <p:cTn id="174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8476E-6 -2.51619E-6 L 0.22497 0.0037 " pathEditMode="relative" rAng="0" ptsTypes="AA">
                                      <p:cBhvr>
                                        <p:cTn id="1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2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6051E-6 -7.40056E-7 L 0.2239 0.00069 " pathEditMode="relative" rAng="0" ptsTypes="AA">
                                      <p:cBhvr>
                                        <p:cTn id="1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100"/>
                            </p:stCondLst>
                            <p:childTnLst>
                              <p:par>
                                <p:cTn id="179" presetID="9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600"/>
                            </p:stCondLst>
                            <p:childTnLst>
                              <p:par>
                                <p:cTn id="186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700"/>
                            </p:stCondLst>
                            <p:childTnLst>
                              <p:par>
                                <p:cTn id="199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04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0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8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2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4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6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8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0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2" dur="2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4" dur="2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6" dur="2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28" dur="2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1" grpId="0" animBg="1"/>
      <p:bldP spid="12" grpId="0" animBg="1"/>
      <p:bldP spid="15" grpId="0"/>
      <p:bldP spid="18" grpId="0"/>
      <p:bldP spid="18" grpId="1"/>
      <p:bldP spid="18" grpId="2"/>
      <p:bldP spid="18" grpId="3"/>
      <p:bldP spid="18" grpId="4"/>
      <p:bldP spid="24" grpId="0"/>
      <p:bldP spid="24" grpId="1"/>
      <p:bldP spid="24" grpId="2"/>
      <p:bldP spid="24" grpId="3"/>
      <p:bldP spid="24" grpId="4"/>
      <p:bldP spid="25" grpId="0"/>
      <p:bldP spid="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4013" y="0"/>
            <a:ext cx="10692765" cy="85723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Положить элемент в список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39699" y="857232"/>
            <a:ext cx="5401719" cy="52689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void push(node* &amp;top,</a:t>
            </a:r>
            <a:r>
              <a:rPr lang="ru-RU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data)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node*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p=new node;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p-&gt;data=data;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p-&gt;next=top;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top=p;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8" name="Содержимое 6"/>
          <p:cNvGraphicFramePr>
            <a:graphicFrameLocks/>
          </p:cNvGraphicFramePr>
          <p:nvPr/>
        </p:nvGraphicFramePr>
        <p:xfrm>
          <a:off x="5011731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7369185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9798077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012259" y="1500174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8012127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0441019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6011863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8440755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369581" y="5214950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 rot="5400000">
            <a:off x="4798211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5400000">
            <a:off x="7227103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6309" y="3286124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940293" y="328612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8226441" y="1500174"/>
            <a:ext cx="845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data =</a:t>
            </a:r>
            <a:endParaRPr 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2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40"/>
                            </p:stCondLst>
                            <p:childTnLst>
                              <p:par>
                                <p:cTn id="7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05E-6 -4.6531E-6 L -0.27736 0.44288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2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2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201E-6 -2.51619E-6 L -0.15546 0.003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2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6783E-6 -7.40056E-7 L -0.15666 0.00069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600"/>
                            </p:stCondLst>
                            <p:childTnLst>
                              <p:par>
                                <p:cTn id="9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0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0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1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1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1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9" grpId="0"/>
      <p:bldP spid="19" grpId="1"/>
      <p:bldP spid="20" grpId="0"/>
      <p:bldP spid="20" grpId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71435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Создание списка при помощи </a:t>
            </a:r>
            <a:r>
              <a:rPr lang="en-US" sz="3200" dirty="0" smtClean="0"/>
              <a:t>push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11137" y="785794"/>
            <a:ext cx="6215106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create_list_push</a:t>
            </a:r>
            <a:r>
              <a:rPr lang="ru-RU" dirty="0" smtClean="0"/>
              <a:t> </a:t>
            </a:r>
            <a:r>
              <a:rPr lang="en-US" dirty="0" smtClean="0"/>
              <a:t>(node* &amp;top,</a:t>
            </a:r>
            <a:r>
              <a:rPr lang="ru-RU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top = NULL;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for (</a:t>
            </a:r>
            <a:r>
              <a:rPr lang="en-US" dirty="0" err="1" smtClean="0"/>
              <a:t>i</a:t>
            </a:r>
            <a:r>
              <a:rPr lang="en-US" dirty="0" smtClean="0"/>
              <a:t>=0;</a:t>
            </a:r>
            <a:r>
              <a:rPr lang="ru-RU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&lt;n;</a:t>
            </a:r>
            <a:r>
              <a:rPr lang="ru-RU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	</a:t>
            </a:r>
            <a:r>
              <a:rPr lang="en-US" dirty="0" err="1" smtClean="0"/>
              <a:t>cout</a:t>
            </a:r>
            <a:r>
              <a:rPr lang="en-US" dirty="0" smtClean="0"/>
              <a:t>&lt;&lt;" enter data=";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dirty="0" err="1" smtClean="0"/>
              <a:t>cin</a:t>
            </a:r>
            <a:r>
              <a:rPr lang="en-US" dirty="0" smtClean="0"/>
              <a:t>&gt;&gt;data;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    push(</a:t>
            </a:r>
            <a:r>
              <a:rPr lang="en-US" dirty="0" err="1" smtClean="0"/>
              <a:t>top,data</a:t>
            </a:r>
            <a:r>
              <a:rPr lang="en-US" dirty="0" smtClean="0"/>
              <a:t>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}	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20" name="Содержимое 6"/>
          <p:cNvGraphicFramePr>
            <a:graphicFrameLocks noGrp="1"/>
          </p:cNvGraphicFramePr>
          <p:nvPr>
            <p:ph sz="half" idx="2"/>
          </p:nvPr>
        </p:nvGraphicFramePr>
        <p:xfrm>
          <a:off x="4868855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Содержимое 6"/>
          <p:cNvGraphicFramePr>
            <a:graphicFrameLocks/>
          </p:cNvGraphicFramePr>
          <p:nvPr/>
        </p:nvGraphicFramePr>
        <p:xfrm>
          <a:off x="7083433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Содержимое 6"/>
          <p:cNvGraphicFramePr>
            <a:graphicFrameLocks/>
          </p:cNvGraphicFramePr>
          <p:nvPr/>
        </p:nvGraphicFramePr>
        <p:xfrm>
          <a:off x="9226573" y="435769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23" name="Прямая со стрелкой 22"/>
          <p:cNvCxnSpPr/>
          <p:nvPr/>
        </p:nvCxnSpPr>
        <p:spPr>
          <a:xfrm rot="5400000">
            <a:off x="10799003" y="399971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69317" y="1000108"/>
            <a:ext cx="1411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Enter data=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9726639" y="1000108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5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9798077" y="1000108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3</a:t>
            </a:r>
            <a:endParaRPr lang="ru-RU" sz="2000" b="1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>
            <a:off x="7940689" y="5286388"/>
            <a:ext cx="128588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726639" y="507207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798077" y="1000108"/>
            <a:ext cx="3145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7</a:t>
            </a:r>
            <a:endParaRPr lang="ru-RU" sz="2000" b="1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5726111" y="5286388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rot="5400000">
            <a:off x="9227367" y="399971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/>
          <p:cNvSpPr/>
          <p:nvPr/>
        </p:nvSpPr>
        <p:spPr>
          <a:xfrm>
            <a:off x="9369449" y="3143248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 smtClean="0"/>
          </a:p>
        </p:txBody>
      </p:sp>
      <p:sp>
        <p:nvSpPr>
          <p:cNvPr id="45" name="Прямоугольник 44"/>
          <p:cNvSpPr/>
          <p:nvPr/>
        </p:nvSpPr>
        <p:spPr>
          <a:xfrm>
            <a:off x="10798209" y="3143248"/>
            <a:ext cx="6908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7512061" y="5072074"/>
            <a:ext cx="7377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NULL</a:t>
            </a:r>
            <a:endParaRPr lang="ru-RU" b="1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5368921" y="5072074"/>
            <a:ext cx="683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6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"/>
                            </p:stCondLst>
                            <p:childTnLst>
                              <p:par>
                                <p:cTn id="60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6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16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8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280"/>
                            </p:stCondLst>
                            <p:childTnLst>
                              <p:par>
                                <p:cTn id="9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7892E-6 1.88714E-6 L 0.0135 0.503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" y="2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280"/>
                            </p:stCondLst>
                            <p:childTnLst>
                              <p:par>
                                <p:cTn id="9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5033E-6 1.54487E-6 L -0.11068 0.00347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2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0195E-6 -3.70953E-6 L -0.11189 0.0007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280"/>
                            </p:stCondLst>
                            <p:childTnLst>
                              <p:par>
                                <p:cTn id="1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280"/>
                            </p:stCondLst>
                            <p:childTnLst>
                              <p:par>
                                <p:cTn id="11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6001E-6 2.53469E-6 L -0.19997 2.53469E-6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985E-6 2.48844E-6 L -0.19784 0.00069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2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2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3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3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4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36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00"/>
                            </p:stCondLst>
                            <p:childTnLst>
                              <p:par>
                                <p:cTn id="148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660"/>
                            </p:stCondLst>
                            <p:childTnLst>
                              <p:par>
                                <p:cTn id="15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660"/>
                            </p:stCondLst>
                            <p:childTnLst>
                              <p:par>
                                <p:cTn id="1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780"/>
                            </p:stCondLst>
                            <p:childTnLst>
                              <p:par>
                                <p:cTn id="170" presetID="9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80"/>
                            </p:stCondLst>
                            <p:childTnLst>
                              <p:par>
                                <p:cTn id="18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8649E-6 4.42183E-6 L -0.17631 0.50346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" y="2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3280"/>
                            </p:stCondLst>
                            <p:childTnLst>
                              <p:par>
                                <p:cTn id="1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280"/>
                            </p:stCondLst>
                            <p:childTnLst>
                              <p:par>
                                <p:cTn id="193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68 0.00347 L -0.27429 0.00347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" y="0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189 0.0007 L -0.2755 0.0007 " pathEditMode="relative" rAng="0" ptsTypes="AA">
                                      <p:cBhvr>
                                        <p:cTn id="19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7280"/>
                            </p:stCondLst>
                            <p:childTnLst>
                              <p:par>
                                <p:cTn id="198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9280"/>
                            </p:stCondLst>
                            <p:childTnLst>
                              <p:par>
                                <p:cTn id="205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997 1.54487E-6 L -0.38952 0.00347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" y="2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783 0.0007 L -0.39179 0.0007 " pathEditMode="relative" rAng="0" ptsTypes="AA">
                                      <p:cBhvr>
                                        <p:cTn id="20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2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30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800"/>
                            </p:stCondLst>
                            <p:childTnLst>
                              <p:par>
                                <p:cTn id="24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660"/>
                            </p:stCondLst>
                            <p:childTnLst>
                              <p:par>
                                <p:cTn id="25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66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780"/>
                            </p:stCondLst>
                            <p:childTnLst>
                              <p:par>
                                <p:cTn id="2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8248E-6 1.88714E-6 L -0.35624 0.503 " pathEditMode="relative" rAng="0" ptsTypes="AA">
                                      <p:cBhvr>
                                        <p:cTn id="27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" y="2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780"/>
                            </p:stCondLst>
                            <p:childTnLst>
                              <p:par>
                                <p:cTn id="2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4780"/>
                            </p:stCondLst>
                            <p:childTnLst>
                              <p:par>
                                <p:cTn id="285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044 0.00347 L -0.48656 0.00347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" y="0"/>
                                    </p:animMotion>
                                  </p:childTnLst>
                                </p:cTn>
                              </p:par>
                              <p:par>
                                <p:cTn id="28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65 0.0007 L -0.48777 0.0007 " pathEditMode="relative" rAng="0" ptsTypes="AA">
                                      <p:cBhvr>
                                        <p:cTn id="28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6780"/>
                            </p:stCondLst>
                            <p:childTnLst>
                              <p:par>
                                <p:cTn id="290" presetID="10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29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0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0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0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0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0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11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313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15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317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4" grpId="2"/>
      <p:bldP spid="25" grpId="0" animBg="1"/>
      <p:bldP spid="25" grpId="1" animBg="1"/>
      <p:bldP spid="26" grpId="0" animBg="1"/>
      <p:bldP spid="26" grpId="1" animBg="1"/>
      <p:bldP spid="28" grpId="0"/>
      <p:bldP spid="29" grpId="0" animBg="1"/>
      <p:bldP spid="44" grpId="0"/>
      <p:bldP spid="44" grpId="1"/>
      <p:bldP spid="44" grpId="2"/>
      <p:bldP spid="44" grpId="3"/>
      <p:bldP spid="44" grpId="4"/>
      <p:bldP spid="44" grpId="5"/>
      <p:bldP spid="44" grpId="6"/>
      <p:bldP spid="44" grpId="7"/>
      <p:bldP spid="45" grpId="0"/>
      <p:bldP spid="45" grpId="1"/>
      <p:bldP spid="45" grpId="2"/>
      <p:bldP spid="45" grpId="3"/>
      <p:bldP spid="46" grpId="0"/>
      <p:bldP spid="46" grpId="1"/>
      <p:bldP spid="47" grpId="0"/>
      <p:bldP spid="4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1863" y="857232"/>
            <a:ext cx="329565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78579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Показать список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82575" y="785794"/>
            <a:ext cx="5247375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show_list</a:t>
            </a:r>
            <a:r>
              <a:rPr lang="en-US" dirty="0" smtClean="0"/>
              <a:t>(node* top)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node*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p=top;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while (p)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</a:t>
            </a:r>
            <a:r>
              <a:rPr lang="ru-RU" dirty="0" smtClean="0"/>
              <a:t>  </a:t>
            </a:r>
            <a:r>
              <a:rPr lang="en-US" dirty="0" err="1" smtClean="0"/>
              <a:t>cout</a:t>
            </a:r>
            <a:r>
              <a:rPr lang="en-US" dirty="0" smtClean="0"/>
              <a:t>&lt;&lt;p-&gt;data&lt;&lt;" ";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  </a:t>
            </a:r>
            <a:r>
              <a:rPr lang="ru-RU" dirty="0" smtClean="0"/>
              <a:t>  </a:t>
            </a:r>
            <a:r>
              <a:rPr lang="en-US" dirty="0" smtClean="0"/>
              <a:t>p=p-&gt;next;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 }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cout</a:t>
            </a:r>
            <a:r>
              <a:rPr lang="en-US" dirty="0" smtClean="0"/>
              <a:t>&lt;&lt;</a:t>
            </a:r>
            <a:r>
              <a:rPr lang="en-US" dirty="0" err="1" smtClean="0"/>
              <a:t>endl</a:t>
            </a:r>
            <a:r>
              <a:rPr lang="en-US" dirty="0" smtClean="0"/>
              <a:t>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 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011731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369185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98077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54673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012127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441019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011863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8440755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69581" y="5214950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4298145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5400000">
            <a:off x="4941087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40293" y="3286124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40227" y="328612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1863" y="857232"/>
            <a:ext cx="32766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 l="15312" t="8841" r="63862" b="70529"/>
          <a:stretch>
            <a:fillRect/>
          </a:stretch>
        </p:blipFill>
        <p:spPr bwMode="auto">
          <a:xfrm>
            <a:off x="5993879" y="881913"/>
            <a:ext cx="3375569" cy="1791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2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"/>
                            </p:stCondLst>
                            <p:childTnLst>
                              <p:par>
                                <p:cTn id="9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896E-6 -8.14061E-7 L 0.11055 0.00347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8693E-6 -7.40056E-7 L 0.10827 0.00069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40"/>
                            </p:stCondLst>
                            <p:childTnLst>
                              <p:par>
                                <p:cTn id="107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40"/>
                            </p:stCondLst>
                            <p:childTnLst>
                              <p:par>
                                <p:cTn id="118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4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80"/>
                            </p:stCondLst>
                            <p:childTnLst>
                              <p:par>
                                <p:cTn id="131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55 0.00347 L 0.24997 0.0037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27 0.00069 L 0.24769 0.00069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3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3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4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4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56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640"/>
                            </p:stCondLst>
                            <p:childTnLst>
                              <p:par>
                                <p:cTn id="168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840"/>
                            </p:stCondLst>
                            <p:childTnLst>
                              <p:par>
                                <p:cTn id="179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840"/>
                            </p:stCondLst>
                            <p:childTnLst>
                              <p:par>
                                <p:cTn id="1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680"/>
                            </p:stCondLst>
                            <p:childTnLst>
                              <p:par>
                                <p:cTn id="192" presetID="63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997 0.0037 L 0.47441 0.0037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0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69 0.00069 L 0.46598 0.00069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" y="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9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19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0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1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3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5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7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640"/>
                            </p:stCondLst>
                            <p:childTnLst>
                              <p:par>
                                <p:cTn id="22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35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840"/>
                            </p:stCondLst>
                            <p:childTnLst>
                              <p:par>
                                <p:cTn id="240" presetID="35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840"/>
                            </p:stCondLst>
                            <p:childTnLst>
                              <p:par>
                                <p:cTn id="2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680"/>
                            </p:stCondLst>
                            <p:childTnLst>
                              <p:par>
                                <p:cTn id="253" presetID="63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441 0.0037 L 0.59565 0.0037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598 0.00069 L 0.59337 0.00069 " pathEditMode="relative" rAng="0" ptsTypes="AA">
                                      <p:cBhvr>
                                        <p:cTn id="25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5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6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6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6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6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6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7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7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74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76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78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640"/>
                            </p:stCondLst>
                            <p:childTnLst>
                              <p:par>
                                <p:cTn id="290" presetID="35" presetClass="emp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640"/>
                            </p:stCondLst>
                            <p:childTnLst>
                              <p:par>
                                <p:cTn id="295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340"/>
                            </p:stCondLst>
                            <p:childTnLst>
                              <p:par>
                                <p:cTn id="300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3" grpId="0"/>
      <p:bldP spid="16" grpId="0"/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78579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Нахождение адреса предыдущего элемента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39699" y="857232"/>
            <a:ext cx="5401719" cy="585791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node* previous(node* top,</a:t>
            </a:r>
            <a:r>
              <a:rPr lang="ru-RU" dirty="0" smtClean="0"/>
              <a:t> </a:t>
            </a:r>
            <a:r>
              <a:rPr lang="en-US" dirty="0" smtClean="0"/>
              <a:t>node* p)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node* pr, *q;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q=top;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pr=NULL;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while (</a:t>
            </a:r>
            <a:r>
              <a:rPr lang="ru-RU" dirty="0" smtClean="0"/>
              <a:t>          </a:t>
            </a:r>
            <a:r>
              <a:rPr lang="en-US" dirty="0" smtClean="0"/>
              <a:t>&amp;&amp; </a:t>
            </a:r>
            <a:r>
              <a:rPr lang="ru-RU" dirty="0" smtClean="0"/>
              <a:t> </a:t>
            </a:r>
            <a:r>
              <a:rPr lang="en-US" dirty="0" smtClean="0"/>
              <a:t> 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pr=q;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q=q-&gt;next;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if (q==p)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</a:t>
            </a:r>
            <a:r>
              <a:rPr lang="en-US" dirty="0" smtClean="0"/>
              <a:t> return pr;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smtClean="0"/>
              <a:t>return NULL;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 </a:t>
            </a: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011731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369185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98077" y="4429132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54673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012127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441019" y="4572008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011863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8440755" y="5357826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69581" y="5214950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4298145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5400000">
            <a:off x="4941087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40293" y="3286124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40227" y="328612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q</a:t>
            </a:r>
            <a:endParaRPr lang="ru-RU" sz="2800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5400000">
            <a:off x="3798079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40161" y="3214686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pr</a:t>
            </a:r>
            <a:endParaRPr lang="ru-RU" sz="2800" b="1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 rot="5400000">
            <a:off x="6155533" y="4071148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69053" y="328612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368393" y="2762904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q!=p</a:t>
            </a:r>
            <a:endParaRPr lang="ru-RU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2566209" y="276290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q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"/>
                            </p:stCondLst>
                            <p:childTnLst>
                              <p:par>
                                <p:cTn id="11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8693E-6 1.11022E-16 L 0.10827 0.00069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896E-6 -1.11111E-6 L 0.11055 0.0037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40"/>
                            </p:stCondLst>
                            <p:childTnLst>
                              <p:par>
                                <p:cTn id="130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6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6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660"/>
                            </p:stCondLst>
                            <p:childTnLst>
                              <p:par>
                                <p:cTn id="156" presetID="16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220"/>
                            </p:stCondLst>
                            <p:childTnLst>
                              <p:par>
                                <p:cTn id="16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220"/>
                            </p:stCondLst>
                            <p:childTnLst>
                              <p:par>
                                <p:cTn id="164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35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220"/>
                            </p:stCondLst>
                            <p:childTnLst>
                              <p:par>
                                <p:cTn id="173" presetID="16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720"/>
                            </p:stCondLst>
                            <p:childTnLst>
                              <p:par>
                                <p:cTn id="178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7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720"/>
                            </p:stCondLst>
                            <p:childTnLst>
                              <p:par>
                                <p:cTn id="181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720"/>
                            </p:stCondLst>
                            <p:childTnLst>
                              <p:par>
                                <p:cTn id="186" presetID="16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40"/>
                            </p:stCondLst>
                            <p:childTnLst>
                              <p:par>
                                <p:cTn id="197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5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60"/>
                            </p:stCondLst>
                            <p:childTnLst>
                              <p:par>
                                <p:cTn id="212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2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3" presetClass="emph" presetSubtype="2" fill="hold" grpId="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3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3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35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3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39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1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2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3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>
                                      <p:cBhvr override="childStyle">
                                        <p:cTn id="245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660"/>
                            </p:stCondLst>
                            <p:childTnLst>
                              <p:par>
                                <p:cTn id="247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3160"/>
                            </p:stCondLst>
                            <p:childTnLst>
                              <p:par>
                                <p:cTn id="266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6808E-6 -1.11111E-6 L 0.17243 0.0037 " pathEditMode="relative" rAng="0" ptsTypes="AA">
                                      <p:cBhvr>
                                        <p:cTn id="2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" y="2"/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1124E-6 1.11022E-16 L 0.17003 0.00069 " pathEditMode="relative" rAng="0" ptsTypes="AA">
                                      <p:cBhvr>
                                        <p:cTn id="2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3660"/>
                            </p:stCondLst>
                            <p:childTnLst>
                              <p:par>
                                <p:cTn id="271" presetID="9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640"/>
                            </p:stCondLst>
                            <p:childTnLst>
                              <p:par>
                                <p:cTn id="306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6" presetClass="emph" presetSubtype="0" fill="hold" grpId="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6" presetClass="emph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660"/>
                            </p:stCondLst>
                            <p:childTnLst>
                              <p:par>
                                <p:cTn id="329" presetID="16" presetClass="emph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1220"/>
                            </p:stCondLst>
                            <p:childTnLst>
                              <p:par>
                                <p:cTn id="334" presetID="35" presetClass="emph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3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2220"/>
                            </p:stCondLst>
                            <p:childTnLst>
                              <p:par>
                                <p:cTn id="337" presetID="35" presetClass="emp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35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3220"/>
                            </p:stCondLst>
                            <p:childTnLst>
                              <p:par>
                                <p:cTn id="346" presetID="16" presetClass="emph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3780"/>
                            </p:stCondLst>
                            <p:childTnLst>
                              <p:par>
                                <p:cTn id="351" presetID="16" presetClass="emph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80"/>
                            </p:stCondLst>
                            <p:childTnLst>
                              <p:par>
                                <p:cTn id="356" presetID="35" presetClass="emph" presetSubtype="0" fill="hold" grpId="8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3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280"/>
                            </p:stCondLst>
                            <p:childTnLst>
                              <p:par>
                                <p:cTn id="359" presetID="35" presetClass="emp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6280"/>
                            </p:stCondLst>
                            <p:childTnLst>
                              <p:par>
                                <p:cTn id="364" presetID="16" presetClass="emph" presetSubtype="0" fill="hold" grpId="9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580"/>
                            </p:stCondLst>
                            <p:childTnLst>
                              <p:par>
                                <p:cTn id="375" presetID="63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3299E-6 -4.44444E-6 L 0.16535 0.01412 " pathEditMode="relative" rAng="0" ptsTypes="AA">
                                      <p:cBhvr>
                                        <p:cTn id="37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7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 0.00069 L 0.17337 0.00139 " pathEditMode="relative" rAng="0" ptsTypes="AA">
                                      <p:cBhvr>
                                        <p:cTn id="37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680"/>
                            </p:stCondLst>
                            <p:childTnLst>
                              <p:par>
                                <p:cTn id="386" presetID="63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55 0.0037 L 0.25612 0.0037 " pathEditMode="relative" rAng="0" ptsTypes="AA">
                                      <p:cBhvr>
                                        <p:cTn id="38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0"/>
                                    </p:animMotion>
                                  </p:childTnLst>
                                </p:cTn>
                              </p:par>
                              <p:par>
                                <p:cTn id="38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27 0.00069 L 0.24996 1.11022E-16 " pathEditMode="relative" rAng="0" ptsTypes="AA">
                                      <p:cBhvr>
                                        <p:cTn id="38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680"/>
                            </p:stCondLst>
                            <p:childTnLst>
                              <p:par>
                                <p:cTn id="391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6" presetClass="emph" presetSubtype="0" fill="hold" grpId="1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6" presetClass="emph" presetSubtype="0" fill="hold" grpId="1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6" presetClass="emph" presetSubtype="0" fill="hold" grpId="9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6" presetClass="emph" presetSubtype="0" fill="hold" grpId="1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660"/>
                            </p:stCondLst>
                            <p:childTnLst>
                              <p:par>
                                <p:cTn id="450" presetID="16" presetClass="emph" presetSubtype="0" fill="hold" grpId="1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220"/>
                            </p:stCondLst>
                            <p:childTnLst>
                              <p:par>
                                <p:cTn id="455" presetID="35" presetClass="emph" presetSubtype="0" fill="hold" grpId="1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4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2220"/>
                            </p:stCondLst>
                            <p:childTnLst>
                              <p:par>
                                <p:cTn id="458" presetID="35" presetClass="emph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2" presetID="35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4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3220"/>
                            </p:stCondLst>
                            <p:childTnLst>
                              <p:par>
                                <p:cTn id="467" presetID="16" presetClass="emph" presetSubtype="0" fill="hold" grpId="1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3720"/>
                            </p:stCondLst>
                            <p:childTnLst>
                              <p:par>
                                <p:cTn id="472" presetID="35" presetClass="emph" presetSubtype="0" fill="hold" grpId="1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4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4720"/>
                            </p:stCondLst>
                            <p:childTnLst>
                              <p:par>
                                <p:cTn id="475" presetID="35" presetClass="emph" presetSubtype="0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5720"/>
                            </p:stCondLst>
                            <p:childTnLst>
                              <p:par>
                                <p:cTn id="480" presetID="16" presetClass="emph" presetSubtype="0" fill="hold" grpId="1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640"/>
                            </p:stCondLst>
                            <p:childTnLst>
                              <p:par>
                                <p:cTn id="491" presetID="35" presetClass="emph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35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660"/>
                            </p:stCondLst>
                            <p:childTnLst>
                              <p:par>
                                <p:cTn id="506" presetID="35" presetClass="emph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1660"/>
                            </p:stCondLst>
                            <p:childTnLst>
                              <p:par>
                                <p:cTn id="511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6" presetClass="emph" presetSubtype="0" fill="hold" grpId="1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/>
      <p:bldP spid="16" grpId="0"/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17" grpId="9"/>
      <p:bldP spid="17" grpId="10"/>
      <p:bldP spid="17" grpId="11"/>
      <p:bldP spid="17" grpId="12"/>
      <p:bldP spid="19" grpId="0"/>
      <p:bldP spid="19" grpId="1"/>
      <p:bldP spid="19" grpId="2"/>
      <p:bldP spid="19" grpId="3"/>
      <p:bldP spid="19" grpId="4"/>
      <p:bldP spid="19" grpId="5"/>
      <p:bldP spid="19" grpId="6"/>
      <p:bldP spid="19" grpId="7"/>
      <p:bldP spid="21" grpId="0"/>
      <p:bldP spid="21" grpId="1"/>
      <p:bldP spid="21" grpId="2"/>
      <p:bldP spid="21" grpId="3"/>
      <p:bldP spid="21" grpId="4"/>
      <p:bldP spid="21" grpId="5"/>
      <p:bldP spid="21" grpId="6"/>
      <p:bldP spid="21" grpId="7"/>
      <p:bldP spid="21" grpId="8"/>
      <p:bldP spid="24" grpId="0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/>
      <p:bldP spid="24" grpId="11"/>
      <p:bldP spid="24" grpId="12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25" grpId="8"/>
      <p:bldP spid="25" grpId="9"/>
      <p:bldP spid="25" grpId="10"/>
      <p:bldP spid="25" grpId="11"/>
      <p:bldP spid="25" grpId="12"/>
      <p:bldP spid="25" grpId="13"/>
      <p:bldP spid="25" grpId="14"/>
      <p:bldP spid="25" grpId="15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71435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Вставка числа перед элементом в списке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5385" y="714356"/>
            <a:ext cx="5929354" cy="657229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200" dirty="0" smtClean="0"/>
              <a:t>void </a:t>
            </a:r>
            <a:r>
              <a:rPr lang="en-US" sz="3200" dirty="0" err="1" smtClean="0"/>
              <a:t>insert_list_before</a:t>
            </a:r>
            <a:r>
              <a:rPr lang="ru-RU" sz="3200" dirty="0" smtClean="0"/>
              <a:t> </a:t>
            </a:r>
            <a:r>
              <a:rPr lang="en-US" sz="3200" dirty="0" smtClean="0"/>
              <a:t>(node* &amp;top, node* q, </a:t>
            </a:r>
            <a:r>
              <a:rPr lang="en-US" sz="3200" dirty="0" err="1" smtClean="0"/>
              <a:t>int</a:t>
            </a:r>
            <a:r>
              <a:rPr lang="en-US" sz="3200" dirty="0" smtClean="0"/>
              <a:t> x)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{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node* p,*r 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p = new node;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r=previous(</a:t>
            </a:r>
            <a:r>
              <a:rPr lang="en-US" sz="3200" dirty="0" err="1" smtClean="0"/>
              <a:t>top,q</a:t>
            </a:r>
            <a:r>
              <a:rPr lang="en-US" sz="3200" dirty="0" smtClean="0"/>
              <a:t>);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if (q==top)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</a:t>
            </a:r>
            <a:r>
              <a:rPr lang="ru-RU" sz="3200" dirty="0" smtClean="0"/>
              <a:t>     </a:t>
            </a:r>
            <a:r>
              <a:rPr lang="en-US" sz="3200" dirty="0" smtClean="0"/>
              <a:t>push(</a:t>
            </a:r>
            <a:r>
              <a:rPr lang="en-US" sz="3200" dirty="0" err="1" smtClean="0"/>
              <a:t>top,x</a:t>
            </a:r>
            <a:r>
              <a:rPr lang="en-US" sz="3200" dirty="0" smtClean="0"/>
              <a:t>);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else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 if (r==NULL) 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</a:t>
            </a:r>
            <a:r>
              <a:rPr lang="ru-RU" sz="3200" dirty="0" smtClean="0"/>
              <a:t>     </a:t>
            </a:r>
            <a:r>
              <a:rPr lang="en-US" sz="3200" dirty="0" smtClean="0"/>
              <a:t>{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</a:t>
            </a:r>
            <a:r>
              <a:rPr lang="ru-RU" sz="3200" dirty="0" smtClean="0"/>
              <a:t> </a:t>
            </a:r>
            <a:r>
              <a:rPr lang="en-US" sz="3200" dirty="0" err="1" smtClean="0"/>
              <a:t>cout</a:t>
            </a:r>
            <a:r>
              <a:rPr lang="en-US" sz="3200" dirty="0" smtClean="0"/>
              <a:t>&lt;&lt;" sorry, impossible insert element"&lt;&lt;</a:t>
            </a:r>
            <a:r>
              <a:rPr lang="en-US" sz="3200" dirty="0" err="1" smtClean="0"/>
              <a:t>endl</a:t>
            </a:r>
            <a:r>
              <a:rPr lang="en-US" sz="3200" dirty="0" smtClean="0"/>
              <a:t>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</a:t>
            </a:r>
            <a:r>
              <a:rPr lang="ru-RU" sz="3200" dirty="0" smtClean="0"/>
              <a:t>	</a:t>
            </a:r>
            <a:r>
              <a:rPr lang="en-US" sz="3200" dirty="0" smtClean="0"/>
              <a:t>exit(-1);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</a:t>
            </a:r>
            <a:r>
              <a:rPr lang="ru-RU" sz="3200" dirty="0" smtClean="0"/>
              <a:t>     </a:t>
            </a:r>
            <a:r>
              <a:rPr lang="en-US" sz="3200" dirty="0" smtClean="0"/>
              <a:t>}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 else 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</a:t>
            </a:r>
            <a:r>
              <a:rPr lang="ru-RU" sz="3200" dirty="0" smtClean="0"/>
              <a:t>     </a:t>
            </a:r>
            <a:r>
              <a:rPr lang="en-US" sz="3200" dirty="0" smtClean="0"/>
              <a:t>{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 </a:t>
            </a:r>
            <a:r>
              <a:rPr lang="ru-RU" sz="3200" dirty="0" smtClean="0"/>
              <a:t>	</a:t>
            </a:r>
            <a:r>
              <a:rPr lang="en-US" sz="3200" dirty="0" smtClean="0"/>
              <a:t>p-&gt;data=x;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 </a:t>
            </a:r>
            <a:r>
              <a:rPr lang="ru-RU" sz="3200" dirty="0" smtClean="0"/>
              <a:t>	</a:t>
            </a:r>
            <a:r>
              <a:rPr lang="en-US" sz="3200" dirty="0" smtClean="0"/>
              <a:t>p-&gt;next=r-&gt;next;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    </a:t>
            </a:r>
            <a:r>
              <a:rPr lang="ru-RU" sz="3200" dirty="0" smtClean="0"/>
              <a:t>	</a:t>
            </a:r>
            <a:r>
              <a:rPr lang="en-US" sz="3200" dirty="0" smtClean="0"/>
              <a:t>r-&gt;next=p;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      </a:t>
            </a:r>
            <a:r>
              <a:rPr lang="ru-RU" sz="3200" dirty="0" smtClean="0"/>
              <a:t>     </a:t>
            </a:r>
            <a:r>
              <a:rPr lang="en-US" sz="3200" dirty="0" smtClean="0"/>
              <a:t>}</a:t>
            </a:r>
            <a:endParaRPr lang="ru-RU" sz="3200" dirty="0" smtClean="0"/>
          </a:p>
          <a:p>
            <a:pPr>
              <a:buNone/>
            </a:pPr>
            <a:r>
              <a:rPr lang="en-US" sz="3200" dirty="0" smtClean="0"/>
              <a:t>}</a:t>
            </a:r>
            <a:endParaRPr lang="ru-RU" sz="3200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253032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610486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039378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95974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253428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682320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8682056" y="6286520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10882" y="614364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5182388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81594" y="4214818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5961055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54739" y="421481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q</a:t>
            </a:r>
            <a:endParaRPr lang="ru-RU" sz="2800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5400000">
            <a:off x="4628181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70263" y="4263102"/>
            <a:ext cx="312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r</a:t>
            </a:r>
            <a:endParaRPr lang="ru-RU" sz="2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8012127" y="1214422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X=</a:t>
            </a:r>
            <a:endParaRPr lang="ru-RU" sz="2000" b="1" dirty="0"/>
          </a:p>
        </p:txBody>
      </p:sp>
      <p:graphicFrame>
        <p:nvGraphicFramePr>
          <p:cNvPr id="31" name="Содержимое 6"/>
          <p:cNvGraphicFramePr>
            <a:graphicFrameLocks/>
          </p:cNvGraphicFramePr>
          <p:nvPr/>
        </p:nvGraphicFramePr>
        <p:xfrm>
          <a:off x="3082905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4" name="Прямая со стрелкой 33"/>
          <p:cNvCxnSpPr/>
          <p:nvPr/>
        </p:nvCxnSpPr>
        <p:spPr>
          <a:xfrm>
            <a:off x="4011599" y="6357958"/>
            <a:ext cx="1214446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11533" y="614364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8424821" y="121442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4583103" y="1423028"/>
          <a:ext cx="28575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20"/>
              </a:tblGrid>
              <a:tr h="1000132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Случай:</a:t>
                      </a:r>
                    </a:p>
                    <a:p>
                      <a:pPr algn="ctr"/>
                      <a:r>
                        <a:rPr lang="en-US" sz="3200" dirty="0" smtClean="0"/>
                        <a:t>q=top</a:t>
                      </a:r>
                      <a:endParaRPr lang="ru-RU" sz="3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4583103" y="1428736"/>
          <a:ext cx="28575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20"/>
              </a:tblGrid>
              <a:tr h="1000132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Случай:</a:t>
                      </a:r>
                    </a:p>
                    <a:p>
                      <a:pPr algn="ctr"/>
                      <a:r>
                        <a:rPr lang="ru-RU" sz="2800" dirty="0" smtClean="0"/>
                        <a:t>Нет элемента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3200" dirty="0" smtClean="0"/>
                        <a:t>q</a:t>
                      </a:r>
                      <a:endParaRPr lang="ru-RU" sz="3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4583103" y="1428736"/>
          <a:ext cx="292895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958"/>
              </a:tblGrid>
              <a:tr h="1000132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Случай:</a:t>
                      </a:r>
                    </a:p>
                    <a:p>
                      <a:pPr algn="ctr"/>
                      <a:r>
                        <a:rPr lang="en-US" sz="3200" dirty="0" smtClean="0"/>
                        <a:t>q!=top</a:t>
                      </a:r>
                      <a:endParaRPr lang="ru-RU" sz="3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4805" y="3500438"/>
            <a:ext cx="5044103" cy="1169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0" name="Прямая со стрелкой 19"/>
          <p:cNvCxnSpPr/>
          <p:nvPr/>
        </p:nvCxnSpPr>
        <p:spPr>
          <a:xfrm rot="5400000">
            <a:off x="3226575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68657" y="421481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sp>
        <p:nvSpPr>
          <p:cNvPr id="32" name="Дуга 31"/>
          <p:cNvSpPr/>
          <p:nvPr/>
        </p:nvSpPr>
        <p:spPr>
          <a:xfrm rot="10800000" flipH="1">
            <a:off x="3940161" y="5572140"/>
            <a:ext cx="3638145" cy="1214422"/>
          </a:xfrm>
          <a:prstGeom prst="arc">
            <a:avLst>
              <a:gd name="adj1" fmla="val 10907772"/>
              <a:gd name="adj2" fmla="val 2147788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253164" y="6286520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8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80"/>
                            </p:stCondLst>
                            <p:childTnLst>
                              <p:par>
                                <p:cTn id="1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840"/>
                            </p:stCondLst>
                            <p:childTnLst>
                              <p:par>
                                <p:cTn id="15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80"/>
                            </p:stCondLst>
                            <p:childTnLst>
                              <p:par>
                                <p:cTn id="1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80"/>
                            </p:stCondLst>
                            <p:childTnLst>
                              <p:par>
                                <p:cTn id="166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720"/>
                            </p:stCondLst>
                            <p:childTnLst>
                              <p:par>
                                <p:cTn id="18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02353E-6 4.81481E-6 L -0.39166 0.63217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" y="3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720"/>
                            </p:stCondLst>
                            <p:childTnLst>
                              <p:par>
                                <p:cTn id="184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220"/>
                            </p:stCondLst>
                            <p:childTnLst>
                              <p:par>
                                <p:cTn id="191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12405E-6 2.22222E-6 L -0.19556 0.00463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" y="2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998E-6 3.33333E-6 L -0.20265 0.00185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220"/>
                            </p:stCondLst>
                            <p:childTnLst>
                              <p:par>
                                <p:cTn id="19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9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840"/>
                            </p:stCondLst>
                            <p:childTnLst>
                              <p:par>
                                <p:cTn id="261" presetID="56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166 0.63217 L -0.00254 0.00208 " pathEditMode="relative" rAng="0" ptsTypes="AA">
                                      <p:cBhvr>
                                        <p:cTn id="2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" y="-315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557 0.00463 L 0.00454 0.00463 " pathEditMode="relative" rAng="0" ptsTypes="AA">
                                      <p:cBhvr>
                                        <p:cTn id="2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65 0.00186 L -0.00254 0.00371 " pathEditMode="relative" rAng="0" ptsTypes="AA">
                                      <p:cBhvr>
                                        <p:cTn id="2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1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3893E-7 2.22222E-6 L -0.17939 0.00463 " pathEditMode="relative" rAng="0" ptsTypes="AA">
                                      <p:cBhvr>
                                        <p:cTn id="2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" y="2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3657E-6 3.33333E-6 L -0.17123 0.00185 " pathEditMode="relative" rAng="0" ptsTypes="AA">
                                      <p:cBhvr>
                                        <p:cTn id="2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340"/>
                            </p:stCondLst>
                            <p:childTnLst>
                              <p:par>
                                <p:cTn id="272" presetID="9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840"/>
                            </p:stCondLst>
                            <p:childTnLst>
                              <p:par>
                                <p:cTn id="2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700"/>
                            </p:stCondLst>
                            <p:childTnLst>
                              <p:par>
                                <p:cTn id="298" presetID="35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1700"/>
                            </p:stCondLst>
                            <p:childTnLst>
                              <p:par>
                                <p:cTn id="303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060"/>
                            </p:stCondLst>
                            <p:childTnLst>
                              <p:par>
                                <p:cTn id="3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1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9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3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1380"/>
                            </p:stCondLst>
                            <p:childTnLst>
                              <p:par>
                                <p:cTn id="40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9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9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7282 -0.25191 " pathEditMode="relative" ptsTypes="AA">
                                      <p:cBhvr>
                                        <p:cTn id="4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7282 -0.25191 " pathEditMode="relative" ptsTypes="AA">
                                      <p:cBhvr>
                                        <p:cTn id="4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7282 -0.25191 " pathEditMode="relative" ptsTypes="AA">
                                      <p:cBhvr>
                                        <p:cTn id="4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7282 -0.25191 " pathEditMode="relative" ptsTypes="AA">
                                      <p:cBhvr>
                                        <p:cTn id="4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880"/>
                            </p:stCondLst>
                            <p:childTnLst>
                              <p:par>
                                <p:cTn id="430" presetID="63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3893E-7 -4.77446E-6 L 0.16027 0.00463 " pathEditMode="relative" rAng="0" ptsTypes="AA">
                                      <p:cBhvr>
                                        <p:cTn id="4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" y="2"/>
                                    </p:animMotion>
                                  </p:childTnLst>
                                </p:cTn>
                              </p:par>
                              <p:par>
                                <p:cTn id="43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3657E-6 -6.52325E-7 L 0.16228 0.00185 " pathEditMode="relative" rAng="0" ptsTypes="AA">
                                      <p:cBhvr>
                                        <p:cTn id="4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2380"/>
                            </p:stCondLst>
                            <p:childTnLst>
                              <p:par>
                                <p:cTn id="435" presetID="9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2880"/>
                            </p:stCondLst>
                            <p:childTnLst>
                              <p:par>
                                <p:cTn id="4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680"/>
                            </p:stCondLst>
                            <p:childTnLst>
                              <p:par>
                                <p:cTn id="452" presetID="9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9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680"/>
                            </p:stCondLst>
                            <p:childTnLst>
                              <p:par>
                                <p:cTn id="4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9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840"/>
                            </p:stCondLst>
                            <p:childTnLst>
                              <p:par>
                                <p:cTn id="484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103 0 " pathEditMode="relative" ptsTypes="AA">
                                      <p:cBhvr>
                                        <p:cTn id="48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3774E-8 -0.00856 L 0.09263 -0.00671 " pathEditMode="relative" rAng="0" ptsTypes="AA">
                                      <p:cBhvr>
                                        <p:cTn id="48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9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680"/>
                            </p:stCondLst>
                            <p:childTnLst>
                              <p:par>
                                <p:cTn id="495" presetID="35" presetClass="emp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9" presetID="35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700"/>
                            </p:stCondLst>
                            <p:childTnLst>
                              <p:par>
                                <p:cTn id="516" presetID="35" presetClass="emph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3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680"/>
                            </p:stCondLst>
                            <p:childTnLst>
                              <p:par>
                                <p:cTn id="537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334 0.37774 " pathEditMode="relative" ptsTypes="AA">
                                      <p:cBhvr>
                                        <p:cTn id="5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800"/>
                            </p:stCondLst>
                            <p:childTnLst>
                              <p:par>
                                <p:cTn id="546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747 -0.24728 L 0.17658 -0.00578 " pathEditMode="relative" rAng="0" ptsTypes="AA">
                                      <p:cBhvr>
                                        <p:cTn id="5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" y="121"/>
                                    </p:animMotion>
                                  </p:childTnLst>
                                </p:cTn>
                              </p:par>
                              <p:par>
                                <p:cTn id="5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122 -0.25006 L 0.18032 -0.00856 " pathEditMode="relative" rAng="0" ptsTypes="AA">
                                      <p:cBhvr>
                                        <p:cTn id="55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" y="121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269 -0.2489 L 0.18179 -0.0074 " pathEditMode="relative" rAng="0" ptsTypes="AA">
                                      <p:cBhvr>
                                        <p:cTn id="55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" y="121"/>
                                    </p:animMotion>
                                  </p:childTnLst>
                                </p:cTn>
                              </p:par>
                              <p:par>
                                <p:cTn id="555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594 0.38006 L -0.22082 0.63174 " pathEditMode="relative" rAng="0" ptsTypes="AA">
                                      <p:cBhvr>
                                        <p:cTn id="55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" y="126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0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056 -0.24659 L 0.17966 -0.00509 " pathEditMode="relative" rAng="0" ptsTypes="AA">
                                      <p:cBhvr>
                                        <p:cTn id="55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" y="121"/>
                                    </p:animMotion>
                                  </p:childTnLst>
                                </p:cTn>
                              </p:par>
                              <p:par>
                                <p:cTn id="559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18 0 " pathEditMode="relative" ptsTypes="AA">
                                      <p:cBhvr>
                                        <p:cTn id="56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18 0 " pathEditMode="relative" ptsTypes="AA">
                                      <p:cBhvr>
                                        <p:cTn id="56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18 0 " pathEditMode="relative" ptsTypes="AA">
                                      <p:cBhvr>
                                        <p:cTn id="56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18 0 " pathEditMode="relative" ptsTypes="AA">
                                      <p:cBhvr>
                                        <p:cTn id="56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7" presetID="0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58 -4.39972E-6 L -0.06603 0.01065 " pathEditMode="relative" rAng="0" ptsTypes="AA">
                                      <p:cBhvr>
                                        <p:cTn id="56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" y="5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263 -0.00694 L -0.06657 0.00185 " pathEditMode="relative" rAng="0" ptsTypes="AA">
                                      <p:cBhvr>
                                        <p:cTn id="57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" y="4"/>
                                    </p:animMotion>
                                  </p:childTnLst>
                                </p:cTn>
                              </p:par>
                              <p:par>
                                <p:cTn id="5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2800"/>
                            </p:stCondLst>
                            <p:childTnLst>
                              <p:par>
                                <p:cTn id="575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>
                            <p:stCondLst>
                              <p:cond delay="680"/>
                            </p:stCondLst>
                            <p:childTnLst>
                              <p:par>
                                <p:cTn id="588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1180"/>
                            </p:stCondLst>
                            <p:childTnLst>
                              <p:par>
                                <p:cTn id="595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9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4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1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9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7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3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3" grpId="0"/>
      <p:bldP spid="15" grpId="0"/>
      <p:bldP spid="15" grpId="1"/>
      <p:bldP spid="15" grpId="2"/>
      <p:bldP spid="15" grpId="3"/>
      <p:bldP spid="15" grpId="4"/>
      <p:bldP spid="15" grpId="5"/>
      <p:bldP spid="15" grpId="6"/>
      <p:bldP spid="15" grpId="7"/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25" grpId="8"/>
      <p:bldP spid="26" grpId="0"/>
      <p:bldP spid="36" grpId="0"/>
      <p:bldP spid="36" grpId="1"/>
      <p:bldP spid="36" grpId="2"/>
      <p:bldP spid="36" grpId="3"/>
      <p:bldP spid="36" grpId="4"/>
      <p:bldP spid="36" grpId="5"/>
      <p:bldP spid="36" grpId="6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1" grpId="0"/>
      <p:bldP spid="21" grpId="1"/>
      <p:bldP spid="21" grpId="2"/>
      <p:bldP spid="21" grpId="3"/>
      <p:bldP spid="21" grpId="4"/>
      <p:bldP spid="21" grpId="5"/>
      <p:bldP spid="32" grpId="0" animBg="1"/>
      <p:bldP spid="3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4013" y="0"/>
            <a:ext cx="10692765" cy="92867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Вставка числа после элемента в списке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5385" y="928670"/>
            <a:ext cx="7500990" cy="5197495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insert_list_after</a:t>
            </a:r>
            <a:r>
              <a:rPr lang="en-US" dirty="0" smtClean="0"/>
              <a:t>(node* top, node* &amp;q, </a:t>
            </a:r>
            <a:r>
              <a:rPr lang="en-US" dirty="0" err="1" smtClean="0"/>
              <a:t>int</a:t>
            </a:r>
            <a:r>
              <a:rPr lang="en-US" dirty="0" smtClean="0"/>
              <a:t> x)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node*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p = new node;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p-&gt;data=x;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p-&gt;next=q-&gt;next;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q-&gt;next=p;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154607" y="5286388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610486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039378" y="5357826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95974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253428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682320" y="550070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253164" y="6286520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8682056" y="6286520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10882" y="6143644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5182388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81594" y="4214818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012127" y="1214422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X=</a:t>
            </a:r>
            <a:endParaRPr lang="ru-RU" sz="2000" b="1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 rot="5400000">
            <a:off x="5746741" y="4999842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0425" y="421481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q</a:t>
            </a:r>
            <a:endParaRPr lang="ru-RU" sz="2800" b="1" dirty="0"/>
          </a:p>
        </p:txBody>
      </p:sp>
      <p:cxnSp>
        <p:nvCxnSpPr>
          <p:cNvPr id="27" name="Прямая со стрелкой 26"/>
          <p:cNvCxnSpPr/>
          <p:nvPr/>
        </p:nvCxnSpPr>
        <p:spPr>
          <a:xfrm rot="5400000">
            <a:off x="6655599" y="3499644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97681" y="271462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graphicFrame>
        <p:nvGraphicFramePr>
          <p:cNvPr id="29" name="Содержимое 6"/>
          <p:cNvGraphicFramePr>
            <a:graphicFrameLocks/>
          </p:cNvGraphicFramePr>
          <p:nvPr/>
        </p:nvGraphicFramePr>
        <p:xfrm>
          <a:off x="6511929" y="3857628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940557" y="4643446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31" name="Прямая со стрелкой 30"/>
          <p:cNvCxnSpPr/>
          <p:nvPr/>
        </p:nvCxnSpPr>
        <p:spPr>
          <a:xfrm>
            <a:off x="7369185" y="4856172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24821" y="1214422"/>
            <a:ext cx="4187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32" name="Прямая со стрелкой 31"/>
          <p:cNvCxnSpPr/>
          <p:nvPr/>
        </p:nvCxnSpPr>
        <p:spPr>
          <a:xfrm>
            <a:off x="3368657" y="6286520"/>
            <a:ext cx="185738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Дуга 43"/>
          <p:cNvSpPr/>
          <p:nvPr/>
        </p:nvSpPr>
        <p:spPr>
          <a:xfrm rot="10800000" flipH="1">
            <a:off x="3154343" y="5572140"/>
            <a:ext cx="4423963" cy="1214422"/>
          </a:xfrm>
          <a:prstGeom prst="arc">
            <a:avLst>
              <a:gd name="adj1" fmla="val 10907772"/>
              <a:gd name="adj2" fmla="val 2147788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20"/>
                            </p:stCondLst>
                            <p:childTnLst>
                              <p:par>
                                <p:cTn id="87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8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8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3933E-6 4.81481E-6 L -0.11776 0.40115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800"/>
                            </p:stCondLst>
                            <p:childTnLst>
                              <p:par>
                                <p:cTn id="122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12405E-6 2.22222E-6 L -0.21975 0.00463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" y="2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998E-6 3.33333E-6 L -0.22684 0.00185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3" y="1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0029E-6 2.22222E-6 L -0.22804 0.00463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" y="2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7924E-6 3.33333E-6 L -0.23206 0.00185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" y="1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7012E-6 0.00717 L -0.23326 0.0037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2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4 0.00417 L -0.23834 0.00718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" y="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7 -0.00463 L -0.12298 0.21875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" y="112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54 -0.00185 L -0.12418 0.21875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11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776 0.40116 L -0.22082 0.63426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6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3232E-6 0.00116 L -0.10694 0.22292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" y="111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5579E-6 -3.7037E-6 L -0.10921 0.21366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107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81 -1.85185E-6 L -0.0925 0.20463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800"/>
                            </p:stCondLst>
                            <p:childTnLst>
                              <p:par>
                                <p:cTn id="152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680"/>
                            </p:stCondLst>
                            <p:childTnLst>
                              <p:par>
                                <p:cTn id="17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180"/>
                            </p:stCondLst>
                            <p:childTnLst>
                              <p:par>
                                <p:cTn id="17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680"/>
                            </p:stCondLst>
                            <p:childTnLst>
                              <p:par>
                                <p:cTn id="179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3" grpId="0"/>
      <p:bldP spid="15" grpId="0"/>
      <p:bldP spid="15" grpId="1"/>
      <p:bldP spid="18" grpId="0"/>
      <p:bldP spid="21" grpId="0"/>
      <p:bldP spid="21" grpId="1"/>
      <p:bldP spid="28" grpId="0"/>
      <p:bldP spid="28" grpId="1"/>
      <p:bldP spid="28" grpId="2"/>
      <p:bldP spid="30" grpId="0"/>
      <p:bldP spid="30" grpId="1"/>
      <p:bldP spid="30" grpId="2"/>
      <p:bldP spid="19" grpId="0" animBg="1"/>
      <p:bldP spid="19" grpId="1" animBg="1"/>
      <p:bldP spid="19" grpId="2" animBg="1"/>
      <p:bldP spid="44" grpId="0" animBg="1"/>
      <p:bldP spid="4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85723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Найти адрес элемента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96823" y="928670"/>
            <a:ext cx="5544595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node* </a:t>
            </a:r>
            <a:r>
              <a:rPr lang="en-US" dirty="0" err="1" smtClean="0"/>
              <a:t>find_address</a:t>
            </a:r>
            <a:r>
              <a:rPr lang="en-US" dirty="0" smtClean="0"/>
              <a:t>(node* top, </a:t>
            </a:r>
            <a:r>
              <a:rPr lang="en-US" dirty="0" err="1" smtClean="0"/>
              <a:t>int</a:t>
            </a:r>
            <a:r>
              <a:rPr lang="en-US" dirty="0" smtClean="0"/>
              <a:t> x)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node*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p=top;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while (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r>
              <a:rPr lang="en-US" dirty="0" smtClean="0"/>
              <a:t>&amp;&amp;</a:t>
            </a:r>
            <a:r>
              <a:rPr lang="ru-RU" dirty="0" smtClean="0"/>
              <a:t>                     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p=p-&gt;next;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return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011731" y="5214950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369185" y="5214950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98077" y="5214950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54673" y="5357826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012127" y="5357826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441019" y="5357826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011863" y="6143644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8440755" y="6143644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69581" y="6000768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4941087" y="4856966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0293" y="4071942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4012393" y="4856966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54475" y="407194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012127" y="1214422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X=</a:t>
            </a:r>
            <a:endParaRPr lang="ru-RU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8424821" y="1214422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511269" y="2977218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</a:t>
            </a:r>
            <a:endParaRPr lang="ru-RU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2247166" y="2977218"/>
            <a:ext cx="1978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(p-&gt;data)!=x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8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2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"/>
                            </p:stCondLst>
                            <p:childTnLst>
                              <p:par>
                                <p:cTn id="9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83518E-6 -4.44444E-6 L 0.14677 0.00463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2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4134E-6 -3.33333E-6 L 0.13835 0.00162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20"/>
                            </p:stCondLst>
                            <p:childTnLst>
                              <p:par>
                                <p:cTn id="115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20"/>
                            </p:stCondLst>
                            <p:childTnLst>
                              <p:par>
                                <p:cTn id="120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220"/>
                            </p:stCondLst>
                            <p:childTnLst>
                              <p:par>
                                <p:cTn id="123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220"/>
                            </p:stCondLst>
                            <p:childTnLst>
                              <p:par>
                                <p:cTn id="128" presetID="16" presetClass="emph" presetSubtype="0" fill="hold" grpId="3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720"/>
                            </p:stCondLst>
                            <p:childTnLst>
                              <p:par>
                                <p:cTn id="13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4440"/>
                            </p:stCondLst>
                            <p:childTnLst>
                              <p:par>
                                <p:cTn id="138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3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440"/>
                            </p:stCondLst>
                            <p:childTnLst>
                              <p:par>
                                <p:cTn id="141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6440"/>
                            </p:stCondLst>
                            <p:childTnLst>
                              <p:par>
                                <p:cTn id="146" presetID="1" presetClass="emph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8440"/>
                            </p:stCondLst>
                            <p:childTnLst>
                              <p:par>
                                <p:cTn id="155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160"/>
                            </p:stCondLst>
                            <p:childTnLst>
                              <p:par>
                                <p:cTn id="16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"/>
                            </p:stCondLst>
                            <p:childTnLst>
                              <p:par>
                                <p:cTn id="175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677 0.00463 L 0.29368 0.00463 " pathEditMode="relative" rAng="0" ptsTypes="AA">
                                      <p:cBhvr>
                                        <p:cTn id="17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835 0.00162 L 0.29127 0.00162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6" presetClass="emph" presetSubtype="0" fill="hold" grpId="9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6" presetClass="emph" presetSubtype="0" fill="hold" grpId="7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6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6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720"/>
                            </p:stCondLst>
                            <p:childTnLst>
                              <p:par>
                                <p:cTn id="210" presetID="16" presetClass="emph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220"/>
                            </p:stCondLst>
                            <p:childTnLst>
                              <p:par>
                                <p:cTn id="215" presetID="35" presetClass="emph" presetSubtype="0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220"/>
                            </p:stCondLst>
                            <p:childTnLst>
                              <p:par>
                                <p:cTn id="218" presetID="35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220"/>
                            </p:stCondLst>
                            <p:childTnLst>
                              <p:par>
                                <p:cTn id="223" presetID="16" presetClass="emph" presetSubtype="0" fill="hold" grpId="7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720"/>
                            </p:stCondLst>
                            <p:childTnLst>
                              <p:par>
                                <p:cTn id="228" presetID="16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4440"/>
                            </p:stCondLst>
                            <p:childTnLst>
                              <p:par>
                                <p:cTn id="233" presetID="35" presetClass="emph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234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440"/>
                            </p:stCondLst>
                            <p:childTnLst>
                              <p:par>
                                <p:cTn id="236" presetID="1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440"/>
                            </p:stCondLst>
                            <p:childTnLst>
                              <p:par>
                                <p:cTn id="24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5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5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640"/>
                            </p:stCondLst>
                            <p:childTnLst>
                              <p:par>
                                <p:cTn id="260" presetID="35" presetClass="emph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640"/>
                            </p:stCondLst>
                            <p:childTnLst>
                              <p:par>
                                <p:cTn id="265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6" presetClass="emph" presetSubtype="0" fill="hold" grpId="1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10" grpId="0" animBg="1"/>
      <p:bldP spid="13" grpId="0"/>
      <p:bldP spid="15" grpId="0"/>
      <p:bldP spid="17" grpId="0"/>
      <p:bldP spid="17" grpId="1"/>
      <p:bldP spid="17" grpId="2"/>
      <p:bldP spid="17" grpId="3"/>
      <p:bldP spid="17" grpId="4"/>
      <p:bldP spid="17" grpId="5"/>
      <p:bldP spid="18" grpId="0"/>
      <p:bldP spid="19" grpId="0" animBg="1"/>
      <p:bldP spid="19" grpId="1" animBg="1"/>
      <p:bldP spid="19" grpId="2" animBg="1"/>
      <p:bldP spid="19" grpId="3" animBg="1"/>
      <p:bldP spid="20" grpId="0"/>
      <p:bldP spid="20" grpId="1"/>
      <p:bldP spid="20" grpId="2"/>
      <p:bldP spid="20" grpId="3"/>
      <p:bldP spid="20" grpId="4"/>
      <p:bldP spid="20" grpId="5"/>
      <p:bldP spid="20" grpId="6"/>
      <p:bldP spid="20" grpId="7"/>
      <p:bldP spid="20" grpId="8"/>
      <p:bldP spid="20" grpId="9"/>
      <p:bldP spid="20" grpId="10"/>
      <p:bldP spid="21" grpId="0" build="allAtOnce"/>
      <p:bldP spid="21" grpId="1" build="allAtOnce"/>
      <p:bldP spid="21" grpId="2" build="allAtOnce"/>
      <p:bldP spid="21" grpId="3" build="allAtOnce"/>
      <p:bldP spid="21" grpId="4" build="allAtOnce"/>
      <p:bldP spid="21" grpId="5" build="allAtOnce"/>
      <p:bldP spid="21" grpId="6" build="allAtOnce"/>
      <p:bldP spid="21" grpId="7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575" y="0"/>
            <a:ext cx="10692765" cy="86834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Удаление элемента из списка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39699" y="831863"/>
            <a:ext cx="5247375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delete_element</a:t>
            </a:r>
            <a:r>
              <a:rPr lang="ru-RU" dirty="0" smtClean="0"/>
              <a:t> </a:t>
            </a:r>
            <a:r>
              <a:rPr lang="en-US" dirty="0" smtClean="0"/>
              <a:t>(node* &amp;top, node* p)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{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node* r;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x;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if (p==top)    	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	       pop(</a:t>
            </a:r>
            <a:r>
              <a:rPr lang="en-US" dirty="0" err="1" smtClean="0"/>
              <a:t>top,x</a:t>
            </a:r>
            <a:r>
              <a:rPr lang="en-US" dirty="0" smtClean="0"/>
              <a:t>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else 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	r=previous(</a:t>
            </a:r>
            <a:r>
              <a:rPr lang="en-US" dirty="0" err="1" smtClean="0"/>
              <a:t>top,p</a:t>
            </a:r>
            <a:r>
              <a:rPr lang="en-US" dirty="0" smtClean="0"/>
              <a:t>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   r-&gt;next=p-&gt;next;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           delete p;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it-IT" dirty="0" smtClean="0"/>
              <a:t>}</a:t>
            </a:r>
            <a:endParaRPr lang="ru-RU" dirty="0" smtClean="0"/>
          </a:p>
          <a:p>
            <a:pPr>
              <a:buNone/>
            </a:pPr>
            <a:r>
              <a:rPr lang="it-IT" dirty="0" smtClean="0"/>
              <a:t>}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Содержимое 6"/>
          <p:cNvGraphicFramePr>
            <a:graphicFrameLocks/>
          </p:cNvGraphicFramePr>
          <p:nvPr/>
        </p:nvGraphicFramePr>
        <p:xfrm>
          <a:off x="5011731" y="507207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369185" y="507207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98077" y="5072074"/>
          <a:ext cx="1687525" cy="1285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25"/>
              </a:tblGrid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429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54673" y="5214950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012127" y="5214950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441019" y="5214950"/>
            <a:ext cx="3016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6011863" y="6000768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8440755" y="6000768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369581" y="5857892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5400000">
            <a:off x="4941087" y="471409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0293" y="3929066"/>
            <a:ext cx="69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top</a:t>
            </a:r>
            <a:endParaRPr lang="ru-RU" sz="28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5635631" y="471409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77713" y="392906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p</a:t>
            </a:r>
            <a:endParaRPr lang="ru-RU" sz="2800" b="1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rot="5400000">
            <a:off x="3512327" y="4714090"/>
            <a:ext cx="71438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4409" y="3929066"/>
            <a:ext cx="312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r</a:t>
            </a:r>
            <a:endParaRPr lang="ru-RU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8012127" y="1214422"/>
            <a:ext cx="4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X=</a:t>
            </a:r>
            <a:endParaRPr lang="ru-RU" sz="2000" b="1" dirty="0"/>
          </a:p>
        </p:txBody>
      </p:sp>
      <p:sp>
        <p:nvSpPr>
          <p:cNvPr id="21" name="Дуга 20"/>
          <p:cNvSpPr/>
          <p:nvPr/>
        </p:nvSpPr>
        <p:spPr>
          <a:xfrm rot="10800000" flipH="1">
            <a:off x="6011863" y="5357826"/>
            <a:ext cx="3775119" cy="1367972"/>
          </a:xfrm>
          <a:prstGeom prst="arc">
            <a:avLst>
              <a:gd name="adj1" fmla="val 10752314"/>
              <a:gd name="adj2" fmla="val 2484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8440755" y="6070618"/>
            <a:ext cx="1357322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2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80"/>
                            </p:stCondLst>
                            <p:childTnLst>
                              <p:par>
                                <p:cTn id="104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680"/>
                            </p:stCondLst>
                            <p:childTnLst>
                              <p:par>
                                <p:cTn id="114" presetID="35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00"/>
                            </p:stCondLst>
                            <p:childTnLst>
                              <p:par>
                                <p:cTn id="12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8293E-6 1.11022E-16 L 0.12298 0.00139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" y="1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07953E-7 7.40741E-7 L 0.12739 7.40741E-7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700"/>
                            </p:stCondLst>
                            <p:childTnLst>
                              <p:par>
                                <p:cTn id="134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0941E-6 1.48148E-6 L 0.23566 -0.58125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" y="-2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700"/>
                            </p:stCondLst>
                            <p:childTnLst>
                              <p:par>
                                <p:cTn id="137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200"/>
                            </p:stCondLst>
                            <p:childTnLst>
                              <p:par>
                                <p:cTn id="150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700"/>
                            </p:stCondLst>
                            <p:childTnLst>
                              <p:par>
                                <p:cTn id="155" presetID="9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200"/>
                            </p:stCondLst>
                            <p:childTnLst>
                              <p:par>
                                <p:cTn id="16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7400"/>
                            </p:stCondLst>
                            <p:childTnLst>
                              <p:par>
                                <p:cTn id="215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7900"/>
                            </p:stCondLst>
                            <p:childTnLst>
                              <p:par>
                                <p:cTn id="231" presetID="35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93 -1.11111E-6 L -0.00066 -1.11111E-6 " pathEditMode="relative" rAng="0" ptsTypes="AA">
                                      <p:cBhvr>
                                        <p:cTn id="2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823 1.11022E-16 L -0.00173 1.11022E-16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42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66 -0.58125 L -0.0008 -0.00371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" y="2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9900"/>
                            </p:stCondLst>
                            <p:childTnLst>
                              <p:par>
                                <p:cTn id="2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620"/>
                            </p:stCondLst>
                            <p:childTnLst>
                              <p:par>
                                <p:cTn id="260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580"/>
                            </p:stCondLst>
                            <p:childTnLst>
                              <p:par>
                                <p:cTn id="27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680"/>
                            </p:stCondLst>
                            <p:childTnLst>
                              <p:par>
                                <p:cTn id="280" presetID="35" presetClass="emph" presetSubtype="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840"/>
                            </p:stCondLst>
                            <p:childTnLst>
                              <p:par>
                                <p:cTn id="303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2557E-6 -1.11111E-6 L 0.22791 0.0044 " pathEditMode="relative" rAng="0" ptsTypes="AA">
                                      <p:cBhvr>
                                        <p:cTn id="30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" y="2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1158E-6 1.11022E-16 L 0.22296 0.00139 " pathEditMode="relative" rAng="0" ptsTypes="AA">
                                      <p:cBhvr>
                                        <p:cTn id="30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640"/>
                            </p:stCondLst>
                            <p:childTnLst>
                              <p:par>
                                <p:cTn id="32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9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9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63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3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4122E-6 -8.81332E-7 L 0.20625 -8.81332E-7 " pathEditMode="relative" rAng="0" ptsTypes="AA">
                                      <p:cBhvr>
                                        <p:cTn id="3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" y="0"/>
                                    </p:animMotion>
                                  </p:childTnLst>
                                </p:cTn>
                              </p:par>
                              <p:par>
                                <p:cTn id="356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 -0.0037 L 0.21067 0.00301 " pathEditMode="relative" rAng="0" ptsTypes="AA">
                                      <p:cBhvr>
                                        <p:cTn id="3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40"/>
                            </p:stCondLst>
                            <p:childTnLst>
                              <p:par>
                                <p:cTn id="3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9" grpId="0" animBg="1"/>
      <p:bldP spid="9" grpId="1" animBg="1"/>
      <p:bldP spid="10" grpId="0" animBg="1"/>
      <p:bldP spid="13" grpId="0"/>
      <p:bldP spid="15" grpId="0"/>
      <p:bldP spid="15" grpId="1"/>
      <p:bldP spid="15" grpId="2"/>
      <p:bldP spid="15" grpId="3"/>
      <p:bldP spid="15" grpId="4"/>
      <p:bldP spid="15" grpId="5"/>
      <p:bldP spid="15" grpId="6"/>
      <p:bldP spid="15" grpId="7"/>
      <p:bldP spid="15" grpId="8"/>
      <p:bldP spid="15" grpId="9"/>
      <p:bldP spid="17" grpId="0"/>
      <p:bldP spid="17" grpId="1"/>
      <p:bldP spid="17" grpId="2"/>
      <p:bldP spid="17" grpId="3"/>
      <p:bldP spid="17" grpId="4"/>
      <p:bldP spid="19" grpId="0"/>
      <p:bldP spid="19" grpId="1"/>
      <p:bldP spid="19" grpId="2"/>
      <p:bldP spid="19" grpId="3"/>
      <p:bldP spid="19" grpId="4"/>
      <p:bldP spid="20" grpId="1"/>
      <p:bldP spid="20" grpId="2"/>
      <p:bldP spid="21" grpId="0" animBg="1"/>
      <p:bldP spid="21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457</Words>
  <Application>Microsoft Office PowerPoint</Application>
  <PresentationFormat>Произвольный</PresentationFormat>
  <Paragraphs>243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Базовые функции для работы со списками.</vt:lpstr>
      <vt:lpstr>Элемент списка задается с помощью структуры</vt:lpstr>
      <vt:lpstr>Существует ли список</vt:lpstr>
      <vt:lpstr>Создание списка </vt:lpstr>
      <vt:lpstr>Взять первый элемент из списка</vt:lpstr>
      <vt:lpstr>Положить элемент в список</vt:lpstr>
      <vt:lpstr>Создание списка при помощи push</vt:lpstr>
      <vt:lpstr>Показать список</vt:lpstr>
      <vt:lpstr>Нахождение адреса предыдущего элемента</vt:lpstr>
      <vt:lpstr>Вставка числа перед элементом в списке</vt:lpstr>
      <vt:lpstr>Вставка числа после элемента в списке</vt:lpstr>
      <vt:lpstr>Найти адрес элемента</vt:lpstr>
      <vt:lpstr>Удаление элемента из списка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Базовые функции для работы со списками.</dc:title>
  <dc:creator>Настя</dc:creator>
  <cp:lastModifiedBy>Настя</cp:lastModifiedBy>
  <cp:revision>178</cp:revision>
  <dcterms:created xsi:type="dcterms:W3CDTF">2016-04-18T12:41:03Z</dcterms:created>
  <dcterms:modified xsi:type="dcterms:W3CDTF">2016-05-16T14:52:33Z</dcterms:modified>
</cp:coreProperties>
</file>