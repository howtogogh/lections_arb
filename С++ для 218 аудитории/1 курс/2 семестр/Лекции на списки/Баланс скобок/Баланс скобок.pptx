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66" r:id="rId5"/>
    <p:sldId id="261" r:id="rId6"/>
    <p:sldId id="267" r:id="rId7"/>
    <p:sldId id="262" r:id="rId8"/>
    <p:sldId id="265" r:id="rId9"/>
    <p:sldId id="263" r:id="rId10"/>
    <p:sldId id="268" r:id="rId11"/>
    <p:sldId id="269" r:id="rId12"/>
    <p:sldId id="270" r:id="rId13"/>
    <p:sldId id="271" r:id="rId14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3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27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0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54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18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80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44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08" algn="l" defTabSz="4571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4F"/>
    <a:srgbClr val="E32D91"/>
    <a:srgbClr val="A71E69"/>
    <a:srgbClr val="B41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20" autoAdjust="0"/>
    <p:restoredTop sz="94660"/>
  </p:normalViewPr>
  <p:slideViewPr>
    <p:cSldViewPr>
      <p:cViewPr varScale="1">
        <p:scale>
          <a:sx n="74" d="100"/>
          <a:sy n="74" d="100"/>
        </p:scale>
        <p:origin x="-58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600" y="2404539"/>
            <a:ext cx="5826718" cy="1646303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600" y="4050838"/>
            <a:ext cx="5826718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920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45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00870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288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5" y="2160591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5" y="2160591"/>
            <a:ext cx="3088109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793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8"/>
            <a:ext cx="3090672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63" indent="0">
              <a:buNone/>
              <a:defRPr sz="2000" b="1"/>
            </a:lvl2pPr>
            <a:lvl3pPr marL="914327" indent="0">
              <a:buNone/>
              <a:defRPr sz="1800" b="1"/>
            </a:lvl3pPr>
            <a:lvl4pPr marL="1371490" indent="0">
              <a:buNone/>
              <a:defRPr sz="1600" b="1"/>
            </a:lvl4pPr>
            <a:lvl5pPr marL="1828654" indent="0">
              <a:buNone/>
              <a:defRPr sz="1600" b="1"/>
            </a:lvl5pPr>
            <a:lvl6pPr marL="2285818" indent="0">
              <a:buNone/>
              <a:defRPr sz="1600" b="1"/>
            </a:lvl6pPr>
            <a:lvl7pPr marL="2742980" indent="0">
              <a:buNone/>
              <a:defRPr sz="1600" b="1"/>
            </a:lvl7pPr>
            <a:lvl8pPr marL="3200144" indent="0">
              <a:buNone/>
              <a:defRPr sz="1600" b="1"/>
            </a:lvl8pPr>
            <a:lvl9pPr marL="3657308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50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1" y="2160988"/>
            <a:ext cx="3090672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63" indent="0">
              <a:buNone/>
              <a:defRPr sz="2000" b="1"/>
            </a:lvl2pPr>
            <a:lvl3pPr marL="914327" indent="0">
              <a:buNone/>
              <a:defRPr sz="1800" b="1"/>
            </a:lvl3pPr>
            <a:lvl4pPr marL="1371490" indent="0">
              <a:buNone/>
              <a:defRPr sz="1600" b="1"/>
            </a:lvl4pPr>
            <a:lvl5pPr marL="1828654" indent="0">
              <a:buNone/>
              <a:defRPr sz="1600" b="1"/>
            </a:lvl5pPr>
            <a:lvl6pPr marL="2285818" indent="0">
              <a:buNone/>
              <a:defRPr sz="1600" b="1"/>
            </a:lvl6pPr>
            <a:lvl7pPr marL="2742980" indent="0">
              <a:buNone/>
              <a:defRPr sz="1600" b="1"/>
            </a:lvl7pPr>
            <a:lvl8pPr marL="3200144" indent="0">
              <a:buNone/>
              <a:defRPr sz="1600" b="1"/>
            </a:lvl8pPr>
            <a:lvl9pPr marL="3657308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1" y="2737250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5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15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22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498607"/>
            <a:ext cx="2790183" cy="1278467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80" y="514930"/>
            <a:ext cx="3386038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777075"/>
            <a:ext cx="2790183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872" indent="0">
              <a:buNone/>
              <a:defRPr sz="1100"/>
            </a:lvl2pPr>
            <a:lvl3pPr marL="685746" indent="0">
              <a:buNone/>
              <a:defRPr sz="900"/>
            </a:lvl3pPr>
            <a:lvl4pPr marL="1028618" indent="0">
              <a:buNone/>
              <a:defRPr sz="700"/>
            </a:lvl4pPr>
            <a:lvl5pPr marL="1371490" indent="0">
              <a:buNone/>
              <a:defRPr sz="700"/>
            </a:lvl5pPr>
            <a:lvl6pPr marL="1714362" indent="0">
              <a:buNone/>
              <a:defRPr sz="700"/>
            </a:lvl6pPr>
            <a:lvl7pPr marL="2057236" indent="0">
              <a:buNone/>
              <a:defRPr sz="700"/>
            </a:lvl7pPr>
            <a:lvl8pPr marL="2400108" indent="0">
              <a:buNone/>
              <a:defRPr sz="700"/>
            </a:lvl8pPr>
            <a:lvl9pPr marL="2742980" indent="0">
              <a:buNone/>
              <a:defRPr sz="7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805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00603"/>
            <a:ext cx="6347714" cy="566739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600" y="609605"/>
            <a:ext cx="6347714" cy="384571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63" indent="0">
              <a:buNone/>
              <a:defRPr sz="1600"/>
            </a:lvl2pPr>
            <a:lvl3pPr marL="914327" indent="0">
              <a:buNone/>
              <a:defRPr sz="1600"/>
            </a:lvl3pPr>
            <a:lvl4pPr marL="1371490" indent="0">
              <a:buNone/>
              <a:defRPr sz="1600"/>
            </a:lvl4pPr>
            <a:lvl5pPr marL="1828654" indent="0">
              <a:buNone/>
              <a:defRPr sz="1600"/>
            </a:lvl5pPr>
            <a:lvl6pPr marL="2285818" indent="0">
              <a:buNone/>
              <a:defRPr sz="1600"/>
            </a:lvl6pPr>
            <a:lvl7pPr marL="2742980" indent="0">
              <a:buNone/>
              <a:defRPr sz="1600"/>
            </a:lvl7pPr>
            <a:lvl8pPr marL="3200144" indent="0">
              <a:buNone/>
              <a:defRPr sz="1600"/>
            </a:lvl8pPr>
            <a:lvl9pPr marL="3657308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367339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63" indent="0">
              <a:buNone/>
              <a:defRPr sz="1200"/>
            </a:lvl2pPr>
            <a:lvl3pPr marL="914327" indent="0">
              <a:buNone/>
              <a:defRPr sz="1000"/>
            </a:lvl3pPr>
            <a:lvl4pPr marL="1371490" indent="0">
              <a:buNone/>
              <a:defRPr sz="900"/>
            </a:lvl4pPr>
            <a:lvl5pPr marL="1828654" indent="0">
              <a:buNone/>
              <a:defRPr sz="900"/>
            </a:lvl5pPr>
            <a:lvl6pPr marL="2285818" indent="0">
              <a:buNone/>
              <a:defRPr sz="900"/>
            </a:lvl6pPr>
            <a:lvl7pPr marL="2742980" indent="0">
              <a:buNone/>
              <a:defRPr sz="900"/>
            </a:lvl7pPr>
            <a:lvl8pPr marL="3200144" indent="0">
              <a:buNone/>
              <a:defRPr sz="900"/>
            </a:lvl8pPr>
            <a:lvl9pPr marL="365730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554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3"/>
            <a:ext cx="6347714" cy="157096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646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7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63" indent="0">
              <a:buFontTx/>
              <a:buNone/>
              <a:defRPr/>
            </a:lvl2pPr>
            <a:lvl3pPr marL="914327" indent="0">
              <a:buFontTx/>
              <a:buNone/>
              <a:defRPr/>
            </a:lvl3pPr>
            <a:lvl4pPr marL="1371490" indent="0">
              <a:buFontTx/>
              <a:buNone/>
              <a:defRPr/>
            </a:lvl4pPr>
            <a:lvl5pPr marL="1828654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4470403"/>
            <a:ext cx="6347715" cy="157096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5" y="790379"/>
            <a:ext cx="457319" cy="584776"/>
          </a:xfrm>
          <a:prstGeom prst="rect">
            <a:avLst/>
          </a:prstGeom>
        </p:spPr>
        <p:txBody>
          <a:bodyPr vert="horz" lIns="91432" tIns="45717" rIns="91432" bIns="45717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703" y="2886556"/>
            <a:ext cx="457319" cy="584776"/>
          </a:xfrm>
          <a:prstGeom prst="rect">
            <a:avLst/>
          </a:prstGeom>
        </p:spPr>
        <p:txBody>
          <a:bodyPr vert="horz" lIns="91432" tIns="45717" rIns="91432" bIns="45717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9086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931991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4527451"/>
            <a:ext cx="6347715" cy="151391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195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7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8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63" indent="0">
              <a:buFontTx/>
              <a:buNone/>
              <a:defRPr/>
            </a:lvl2pPr>
            <a:lvl3pPr marL="914327" indent="0">
              <a:buFontTx/>
              <a:buNone/>
              <a:defRPr/>
            </a:lvl3pPr>
            <a:lvl4pPr marL="1371490" indent="0">
              <a:buFontTx/>
              <a:buNone/>
              <a:defRPr/>
            </a:lvl4pPr>
            <a:lvl5pPr marL="1828654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4527451"/>
            <a:ext cx="6347715" cy="151391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5" y="790379"/>
            <a:ext cx="457319" cy="584776"/>
          </a:xfrm>
          <a:prstGeom prst="rect">
            <a:avLst/>
          </a:prstGeom>
        </p:spPr>
        <p:txBody>
          <a:bodyPr vert="horz" lIns="91432" tIns="45717" rIns="91432" bIns="45717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703" y="2886556"/>
            <a:ext cx="457319" cy="584776"/>
          </a:xfrm>
          <a:prstGeom prst="rect">
            <a:avLst/>
          </a:prstGeom>
        </p:spPr>
        <p:txBody>
          <a:bodyPr vert="horz" lIns="91432" tIns="45717" rIns="91432" bIns="45717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1015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52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8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63" indent="0">
              <a:buFontTx/>
              <a:buNone/>
              <a:defRPr/>
            </a:lvl2pPr>
            <a:lvl3pPr marL="914327" indent="0">
              <a:buFontTx/>
              <a:buNone/>
              <a:defRPr/>
            </a:lvl3pPr>
            <a:lvl4pPr marL="1371490" indent="0">
              <a:buFontTx/>
              <a:buNone/>
              <a:defRPr/>
            </a:lvl4pPr>
            <a:lvl5pPr marL="1828654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4527451"/>
            <a:ext cx="6347715" cy="151391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4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866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580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3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3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37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3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4" y="609600"/>
            <a:ext cx="6347713" cy="1320800"/>
          </a:xfrm>
          <a:prstGeom prst="rect">
            <a:avLst/>
          </a:prstGeom>
        </p:spPr>
        <p:txBody>
          <a:bodyPr vert="horz" lIns="91432" tIns="45717" rIns="91432" bIns="45717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60591"/>
            <a:ext cx="6347714" cy="3880773"/>
          </a:xfrm>
          <a:prstGeom prst="rect">
            <a:avLst/>
          </a:prstGeom>
        </p:spPr>
        <p:txBody>
          <a:bodyPr vert="horz" lIns="91432" tIns="45717" rIns="91432" bIns="4571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7" y="6041366"/>
            <a:ext cx="684132" cy="365125"/>
          </a:xfrm>
          <a:prstGeom prst="rect">
            <a:avLst/>
          </a:prstGeom>
        </p:spPr>
        <p:txBody>
          <a:bodyPr vert="horz" lIns="91432" tIns="45717" rIns="91432" bIns="45717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12298-F62E-4A6C-AFF2-964AF2423919}" type="datetimeFigureOut">
              <a:rPr lang="ru-RU" smtClean="0"/>
              <a:t>25.12.2018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5" y="6041366"/>
            <a:ext cx="4622973" cy="365125"/>
          </a:xfrm>
          <a:prstGeom prst="rect">
            <a:avLst/>
          </a:prstGeom>
        </p:spPr>
        <p:txBody>
          <a:bodyPr vert="horz" lIns="91432" tIns="45717" rIns="91432" bIns="45717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6"/>
            <a:ext cx="512638" cy="365125"/>
          </a:xfrm>
          <a:prstGeom prst="rect">
            <a:avLst/>
          </a:prstGeom>
        </p:spPr>
        <p:txBody>
          <a:bodyPr vert="horz" lIns="91432" tIns="45717" rIns="91432" bIns="45717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8516248-0B00-4749-A2E3-9D19C5B3EC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8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txStyles>
    <p:titleStyle>
      <a:lvl1pPr algn="l" defTabSz="457163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72" indent="-34287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890" indent="-285728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08" indent="-22858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072" indent="-22858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236" indent="-22858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399" indent="-22858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562" indent="-22858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726" indent="-22858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890" indent="-228582" algn="l" defTabSz="4571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7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0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4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8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0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4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8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71600" y="10684"/>
            <a:ext cx="5826718" cy="1646303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Bahnschrift SemiBold SemiConden" panose="020B0502040204020203" pitchFamily="34" charset="0"/>
              </a:rPr>
              <a:t>Баланс скобок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87624" y="1628800"/>
            <a:ext cx="5826718" cy="1096899"/>
          </a:xfrm>
        </p:spPr>
        <p:txBody>
          <a:bodyPr>
            <a:normAutofit/>
          </a:bodyPr>
          <a:lstStyle/>
          <a:p>
            <a:pPr algn="ctr"/>
            <a:r>
              <a:rPr lang="ru-RU" sz="2000" dirty="0">
                <a:latin typeface="Bahnschrift SemiBold SemiConden" panose="020B0502040204020203" pitchFamily="34" charset="0"/>
              </a:rPr>
              <a:t>Автор: Дикова Анастасия, гр. 09-712</a:t>
            </a:r>
            <a:endParaRPr lang="en-US" sz="2000" dirty="0">
              <a:latin typeface="Bahnschrift SemiBold SemiConden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AA0D40A3-A990-4CEC-B73D-AE04900504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05" t="17320" r="10994" b="8007"/>
          <a:stretch/>
        </p:blipFill>
        <p:spPr>
          <a:xfrm>
            <a:off x="753781" y="2492896"/>
            <a:ext cx="5330387" cy="40560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5457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4059062-0A89-4DA2-8381-5A59AE09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3" y="260648"/>
            <a:ext cx="6347713" cy="1320800"/>
          </a:xfrm>
        </p:spPr>
        <p:txBody>
          <a:bodyPr/>
          <a:lstStyle/>
          <a:p>
            <a:r>
              <a:rPr lang="ru-RU" dirty="0">
                <a:latin typeface="Bahnschrift SemiBold SemiConden" panose="020B0502040204020203" pitchFamily="34" charset="0"/>
              </a:rPr>
              <a:t>Постановка задачи: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BD8F6FB-32EA-40BB-B925-B194704D3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72819"/>
            <a:ext cx="699512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>
                <a:latin typeface="Bahnschrift SemiCondensed" panose="020B0502040204020203" pitchFamily="34" charset="0"/>
              </a:rPr>
              <a:t>Задан текстовый файл. </a:t>
            </a:r>
            <a:endParaRPr lang="ru-RU" sz="3600" dirty="0">
              <a:latin typeface="Bahnschrift SemiCondensed" panose="020B0502040204020203" pitchFamily="34" charset="0"/>
            </a:endParaRPr>
          </a:p>
          <a:p>
            <a:pPr marL="0" indent="0">
              <a:buNone/>
            </a:pPr>
            <a:r>
              <a:rPr lang="ru-RU" sz="3600" b="1" dirty="0">
                <a:latin typeface="Bahnschrift SemiCondensed" panose="020B0502040204020203" pitchFamily="34" charset="0"/>
              </a:rPr>
              <a:t>Произвольный текст со скобками </a:t>
            </a:r>
            <a:r>
              <a:rPr lang="en-US" sz="3600" b="1" dirty="0">
                <a:latin typeface="Bahnschrift SemiCondensed" panose="020B0502040204020203" pitchFamily="34" charset="0"/>
              </a:rPr>
              <a:t>‘(‘, ‘)’, ‘[‘, ‘]’, ‘{‘, ‘}’, </a:t>
            </a:r>
            <a:r>
              <a:rPr lang="ru-RU" sz="3600" b="1" dirty="0">
                <a:latin typeface="Bahnschrift SemiCondensed" panose="020B0502040204020203" pitchFamily="34" charset="0"/>
              </a:rPr>
              <a:t>заканчивающийся точкой.  Проверить баланс скобок.</a:t>
            </a:r>
            <a:endParaRPr lang="ru-RU" sz="3600" dirty="0">
              <a:latin typeface="Bahnschrift SemiCondensed" panose="020B0502040204020203" pitchFamily="34" charset="0"/>
            </a:endParaRPr>
          </a:p>
          <a:p>
            <a:pPr marL="0" indent="0">
              <a:buNone/>
            </a:pPr>
            <a:r>
              <a:rPr lang="en-US" sz="3600" b="1" dirty="0">
                <a:latin typeface="Bahnschrift SemiCondensed" panose="020B0502040204020203" pitchFamily="34" charset="0"/>
              </a:rPr>
              <a:t>arb</a:t>
            </a:r>
            <a:r>
              <a:rPr lang="ru-RU" sz="3600" b="1" dirty="0">
                <a:latin typeface="Bahnschrift SemiCondensed" panose="020B0502040204020203" pitchFamily="34" charset="0"/>
              </a:rPr>
              <a:t>.</a:t>
            </a:r>
            <a:r>
              <a:rPr lang="en-US" sz="3600" b="1" dirty="0">
                <a:latin typeface="Bahnschrift SemiCondensed" panose="020B0502040204020203" pitchFamily="34" charset="0"/>
              </a:rPr>
              <a:t>txt:</a:t>
            </a:r>
            <a:r>
              <a:rPr lang="ru-RU" sz="3600" b="1" dirty="0">
                <a:latin typeface="Bahnschrift SemiCondensed" panose="020B0502040204020203" pitchFamily="34" charset="0"/>
              </a:rPr>
              <a:t>    [(</a:t>
            </a:r>
            <a:r>
              <a:rPr lang="en-US" sz="3600" b="1" dirty="0" err="1">
                <a:latin typeface="Bahnschrift SemiCondensed" panose="020B0502040204020203" pitchFamily="34" charset="0"/>
              </a:rPr>
              <a:t>abcd</a:t>
            </a:r>
            <a:r>
              <a:rPr lang="ru-RU" sz="3600" b="1" dirty="0">
                <a:latin typeface="Bahnschrift SemiCondensed" panose="020B0502040204020203" pitchFamily="34" charset="0"/>
              </a:rPr>
              <a:t>) </a:t>
            </a:r>
            <a:r>
              <a:rPr lang="en-US" sz="3600" b="1" dirty="0" err="1">
                <a:latin typeface="Bahnschrift SemiCondensed" panose="020B0502040204020203" pitchFamily="34" charset="0"/>
              </a:rPr>
              <a:t>abcd</a:t>
            </a:r>
            <a:r>
              <a:rPr lang="ru-RU" sz="3600" b="1" dirty="0">
                <a:latin typeface="Bahnschrift SemiCondensed" panose="020B0502040204020203" pitchFamily="34" charset="0"/>
              </a:rPr>
              <a:t> [{ </a:t>
            </a:r>
            <a:r>
              <a:rPr lang="en-US" sz="3600" b="1" dirty="0" err="1">
                <a:latin typeface="Bahnschrift SemiCondensed" panose="020B0502040204020203" pitchFamily="34" charset="0"/>
              </a:rPr>
              <a:t>abc</a:t>
            </a:r>
            <a:r>
              <a:rPr lang="ru-RU" sz="3600" b="1" dirty="0">
                <a:latin typeface="Bahnschrift SemiCondensed" panose="020B0502040204020203" pitchFamily="34" charset="0"/>
              </a:rPr>
              <a:t>}[</a:t>
            </a:r>
            <a:r>
              <a:rPr lang="en-US" sz="3600" b="1" dirty="0" err="1">
                <a:latin typeface="Bahnschrift SemiCondensed" panose="020B0502040204020203" pitchFamily="34" charset="0"/>
              </a:rPr>
              <a:t>abc</a:t>
            </a:r>
            <a:r>
              <a:rPr lang="ru-RU" sz="3600" b="1" dirty="0">
                <a:latin typeface="Bahnschrift SemiCondensed" panose="020B0502040204020203" pitchFamily="34" charset="0"/>
              </a:rPr>
              <a:t>]]].</a:t>
            </a:r>
            <a:endParaRPr lang="ru-RU" sz="3600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26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65D97F-D77E-4EEE-B163-8EBF6CF0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3" y="274639"/>
            <a:ext cx="6347713" cy="1320800"/>
          </a:xfrm>
        </p:spPr>
        <p:txBody>
          <a:bodyPr>
            <a:normAutofit/>
          </a:bodyPr>
          <a:lstStyle/>
          <a:p>
            <a:r>
              <a:rPr lang="ru-RU" dirty="0">
                <a:latin typeface="Bahnschrift SemiBold SemiConden" panose="020B0502040204020203" pitchFamily="34" charset="0"/>
              </a:rPr>
              <a:t>Алгоритм: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717AD8A-83EF-4184-8D77-5C9C5B56C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35" y="932277"/>
            <a:ext cx="7092789" cy="552106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400" b="1" dirty="0">
                <a:latin typeface="Bahnschrift SemiCondensed" panose="020B0502040204020203" pitchFamily="34" charset="0"/>
              </a:rPr>
              <a:t>Считываем посимвольно файл.</a:t>
            </a:r>
            <a:br>
              <a:rPr lang="ru-RU" sz="2400" b="1" dirty="0">
                <a:latin typeface="Bahnschrift SemiCondensed" panose="020B0502040204020203" pitchFamily="34" charset="0"/>
              </a:rPr>
            </a:br>
            <a:r>
              <a:rPr lang="ru-RU" sz="2400" b="1" dirty="0">
                <a:latin typeface="Bahnschrift SemiCondensed" panose="020B0502040204020203" pitchFamily="34" charset="0"/>
              </a:rPr>
              <a:t>Каждый символ проверяем:</a:t>
            </a:r>
          </a:p>
          <a:p>
            <a:pPr marL="514309" indent="-514309">
              <a:buAutoNum type="arabicPeriod"/>
            </a:pPr>
            <a:r>
              <a:rPr lang="ru-RU" sz="2400" b="1" dirty="0">
                <a:latin typeface="Bahnschrift SemiCondensed" panose="020B0502040204020203" pitchFamily="34" charset="0"/>
              </a:rPr>
              <a:t>Если это символ "(", "[", "{" вставляем  его в стек</a:t>
            </a:r>
          </a:p>
          <a:p>
            <a:pPr marL="514309" indent="-514309">
              <a:buAutoNum type="arabicPeriod"/>
            </a:pPr>
            <a:r>
              <a:rPr lang="ru-RU" sz="2400" b="1" dirty="0">
                <a:latin typeface="Bahnschrift SemiCondensed" panose="020B0502040204020203" pitchFamily="34" charset="0"/>
              </a:rPr>
              <a:t>Если это символ ")", "]", "}"  - проверяем есть ли в стеке элементы:</a:t>
            </a:r>
          </a:p>
          <a:p>
            <a:pPr lvl="1"/>
            <a:r>
              <a:rPr lang="ru-RU" sz="2400" b="1" dirty="0">
                <a:latin typeface="Bahnschrift SemiCondensed" panose="020B0502040204020203" pitchFamily="34" charset="0"/>
              </a:rPr>
              <a:t>Если нет - </a:t>
            </a:r>
            <a:r>
              <a:rPr lang="en-US" sz="2400" b="1" dirty="0">
                <a:latin typeface="Bahnschrift SemiCondensed" panose="020B0502040204020203" pitchFamily="34" charset="0"/>
              </a:rPr>
              <a:t>error</a:t>
            </a:r>
            <a:r>
              <a:rPr lang="ru-RU" sz="2400" b="1" dirty="0">
                <a:latin typeface="Bahnschrift SemiCondensed" panose="020B0502040204020203" pitchFamily="34" charset="0"/>
              </a:rPr>
              <a:t> - не хватает открывающих скобок</a:t>
            </a:r>
          </a:p>
          <a:p>
            <a:pPr lvl="1"/>
            <a:r>
              <a:rPr lang="ru-RU" sz="2400" b="1" dirty="0">
                <a:latin typeface="Bahnschrift SemiCondensed" panose="020B0502040204020203" pitchFamily="34" charset="0"/>
              </a:rPr>
              <a:t>Если да, то вынимаем элемент из стека и проверяем соответствует ли тип скобки закрывающей:</a:t>
            </a:r>
          </a:p>
          <a:p>
            <a:pPr lvl="2"/>
            <a:r>
              <a:rPr lang="ru-RU" sz="1800" b="1" dirty="0">
                <a:latin typeface="Bahnschrift SemiCondensed" panose="020B0502040204020203" pitchFamily="34" charset="0"/>
              </a:rPr>
              <a:t>Если да - проверяем следующий символ файла</a:t>
            </a:r>
          </a:p>
          <a:p>
            <a:pPr lvl="2"/>
            <a:r>
              <a:rPr lang="ru-RU" sz="1800" b="1" dirty="0">
                <a:latin typeface="Bahnschrift SemiCondensed" panose="020B0502040204020203" pitchFamily="34" charset="0"/>
              </a:rPr>
              <a:t>Если нет - выходим из цикла,  баланс не соблюден.</a:t>
            </a:r>
          </a:p>
          <a:p>
            <a:pPr marL="114290" indent="0">
              <a:buNone/>
            </a:pPr>
            <a:r>
              <a:rPr lang="ru-RU" sz="2400" b="1" dirty="0">
                <a:latin typeface="Bahnschrift SemiCondensed" panose="020B0502040204020203" pitchFamily="34" charset="0"/>
              </a:rPr>
              <a:t>После цикла проверяем пуст ли стек:</a:t>
            </a:r>
          </a:p>
          <a:p>
            <a:pPr marL="514309" indent="-457163">
              <a:buFont typeface="+mj-lt"/>
              <a:buAutoNum type="arabicPeriod"/>
            </a:pPr>
            <a:r>
              <a:rPr lang="ru-RU" sz="2000" b="1" dirty="0">
                <a:latin typeface="Bahnschrift SemiCondensed" panose="020B0502040204020203" pitchFamily="34" charset="0"/>
              </a:rPr>
              <a:t>Если он пуст, то баланс соблюден: каждая закрывающая скобка вынула оттуда свою открывающую</a:t>
            </a:r>
          </a:p>
          <a:p>
            <a:pPr marL="457163" indent="-457163">
              <a:buFont typeface="+mj-lt"/>
              <a:buAutoNum type="arabicPeriod"/>
            </a:pPr>
            <a:r>
              <a:rPr lang="ru-RU" sz="2000" b="1" dirty="0">
                <a:latin typeface="Bahnschrift SemiCondensed" panose="020B0502040204020203" pitchFamily="34" charset="0"/>
              </a:rPr>
              <a:t> Если он не пуст, то какой-то закрывающей скобки не хватает.</a:t>
            </a:r>
          </a:p>
        </p:txBody>
      </p:sp>
    </p:spTree>
    <p:extLst>
      <p:ext uri="{BB962C8B-B14F-4D97-AF65-F5344CB8AC3E}">
        <p14:creationId xmlns:p14="http://schemas.microsoft.com/office/powerpoint/2010/main" val="422739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18EC2BD7-EB94-48FF-BAC0-49282C93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48680"/>
            <a:ext cx="6347715" cy="1008112"/>
          </a:xfrm>
        </p:spPr>
        <p:txBody>
          <a:bodyPr/>
          <a:lstStyle/>
          <a:p>
            <a:r>
              <a:rPr lang="ru-RU" dirty="0">
                <a:latin typeface="Bahnschrift SemiBold SemiConden" panose="020B0502040204020203" pitchFamily="34" charset="0"/>
              </a:rPr>
              <a:t>ФУНКЦИЯ </a:t>
            </a:r>
            <a:r>
              <a:rPr lang="en-US" dirty="0">
                <a:latin typeface="Bahnschrift SemiBold SemiConden" panose="020B0502040204020203" pitchFamily="34" charset="0"/>
              </a:rPr>
              <a:t>PUSH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8433151-32C0-41BC-BB71-BC325D66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2" y="2204867"/>
            <a:ext cx="6347715" cy="1513915"/>
          </a:xfrm>
        </p:spPr>
        <p:txBody>
          <a:bodyPr>
            <a:noAutofit/>
          </a:bodyPr>
          <a:lstStyle/>
          <a:p>
            <a:r>
              <a:rPr lang="ru-RU" sz="3200" dirty="0">
                <a:latin typeface="Bahnschrift SemiCondensed" panose="020B0502040204020203" pitchFamily="34" charset="0"/>
              </a:rPr>
              <a:t>Функция</a:t>
            </a:r>
            <a:r>
              <a:rPr lang="en-US" sz="3200" dirty="0">
                <a:latin typeface="Bahnschrift SemiCondensed" panose="020B0502040204020203" pitchFamily="34" charset="0"/>
              </a:rPr>
              <a:t> </a:t>
            </a:r>
            <a:r>
              <a:rPr lang="ru-RU" sz="3200" dirty="0">
                <a:latin typeface="Bahnschrift SemiCondensed" panose="020B0502040204020203" pitchFamily="34" charset="0"/>
              </a:rPr>
              <a:t> кладёт наверх стека значение входящего элемента</a:t>
            </a:r>
            <a:r>
              <a:rPr lang="en-US" sz="3200" dirty="0">
                <a:latin typeface="Bahnschrift SemiCondensed" panose="020B0502040204020203" pitchFamily="34" charset="0"/>
              </a:rPr>
              <a:t>.</a:t>
            </a:r>
            <a:endParaRPr lang="ru-RU" sz="3200" b="1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29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9BBF3B-A6AE-4330-B2F6-AAB5878D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83" y="335185"/>
            <a:ext cx="7239311" cy="828648"/>
          </a:xfrm>
        </p:spPr>
        <p:txBody>
          <a:bodyPr>
            <a:noAutofit/>
          </a:bodyPr>
          <a:lstStyle/>
          <a:p>
            <a:r>
              <a:rPr lang="en-US" sz="5400" dirty="0">
                <a:latin typeface="Bahnschrift SemiBold SemiConden" panose="020B0502040204020203" pitchFamily="34" charset="0"/>
              </a:rPr>
              <a:t>PUSH</a:t>
            </a:r>
            <a:endParaRPr lang="ru-RU" sz="5400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28DFEFFF-75AE-46FF-B2D5-554BE034BEFB}"/>
              </a:ext>
            </a:extLst>
          </p:cNvPr>
          <p:cNvSpPr/>
          <p:nvPr/>
        </p:nvSpPr>
        <p:spPr>
          <a:xfrm>
            <a:off x="412288" y="1554790"/>
            <a:ext cx="3384376" cy="410445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B6E66C6-A36E-4360-9343-A2DC3A0D9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290" y="1494187"/>
            <a:ext cx="3672407" cy="432048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void 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SemiCondensed" panose="020B0502040204020203" pitchFamily="34" charset="0"/>
              </a:rPr>
              <a:t>push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(node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* &amp;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top,</a:t>
            </a:r>
            <a:r>
              <a:rPr lang="ru-RU" sz="2800" dirty="0">
                <a:latin typeface="Bahnschrift SemiCondensed" panose="020B0502040204020203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char</a:t>
            </a:r>
            <a:r>
              <a:rPr lang="tr-TR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 x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	node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*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latin typeface="Bahnschrift SemiCondensed" panose="020B0502040204020203" pitchFamily="34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p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=new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node;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	p-&gt;</a:t>
            </a:r>
            <a:r>
              <a:rPr lang="en-US" sz="2800" dirty="0">
                <a:solidFill>
                  <a:srgbClr val="FF4F4F"/>
                </a:solidFill>
                <a:latin typeface="Bahnschrift SemiCondensed" panose="020B0502040204020203" pitchFamily="34" charset="0"/>
              </a:rPr>
              <a:t>data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=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	p-&gt;</a:t>
            </a:r>
            <a:r>
              <a:rPr lang="en-US" sz="2800" dirty="0">
                <a:solidFill>
                  <a:srgbClr val="FF4F4F"/>
                </a:solidFill>
                <a:latin typeface="Bahnschrift SemiCondensed" panose="020B0502040204020203" pitchFamily="34" charset="0"/>
              </a:rPr>
              <a:t>next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=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top;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	top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=</a:t>
            </a: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  <a:latin typeface="Bahnschrift SemiCondensed" panose="020B0502040204020203" pitchFamily="34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99D488D-854A-49B0-AB48-7427DF643ECD}"/>
              </a:ext>
            </a:extLst>
          </p:cNvPr>
          <p:cNvSpPr txBox="1"/>
          <p:nvPr/>
        </p:nvSpPr>
        <p:spPr>
          <a:xfrm>
            <a:off x="7065248" y="4071470"/>
            <a:ext cx="936104" cy="769435"/>
          </a:xfrm>
          <a:prstGeom prst="rect">
            <a:avLst/>
          </a:prstGeom>
          <a:noFill/>
          <a:scene3d>
            <a:camera prst="orthographicFront">
              <a:rot lat="900000" lon="1800000" rev="0"/>
            </a:camera>
            <a:lightRig rig="threePt" dir="t"/>
          </a:scene3d>
        </p:spPr>
        <p:txBody>
          <a:bodyPr wrap="square" lIns="91432" tIns="45717" rIns="91432" bIns="45717" rtlCol="0">
            <a:spAutoFit/>
          </a:bodyPr>
          <a:lstStyle/>
          <a:p>
            <a:endParaRPr lang="ru-RU" sz="4400" dirty="0">
              <a:solidFill>
                <a:schemeClr val="bg1"/>
              </a:solidFill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xmlns="" id="{F239EAAF-390C-46E4-9372-A1550D4BC726}"/>
              </a:ext>
            </a:extLst>
          </p:cNvPr>
          <p:cNvGrpSpPr/>
          <p:nvPr/>
        </p:nvGrpSpPr>
        <p:grpSpPr>
          <a:xfrm>
            <a:off x="6444209" y="4946339"/>
            <a:ext cx="1825195" cy="1008112"/>
            <a:chOff x="6980901" y="5421669"/>
            <a:chExt cx="1825196" cy="1008112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xmlns="" id="{F18FF5A3-BF78-4091-BA1A-46893FF50C9A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FABAA3B0-4EAE-4012-98A9-B59050AA0650}"/>
                </a:ext>
              </a:extLst>
            </p:cNvPr>
            <p:cNvSpPr txBox="1"/>
            <p:nvPr/>
          </p:nvSpPr>
          <p:spPr>
            <a:xfrm>
              <a:off x="7601939" y="5517232"/>
              <a:ext cx="936104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194F6A0-90F9-4E9E-AE2A-DF0DEF3059A3}"/>
              </a:ext>
            </a:extLst>
          </p:cNvPr>
          <p:cNvGrpSpPr/>
          <p:nvPr/>
        </p:nvGrpSpPr>
        <p:grpSpPr>
          <a:xfrm>
            <a:off x="7942862" y="983915"/>
            <a:ext cx="576063" cy="769441"/>
            <a:chOff x="7942858" y="983909"/>
            <a:chExt cx="576063" cy="769441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xmlns="" id="{A41FD9B3-9B18-4A40-8B8A-47EE2576E0CF}"/>
                </a:ext>
              </a:extLst>
            </p:cNvPr>
            <p:cNvSpPr/>
            <p:nvPr/>
          </p:nvSpPr>
          <p:spPr>
            <a:xfrm>
              <a:off x="7942858" y="1014537"/>
              <a:ext cx="576063" cy="73881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6CD15920-BB86-489A-9AD2-73DB9A6A1916}"/>
                </a:ext>
              </a:extLst>
            </p:cNvPr>
            <p:cNvSpPr txBox="1"/>
            <p:nvPr/>
          </p:nvSpPr>
          <p:spPr>
            <a:xfrm>
              <a:off x="8001350" y="983909"/>
              <a:ext cx="50082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X</a:t>
              </a:r>
              <a:endParaRPr lang="ru-RU" sz="4400" b="1" dirty="0">
                <a:solidFill>
                  <a:schemeClr val="bg1"/>
                </a:solidFill>
                <a:latin typeface="Bahnschrift SemiBold SemiConden" panose="020B05020402040202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B5403E9-DF59-40EE-BB66-AF5AB99B0734}"/>
              </a:ext>
            </a:extLst>
          </p:cNvPr>
          <p:cNvSpPr txBox="1"/>
          <p:nvPr/>
        </p:nvSpPr>
        <p:spPr>
          <a:xfrm>
            <a:off x="4005929" y="1147007"/>
            <a:ext cx="500824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P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BB42732-F1F7-4F05-A84B-407DA58017B5}"/>
              </a:ext>
            </a:extLst>
          </p:cNvPr>
          <p:cNvSpPr txBox="1"/>
          <p:nvPr/>
        </p:nvSpPr>
        <p:spPr>
          <a:xfrm>
            <a:off x="6960762" y="5954455"/>
            <a:ext cx="982096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TOP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xmlns="" id="{E9C35952-F999-44B4-829A-E7B4456A02C0}"/>
              </a:ext>
            </a:extLst>
          </p:cNvPr>
          <p:cNvGrpSpPr/>
          <p:nvPr/>
        </p:nvGrpSpPr>
        <p:grpSpPr>
          <a:xfrm>
            <a:off x="6444209" y="3978487"/>
            <a:ext cx="1825195" cy="1008112"/>
            <a:chOff x="6980901" y="5421669"/>
            <a:chExt cx="1825196" cy="1008112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09D34598-DD14-47C5-9498-9A2A11D9FF56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4B2AF3AE-A44C-4932-AB3C-135C81C09420}"/>
                </a:ext>
              </a:extLst>
            </p:cNvPr>
            <p:cNvSpPr txBox="1"/>
            <p:nvPr/>
          </p:nvSpPr>
          <p:spPr>
            <a:xfrm>
              <a:off x="7601939" y="5517232"/>
              <a:ext cx="936104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xmlns="" id="{BDC17D78-F8F5-4D3F-9AC2-ED7541B724CB}"/>
              </a:ext>
            </a:extLst>
          </p:cNvPr>
          <p:cNvGrpSpPr/>
          <p:nvPr/>
        </p:nvGrpSpPr>
        <p:grpSpPr>
          <a:xfrm>
            <a:off x="6444209" y="3010639"/>
            <a:ext cx="1825195" cy="1008112"/>
            <a:chOff x="6980901" y="5421669"/>
            <a:chExt cx="1825196" cy="1008112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F84BF66E-1078-401E-BAC4-2A85044388D1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1093F5ED-33EC-42A7-8F09-176DA94205BD}"/>
                </a:ext>
              </a:extLst>
            </p:cNvPr>
            <p:cNvSpPr txBox="1"/>
            <p:nvPr/>
          </p:nvSpPr>
          <p:spPr>
            <a:xfrm>
              <a:off x="7601939" y="5517232"/>
              <a:ext cx="936104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CCDF8E02-67C4-4AE2-B6A8-D1F9DB04B0AF}"/>
              </a:ext>
            </a:extLst>
          </p:cNvPr>
          <p:cNvSpPr/>
          <p:nvPr/>
        </p:nvSpPr>
        <p:spPr>
          <a:xfrm>
            <a:off x="4665058" y="1306943"/>
            <a:ext cx="1825195" cy="1008112"/>
          </a:xfrm>
          <a:prstGeom prst="rect">
            <a:avLst/>
          </a:prstGeom>
          <a:ln w="0">
            <a:solidFill>
              <a:srgbClr val="A71E69"/>
            </a:solidFill>
          </a:ln>
          <a:scene3d>
            <a:camera prst="orthographicFront">
              <a:rot lat="900000" lon="1800000" rev="0"/>
            </a:camera>
            <a:lightRig rig="contrasting" dir="t"/>
          </a:scene3d>
          <a:sp3d extrusionH="635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22513D9-C5D3-4E1C-BF64-56D8112FC16F}"/>
              </a:ext>
            </a:extLst>
          </p:cNvPr>
          <p:cNvSpPr txBox="1"/>
          <p:nvPr/>
        </p:nvSpPr>
        <p:spPr>
          <a:xfrm>
            <a:off x="5282040" y="1410122"/>
            <a:ext cx="936104" cy="769435"/>
          </a:xfrm>
          <a:prstGeom prst="rect">
            <a:avLst/>
          </a:prstGeom>
          <a:noFill/>
          <a:scene3d>
            <a:camera prst="orthographicFront">
              <a:rot lat="900000" lon="1800000" rev="0"/>
            </a:camera>
            <a:lightRig rig="threePt" dir="t"/>
          </a:scene3d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X</a:t>
            </a:r>
            <a:endParaRPr lang="ru-RU" sz="4400" b="1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07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50"/>
                            </p:stCondLst>
                            <p:childTnLst>
                              <p:par>
                                <p:cTn id="34" presetID="2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50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11111E-6 L 0.09704 1.11111E-6 C 0.14062 1.11111E-6 0.19461 0.14606 0.19461 0.26505 L 0.19461 0.53009 " pathEditMode="relative" rAng="0" ptsTypes="AAAA">
                                      <p:cBhvr>
                                        <p:cTn id="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22" y="26505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4.07407E-6 L 0.08785 -4.07407E-6 C 0.12708 -4.07407E-6 0.17569 0.14676 0.17569 0.26621 L 0.17569 0.53241 " pathEditMode="relative" rAng="0" ptsTypes="AAAA">
                                      <p:cBhvr>
                                        <p:cTn id="5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2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"/>
                            </p:stCondLst>
                            <p:childTnLst>
                              <p:par>
                                <p:cTn id="62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7037E-6 L 0.09983 -3.7037E-6 C 0.14445 -3.7037E-6 0.19965 0.16111 0.19965 0.2919 L 0.19965 0.58403 " pathEditMode="relative" rAng="0" ptsTypes="AAAA">
                                      <p:cBhvr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83" y="29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16" grpId="0" animBg="1"/>
      <p:bldP spid="16" grpId="1" animBg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18EC2BD7-EB94-48FF-BAC0-49282C93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48680"/>
            <a:ext cx="6347715" cy="1008112"/>
          </a:xfrm>
        </p:spPr>
        <p:txBody>
          <a:bodyPr/>
          <a:lstStyle/>
          <a:p>
            <a:r>
              <a:rPr lang="ru-RU" dirty="0">
                <a:latin typeface="Bahnschrift SemiBold SemiConden" panose="020B0502040204020203" pitchFamily="34" charset="0"/>
              </a:rPr>
              <a:t>ФУНКЦИЯ </a:t>
            </a:r>
            <a:r>
              <a:rPr lang="en-US" dirty="0">
                <a:latin typeface="Bahnschrift SemiBold SemiConden" panose="020B0502040204020203" pitchFamily="34" charset="0"/>
              </a:rPr>
              <a:t>POP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8433151-32C0-41BC-BB71-BC325D66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2" y="2204867"/>
            <a:ext cx="6347715" cy="1513915"/>
          </a:xfrm>
        </p:spPr>
        <p:txBody>
          <a:bodyPr>
            <a:noAutofit/>
          </a:bodyPr>
          <a:lstStyle/>
          <a:p>
            <a:r>
              <a:rPr lang="ru-RU" sz="3200" dirty="0">
                <a:latin typeface="Bahnschrift SemiCondensed" panose="020B0502040204020203" pitchFamily="34" charset="0"/>
              </a:rPr>
              <a:t>Функция вынимает верхнее значение стека</a:t>
            </a:r>
            <a:r>
              <a:rPr lang="en-US" sz="3200" dirty="0">
                <a:latin typeface="Bahnschrift SemiCondensed" panose="020B0502040204020203" pitchFamily="34" charset="0"/>
              </a:rPr>
              <a:t>.</a:t>
            </a:r>
            <a:endParaRPr lang="ru-RU" sz="3200" b="1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97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па 20">
            <a:extLst>
              <a:ext uri="{FF2B5EF4-FFF2-40B4-BE49-F238E27FC236}">
                <a16:creationId xmlns:a16="http://schemas.microsoft.com/office/drawing/2014/main" xmlns="" id="{F239EAAF-390C-46E4-9372-A1550D4BC726}"/>
              </a:ext>
            </a:extLst>
          </p:cNvPr>
          <p:cNvGrpSpPr/>
          <p:nvPr/>
        </p:nvGrpSpPr>
        <p:grpSpPr>
          <a:xfrm>
            <a:off x="6444209" y="4946339"/>
            <a:ext cx="1825195" cy="1008112"/>
            <a:chOff x="6980901" y="5421669"/>
            <a:chExt cx="1825196" cy="1008112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xmlns="" id="{F18FF5A3-BF78-4091-BA1A-46893FF50C9A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FABAA3B0-4EAE-4012-98A9-B59050AA0650}"/>
                </a:ext>
              </a:extLst>
            </p:cNvPr>
            <p:cNvSpPr txBox="1"/>
            <p:nvPr/>
          </p:nvSpPr>
          <p:spPr>
            <a:xfrm>
              <a:off x="7601939" y="5517232"/>
              <a:ext cx="936104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9BBF3B-A6AE-4330-B2F6-AAB5878D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42" y="324711"/>
            <a:ext cx="7239311" cy="828648"/>
          </a:xfrm>
        </p:spPr>
        <p:txBody>
          <a:bodyPr>
            <a:noAutofit/>
          </a:bodyPr>
          <a:lstStyle/>
          <a:p>
            <a:r>
              <a:rPr lang="en-US" sz="5400" dirty="0">
                <a:latin typeface="Bahnschrift SemiBold SemiConden" panose="020B0502040204020203" pitchFamily="34" charset="0"/>
              </a:rPr>
              <a:t>POP</a:t>
            </a:r>
            <a:endParaRPr lang="ru-RU" sz="5400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28DFEFFF-75AE-46FF-B2D5-554BE034BEFB}"/>
              </a:ext>
            </a:extLst>
          </p:cNvPr>
          <p:cNvSpPr/>
          <p:nvPr/>
        </p:nvSpPr>
        <p:spPr>
          <a:xfrm>
            <a:off x="292979" y="1706885"/>
            <a:ext cx="3384376" cy="410445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B6E66C6-A36E-4360-9343-A2DC3A0D9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9" y="1748985"/>
            <a:ext cx="3672407" cy="432048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char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pop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(node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* &amp;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top)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node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*</a:t>
            </a:r>
            <a:r>
              <a:rPr lang="en-US" sz="2400" dirty="0">
                <a:latin typeface="Bahnschrift Light Condensed" panose="020B0502040204020203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Bahnschrift Light Condensed" panose="020B0502040204020203" pitchFamily="34" charset="0"/>
              </a:rPr>
              <a:t>	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char</a:t>
            </a:r>
            <a:r>
              <a:rPr lang="en-US" sz="2400" dirty="0">
                <a:latin typeface="Bahnschrift Light Condensed" panose="020B0502040204020203" pitchFamily="34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x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top-&gt;</a:t>
            </a:r>
            <a:r>
              <a:rPr lang="en-US" sz="2400" dirty="0">
                <a:solidFill>
                  <a:srgbClr val="FF4F4F"/>
                </a:solidFill>
                <a:latin typeface="Bahnschrift Light Condensed" panose="020B0502040204020203" pitchFamily="34" charset="0"/>
              </a:rPr>
              <a:t>data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p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top-&gt;</a:t>
            </a:r>
            <a:r>
              <a:rPr lang="en-US" sz="2400" dirty="0">
                <a:solidFill>
                  <a:srgbClr val="FF4F4F"/>
                </a:solidFill>
                <a:latin typeface="Bahnschrift Light Condensed" panose="020B0502040204020203" pitchFamily="34" charset="0"/>
              </a:rPr>
              <a:t>next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Bahnschrift Light Condensed" panose="020B0502040204020203" pitchFamily="34" charset="0"/>
              </a:rPr>
              <a:t>	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delete 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top;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top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latin typeface="Bahnschrift Light Condensed" panose="020B0502040204020203" pitchFamily="34" charset="0"/>
              </a:rPr>
              <a:t>	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return </a:t>
            </a: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99D488D-854A-49B0-AB48-7427DF643ECD}"/>
              </a:ext>
            </a:extLst>
          </p:cNvPr>
          <p:cNvSpPr txBox="1"/>
          <p:nvPr/>
        </p:nvSpPr>
        <p:spPr>
          <a:xfrm>
            <a:off x="7065248" y="4071470"/>
            <a:ext cx="936104" cy="769435"/>
          </a:xfrm>
          <a:prstGeom prst="rect">
            <a:avLst/>
          </a:prstGeom>
          <a:noFill/>
          <a:scene3d>
            <a:camera prst="orthographicFront">
              <a:rot lat="900000" lon="1800000" rev="0"/>
            </a:camera>
            <a:lightRig rig="threePt" dir="t"/>
          </a:scene3d>
        </p:spPr>
        <p:txBody>
          <a:bodyPr wrap="square" lIns="91432" tIns="45717" rIns="91432" bIns="45717" rtlCol="0">
            <a:spAutoFit/>
          </a:bodyPr>
          <a:lstStyle/>
          <a:p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CCDF8E02-67C4-4AE2-B6A8-D1F9DB04B0AF}"/>
              </a:ext>
            </a:extLst>
          </p:cNvPr>
          <p:cNvSpPr/>
          <p:nvPr/>
        </p:nvSpPr>
        <p:spPr>
          <a:xfrm>
            <a:off x="6452052" y="4955213"/>
            <a:ext cx="1825195" cy="1008112"/>
          </a:xfrm>
          <a:prstGeom prst="rect">
            <a:avLst/>
          </a:prstGeom>
          <a:ln w="0"/>
          <a:scene3d>
            <a:camera prst="orthographicFront">
              <a:rot lat="900000" lon="1800000" rev="0"/>
            </a:camera>
            <a:lightRig rig="contrasting" dir="t"/>
          </a:scene3d>
          <a:sp3d extrusionH="635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BB42732-F1F7-4F05-A84B-407DA58017B5}"/>
              </a:ext>
            </a:extLst>
          </p:cNvPr>
          <p:cNvSpPr txBox="1"/>
          <p:nvPr/>
        </p:nvSpPr>
        <p:spPr>
          <a:xfrm>
            <a:off x="5652124" y="5074024"/>
            <a:ext cx="1405621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TOP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22513D9-C5D3-4E1C-BF64-56D8112FC16F}"/>
              </a:ext>
            </a:extLst>
          </p:cNvPr>
          <p:cNvSpPr txBox="1"/>
          <p:nvPr/>
        </p:nvSpPr>
        <p:spPr>
          <a:xfrm>
            <a:off x="6372201" y="5074027"/>
            <a:ext cx="1803924" cy="769435"/>
          </a:xfrm>
          <a:prstGeom prst="rect">
            <a:avLst/>
          </a:prstGeom>
          <a:noFill/>
          <a:scene3d>
            <a:camera prst="orthographicFront">
              <a:rot lat="900000" lon="1800000" rev="0"/>
            </a:camera>
            <a:lightRig rig="threePt" dir="t"/>
          </a:scene3d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DATA</a:t>
            </a:r>
            <a:endParaRPr lang="ru-RU" sz="4400" b="1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xmlns="" id="{E9C35952-F999-44B4-829A-E7B4456A02C0}"/>
              </a:ext>
            </a:extLst>
          </p:cNvPr>
          <p:cNvGrpSpPr/>
          <p:nvPr/>
        </p:nvGrpSpPr>
        <p:grpSpPr>
          <a:xfrm>
            <a:off x="6444209" y="3978487"/>
            <a:ext cx="1825195" cy="1008112"/>
            <a:chOff x="6980901" y="5421669"/>
            <a:chExt cx="1825196" cy="1008112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xmlns="" id="{09D34598-DD14-47C5-9498-9A2A11D9FF56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4B2AF3AE-A44C-4932-AB3C-135C81C09420}"/>
                </a:ext>
              </a:extLst>
            </p:cNvPr>
            <p:cNvSpPr txBox="1"/>
            <p:nvPr/>
          </p:nvSpPr>
          <p:spPr>
            <a:xfrm>
              <a:off x="7601939" y="5517232"/>
              <a:ext cx="936104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xmlns="" id="{BDC17D78-F8F5-4D3F-9AC2-ED7541B724CB}"/>
              </a:ext>
            </a:extLst>
          </p:cNvPr>
          <p:cNvGrpSpPr/>
          <p:nvPr/>
        </p:nvGrpSpPr>
        <p:grpSpPr>
          <a:xfrm>
            <a:off x="6444209" y="3010639"/>
            <a:ext cx="1825195" cy="1008112"/>
            <a:chOff x="6980901" y="5421669"/>
            <a:chExt cx="1825196" cy="1008112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F84BF66E-1078-401E-BAC4-2A85044388D1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1093F5ED-33EC-42A7-8F09-176DA94205BD}"/>
                </a:ext>
              </a:extLst>
            </p:cNvPr>
            <p:cNvSpPr txBox="1"/>
            <p:nvPr/>
          </p:nvSpPr>
          <p:spPr>
            <a:xfrm>
              <a:off x="7601939" y="5517232"/>
              <a:ext cx="936104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A41FD9B3-9B18-4A40-8B8A-47EE2576E0CF}"/>
              </a:ext>
            </a:extLst>
          </p:cNvPr>
          <p:cNvSpPr/>
          <p:nvPr/>
        </p:nvSpPr>
        <p:spPr>
          <a:xfrm>
            <a:off x="6442908" y="1016462"/>
            <a:ext cx="2449572" cy="76066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CD15920-BB86-489A-9AD2-73DB9A6A1916}"/>
              </a:ext>
            </a:extLst>
          </p:cNvPr>
          <p:cNvSpPr txBox="1"/>
          <p:nvPr/>
        </p:nvSpPr>
        <p:spPr>
          <a:xfrm>
            <a:off x="7208253" y="983915"/>
            <a:ext cx="1935747" cy="769435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DATA</a:t>
            </a:r>
            <a:endParaRPr lang="ru-RU" sz="4400" b="1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DC20CD-488D-4317-98FA-0CEBBB434E74}"/>
              </a:ext>
            </a:extLst>
          </p:cNvPr>
          <p:cNvSpPr txBox="1"/>
          <p:nvPr/>
        </p:nvSpPr>
        <p:spPr>
          <a:xfrm>
            <a:off x="6504754" y="960150"/>
            <a:ext cx="1105983" cy="769435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X=</a:t>
            </a:r>
            <a:endParaRPr lang="ru-RU" sz="4400" b="1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B5403E9-DF59-40EE-BB66-AF5AB99B0734}"/>
              </a:ext>
            </a:extLst>
          </p:cNvPr>
          <p:cNvSpPr txBox="1"/>
          <p:nvPr/>
        </p:nvSpPr>
        <p:spPr>
          <a:xfrm>
            <a:off x="4005929" y="1147007"/>
            <a:ext cx="500824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P</a:t>
            </a:r>
            <a:endParaRPr lang="ru-RU" sz="3200" dirty="0">
              <a:solidFill>
                <a:schemeClr val="accent1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66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5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50"/>
                            </p:stCondLst>
                            <p:childTnLst>
                              <p:par>
                                <p:cTn id="47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7037E-6 L 0.16945 -3.7037E-6 C 0.24549 -3.7037E-6 0.33906 0.19561 0.33906 0.35463 L 0.33906 0.70996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44" y="3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50"/>
                            </p:stCondLst>
                            <p:childTnLst>
                              <p:par>
                                <p:cTn id="57" presetID="2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" presetID="23" presetClass="exit" presetSubtype="3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-3.33333E-6 0.06875 C -3.33333E-6 0.09953 0.03855 0.1375 0.06997 0.1375 L 0.13993 0.1375 " pathEditMode="relative" rAng="0" ptsTypes="AAAA">
                                      <p:cBhvr>
                                        <p:cTn id="7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97" y="6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8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8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50"/>
                            </p:stCondLst>
                            <p:childTnLst>
                              <p:par>
                                <p:cTn id="86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8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9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9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9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6" grpId="0"/>
      <p:bldP spid="17" grpId="0"/>
      <p:bldP spid="27" grpId="0"/>
      <p:bldP spid="27" grpId="1"/>
      <p:bldP spid="5" grpId="0"/>
      <p:bldP spid="5" grpId="1"/>
      <p:bldP spid="29" grpId="0"/>
      <p:bldP spid="29" grpId="1"/>
      <p:bldP spid="29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18EC2BD7-EB94-48FF-BAC0-49282C93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548680"/>
            <a:ext cx="6347715" cy="1008112"/>
          </a:xfrm>
        </p:spPr>
        <p:txBody>
          <a:bodyPr/>
          <a:lstStyle/>
          <a:p>
            <a:r>
              <a:rPr lang="ru-RU" dirty="0">
                <a:latin typeface="Bahnschrift SemiBold SemiConden" panose="020B0502040204020203" pitchFamily="34" charset="0"/>
              </a:rPr>
              <a:t>ФУНКЦИЯ </a:t>
            </a:r>
            <a:r>
              <a:rPr lang="en-US" dirty="0">
                <a:latin typeface="Bahnschrift SemiBold SemiConden" panose="020B0502040204020203" pitchFamily="34" charset="0"/>
              </a:rPr>
              <a:t>BALANCE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8433151-32C0-41BC-BB71-BC325D66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2" y="2204867"/>
            <a:ext cx="6347715" cy="1513915"/>
          </a:xfrm>
        </p:spPr>
        <p:txBody>
          <a:bodyPr>
            <a:noAutofit/>
          </a:bodyPr>
          <a:lstStyle/>
          <a:p>
            <a:r>
              <a:rPr lang="ru-RU" sz="3200" dirty="0">
                <a:latin typeface="Bahnschrift SemiCondensed" panose="020B0502040204020203" pitchFamily="34" charset="0"/>
              </a:rPr>
              <a:t>Функция</a:t>
            </a:r>
            <a:r>
              <a:rPr lang="en-US" sz="3200" dirty="0">
                <a:latin typeface="Bahnschrift SemiCondensed" panose="020B0502040204020203" pitchFamily="34" charset="0"/>
              </a:rPr>
              <a:t> </a:t>
            </a:r>
            <a:r>
              <a:rPr lang="ru-RU" sz="3200" dirty="0">
                <a:latin typeface="Bahnschrift SemiCondensed" panose="020B0502040204020203" pitchFamily="34" charset="0"/>
              </a:rPr>
              <a:t> проверяет, сошлась ли пара у символа наверху стека и входящего</a:t>
            </a:r>
            <a:r>
              <a:rPr lang="en-US" sz="3200" dirty="0">
                <a:latin typeface="Bahnschrift SemiCondensed" panose="020B0502040204020203" pitchFamily="34" charset="0"/>
              </a:rPr>
              <a:t> </a:t>
            </a:r>
            <a:r>
              <a:rPr lang="ru-RU" sz="3200" dirty="0">
                <a:latin typeface="Bahnschrift SemiCondensed" panose="020B0502040204020203" pitchFamily="34" charset="0"/>
              </a:rPr>
              <a:t>символа</a:t>
            </a:r>
            <a:r>
              <a:rPr lang="en-US" sz="3200" dirty="0">
                <a:latin typeface="Bahnschrift SemiCondensed" panose="020B0502040204020203" pitchFamily="34" charset="0"/>
              </a:rPr>
              <a:t>.</a:t>
            </a:r>
            <a:r>
              <a:rPr lang="ru-RU" sz="3200" dirty="0">
                <a:latin typeface="Bahnschrift SemiCondensed" panose="020B0502040204020203" pitchFamily="34" charset="0"/>
              </a:rPr>
              <a:t/>
            </a:r>
            <a:br>
              <a:rPr lang="ru-RU" sz="3200" dirty="0">
                <a:latin typeface="Bahnschrift SemiCondensed" panose="020B0502040204020203" pitchFamily="34" charset="0"/>
              </a:rPr>
            </a:br>
            <a:r>
              <a:rPr lang="ru-RU" sz="3200" dirty="0">
                <a:latin typeface="Bahnschrift SemiCondensed" panose="020B0502040204020203" pitchFamily="34" charset="0"/>
              </a:rPr>
              <a:t>Например </a:t>
            </a:r>
            <a:r>
              <a:rPr lang="en-US" sz="3200" b="1" dirty="0">
                <a:latin typeface="Bahnschrift SemiCondensed" panose="020B0502040204020203" pitchFamily="34" charset="0"/>
              </a:rPr>
              <a:t>‘</a:t>
            </a:r>
            <a:r>
              <a:rPr lang="ru-RU" sz="3200" b="1" dirty="0">
                <a:latin typeface="Bahnschrift SemiCondensed" panose="020B0502040204020203" pitchFamily="34" charset="0"/>
              </a:rPr>
              <a:t>(</a:t>
            </a:r>
            <a:r>
              <a:rPr lang="en-US" sz="3200" b="1" dirty="0">
                <a:latin typeface="Bahnschrift SemiCondensed" panose="020B0502040204020203" pitchFamily="34" charset="0"/>
              </a:rPr>
              <a:t>‘ </a:t>
            </a:r>
            <a:r>
              <a:rPr lang="ru-RU" sz="3200" b="1" dirty="0">
                <a:latin typeface="Bahnschrift SemiCondensed" panose="020B0502040204020203" pitchFamily="34" charset="0"/>
              </a:rPr>
              <a:t>и </a:t>
            </a:r>
            <a:r>
              <a:rPr lang="en-US" sz="3200" b="1" dirty="0">
                <a:latin typeface="Bahnschrift SemiCondensed" panose="020B0502040204020203" pitchFamily="34" charset="0"/>
              </a:rPr>
              <a:t>‘)’ = true </a:t>
            </a:r>
            <a:r>
              <a:rPr lang="ru-RU" sz="3200" b="1" dirty="0">
                <a:latin typeface="Bahnschrift SemiCondensed" panose="020B0502040204020203" pitchFamily="34" charset="0"/>
              </a:rPr>
              <a:t>, </a:t>
            </a:r>
            <a:r>
              <a:rPr lang="en-US" sz="3200" b="1" dirty="0">
                <a:latin typeface="Bahnschrift SemiCondensed" panose="020B0502040204020203" pitchFamily="34" charset="0"/>
              </a:rPr>
              <a:t>‘[‘ </a:t>
            </a:r>
            <a:r>
              <a:rPr lang="ru-RU" sz="3200" b="1" dirty="0">
                <a:latin typeface="Bahnschrift SemiCondensed" panose="020B0502040204020203" pitchFamily="34" charset="0"/>
              </a:rPr>
              <a:t>и </a:t>
            </a:r>
            <a:r>
              <a:rPr lang="en-US" sz="3200" b="1" dirty="0">
                <a:latin typeface="Bahnschrift SemiCondensed" panose="020B0502040204020203" pitchFamily="34" charset="0"/>
              </a:rPr>
              <a:t>‘}’ = false </a:t>
            </a:r>
            <a:endParaRPr lang="ru-RU" sz="3200" b="1" dirty="0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37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CE627E7-9BD0-49B2-A539-7008CFEA04A9}"/>
              </a:ext>
            </a:extLst>
          </p:cNvPr>
          <p:cNvSpPr/>
          <p:nvPr/>
        </p:nvSpPr>
        <p:spPr>
          <a:xfrm>
            <a:off x="300738" y="1916832"/>
            <a:ext cx="3767205" cy="458644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05EB1E9-0A63-4271-9BFC-0E5781BBC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618" y="308000"/>
            <a:ext cx="6854670" cy="13208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Bahnschrift SemiBold SemiConden" panose="020B0502040204020203" pitchFamily="34" charset="0"/>
              </a:rPr>
              <a:t>BALANCE</a:t>
            </a:r>
            <a:endParaRPr lang="ru-RU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319184-EB15-4E56-859B-F2DBE3E48EE2}"/>
              </a:ext>
            </a:extLst>
          </p:cNvPr>
          <p:cNvSpPr txBox="1"/>
          <p:nvPr/>
        </p:nvSpPr>
        <p:spPr>
          <a:xfrm>
            <a:off x="396157" y="1916833"/>
            <a:ext cx="3671785" cy="452430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bool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balance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(node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*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&amp;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top,</a:t>
            </a:r>
            <a:r>
              <a:rPr lang="en-US" b="1" dirty="0"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char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</a:t>
            </a:r>
          </a:p>
          <a:p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{</a:t>
            </a:r>
          </a:p>
          <a:p>
            <a:r>
              <a:rPr lang="en-US" b="1" dirty="0">
                <a:latin typeface="Bahnschrift Light Condensed" panose="020B0502040204020203" pitchFamily="34" charset="0"/>
              </a:rPr>
              <a:t>	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char 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r</a:t>
            </a:r>
            <a:r>
              <a:rPr lang="en-US" b="1" dirty="0"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pop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(top);</a:t>
            </a:r>
          </a:p>
          <a:p>
            <a:r>
              <a:rPr lang="en-US" b="1" dirty="0">
                <a:latin typeface="Bahnschrift Light Condensed" panose="020B0502040204020203" pitchFamily="34" charset="0"/>
              </a:rPr>
              <a:t>	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switch 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</a:t>
            </a:r>
          </a:p>
          <a:p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{</a:t>
            </a:r>
          </a:p>
          <a:p>
            <a:r>
              <a:rPr lang="en-US" b="1" dirty="0">
                <a:latin typeface="Bahnschrift Light Condensed" panose="020B0502040204020203" pitchFamily="34" charset="0"/>
              </a:rPr>
              <a:t>		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case </a:t>
            </a:r>
            <a:r>
              <a:rPr lang="en-US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')'</a:t>
            </a:r>
            <a:r>
              <a:rPr lang="en-US" b="1" dirty="0">
                <a:latin typeface="Bahnschrift Light Condensed" panose="020B0502040204020203" pitchFamily="34" charset="0"/>
              </a:rPr>
              <a:t>: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return 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r</a:t>
            </a:r>
            <a:r>
              <a:rPr lang="en-US" b="1" dirty="0"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 </a:t>
            </a:r>
            <a:r>
              <a:rPr lang="en-US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'('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break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</a:p>
          <a:p>
            <a:r>
              <a:rPr lang="en-US" b="1" dirty="0">
                <a:latin typeface="Bahnschrift Light Condensed" panose="020B0502040204020203" pitchFamily="34" charset="0"/>
              </a:rPr>
              <a:t>		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case </a:t>
            </a:r>
            <a:r>
              <a:rPr lang="en-US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']'</a:t>
            </a:r>
            <a:r>
              <a:rPr lang="en-US" b="1" dirty="0">
                <a:latin typeface="Bahnschrift Light Condensed" panose="020B0502040204020203" pitchFamily="34" charset="0"/>
              </a:rPr>
              <a:t>: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return 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r</a:t>
            </a:r>
            <a:r>
              <a:rPr lang="en-US" b="1" dirty="0"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 </a:t>
            </a:r>
            <a:r>
              <a:rPr lang="en-US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'['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r>
              <a:rPr lang="en-US" b="1" dirty="0">
                <a:latin typeface="Bahnschrift Light Condensed" panose="020B0502040204020203" pitchFamily="34" charset="0"/>
              </a:rPr>
              <a:t> 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break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</a:p>
          <a:p>
            <a:r>
              <a:rPr lang="en-US" b="1" dirty="0">
                <a:latin typeface="Bahnschrift Light Condensed" panose="020B0502040204020203" pitchFamily="34" charset="0"/>
              </a:rPr>
              <a:t>		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case </a:t>
            </a:r>
            <a:r>
              <a:rPr lang="en-US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'}'</a:t>
            </a:r>
            <a:r>
              <a:rPr lang="en-US" b="1" dirty="0">
                <a:latin typeface="Bahnschrift Light Condensed" panose="020B0502040204020203" pitchFamily="34" charset="0"/>
              </a:rPr>
              <a:t>: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return  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r</a:t>
            </a:r>
            <a:r>
              <a:rPr lang="en-US" b="1" dirty="0"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 </a:t>
            </a:r>
            <a:r>
              <a:rPr lang="en-US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'{'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r>
              <a:rPr lang="en-US" b="1" dirty="0"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break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</a:p>
          <a:p>
            <a:r>
              <a:rPr lang="en-US" b="1" dirty="0">
                <a:latin typeface="Bahnschrift Light Condensed" panose="020B0502040204020203" pitchFamily="34" charset="0"/>
              </a:rPr>
              <a:t>		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default: return </a:t>
            </a:r>
            <a:r>
              <a:rPr lang="en-US" b="1" dirty="0">
                <a:solidFill>
                  <a:srgbClr val="FFFF00"/>
                </a:solidFill>
                <a:latin typeface="Bahnschrift Light Condensed" panose="020B0502040204020203" pitchFamily="34" charset="0"/>
              </a:rPr>
              <a:t>false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r>
              <a:rPr lang="en-US" b="1" dirty="0">
                <a:latin typeface="Bahnschrift Light Condensed" panose="020B0502040204020203" pitchFamily="34" charset="0"/>
              </a:rPr>
              <a:t>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break</a:t>
            </a:r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</a:p>
          <a:p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}</a:t>
            </a:r>
          </a:p>
          <a:p>
            <a:r>
              <a:rPr lang="en-US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}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xmlns="" id="{727DB61F-A74E-4F0C-A133-B7B2C278542C}"/>
              </a:ext>
            </a:extLst>
          </p:cNvPr>
          <p:cNvGrpSpPr/>
          <p:nvPr/>
        </p:nvGrpSpPr>
        <p:grpSpPr>
          <a:xfrm>
            <a:off x="6449720" y="4475307"/>
            <a:ext cx="1825195" cy="1008112"/>
            <a:chOff x="6980901" y="5421669"/>
            <a:chExt cx="1825196" cy="1008112"/>
          </a:xfrm>
        </p:grpSpPr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xmlns="" id="{4DC621C5-2CB0-4D40-A710-7A333C46B829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1F5A10A4-EAF2-41DB-9581-144454F57B7B}"/>
                </a:ext>
              </a:extLst>
            </p:cNvPr>
            <p:cNvSpPr txBox="1"/>
            <p:nvPr/>
          </p:nvSpPr>
          <p:spPr>
            <a:xfrm>
              <a:off x="7601939" y="5517232"/>
              <a:ext cx="936104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xmlns="" id="{067451B0-FD37-49F3-83A6-E8E4B552A8A3}"/>
              </a:ext>
            </a:extLst>
          </p:cNvPr>
          <p:cNvGrpSpPr/>
          <p:nvPr/>
        </p:nvGrpSpPr>
        <p:grpSpPr>
          <a:xfrm>
            <a:off x="6449720" y="3503187"/>
            <a:ext cx="1825195" cy="1008112"/>
            <a:chOff x="6980901" y="5421669"/>
            <a:chExt cx="1825196" cy="1008112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xmlns="" id="{41BE67F2-EBBA-45D7-9A64-9E800E3177EF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0A8450BD-1281-49AA-A155-73DFD382D538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xmlns="" id="{C13B6B93-6423-4841-9356-12404082E371}"/>
              </a:ext>
            </a:extLst>
          </p:cNvPr>
          <p:cNvGrpSpPr/>
          <p:nvPr/>
        </p:nvGrpSpPr>
        <p:grpSpPr>
          <a:xfrm>
            <a:off x="6449720" y="5445227"/>
            <a:ext cx="1825195" cy="1008112"/>
            <a:chOff x="6980901" y="5421669"/>
            <a:chExt cx="1825196" cy="1008112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964274D4-EC48-4CB8-B81F-0597347ABB64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F99371F8-6306-4EE8-897B-559AED27D877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[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xmlns="" id="{0013DEFF-40AF-4654-A4A8-D7EF89E7FBD9}"/>
              </a:ext>
            </a:extLst>
          </p:cNvPr>
          <p:cNvGrpSpPr/>
          <p:nvPr/>
        </p:nvGrpSpPr>
        <p:grpSpPr>
          <a:xfrm>
            <a:off x="6449720" y="4475307"/>
            <a:ext cx="1825195" cy="1008112"/>
            <a:chOff x="6980901" y="5421669"/>
            <a:chExt cx="1825196" cy="1008112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xmlns="" id="{D1E40858-6014-4BAC-9049-BCEABFDDA65C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841A5429-A514-4120-888C-0BD50ECC81A6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{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xmlns="" id="{1A9DDDF6-43D1-4508-AACD-A8D396C32918}"/>
              </a:ext>
            </a:extLst>
          </p:cNvPr>
          <p:cNvGrpSpPr/>
          <p:nvPr/>
        </p:nvGrpSpPr>
        <p:grpSpPr>
          <a:xfrm>
            <a:off x="6449720" y="3503187"/>
            <a:ext cx="1825195" cy="1008112"/>
            <a:chOff x="6980901" y="5421669"/>
            <a:chExt cx="1825196" cy="1008112"/>
          </a:xfrm>
        </p:grpSpPr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xmlns="" id="{E1D44F7C-62D9-4E58-8396-CFFD51A7666F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xmlns="" id="{380774BB-1271-4D29-A8ED-A323BD6DCD99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(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082D648E-D6DF-4311-85ED-12B1328ACF78}"/>
              </a:ext>
            </a:extLst>
          </p:cNvPr>
          <p:cNvSpPr/>
          <p:nvPr/>
        </p:nvSpPr>
        <p:spPr>
          <a:xfrm>
            <a:off x="6449720" y="2511716"/>
            <a:ext cx="1825195" cy="1008112"/>
          </a:xfrm>
          <a:prstGeom prst="rect">
            <a:avLst/>
          </a:prstGeom>
          <a:solidFill>
            <a:schemeClr val="accent1">
              <a:lumMod val="40000"/>
              <a:lumOff val="60000"/>
              <a:alpha val="70000"/>
            </a:schemeClr>
          </a:solidFill>
          <a:ln w="0">
            <a:solidFill>
              <a:schemeClr val="accent1">
                <a:lumMod val="60000"/>
                <a:lumOff val="40000"/>
                <a:alpha val="70000"/>
              </a:schemeClr>
            </a:solidFill>
          </a:ln>
          <a:scene3d>
            <a:camera prst="orthographicFront">
              <a:rot lat="900000" lon="1800000" rev="0"/>
            </a:camera>
            <a:lightRig rig="contrasting" dir="t"/>
          </a:scene3d>
          <a:sp3d extrusionH="635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9A5768B8-0975-4BBC-852B-C71A308CF526}"/>
              </a:ext>
            </a:extLst>
          </p:cNvPr>
          <p:cNvSpPr/>
          <p:nvPr/>
        </p:nvSpPr>
        <p:spPr>
          <a:xfrm>
            <a:off x="6406873" y="803224"/>
            <a:ext cx="1825195" cy="63343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E16344B1-E147-4304-9A71-A7645E857219}"/>
              </a:ext>
            </a:extLst>
          </p:cNvPr>
          <p:cNvSpPr txBox="1"/>
          <p:nvPr/>
        </p:nvSpPr>
        <p:spPr>
          <a:xfrm>
            <a:off x="6474715" y="780327"/>
            <a:ext cx="1800200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sym</a:t>
            </a:r>
            <a:r>
              <a:rPr lang="en-US" sz="3200" dirty="0">
                <a:solidFill>
                  <a:schemeClr val="bg1"/>
                </a:solidFill>
              </a:rPr>
              <a:t> = ‘)‘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D9971C1E-1D2C-47E8-86EB-FF21849E8B90}"/>
              </a:ext>
            </a:extLst>
          </p:cNvPr>
          <p:cNvSpPr/>
          <p:nvPr/>
        </p:nvSpPr>
        <p:spPr>
          <a:xfrm>
            <a:off x="4485720" y="813888"/>
            <a:ext cx="1258157" cy="63343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A180446F-3B2B-406A-A0F7-7F93EE88FC53}"/>
              </a:ext>
            </a:extLst>
          </p:cNvPr>
          <p:cNvSpPr txBox="1"/>
          <p:nvPr/>
        </p:nvSpPr>
        <p:spPr>
          <a:xfrm>
            <a:off x="4583226" y="789891"/>
            <a:ext cx="729105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 = 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0F2C43D2-E35F-43E4-8A45-40187CBFB43C}"/>
              </a:ext>
            </a:extLst>
          </p:cNvPr>
          <p:cNvSpPr txBox="1"/>
          <p:nvPr/>
        </p:nvSpPr>
        <p:spPr>
          <a:xfrm>
            <a:off x="5768677" y="3624745"/>
            <a:ext cx="852633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TOP</a:t>
            </a:r>
            <a:endParaRPr lang="ru-RU" sz="2800" dirty="0">
              <a:solidFill>
                <a:schemeClr val="accent1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81DAF42C-FB65-46AB-83CE-E7F457205E81}"/>
              </a:ext>
            </a:extLst>
          </p:cNvPr>
          <p:cNvSpPr txBox="1"/>
          <p:nvPr/>
        </p:nvSpPr>
        <p:spPr>
          <a:xfrm>
            <a:off x="5114797" y="788811"/>
            <a:ext cx="729105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‘(‘</a:t>
            </a:r>
            <a:endParaRPr lang="ru-RU" sz="3200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xmlns="" id="{E0A71671-0C81-4862-B631-BDB0EB1709EB}"/>
              </a:ext>
            </a:extLst>
          </p:cNvPr>
          <p:cNvSpPr/>
          <p:nvPr/>
        </p:nvSpPr>
        <p:spPr>
          <a:xfrm>
            <a:off x="3641049" y="2237100"/>
            <a:ext cx="3233615" cy="1754320"/>
          </a:xfrm>
          <a:prstGeom prst="rect">
            <a:avLst/>
          </a:prstGeom>
          <a:noFill/>
        </p:spPr>
        <p:txBody>
          <a:bodyPr wrap="square" lIns="91432" tIns="45717" rIns="91432" bIns="45717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‘(‘ </a:t>
            </a:r>
            <a:r>
              <a:rPr lang="ru-RU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и</a:t>
            </a:r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‘)’</a:t>
            </a:r>
            <a:r>
              <a:rPr lang="ru-RU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верно!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F221AF96-FA5C-48AF-A55C-26CF5FBBB6D5}"/>
              </a:ext>
            </a:extLst>
          </p:cNvPr>
          <p:cNvSpPr txBox="1"/>
          <p:nvPr/>
        </p:nvSpPr>
        <p:spPr>
          <a:xfrm>
            <a:off x="5096577" y="787971"/>
            <a:ext cx="729105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‘{‘</a:t>
            </a:r>
            <a:endParaRPr lang="ru-RU" sz="3200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xmlns="" id="{0964EC2A-4FE2-4528-863F-D6C7514F889B}"/>
              </a:ext>
            </a:extLst>
          </p:cNvPr>
          <p:cNvSpPr/>
          <p:nvPr/>
        </p:nvSpPr>
        <p:spPr>
          <a:xfrm>
            <a:off x="3728949" y="2381243"/>
            <a:ext cx="2965840" cy="1569654"/>
          </a:xfrm>
          <a:prstGeom prst="rect">
            <a:avLst/>
          </a:prstGeom>
          <a:noFill/>
        </p:spPr>
        <p:txBody>
          <a:bodyPr wrap="square" lIns="91432" tIns="45717" rIns="91432" bIns="45717">
            <a:spAutoFit/>
          </a:bodyPr>
          <a:lstStyle/>
          <a:p>
            <a:pPr algn="ctr"/>
            <a:r>
              <a:rPr lang="en-US" sz="48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‘{‘ </a:t>
            </a:r>
            <a:r>
              <a:rPr lang="ru-RU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и</a:t>
            </a:r>
            <a:r>
              <a:rPr lang="en-US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‘)’</a:t>
            </a:r>
            <a:r>
              <a:rPr lang="ru-RU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неверно!</a:t>
            </a:r>
          </a:p>
        </p:txBody>
      </p:sp>
    </p:spTree>
    <p:extLst>
      <p:ext uri="{BB962C8B-B14F-4D97-AF65-F5344CB8AC3E}">
        <p14:creationId xmlns:p14="http://schemas.microsoft.com/office/powerpoint/2010/main" val="47315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00"/>
                            </p:stCondLst>
                            <p:childTnLst>
                              <p:par>
                                <p:cTn id="16" presetID="23" presetClass="exit" presetSubtype="3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5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81481E-6 L 0.00174 0.14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00"/>
                            </p:stCondLst>
                            <p:childTnLst>
                              <p:par>
                                <p:cTn id="36" presetID="36" presetClass="emph" presetSubtype="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6" presetClass="emph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" presetID="36" presetClass="emph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850"/>
                            </p:stCondLst>
                            <p:childTnLst>
                              <p:par>
                                <p:cTn id="52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850"/>
                            </p:stCondLst>
                            <p:childTnLst>
                              <p:par>
                                <p:cTn id="57" presetID="23" presetClass="exit" presetSubtype="32" fill="hold" grpId="0" nodeType="afterEffect">
                                  <p:stCondLst>
                                    <p:cond delay="1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3" presetClass="exit" presetSubtype="32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00"/>
                            </p:stCondLst>
                            <p:childTnLst>
                              <p:par>
                                <p:cTn id="7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00"/>
                            </p:stCondLst>
                            <p:childTnLst>
                              <p:par>
                                <p:cTn id="78" presetID="23" presetClass="exit" presetSubtype="3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450"/>
                            </p:stCondLst>
                            <p:childTnLst>
                              <p:par>
                                <p:cTn id="8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4 0.147 L 0.00365 0.28588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6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8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9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" presetID="3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9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9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9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800"/>
                            </p:stCondLst>
                            <p:childTnLst>
                              <p:par>
                                <p:cTn id="98" presetID="36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9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0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0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0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36" presetClass="emph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0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0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0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0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36" presetClass="emph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0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1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850"/>
                            </p:stCondLst>
                            <p:childTnLst>
                              <p:par>
                                <p:cTn id="114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850"/>
                            </p:stCondLst>
                            <p:childTnLst>
                              <p:par>
                                <p:cTn id="119" presetID="23" presetClass="exit" presetSubtype="32" fill="hold" grpId="0" nodeType="afterEffect">
                                  <p:stCondLst>
                                    <p:cond delay="1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3" presetClass="exit" presetSubtype="32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6" grpId="0"/>
      <p:bldP spid="36" grpId="1"/>
      <p:bldP spid="37" grpId="0"/>
      <p:bldP spid="37" grpId="1"/>
      <p:bldP spid="38" grpId="0" build="allAtOnce"/>
      <p:bldP spid="38" grpId="1" build="allAtOnce"/>
      <p:bldP spid="40" grpId="0" build="allAtOnce"/>
      <p:bldP spid="45" grpId="0" build="allAtOnce"/>
      <p:bldP spid="45" grpId="1" build="allAtOnce"/>
      <p:bldP spid="46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2E8C35-3BFE-4F7D-A165-45E7DCC5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48" y="644831"/>
            <a:ext cx="4876106" cy="2453816"/>
          </a:xfrm>
        </p:spPr>
        <p:txBody>
          <a:bodyPr>
            <a:noAutofit/>
          </a:bodyPr>
          <a:lstStyle/>
          <a:p>
            <a:r>
              <a:rPr lang="ru-RU" sz="2800" dirty="0">
                <a:latin typeface="Bahnschrift SemiBold SemiConden" panose="020B0502040204020203" pitchFamily="34" charset="0"/>
              </a:rPr>
              <a:t>Читаем первый символ из файла и кладем его значение в </a:t>
            </a:r>
            <a:r>
              <a:rPr lang="ru-RU" sz="2800" dirty="0">
                <a:solidFill>
                  <a:srgbClr val="E32D91"/>
                </a:solidFill>
                <a:latin typeface="Bahnschrift SemiBold SemiConden" panose="020B0502040204020203" pitchFamily="34" charset="0"/>
              </a:rPr>
              <a:t>переменную</a:t>
            </a:r>
            <a:r>
              <a:rPr lang="ru-RU" sz="2800" dirty="0">
                <a:latin typeface="Bahnschrift SemiBold SemiConden" panose="020B0502040204020203" pitchFamily="34" charset="0"/>
              </a:rPr>
              <a:t> </a:t>
            </a:r>
            <a:r>
              <a:rPr lang="en-US" sz="2800" dirty="0" err="1">
                <a:latin typeface="Bahnschrift SemiBold SemiConden" panose="020B0502040204020203" pitchFamily="34" charset="0"/>
              </a:rPr>
              <a:t>sym</a:t>
            </a:r>
            <a:endParaRPr lang="ru-RU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5A8B302F-B76D-4692-A461-004EA55AC86E}"/>
              </a:ext>
            </a:extLst>
          </p:cNvPr>
          <p:cNvSpPr/>
          <p:nvPr/>
        </p:nvSpPr>
        <p:spPr>
          <a:xfrm>
            <a:off x="5796139" y="787423"/>
            <a:ext cx="2616644" cy="141744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408A750-38C3-44B2-8D27-F0DD7BAB08A1}"/>
              </a:ext>
            </a:extLst>
          </p:cNvPr>
          <p:cNvSpPr txBox="1"/>
          <p:nvPr/>
        </p:nvSpPr>
        <p:spPr>
          <a:xfrm>
            <a:off x="5439049" y="1081373"/>
            <a:ext cx="3330825" cy="1779579"/>
          </a:xfrm>
          <a:prstGeom prst="rect">
            <a:avLst/>
          </a:prstGeom>
          <a:noFill/>
        </p:spPr>
        <p:txBody>
          <a:bodyPr wrap="square" lIns="91432" tIns="45717" rIns="91432" bIns="45717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US" sz="32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in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&gt;&gt; </a:t>
            </a:r>
            <a:r>
              <a:rPr lang="en-US" sz="3200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32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</a:p>
          <a:p>
            <a:pPr>
              <a:lnSpc>
                <a:spcPts val="2100"/>
              </a:lnSpc>
            </a:pPr>
            <a:endParaRPr lang="ru-RU" sz="3200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32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</a:t>
            </a:r>
            <a:r>
              <a:rPr lang="en-US" sz="3200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cout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&lt;&lt; </a:t>
            </a:r>
            <a:r>
              <a:rPr lang="en-US" sz="3200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32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endParaRPr lang="ru-RU" sz="3200" dirty="0"/>
          </a:p>
          <a:p>
            <a:pPr>
              <a:lnSpc>
                <a:spcPts val="2100"/>
              </a:lnSpc>
            </a:pPr>
            <a:endParaRPr lang="ru-RU" sz="32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5B4AA304-990A-4D78-BC00-156C63F968A9}"/>
              </a:ext>
            </a:extLst>
          </p:cNvPr>
          <p:cNvSpPr/>
          <p:nvPr/>
        </p:nvSpPr>
        <p:spPr>
          <a:xfrm>
            <a:off x="6162666" y="3347809"/>
            <a:ext cx="1404820" cy="70788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7E1684D-D8C6-4B3A-8F24-D4D8E1487118}"/>
              </a:ext>
            </a:extLst>
          </p:cNvPr>
          <p:cNvSpPr txBox="1"/>
          <p:nvPr/>
        </p:nvSpPr>
        <p:spPr>
          <a:xfrm>
            <a:off x="6191516" y="3378590"/>
            <a:ext cx="1404820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Bahnschrift SemiBold SemiConden" panose="020B0502040204020203" pitchFamily="34" charset="0"/>
              </a:rPr>
              <a:t>sym</a:t>
            </a:r>
            <a:r>
              <a:rPr lang="en-US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 = [</a:t>
            </a:r>
            <a:endParaRPr lang="ru-RU" sz="2800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xmlns="" id="{730F4836-5248-4603-8A5F-95D3E9B6C40A}"/>
              </a:ext>
            </a:extLst>
          </p:cNvPr>
          <p:cNvGrpSpPr/>
          <p:nvPr/>
        </p:nvGrpSpPr>
        <p:grpSpPr>
          <a:xfrm>
            <a:off x="236137" y="2923166"/>
            <a:ext cx="5400600" cy="1323439"/>
            <a:chOff x="216991" y="2507009"/>
            <a:chExt cx="5400600" cy="132343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3BF077DB-B810-458E-86C6-3B3E447180A5}"/>
                </a:ext>
              </a:extLst>
            </p:cNvPr>
            <p:cNvSpPr txBox="1"/>
            <p:nvPr/>
          </p:nvSpPr>
          <p:spPr>
            <a:xfrm>
              <a:off x="216991" y="2507009"/>
              <a:ext cx="54006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4000" b="1" dirty="0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[(</a:t>
              </a:r>
              <a:r>
                <a:rPr lang="en-US" sz="4000" b="1" dirty="0" err="1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abcd</a:t>
              </a:r>
              <a:r>
                <a:rPr lang="ru-RU" sz="4000" b="1" dirty="0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) </a:t>
              </a:r>
              <a:r>
                <a:rPr lang="en-US" sz="4000" b="1" dirty="0" err="1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abcd</a:t>
              </a:r>
              <a:r>
                <a:rPr lang="ru-RU" sz="4000" b="1" dirty="0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 [{ </a:t>
              </a:r>
              <a:r>
                <a:rPr lang="en-US" sz="4000" b="1" dirty="0" err="1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abc</a:t>
              </a:r>
              <a:r>
                <a:rPr lang="ru-RU" sz="4000" b="1" dirty="0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}[</a:t>
              </a:r>
              <a:r>
                <a:rPr lang="en-US" sz="4000" b="1" dirty="0" err="1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abc</a:t>
              </a:r>
              <a:r>
                <a:rPr lang="ru-RU" sz="4000" b="1" dirty="0">
                  <a:solidFill>
                    <a:srgbClr val="E32D91"/>
                  </a:solidFill>
                  <a:latin typeface="Bahnschrift SemiCondensed" panose="020B0502040204020203" pitchFamily="34" charset="0"/>
                </a:rPr>
                <a:t>]]].</a:t>
              </a:r>
              <a:endParaRPr lang="ru-RU" sz="4000" dirty="0">
                <a:solidFill>
                  <a:srgbClr val="E32D91"/>
                </a:solidFill>
              </a:endParaRPr>
            </a:p>
          </p:txBody>
        </p: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xmlns="" id="{10B0DCCE-7294-475F-B77C-8AE7560642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536" y="3176801"/>
              <a:ext cx="0" cy="43012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03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031FBA2F-F43F-4676-948F-BC58E74E9F47}"/>
              </a:ext>
            </a:extLst>
          </p:cNvPr>
          <p:cNvSpPr/>
          <p:nvPr/>
        </p:nvSpPr>
        <p:spPr>
          <a:xfrm>
            <a:off x="110315" y="547327"/>
            <a:ext cx="5268843" cy="61677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AA1EB95-8A9A-4ED5-A58D-B58F6BEFF843}"/>
              </a:ext>
            </a:extLst>
          </p:cNvPr>
          <p:cNvSpPr txBox="1"/>
          <p:nvPr/>
        </p:nvSpPr>
        <p:spPr>
          <a:xfrm>
            <a:off x="162249" y="476678"/>
            <a:ext cx="5400600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ru-RU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[(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abcd</a:t>
            </a:r>
            <a:r>
              <a:rPr lang="ru-RU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)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abcd</a:t>
            </a:r>
            <a:r>
              <a:rPr lang="ru-RU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 [{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abc</a:t>
            </a:r>
            <a:r>
              <a:rPr lang="ru-RU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}[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abc</a:t>
            </a:r>
            <a:r>
              <a:rPr lang="ru-RU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SemiCondensed" panose="020B0502040204020203" pitchFamily="34" charset="0"/>
              </a:rPr>
              <a:t>]]].</a:t>
            </a:r>
            <a:endParaRPr lang="ru-RU" sz="3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xmlns="" id="{D40D71B8-498D-4D13-BE56-2072112384DB}"/>
              </a:ext>
            </a:extLst>
          </p:cNvPr>
          <p:cNvCxnSpPr>
            <a:cxnSpLocks/>
          </p:cNvCxnSpPr>
          <p:nvPr/>
        </p:nvCxnSpPr>
        <p:spPr>
          <a:xfrm flipV="1">
            <a:off x="323528" y="1196758"/>
            <a:ext cx="0" cy="4301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AF58B54-23AD-4A56-9864-97B40F340AAC}"/>
              </a:ext>
            </a:extLst>
          </p:cNvPr>
          <p:cNvSpPr txBox="1"/>
          <p:nvPr/>
        </p:nvSpPr>
        <p:spPr>
          <a:xfrm>
            <a:off x="227102" y="2048354"/>
            <a:ext cx="4446818" cy="4539586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lIns="91432" tIns="45717" rIns="91432" bIns="45717" rtlCol="0">
            <a:noAutofit/>
          </a:bodyPr>
          <a:lstStyle/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while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!= </a:t>
            </a:r>
            <a:r>
              <a:rPr lang="en-US" sz="2000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'.'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&amp;&amp;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t)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{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		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if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 </a:t>
            </a:r>
            <a:r>
              <a:rPr lang="en-US" sz="2000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'('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||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'['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||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 </a:t>
            </a:r>
            <a:r>
              <a:rPr lang="en-US" sz="2000" b="1" dirty="0">
                <a:solidFill>
                  <a:srgbClr val="00B050"/>
                </a:solidFill>
                <a:latin typeface="Bahnschrift Light Condensed" panose="020B0502040204020203" pitchFamily="34" charset="0"/>
              </a:rPr>
              <a:t>'{‘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)) </a:t>
            </a: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			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push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top_bal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);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		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else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if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 </a:t>
            </a:r>
            <a:r>
              <a:rPr lang="en-US" sz="2000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')'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||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== </a:t>
            </a:r>
            <a:r>
              <a:rPr lang="en-US" sz="2000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']'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||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==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Bahnschrift Light Condensed" panose="020B0502040204020203" pitchFamily="34" charset="0"/>
              </a:rPr>
              <a:t>'}'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))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	 {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			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if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((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top_bal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==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rgbClr val="FFFF00"/>
                </a:solidFill>
                <a:latin typeface="Bahnschrift Light Condensed" panose="020B0502040204020203" pitchFamily="34" charset="0"/>
              </a:rPr>
              <a:t>NULL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||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ru-RU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(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!</a:t>
            </a:r>
            <a:r>
              <a:rPr lang="en-US" sz="2000" b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Bahnschrift Light Condensed" panose="020B0502040204020203" pitchFamily="34" charset="0"/>
              </a:rPr>
              <a:t>balance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_bal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)) </a:t>
            </a:r>
            <a:endParaRPr lang="en-US" sz="2000" b="1" dirty="0">
              <a:solidFill>
                <a:schemeClr val="accent1">
                  <a:lumMod val="40000"/>
                  <a:lumOff val="60000"/>
                </a:schemeClr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		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= </a:t>
            </a:r>
            <a:r>
              <a:rPr lang="en-US" sz="2000" b="1" dirty="0">
                <a:solidFill>
                  <a:srgbClr val="FFFF00"/>
                </a:solidFill>
                <a:latin typeface="Bahnschrift Light Condensed" panose="020B0502040204020203" pitchFamily="34" charset="0"/>
              </a:rPr>
              <a:t>false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</a:t>
            </a:r>
            <a:r>
              <a:rPr lang="ru-RU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}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in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&gt;&gt; 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cout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 </a:t>
            </a:r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ahnschrift Light Condensed" panose="020B0502040204020203" pitchFamily="34" charset="0"/>
              </a:rPr>
              <a:t>&lt;&lt; </a:t>
            </a:r>
            <a:r>
              <a:rPr lang="en-US" sz="2000" b="1" dirty="0" err="1">
                <a:solidFill>
                  <a:schemeClr val="bg1"/>
                </a:solidFill>
                <a:latin typeface="Bahnschrift Light Condensed" panose="020B0502040204020203" pitchFamily="34" charset="0"/>
              </a:rPr>
              <a:t>sym</a:t>
            </a: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;</a:t>
            </a:r>
            <a:endParaRPr lang="ru-RU" sz="2000" b="1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pPr>
              <a:lnSpc>
                <a:spcPts val="2100"/>
              </a:lnSpc>
            </a:pPr>
            <a:r>
              <a:rPr lang="en-US" sz="2000" b="1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	}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71D2CA0D-B7AF-4F10-B5AB-6E0C24175491}"/>
              </a:ext>
            </a:extLst>
          </p:cNvPr>
          <p:cNvSpPr/>
          <p:nvPr/>
        </p:nvSpPr>
        <p:spPr>
          <a:xfrm>
            <a:off x="5741392" y="548783"/>
            <a:ext cx="1368152" cy="5400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84B11D5-57E1-4137-A1EF-D06ABC473506}"/>
              </a:ext>
            </a:extLst>
          </p:cNvPr>
          <p:cNvSpPr txBox="1"/>
          <p:nvPr/>
        </p:nvSpPr>
        <p:spPr>
          <a:xfrm>
            <a:off x="5741391" y="500029"/>
            <a:ext cx="1094522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sym</a:t>
            </a:r>
            <a:r>
              <a:rPr lang="ru-RU" sz="2800" dirty="0">
                <a:solidFill>
                  <a:schemeClr val="bg1"/>
                </a:solidFill>
              </a:rPr>
              <a:t> =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363BEAC9-8FD8-430C-A317-820C81DDD8D2}"/>
              </a:ext>
            </a:extLst>
          </p:cNvPr>
          <p:cNvSpPr/>
          <p:nvPr/>
        </p:nvSpPr>
        <p:spPr>
          <a:xfrm>
            <a:off x="7408789" y="560587"/>
            <a:ext cx="1553882" cy="54006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7" rIns="91432" bIns="45717"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3F1C1EE-6CE7-49E8-979D-5DBBFA94BA67}"/>
              </a:ext>
            </a:extLst>
          </p:cNvPr>
          <p:cNvSpPr txBox="1"/>
          <p:nvPr/>
        </p:nvSpPr>
        <p:spPr>
          <a:xfrm>
            <a:off x="7418428" y="560588"/>
            <a:ext cx="1553884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</a:t>
            </a:r>
            <a:r>
              <a:rPr lang="ru-RU" sz="2800" dirty="0">
                <a:solidFill>
                  <a:schemeClr val="bg1"/>
                </a:solidFill>
              </a:rPr>
              <a:t> = </a:t>
            </a:r>
            <a:r>
              <a:rPr lang="en-US" sz="2800" dirty="0">
                <a:solidFill>
                  <a:schemeClr val="bg1"/>
                </a:solidFill>
              </a:rPr>
              <a:t>true</a:t>
            </a:r>
            <a:endParaRPr lang="ru-RU" sz="2800" dirty="0">
              <a:solidFill>
                <a:schemeClr val="bg1"/>
              </a:solidFill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xmlns="" id="{8052AB2E-2C94-4803-BBDE-88D49427A2F0}"/>
              </a:ext>
            </a:extLst>
          </p:cNvPr>
          <p:cNvGrpSpPr/>
          <p:nvPr/>
        </p:nvGrpSpPr>
        <p:grpSpPr>
          <a:xfrm>
            <a:off x="6808870" y="2459310"/>
            <a:ext cx="1825195" cy="3934631"/>
            <a:chOff x="6372200" y="2329399"/>
            <a:chExt cx="1825196" cy="3934631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xmlns="" id="{D8470F13-4DFE-4E80-9A8A-A16CC5ED6776}"/>
                </a:ext>
              </a:extLst>
            </p:cNvPr>
            <p:cNvGrpSpPr/>
            <p:nvPr/>
          </p:nvGrpSpPr>
          <p:grpSpPr>
            <a:xfrm>
              <a:off x="6372200" y="5255918"/>
              <a:ext cx="1825196" cy="1008112"/>
              <a:chOff x="6980901" y="5421669"/>
              <a:chExt cx="1825196" cy="1008112"/>
            </a:xfrm>
          </p:grpSpPr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xmlns="" id="{5F84B585-0197-475D-B91A-E312445E6E28}"/>
                  </a:ext>
                </a:extLst>
              </p:cNvPr>
              <p:cNvSpPr/>
              <p:nvPr/>
            </p:nvSpPr>
            <p:spPr>
              <a:xfrm>
                <a:off x="6980901" y="5421669"/>
                <a:ext cx="1825196" cy="100811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  <a:alpha val="70000"/>
                </a:schemeClr>
              </a:solidFill>
              <a:ln w="0">
                <a:solidFill>
                  <a:schemeClr val="accent1">
                    <a:lumMod val="60000"/>
                    <a:lumOff val="40000"/>
                    <a:alpha val="70000"/>
                  </a:schemeClr>
                </a:solidFill>
              </a:ln>
              <a:scene3d>
                <a:camera prst="orthographicFront">
                  <a:rot lat="900000" lon="1800000" rev="0"/>
                </a:camera>
                <a:lightRig rig="contrasting" dir="t"/>
              </a:scene3d>
              <a:sp3d extrusionH="6350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00E94EF4-2170-4BE8-B384-B58EBD124793}"/>
                  </a:ext>
                </a:extLst>
              </p:cNvPr>
              <p:cNvSpPr txBox="1"/>
              <p:nvPr/>
            </p:nvSpPr>
            <p:spPr>
              <a:xfrm>
                <a:off x="7601939" y="5517232"/>
                <a:ext cx="597587" cy="769441"/>
              </a:xfrm>
              <a:prstGeom prst="rect">
                <a:avLst/>
              </a:prstGeom>
              <a:noFill/>
              <a:scene3d>
                <a:camera prst="orthographicFront">
                  <a:rot lat="900000" lon="1800000" rev="0"/>
                </a:camera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endParaRPr lang="ru-RU" sz="4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xmlns="" id="{64EA0466-83AC-4E26-BEED-EDF7CE7F7474}"/>
                </a:ext>
              </a:extLst>
            </p:cNvPr>
            <p:cNvSpPr/>
            <p:nvPr/>
          </p:nvSpPr>
          <p:spPr>
            <a:xfrm>
              <a:off x="6372200" y="4277011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xmlns="" id="{3CACCF88-520B-436B-B95F-32F24D119B2B}"/>
                </a:ext>
              </a:extLst>
            </p:cNvPr>
            <p:cNvSpPr/>
            <p:nvPr/>
          </p:nvSpPr>
          <p:spPr>
            <a:xfrm>
              <a:off x="6372200" y="3304905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xmlns="" id="{E12E18BB-8B3F-486F-A414-1B970F68335D}"/>
                </a:ext>
              </a:extLst>
            </p:cNvPr>
            <p:cNvSpPr/>
            <p:nvPr/>
          </p:nvSpPr>
          <p:spPr>
            <a:xfrm>
              <a:off x="6372200" y="2329399"/>
              <a:ext cx="1825196" cy="100811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 w="0">
              <a:solidFill>
                <a:schemeClr val="accent1">
                  <a:lumMod val="60000"/>
                  <a:lumOff val="40000"/>
                  <a:alpha val="70000"/>
                </a:schemeClr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xmlns="" id="{342369BB-3627-4214-94F2-C44545CE18B7}"/>
              </a:ext>
            </a:extLst>
          </p:cNvPr>
          <p:cNvGrpSpPr/>
          <p:nvPr/>
        </p:nvGrpSpPr>
        <p:grpSpPr>
          <a:xfrm>
            <a:off x="4758116" y="1978751"/>
            <a:ext cx="1825195" cy="1008112"/>
            <a:chOff x="6980901" y="5421669"/>
            <a:chExt cx="1825196" cy="1008112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xmlns="" id="{7681BD6E-1300-42AA-BAE5-4C88D7D830A4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DF8F47F8-4901-49F4-935A-D1E8F206636E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[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8B0AF6D1-B926-4E36-AF6F-57D2EAFED4A9}"/>
              </a:ext>
            </a:extLst>
          </p:cNvPr>
          <p:cNvSpPr txBox="1"/>
          <p:nvPr/>
        </p:nvSpPr>
        <p:spPr>
          <a:xfrm>
            <a:off x="6756937" y="516983"/>
            <a:ext cx="326285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[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81ED0AC9-DDDC-456E-AA0C-1013ECC09BDD}"/>
              </a:ext>
            </a:extLst>
          </p:cNvPr>
          <p:cNvSpPr txBox="1"/>
          <p:nvPr/>
        </p:nvSpPr>
        <p:spPr>
          <a:xfrm>
            <a:off x="6929378" y="6273225"/>
            <a:ext cx="792088" cy="46165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Bahnschrift SemiCondensed" panose="020B0502040204020203" pitchFamily="34" charset="0"/>
              </a:rPr>
              <a:t>TOP</a:t>
            </a:r>
            <a:endParaRPr lang="ru-RU" sz="2400" dirty="0">
              <a:solidFill>
                <a:schemeClr val="accent1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913F711F-EA9F-4448-AA6B-C4076B54C07C}"/>
              </a:ext>
            </a:extLst>
          </p:cNvPr>
          <p:cNvSpPr txBox="1"/>
          <p:nvPr/>
        </p:nvSpPr>
        <p:spPr>
          <a:xfrm>
            <a:off x="6756936" y="516983"/>
            <a:ext cx="378221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(</a:t>
            </a:r>
            <a:endParaRPr lang="ru-RU" sz="2800" dirty="0">
              <a:solidFill>
                <a:schemeClr val="bg1"/>
              </a:solidFill>
            </a:endParaRP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xmlns="" id="{E3D09A36-1F05-466F-A31A-20D75A28B0EF}"/>
              </a:ext>
            </a:extLst>
          </p:cNvPr>
          <p:cNvGrpSpPr/>
          <p:nvPr/>
        </p:nvGrpSpPr>
        <p:grpSpPr>
          <a:xfrm>
            <a:off x="4758116" y="1961671"/>
            <a:ext cx="1825195" cy="1008112"/>
            <a:chOff x="6980901" y="5421669"/>
            <a:chExt cx="1825196" cy="1008112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xmlns="" id="{E4DD1251-2CF7-499C-9202-50BEF7F9F551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6508139F-0575-49B1-85FC-5776802F6D0B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(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A29CBA6A-E1E3-49B8-929F-78B1FB7BF147}"/>
              </a:ext>
            </a:extLst>
          </p:cNvPr>
          <p:cNvSpPr txBox="1"/>
          <p:nvPr/>
        </p:nvSpPr>
        <p:spPr>
          <a:xfrm>
            <a:off x="1115615" y="1100649"/>
            <a:ext cx="3240361" cy="400103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ru-RU" sz="2000" dirty="0">
                <a:latin typeface="Bahnschrift SemiBold SemiConden" panose="020B0502040204020203" pitchFamily="34" charset="0"/>
              </a:rPr>
              <a:t> Цикл игнорирует буквы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B6FF0B47-E578-44F4-86F3-BFA97C92BAB0}"/>
              </a:ext>
            </a:extLst>
          </p:cNvPr>
          <p:cNvSpPr txBox="1"/>
          <p:nvPr/>
        </p:nvSpPr>
        <p:spPr>
          <a:xfrm>
            <a:off x="6783622" y="538692"/>
            <a:ext cx="378221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7F1B6201-E30F-455B-8BBA-987910838C82}"/>
              </a:ext>
            </a:extLst>
          </p:cNvPr>
          <p:cNvSpPr txBox="1"/>
          <p:nvPr/>
        </p:nvSpPr>
        <p:spPr>
          <a:xfrm>
            <a:off x="6765455" y="538434"/>
            <a:ext cx="309242" cy="46165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[</a:t>
            </a:r>
            <a:endParaRPr lang="ru-RU" sz="2800" dirty="0">
              <a:solidFill>
                <a:schemeClr val="bg1"/>
              </a:solidFill>
            </a:endParaRPr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xmlns="" id="{765237F7-CD9C-418F-8520-E3E4E7EB0B10}"/>
              </a:ext>
            </a:extLst>
          </p:cNvPr>
          <p:cNvGrpSpPr/>
          <p:nvPr/>
        </p:nvGrpSpPr>
        <p:grpSpPr>
          <a:xfrm>
            <a:off x="4758116" y="1978751"/>
            <a:ext cx="1825195" cy="1008112"/>
            <a:chOff x="6980901" y="5421669"/>
            <a:chExt cx="1825196" cy="1008112"/>
          </a:xfrm>
        </p:grpSpPr>
        <p:sp>
          <p:nvSpPr>
            <p:cNvPr id="56" name="Прямоугольник 55">
              <a:extLst>
                <a:ext uri="{FF2B5EF4-FFF2-40B4-BE49-F238E27FC236}">
                  <a16:creationId xmlns:a16="http://schemas.microsoft.com/office/drawing/2014/main" xmlns="" id="{7539CA4B-E80E-47CE-B4B2-B9A5F3ED138F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xmlns="" id="{E3709A91-A08F-451B-AF17-9433F83BA81A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[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158F958B-7859-4395-93FF-8A10D22A45C6}"/>
              </a:ext>
            </a:extLst>
          </p:cNvPr>
          <p:cNvSpPr txBox="1"/>
          <p:nvPr/>
        </p:nvSpPr>
        <p:spPr>
          <a:xfrm>
            <a:off x="6756935" y="538428"/>
            <a:ext cx="370777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{</a:t>
            </a:r>
            <a:endParaRPr lang="ru-RU" sz="2800" dirty="0">
              <a:solidFill>
                <a:schemeClr val="bg1"/>
              </a:solidFill>
            </a:endParaRPr>
          </a:p>
        </p:txBody>
      </p: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xmlns="" id="{C4AC540C-C15C-4E9A-AFB1-89266F94BB68}"/>
              </a:ext>
            </a:extLst>
          </p:cNvPr>
          <p:cNvGrpSpPr/>
          <p:nvPr/>
        </p:nvGrpSpPr>
        <p:grpSpPr>
          <a:xfrm>
            <a:off x="4758116" y="1961671"/>
            <a:ext cx="1825195" cy="1008112"/>
            <a:chOff x="6980901" y="5421669"/>
            <a:chExt cx="1825196" cy="1008112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xmlns="" id="{E49252BC-C5A0-4C50-BD16-B05D928BE929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xmlns="" id="{C02E961E-882D-4309-A28E-CF670DCCCD33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{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494A6E03-DA5C-4BB3-9F8E-E0FCB076635E}"/>
              </a:ext>
            </a:extLst>
          </p:cNvPr>
          <p:cNvSpPr txBox="1"/>
          <p:nvPr/>
        </p:nvSpPr>
        <p:spPr>
          <a:xfrm>
            <a:off x="6808872" y="548780"/>
            <a:ext cx="292513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}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108D38C0-B1D1-4D0B-988F-451F53B204D1}"/>
              </a:ext>
            </a:extLst>
          </p:cNvPr>
          <p:cNvSpPr txBox="1"/>
          <p:nvPr/>
        </p:nvSpPr>
        <p:spPr>
          <a:xfrm>
            <a:off x="6777309" y="533239"/>
            <a:ext cx="396386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[</a:t>
            </a:r>
            <a:endParaRPr lang="ru-RU" sz="2800" dirty="0">
              <a:solidFill>
                <a:schemeClr val="bg1"/>
              </a:solidFill>
            </a:endParaRPr>
          </a:p>
        </p:txBody>
      </p: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xmlns="" id="{CDCFA4D6-0C8A-44CF-9CCE-8A8E9A40C6B5}"/>
              </a:ext>
            </a:extLst>
          </p:cNvPr>
          <p:cNvGrpSpPr/>
          <p:nvPr/>
        </p:nvGrpSpPr>
        <p:grpSpPr>
          <a:xfrm>
            <a:off x="4758116" y="2011410"/>
            <a:ext cx="1825195" cy="1008112"/>
            <a:chOff x="6980901" y="5421669"/>
            <a:chExt cx="1825196" cy="1008112"/>
          </a:xfrm>
        </p:grpSpPr>
        <p:sp>
          <p:nvSpPr>
            <p:cNvPr id="95" name="Прямоугольник 94">
              <a:extLst>
                <a:ext uri="{FF2B5EF4-FFF2-40B4-BE49-F238E27FC236}">
                  <a16:creationId xmlns:a16="http://schemas.microsoft.com/office/drawing/2014/main" xmlns="" id="{8297FB92-84D3-44F2-90A5-C7111266730C}"/>
                </a:ext>
              </a:extLst>
            </p:cNvPr>
            <p:cNvSpPr/>
            <p:nvPr/>
          </p:nvSpPr>
          <p:spPr>
            <a:xfrm>
              <a:off x="6980901" y="5421669"/>
              <a:ext cx="1825196" cy="1008112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rgbClr val="A71E69"/>
              </a:solidFill>
            </a:ln>
            <a:scene3d>
              <a:camera prst="orthographicFront">
                <a:rot lat="900000" lon="1800000" rev="0"/>
              </a:camera>
              <a:lightRig rig="contrasting" dir="t"/>
            </a:scene3d>
            <a:sp3d extrusionH="635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xmlns="" id="{FA993846-FFED-4BAB-8B69-BDEC14F37A05}"/>
                </a:ext>
              </a:extLst>
            </p:cNvPr>
            <p:cNvSpPr txBox="1"/>
            <p:nvPr/>
          </p:nvSpPr>
          <p:spPr>
            <a:xfrm>
              <a:off x="7601939" y="5517232"/>
              <a:ext cx="597587" cy="769441"/>
            </a:xfrm>
            <a:prstGeom prst="rect">
              <a:avLst/>
            </a:prstGeom>
            <a:noFill/>
            <a:scene3d>
              <a:camera prst="orthographicFront">
                <a:rot lat="900000" lon="1800000" rev="0"/>
              </a:camera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</a:rPr>
                <a:t>[</a:t>
              </a:r>
              <a:endParaRPr lang="ru-RU" sz="4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xmlns="" id="{84A5DCD8-1741-4DFA-8D01-6D2E05AB0659}"/>
              </a:ext>
            </a:extLst>
          </p:cNvPr>
          <p:cNvSpPr txBox="1"/>
          <p:nvPr/>
        </p:nvSpPr>
        <p:spPr>
          <a:xfrm>
            <a:off x="6801458" y="547320"/>
            <a:ext cx="292513" cy="52321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]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xmlns="" id="{79B5C312-BD29-4B0D-A599-CA5766173E5A}"/>
              </a:ext>
            </a:extLst>
          </p:cNvPr>
          <p:cNvSpPr txBox="1"/>
          <p:nvPr/>
        </p:nvSpPr>
        <p:spPr>
          <a:xfrm>
            <a:off x="6716649" y="547327"/>
            <a:ext cx="414782" cy="584769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.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70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3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3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60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600"/>
                            </p:stCondLst>
                            <p:childTnLst>
                              <p:par>
                                <p:cTn id="47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44444E-6 L 0.11215 4.44444E-6 C 0.16233 4.44444E-6 0.2243 0.13634 0.2243 0.24722 L 0.2243 0.49513 " pathEditMode="relative" rAng="0" ptsTypes="AAAA">
                                      <p:cBhvr>
                                        <p:cTn id="4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5" y="2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600"/>
                            </p:stCondLst>
                            <p:childTnLst>
                              <p:par>
                                <p:cTn id="50" presetID="4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59259E-6 L -0.04427 2.59259E-6 C -0.06406 2.59259E-6 -0.08837 -0.03102 -0.08837 -0.05625 L -0.08837 -0.11227 " pathEditMode="relative" rAng="0" ptsTypes="AAAA">
                                      <p:cBhvr>
                                        <p:cTn id="5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-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50"/>
                            </p:stCondLst>
                            <p:childTnLst>
                              <p:par>
                                <p:cTn id="60" presetID="63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33333E-6 2.96296E-6 L 0.01598 0.00208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350"/>
                            </p:stCondLst>
                            <p:childTnLst>
                              <p:par>
                                <p:cTn id="63" presetID="23" presetClass="exit" presetSubtype="32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850"/>
                            </p:stCondLst>
                            <p:childTnLst>
                              <p:par>
                                <p:cTn id="68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8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8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8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8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8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8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"/>
                            </p:stCondLst>
                            <p:childTnLst>
                              <p:par>
                                <p:cTn id="90" presetID="3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9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9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9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9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9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9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9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0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0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0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0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0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0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0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0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600"/>
                            </p:stCondLst>
                            <p:childTnLst>
                              <p:par>
                                <p:cTn id="111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600"/>
                            </p:stCondLst>
                            <p:childTnLst>
                              <p:par>
                                <p:cTn id="116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7.40741E-7 L 0.1118 -7.40741E-7 C 0.16198 -7.40741E-7 0.2243 0.09815 0.2243 0.17847 L 0.2243 0.3581 " pathEditMode="relative" rAng="0" ptsTypes="AAAA">
                                      <p:cBhvr>
                                        <p:cTn id="11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5" y="178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600"/>
                            </p:stCondLst>
                            <p:childTnLst>
                              <p:par>
                                <p:cTn id="119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11227 L -0.08837 -0.25926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97 0.00208 L 0.03142 0.00208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36" presetClass="emph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3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400"/>
                            </p:stCondLst>
                            <p:childTnLst>
                              <p:par>
                                <p:cTn id="137" presetID="23" presetClass="exit" presetSubtype="32" fill="hold" grpId="1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4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4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850"/>
                            </p:stCondLst>
                            <p:childTnLst>
                              <p:par>
                                <p:cTn id="149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3142 0.00208 L 0.12586 0.00277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350"/>
                            </p:stCondLst>
                            <p:childTnLst>
                              <p:par>
                                <p:cTn id="152" presetID="23" presetClass="exit" presetSubtype="32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850"/>
                            </p:stCondLst>
                            <p:childTnLst>
                              <p:par>
                                <p:cTn id="157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6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6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6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6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6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7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7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" presetID="3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7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7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750"/>
                            </p:stCondLst>
                            <p:childTnLst>
                              <p:par>
                                <p:cTn id="179" presetID="3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8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8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8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8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8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8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700"/>
                            </p:stCondLst>
                            <p:childTnLst>
                              <p:par>
                                <p:cTn id="190" presetID="36" presetClass="emph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9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9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9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9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9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9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0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0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0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0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0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0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0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0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1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1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500"/>
                            </p:stCondLst>
                            <p:childTnLst>
                              <p:par>
                                <p:cTn id="216" presetID="23" presetClass="exit" presetSubtype="3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6750"/>
                            </p:stCondLst>
                            <p:childTnLst>
                              <p:par>
                                <p:cTn id="22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25926 L -0.08837 -0.11227 " pathEditMode="relative" rAng="0" ptsTypes="AA">
                                      <p:cBhvr>
                                        <p:cTn id="22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850"/>
                            </p:stCondLst>
                            <p:childTnLst>
                              <p:par>
                                <p:cTn id="231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12586 0.00277 L 0.26771 0.00277 " pathEditMode="relative" rAng="0" ptsTypes="AA">
                                      <p:cBhvr>
                                        <p:cTn id="2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3350"/>
                            </p:stCondLst>
                            <p:childTnLst>
                              <p:par>
                                <p:cTn id="234" presetID="23" presetClass="exit" presetSubtype="32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23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850"/>
                            </p:stCondLst>
                            <p:childTnLst>
                              <p:par>
                                <p:cTn id="239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6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4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4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0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5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5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5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5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" presetID="36" presetClass="emph" presetSubtype="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5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5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5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5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750"/>
                            </p:stCondLst>
                            <p:childTnLst>
                              <p:par>
                                <p:cTn id="261" presetID="36" presetClass="emph" presetSubtype="0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6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6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6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6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6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6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6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6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7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7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7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7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7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6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7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7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8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4100"/>
                            </p:stCondLst>
                            <p:childTnLst>
                              <p:par>
                                <p:cTn id="282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100"/>
                            </p:stCondLst>
                            <p:childTnLst>
                              <p:par>
                                <p:cTn id="287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44444E-6 L 0.11215 4.44444E-6 C 0.16233 4.44444E-6 0.2243 0.09814 0.2243 0.17777 L 0.2243 0.35578 " pathEditMode="relative" rAng="0" ptsTypes="AAAA">
                                      <p:cBhvr>
                                        <p:cTn id="288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5" y="1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7100"/>
                            </p:stCondLst>
                            <p:childTnLst>
                              <p:par>
                                <p:cTn id="290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6 -0.11227 L -0.08837 -0.25926 " pathEditMode="relative" rAng="0" ptsTypes="AA">
                                      <p:cBhvr>
                                        <p:cTn id="29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29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29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29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29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850"/>
                            </p:stCondLst>
                            <p:childTnLst>
                              <p:par>
                                <p:cTn id="300" presetID="63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6771 0.00277 L 0.29132 0.00277 " pathEditMode="relative" rAng="0" ptsTypes="AA">
                                      <p:cBhvr>
                                        <p:cTn id="30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3350"/>
                            </p:stCondLst>
                            <p:childTnLst>
                              <p:par>
                                <p:cTn id="303" presetID="23" presetClass="exit" presetSubtype="32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304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3850"/>
                            </p:stCondLst>
                            <p:childTnLst>
                              <p:par>
                                <p:cTn id="308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36" presetClass="emph" presetSubtype="0" fill="hold" grpId="4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1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1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1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9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2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4" presetID="36" presetClass="emph" presetSubtype="0" fill="hold" grpId="4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750"/>
                            </p:stCondLst>
                            <p:childTnLst>
                              <p:par>
                                <p:cTn id="330" presetID="36" presetClass="emph" presetSubtype="0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3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3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0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4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4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4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4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5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4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4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4100"/>
                            </p:stCondLst>
                            <p:childTnLst>
                              <p:par>
                                <p:cTn id="351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100"/>
                            </p:stCondLst>
                            <p:childTnLst>
                              <p:par>
                                <p:cTn id="356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7.40741E-7 L 0.11215 -7.40741E-7 C 0.16233 -7.40741E-7 0.2243 0.06019 0.2243 0.10903 L 0.2243 0.21829 " pathEditMode="relative" rAng="0" ptsTypes="AAAA">
                                      <p:cBhvr>
                                        <p:cTn id="357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5" y="10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7100"/>
                            </p:stCondLst>
                            <p:childTnLst>
                              <p:par>
                                <p:cTn id="359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25926 L -0.08837 -0.40625 " pathEditMode="relative" rAng="0" ptsTypes="AA">
                                      <p:cBhvr>
                                        <p:cTn id="36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6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6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6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6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850"/>
                            </p:stCondLst>
                            <p:childTnLst>
                              <p:par>
                                <p:cTn id="369" presetID="63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29132 0.00277 L 0.38576 0.00277 " pathEditMode="relative" rAng="0" ptsTypes="AA">
                                      <p:cBhvr>
                                        <p:cTn id="37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3350"/>
                            </p:stCondLst>
                            <p:childTnLst>
                              <p:par>
                                <p:cTn id="372" presetID="23" presetClass="exit" presetSubtype="32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37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3850"/>
                            </p:stCondLst>
                            <p:childTnLst>
                              <p:par>
                                <p:cTn id="377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8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8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8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8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8" presetID="36" presetClass="emph" presetSubtype="0" fill="hold" grpId="5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8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9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9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9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3" presetID="36" presetClass="emph" presetSubtype="0" fill="hold" grpId="5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9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9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9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39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750"/>
                            </p:stCondLst>
                            <p:childTnLst>
                              <p:par>
                                <p:cTn id="399" presetID="3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0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0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0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0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4" presetID="3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0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0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0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0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2200"/>
                            </p:stCondLst>
                            <p:childTnLst>
                              <p:par>
                                <p:cTn id="410" presetID="36" presetClass="emph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1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1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5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1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1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1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0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5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0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5000"/>
                            </p:stCondLst>
                            <p:childTnLst>
                              <p:par>
                                <p:cTn id="436" presetID="23" presetClass="exit" presetSubtype="3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6250"/>
                            </p:stCondLst>
                            <p:childTnLst>
                              <p:par>
                                <p:cTn id="441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40625 L -0.08836 -0.25926 " pathEditMode="relative" rAng="0" ptsTypes="AA">
                                      <p:cBhvr>
                                        <p:cTn id="4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4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4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850"/>
                            </p:stCondLst>
                            <p:childTnLst>
                              <p:par>
                                <p:cTn id="451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38576 0.00277 L 0.40156 0.00277 " pathEditMode="relative" rAng="0" ptsTypes="AA">
                                      <p:cBhvr>
                                        <p:cTn id="45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3350"/>
                            </p:stCondLst>
                            <p:childTnLst>
                              <p:par>
                                <p:cTn id="454" presetID="23" presetClass="exit" presetSubtype="32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455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3850"/>
                            </p:stCondLst>
                            <p:childTnLst>
                              <p:par>
                                <p:cTn id="459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6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6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6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6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0" presetID="36" presetClass="emph" presetSubtype="0" fill="hold" grpId="6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7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7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7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7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5" presetID="36" presetClass="emph" presetSubtype="0" fill="hold" grpId="6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7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7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7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750"/>
                            </p:stCondLst>
                            <p:childTnLst>
                              <p:par>
                                <p:cTn id="481" presetID="36" presetClass="emph" presetSubtype="0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8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8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8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8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6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8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8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8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9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1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9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9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9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9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6" presetID="36" presetClass="emph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49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49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49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0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1" fill="hold">
                            <p:stCondLst>
                              <p:cond delay="4100"/>
                            </p:stCondLst>
                            <p:childTnLst>
                              <p:par>
                                <p:cTn id="502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5100"/>
                            </p:stCondLst>
                            <p:childTnLst>
                              <p:par>
                                <p:cTn id="507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33333E-6 L 0.11215 3.33333E-6 C 0.16233 3.33333E-6 0.2243 0.06018 0.2243 0.10902 L 0.2243 0.21828 " pathEditMode="relative" rAng="0" ptsTypes="AAAA">
                                      <p:cBhvr>
                                        <p:cTn id="508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15" y="10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7100"/>
                            </p:stCondLst>
                            <p:childTnLst>
                              <p:par>
                                <p:cTn id="510" presetID="42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25926 L -0.08836 -0.40625 " pathEditMode="relative" rAng="0" ptsTypes="AA">
                                      <p:cBhvr>
                                        <p:cTn id="51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-6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2" fill="hold">
                      <p:stCondLst>
                        <p:cond delay="indefinite"/>
                      </p:stCondLst>
                      <p:childTnLst>
                        <p:par>
                          <p:cTn id="513" fill="hold">
                            <p:stCondLst>
                              <p:cond delay="0"/>
                            </p:stCondLst>
                            <p:childTnLst>
                              <p:par>
                                <p:cTn id="514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1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1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1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850"/>
                            </p:stCondLst>
                            <p:childTnLst>
                              <p:par>
                                <p:cTn id="520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38576 0.00277 L 0.48819 0.00277 " pathEditMode="relative" rAng="0" ptsTypes="AA">
                                      <p:cBhvr>
                                        <p:cTn id="52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fill="hold">
                            <p:stCondLst>
                              <p:cond delay="3350"/>
                            </p:stCondLst>
                            <p:childTnLst>
                              <p:par>
                                <p:cTn id="523" presetID="23" presetClass="exit" presetSubtype="32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524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5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3850"/>
                            </p:stCondLst>
                            <p:childTnLst>
                              <p:par>
                                <p:cTn id="528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3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3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3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3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9" presetID="36" presetClass="emph" presetSubtype="0" fill="hold" grpId="7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4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4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4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4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4" presetID="36" presetClass="emph" presetSubtype="0" fill="hold" grpId="7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4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4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750"/>
                            </p:stCondLst>
                            <p:childTnLst>
                              <p:par>
                                <p:cTn id="550" presetID="3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5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5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5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5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5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5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5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5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5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fill="hold">
                            <p:stCondLst>
                              <p:cond delay="2700"/>
                            </p:stCondLst>
                            <p:childTnLst>
                              <p:par>
                                <p:cTn id="561" presetID="36" presetClass="emph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6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6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6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6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6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6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6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6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7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1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7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7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7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7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6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7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7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8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1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8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8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8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58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5500"/>
                            </p:stCondLst>
                            <p:childTnLst>
                              <p:par>
                                <p:cTn id="587" presetID="23" presetClass="exit" presetSubtype="3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8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1" fill="hold">
                            <p:stCondLst>
                              <p:cond delay="6750"/>
                            </p:stCondLst>
                            <p:childTnLst>
                              <p:par>
                                <p:cTn id="592" presetID="64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40625 L -0.08836 -0.25926 " pathEditMode="relative" rAng="0" ptsTypes="AA">
                                      <p:cBhvr>
                                        <p:cTn id="59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fill="hold">
                      <p:stCondLst>
                        <p:cond delay="indefinite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59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59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59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0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1" fill="hold">
                            <p:stCondLst>
                              <p:cond delay="850"/>
                            </p:stCondLst>
                            <p:childTnLst>
                              <p:par>
                                <p:cTn id="602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48819 0.00277 L 0.50399 0.00023 " pathEditMode="relative" rAng="0" ptsTypes="AA">
                                      <p:cBhvr>
                                        <p:cTn id="60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4" fill="hold">
                            <p:stCondLst>
                              <p:cond delay="3350"/>
                            </p:stCondLst>
                            <p:childTnLst>
                              <p:par>
                                <p:cTn id="605" presetID="23" presetClass="exit" presetSubtype="32" fill="hold" grpId="4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06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7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3850"/>
                            </p:stCondLst>
                            <p:childTnLst>
                              <p:par>
                                <p:cTn id="610" presetID="23" presetClass="entr" presetSubtype="16" fill="hold" grpId="3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36" presetClass="emph" presetSubtype="0" fill="hold" grpId="5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1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1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2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1" presetID="36" presetClass="emph" presetSubtype="0" fill="hold" grpId="8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2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2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6" presetID="36" presetClass="emph" presetSubtype="0" fill="hold" grpId="8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3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1" fill="hold">
                            <p:stCondLst>
                              <p:cond delay="750"/>
                            </p:stCondLst>
                            <p:childTnLst>
                              <p:par>
                                <p:cTn id="632" presetID="3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3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3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7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4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4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2" fill="hold">
                            <p:stCondLst>
                              <p:cond delay="2700"/>
                            </p:stCondLst>
                            <p:childTnLst>
                              <p:par>
                                <p:cTn id="643" presetID="36" presetClass="emph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4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4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8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4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5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5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5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3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5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5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5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5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8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5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6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6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6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3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6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6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6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6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69" presetID="23" presetClass="exit" presetSubtype="3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670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1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3" fill="hold">
                            <p:stCondLst>
                              <p:cond delay="6750"/>
                            </p:stCondLst>
                            <p:childTnLst>
                              <p:par>
                                <p:cTn id="674" presetID="42" presetClass="path" presetSubtype="0" accel="50000" decel="50000" fill="hold" grpId="8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25926 L -0.08837 -0.11227 " pathEditMode="relative" rAng="0" ptsTypes="AA">
                                      <p:cBhvr>
                                        <p:cTn id="67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6" fill="hold">
                      <p:stCondLst>
                        <p:cond delay="indefinite"/>
                      </p:stCondLst>
                      <p:childTnLst>
                        <p:par>
                          <p:cTn id="677" fill="hold">
                            <p:stCondLst>
                              <p:cond delay="0"/>
                            </p:stCondLst>
                            <p:childTnLst>
                              <p:par>
                                <p:cTn id="678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7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68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68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68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3" fill="hold">
                            <p:stCondLst>
                              <p:cond delay="850"/>
                            </p:stCondLst>
                            <p:childTnLst>
                              <p:par>
                                <p:cTn id="684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50399 0.00023 L 0.51979 0.00023 " pathEditMode="relative" rAng="0" ptsTypes="AA">
                                      <p:cBhvr>
                                        <p:cTn id="68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6" fill="hold">
                            <p:stCondLst>
                              <p:cond delay="3350"/>
                            </p:stCondLst>
                            <p:childTnLst>
                              <p:par>
                                <p:cTn id="687" presetID="23" presetClass="exit" presetSubtype="32" fill="hold" grpId="6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68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9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1" fill="hold">
                            <p:stCondLst>
                              <p:cond delay="3850"/>
                            </p:stCondLst>
                            <p:childTnLst>
                              <p:par>
                                <p:cTn id="692" presetID="23" presetClass="entr" presetSubtype="16" fill="hold" grpId="7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36" presetClass="emph" presetSubtype="0" fill="hold" grpId="8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69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0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0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0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3" presetID="36" presetClass="emph" presetSubtype="0" fill="hold" grpId="9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0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0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0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0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8" presetID="36" presetClass="emph" presetSubtype="0" fill="hold" grpId="9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0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1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3" fill="hold">
                            <p:stCondLst>
                              <p:cond delay="750"/>
                            </p:stCondLst>
                            <p:childTnLst>
                              <p:par>
                                <p:cTn id="714" presetID="36" presetClass="emph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1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1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1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1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9" presetID="36" presetClass="emph" presetSubtype="0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2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2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2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2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4" fill="hold">
                            <p:stCondLst>
                              <p:cond delay="2700"/>
                            </p:stCondLst>
                            <p:childTnLst>
                              <p:par>
                                <p:cTn id="725" presetID="36" presetClass="emph" presetSubtype="0" fill="hold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2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2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2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2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0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3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3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3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3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5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3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3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0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4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4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4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4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5" presetID="36" presetClass="emph" presetSubtype="0" fill="hold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4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4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4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4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0" fill="hold">
                            <p:stCondLst>
                              <p:cond delay="5500"/>
                            </p:stCondLst>
                            <p:childTnLst>
                              <p:par>
                                <p:cTn id="751" presetID="23" presetClass="exit" presetSubtype="3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5" fill="hold">
                            <p:stCondLst>
                              <p:cond delay="6750"/>
                            </p:stCondLst>
                            <p:childTnLst>
                              <p:par>
                                <p:cTn id="756" presetID="36" presetClass="path" presetSubtype="0" accel="50000" decel="50000" fill="hold" grpId="9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11227 L -0.08837 -0.05625 C -0.08837 -0.03102 0.00278 2.59259E-6 0.07709 2.59259E-6 L 0.24271 2.59259E-6 " pathEditMode="relative" rAng="0" ptsTypes="AAAA">
                                      <p:cBhvr>
                                        <p:cTn id="757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5" y="5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8" fill="hold">
                      <p:stCondLst>
                        <p:cond delay="indefinite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id="760" presetID="3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6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6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6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6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5" fill="hold">
                            <p:stCondLst>
                              <p:cond delay="850"/>
                            </p:stCondLst>
                            <p:childTnLst>
                              <p:par>
                                <p:cTn id="766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51979 0.00023 L 0.5434 0.00023 " pathEditMode="relative" rAng="0" ptsTypes="AA">
                                      <p:cBhvr>
                                        <p:cTn id="76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8" fill="hold">
                            <p:stCondLst>
                              <p:cond delay="3350"/>
                            </p:stCondLst>
                            <p:childTnLst>
                              <p:par>
                                <p:cTn id="769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3" fill="hold">
                            <p:stCondLst>
                              <p:cond delay="4350"/>
                            </p:stCondLst>
                            <p:childTnLst>
                              <p:par>
                                <p:cTn id="774" presetID="36" presetClass="emph" presetSubtype="0" fill="hold" grpId="1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7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7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7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7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9" presetID="36" presetClass="emph" presetSubtype="0" fill="hold" grpId="1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8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8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8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8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4" presetID="36" presetClass="emph" presetSubtype="0" fill="hold" grpId="1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78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786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78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78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7" grpId="2"/>
      <p:bldP spid="7" grpId="3"/>
      <p:bldP spid="7" grpId="4"/>
      <p:bldP spid="7" grpId="5"/>
      <p:bldP spid="7" grpId="6"/>
      <p:bldP spid="7" grpId="7"/>
      <p:bldP spid="7" grpId="8"/>
      <p:bldP spid="7" grpId="9"/>
      <p:bldP spid="7" grpId="10"/>
      <p:bldP spid="8" grpId="0"/>
      <p:bldP spid="8" grpId="1"/>
      <p:bldP spid="8" grpId="2"/>
      <p:bldP spid="8" grpId="3"/>
      <p:bldP spid="8" grpId="4"/>
      <p:bldP spid="8" grpId="5"/>
      <p:bldP spid="8" grpId="6"/>
      <p:bldP spid="8" grpId="7"/>
      <p:bldP spid="8" grpId="8"/>
      <p:bldP spid="8" grpId="9"/>
      <p:bldP spid="8" grpId="10"/>
      <p:bldP spid="32" grpId="0"/>
      <p:bldP spid="32" grpId="1"/>
      <p:bldP spid="33" grpId="0"/>
      <p:bldP spid="33" grpId="1"/>
      <p:bldP spid="33" grpId="2"/>
      <p:bldP spid="33" grpId="3"/>
      <p:bldP spid="33" grpId="4"/>
      <p:bldP spid="33" grpId="5"/>
      <p:bldP spid="33" grpId="6"/>
      <p:bldP spid="33" grpId="7"/>
      <p:bldP spid="33" grpId="8"/>
      <p:bldP spid="33" grpId="9"/>
      <p:bldP spid="48" grpId="0"/>
      <p:bldP spid="48" grpId="1"/>
      <p:bldP spid="48" grpId="2"/>
      <p:bldP spid="41" grpId="0" build="allAtOnce"/>
      <p:bldP spid="41" grpId="1" build="allAtOnce"/>
      <p:bldP spid="49" grpId="0"/>
      <p:bldP spid="49" grpId="1"/>
      <p:bldP spid="49" grpId="2"/>
      <p:bldP spid="54" grpId="0"/>
      <p:bldP spid="54" grpId="1"/>
      <p:bldP spid="54" grpId="2"/>
      <p:bldP spid="66" grpId="0"/>
      <p:bldP spid="66" grpId="1"/>
      <p:bldP spid="66" grpId="2"/>
      <p:bldP spid="82" grpId="0"/>
      <p:bldP spid="82" grpId="1"/>
      <p:bldP spid="82" grpId="2"/>
      <p:bldP spid="93" grpId="0"/>
      <p:bldP spid="93" grpId="1"/>
      <p:bldP spid="93" grpId="2"/>
      <p:bldP spid="101" grpId="0"/>
      <p:bldP spid="101" grpId="1"/>
      <p:bldP spid="101" grpId="3"/>
      <p:bldP spid="101" grpId="4"/>
      <p:bldP spid="101" grpId="5"/>
      <p:bldP spid="101" grpId="6"/>
      <p:bldP spid="101" grpId="7"/>
      <p:bldP spid="101" grpId="8"/>
      <p:bldP spid="138" grpId="0"/>
      <p:bldP spid="13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xmlns="" id="{A25AFC2B-B6C2-49F8-813D-5B3CA6437B55}"/>
              </a:ext>
            </a:extLst>
          </p:cNvPr>
          <p:cNvGrpSpPr/>
          <p:nvPr/>
        </p:nvGrpSpPr>
        <p:grpSpPr>
          <a:xfrm>
            <a:off x="323533" y="1174317"/>
            <a:ext cx="5762601" cy="1715855"/>
            <a:chOff x="827584" y="2276872"/>
            <a:chExt cx="4968552" cy="1389025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xmlns="" id="{E083D167-132D-4969-97C7-66CD3A15F08B}"/>
                </a:ext>
              </a:extLst>
            </p:cNvPr>
            <p:cNvSpPr/>
            <p:nvPr/>
          </p:nvSpPr>
          <p:spPr>
            <a:xfrm>
              <a:off x="827584" y="2276872"/>
              <a:ext cx="4824536" cy="122413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EE889F12-9260-430F-8D4E-D77485498CE8}"/>
                </a:ext>
              </a:extLst>
            </p:cNvPr>
            <p:cNvSpPr txBox="1"/>
            <p:nvPr/>
          </p:nvSpPr>
          <p:spPr>
            <a:xfrm>
              <a:off x="831127" y="2276872"/>
              <a:ext cx="4965009" cy="13890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ahnschrift Light Condensed" panose="020B0502040204020203" pitchFamily="34" charset="0"/>
                </a:rPr>
                <a:t>if </a:t>
              </a: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(</a:t>
              </a: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ahnschrift Light Condensed" panose="020B0502040204020203" pitchFamily="34" charset="0"/>
                </a:rPr>
                <a:t>!</a:t>
              </a: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t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 </a:t>
              </a: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ahnschrift Light Condensed" panose="020B0502040204020203" pitchFamily="34" charset="0"/>
                </a:rPr>
                <a:t>||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top_bal</a:t>
              </a: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) </a:t>
              </a: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		</a:t>
              </a:r>
              <a:r>
                <a:rPr lang="en-US" sz="1600" b="1" dirty="0" err="1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cout</a:t>
              </a: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 </a:t>
              </a: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ahnschrift Light Condensed" panose="020B0502040204020203" pitchFamily="34" charset="0"/>
                </a:rPr>
                <a:t>&lt;&lt; 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  </a:t>
              </a:r>
              <a:r>
                <a:rPr lang="en-US" sz="1600" b="1" dirty="0">
                  <a:solidFill>
                    <a:srgbClr val="92D050"/>
                  </a:solidFill>
                  <a:latin typeface="Bahnschrift Light Condensed" panose="020B0502040204020203" pitchFamily="34" charset="0"/>
                </a:rPr>
                <a:t>" There is no balance of brackets!"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 </a:t>
              </a: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ahnschrift Light Condensed" panose="020B0502040204020203" pitchFamily="34" charset="0"/>
                </a:rPr>
                <a:t>&lt;&lt;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endl</a:t>
              </a: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;</a:t>
              </a:r>
              <a:endParaRPr lang="ru-RU" sz="1600" b="1" dirty="0">
                <a:solidFill>
                  <a:schemeClr val="bg1"/>
                </a:solidFill>
                <a:latin typeface="Bahnschrift Light Condensed" panose="020B0502040204020203" pitchFamily="34" charset="0"/>
              </a:endParaRP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	</a:t>
              </a: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ahnschrift Light Condensed" panose="020B0502040204020203" pitchFamily="34" charset="0"/>
                </a:rPr>
                <a:t>else </a:t>
              </a:r>
            </a:p>
            <a:p>
              <a:pPr>
                <a:lnSpc>
                  <a:spcPts val="2100"/>
                </a:lnSpc>
              </a:pP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		</a:t>
              </a:r>
              <a:r>
                <a:rPr lang="en-US" sz="1600" b="1" dirty="0" err="1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cout</a:t>
              </a: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 </a:t>
              </a:r>
              <a:r>
                <a:rPr lang="en-US" sz="1600" b="1" dirty="0">
                  <a:solidFill>
                    <a:srgbClr val="92D050"/>
                  </a:solidFill>
                  <a:latin typeface="Bahnschrift Light Condensed" panose="020B0502040204020203" pitchFamily="34" charset="0"/>
                </a:rPr>
                <a:t>&lt;&lt; "There is balance of brackets!" </a:t>
              </a:r>
              <a:r>
                <a:rPr lang="en-US" sz="1600" b="1" dirty="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Bahnschrift Light Condensed" panose="020B0502040204020203" pitchFamily="34" charset="0"/>
                </a:rPr>
                <a:t>&lt;&lt;</a:t>
              </a:r>
              <a:r>
                <a:rPr lang="en-US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Bahnschrift Light Condensed" panose="020B0502040204020203" pitchFamily="34" charset="0"/>
                </a:rPr>
                <a:t> </a:t>
              </a:r>
              <a:r>
                <a:rPr lang="en-US" sz="1600" b="1" dirty="0" err="1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endl</a:t>
              </a:r>
              <a:r>
                <a:rPr lang="en-US" sz="1600" b="1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;</a:t>
              </a:r>
            </a:p>
            <a:p>
              <a:endParaRPr lang="ru-RU" sz="1600" b="1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5BB689-2766-4FBC-9667-C3C9585B2A66}"/>
              </a:ext>
            </a:extLst>
          </p:cNvPr>
          <p:cNvSpPr txBox="1"/>
          <p:nvPr/>
        </p:nvSpPr>
        <p:spPr>
          <a:xfrm>
            <a:off x="323528" y="3104717"/>
            <a:ext cx="7200801" cy="1569654"/>
          </a:xfrm>
          <a:prstGeom prst="rect">
            <a:avLst/>
          </a:prstGeom>
          <a:noFill/>
        </p:spPr>
        <p:txBody>
          <a:bodyPr wrap="square" lIns="91432" tIns="45717" rIns="91432" bIns="45717" rtlCol="0">
            <a:spAutoFit/>
          </a:bodyPr>
          <a:lstStyle/>
          <a:p>
            <a:r>
              <a:rPr lang="ru-RU" sz="2400" dirty="0">
                <a:solidFill>
                  <a:srgbClr val="A71E69"/>
                </a:solidFill>
              </a:rPr>
              <a:t>После цикла проверяем, если булевская переменная </a:t>
            </a:r>
            <a:r>
              <a:rPr lang="en-US" sz="2400" dirty="0">
                <a:solidFill>
                  <a:srgbClr val="A71E69"/>
                </a:solidFill>
              </a:rPr>
              <a:t>t=false </a:t>
            </a:r>
            <a:r>
              <a:rPr lang="ru-RU" sz="2400" dirty="0">
                <a:solidFill>
                  <a:srgbClr val="A71E69"/>
                </a:solidFill>
              </a:rPr>
              <a:t>или стек не пустой, то баланса скобок в данном выражении нет. Иначе баланс присутствует.</a:t>
            </a:r>
          </a:p>
        </p:txBody>
      </p:sp>
    </p:spTree>
    <p:extLst>
      <p:ext uri="{BB962C8B-B14F-4D97-AF65-F5344CB8AC3E}">
        <p14:creationId xmlns:p14="http://schemas.microsoft.com/office/powerpoint/2010/main" val="290204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33D3CF3F-2F95-47AB-B8B8-253F878D6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1" y="2132858"/>
            <a:ext cx="6842722" cy="1826581"/>
          </a:xfrm>
        </p:spPr>
        <p:txBody>
          <a:bodyPr>
            <a:normAutofit fontScale="90000"/>
          </a:bodyPr>
          <a:lstStyle/>
          <a:p>
            <a:r>
              <a:rPr lang="ru-RU" sz="6000" dirty="0">
                <a:latin typeface="Bahnschrift SemiBold SemiConden" panose="020B0502040204020203" pitchFamily="3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4367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85cc7e8c02fef3cbfd18b9abeabbb65e43f238"/>
</p:tagLst>
</file>

<file path=ppt/theme/theme1.xml><?xml version="1.0" encoding="utf-8"?>
<a:theme xmlns:a="http://schemas.openxmlformats.org/drawingml/2006/main" name="Аспект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4320</TotalTime>
  <Words>248</Words>
  <Application>Microsoft Office PowerPoint</Application>
  <PresentationFormat>Экран (4:3)</PresentationFormat>
  <Paragraphs>117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Аспект</vt:lpstr>
      <vt:lpstr>Баланс скобок</vt:lpstr>
      <vt:lpstr>Постановка задачи:</vt:lpstr>
      <vt:lpstr>Алгоритм:</vt:lpstr>
      <vt:lpstr>ФУНКЦИЯ PUSH</vt:lpstr>
      <vt:lpstr>PUSH</vt:lpstr>
      <vt:lpstr>ФУНКЦИЯ POP</vt:lpstr>
      <vt:lpstr>POP</vt:lpstr>
      <vt:lpstr>ФУНКЦИЯ BALANCE</vt:lpstr>
      <vt:lpstr>BALANCE</vt:lpstr>
      <vt:lpstr>Читаем первый символ из файла и кладем его значение в переменную sym</vt:lpstr>
      <vt:lpstr>Презентация PowerPoint</vt:lpstr>
      <vt:lpstr>Презентация PowerPoint</vt:lpstr>
      <vt:lpstr>Спасибо за внимание!</vt:lpstr>
    </vt:vector>
  </TitlesOfParts>
  <Company>http://presentation-creation.ru/powerpoint-templates.html</Company>
  <LinksUpToDate>false</LinksUpToDate>
  <SharedDoc>false</SharedDoc>
  <HyperlinkBase>http://presentation-creation.ru/powerpoint-templates.html</HyperlinkBase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«Цветные молекулы»</dc:title>
  <dc:creator>obstinate</dc:creator>
  <cp:lastModifiedBy>Ахтямов Рауф Баграмович</cp:lastModifiedBy>
  <cp:revision>97</cp:revision>
  <dcterms:created xsi:type="dcterms:W3CDTF">2017-10-07T13:38:50Z</dcterms:created>
  <dcterms:modified xsi:type="dcterms:W3CDTF">2018-12-25T10:31:14Z</dcterms:modified>
</cp:coreProperties>
</file>