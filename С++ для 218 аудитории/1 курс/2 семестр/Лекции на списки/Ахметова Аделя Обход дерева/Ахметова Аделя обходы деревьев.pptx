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67" r:id="rId6"/>
    <p:sldId id="266" r:id="rId7"/>
    <p:sldId id="271" r:id="rId8"/>
    <p:sldId id="268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28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E68B-0552-4696-A417-C946BF72CD50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78288-A4F2-422C-8FF6-8CFD526C494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9389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78288-A4F2-422C-8FF6-8CFD526C494B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3026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9734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43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3639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3149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085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6765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1432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543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8149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8057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864558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90025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39501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99997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2659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091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895102B-B04E-4C47-9D4E-F9A0149CB8BC}" type="datetimeFigureOut">
              <a:rPr lang="ru-RU" smtClean="0"/>
              <a:pPr/>
              <a:t>24.12.2015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E1F75DE-6832-4EAB-8F5B-24ABD10DC5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02733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9170" y="4901183"/>
            <a:ext cx="9144000" cy="931355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1"/>
                </a:solidFill>
                <a:latin typeface="+mn-lt"/>
              </a:rPr>
              <a:t>Деревья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Рисунок 4" descr="дерево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32780"/>
            <a:ext cx="12192000" cy="731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79698" y="5688449"/>
            <a:ext cx="64200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dirty="0" smtClean="0">
                <a:solidFill>
                  <a:srgbClr val="C00000"/>
                </a:solidFill>
              </a:rPr>
              <a:t>Обход дерева</a:t>
            </a:r>
            <a:endParaRPr lang="ru-RU" sz="8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22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                 Обход  дерева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30836" y="1839479"/>
            <a:ext cx="102338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3600" dirty="0" smtClean="0"/>
              <a:t>Обход дерева – это упорядоченная последовательность вершин дерева, удовлетворяющая следующим требованиям</a:t>
            </a:r>
            <a:r>
              <a:rPr lang="en-US" sz="3600" dirty="0" smtClean="0"/>
              <a:t>:</a:t>
            </a:r>
            <a:endParaRPr lang="ru-RU" sz="3600" dirty="0" smtClean="0"/>
          </a:p>
          <a:p>
            <a:r>
              <a:rPr lang="ru-RU" sz="3600" dirty="0" smtClean="0"/>
              <a:t>Во-первых, в этой последовательности должны присутствовать все вершины дерева(т.е. ни одна вершина дерева в процессе обхода не должна быть пропущена)</a:t>
            </a:r>
            <a:r>
              <a:rPr lang="en-US" sz="3600" dirty="0" smtClean="0"/>
              <a:t>;</a:t>
            </a:r>
            <a:endParaRPr lang="ru-RU" sz="3600" dirty="0" smtClean="0"/>
          </a:p>
          <a:p>
            <a:r>
              <a:rPr lang="ru-RU" sz="3600" dirty="0" smtClean="0"/>
              <a:t>Во-вторых, каждая вершина дерева присутствует в последовательности ровно один раз.</a:t>
            </a:r>
            <a:endParaRPr lang="ru-RU" sz="3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		Варианты обхода дерева</a:t>
            </a:r>
            <a:endParaRPr lang="ru-RU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4405745" y="1953491"/>
            <a:ext cx="360219" cy="9975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7633855" y="1953490"/>
            <a:ext cx="277090" cy="9559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40181" y="3006435"/>
            <a:ext cx="3048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В глубину</a:t>
            </a:r>
            <a:endParaRPr lang="ru-RU" sz="4000" dirty="0"/>
          </a:p>
        </p:txBody>
      </p:sp>
      <p:sp>
        <p:nvSpPr>
          <p:cNvPr id="25" name="TextBox 24"/>
          <p:cNvSpPr txBox="1"/>
          <p:nvPr/>
        </p:nvSpPr>
        <p:spPr>
          <a:xfrm>
            <a:off x="7038109" y="3061855"/>
            <a:ext cx="2412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/>
              <a:t>В ширину </a:t>
            </a:r>
            <a:endParaRPr lang="ru-RU" sz="4000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 flipH="1">
            <a:off x="2202872" y="4003964"/>
            <a:ext cx="318655" cy="637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>
            <a:off x="3574473" y="3948545"/>
            <a:ext cx="69273" cy="775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4862946" y="3990109"/>
            <a:ext cx="249381" cy="6650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398" y="4765962"/>
            <a:ext cx="1690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  прямом порядке</a:t>
            </a:r>
            <a:endParaRPr lang="ru-R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2438400" y="4793674"/>
            <a:ext cx="22178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Симметричный</a:t>
            </a:r>
          </a:p>
          <a:p>
            <a:r>
              <a:rPr lang="ru-RU" sz="2400" dirty="0" smtClean="0"/>
              <a:t> обход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779819" y="4793673"/>
            <a:ext cx="2230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Обратный обход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2" grpId="0"/>
      <p:bldP spid="25" grpId="0"/>
      <p:bldP spid="34" grpId="0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    Обход в глубину, прямой порядок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31773" y="1597025"/>
            <a:ext cx="5179200" cy="5032375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/>
              <a:t>Обход в ширину – это такой обход дерева, при котором вершины перебираются максимально </a:t>
            </a:r>
            <a:r>
              <a:rPr lang="en-US" dirty="0" smtClean="0"/>
              <a:t>“</a:t>
            </a:r>
            <a:r>
              <a:rPr lang="ru-RU" dirty="0" smtClean="0"/>
              <a:t>в глубину</a:t>
            </a:r>
            <a:r>
              <a:rPr lang="en-US" dirty="0" smtClean="0"/>
              <a:t>”</a:t>
            </a:r>
            <a:r>
              <a:rPr lang="ru-RU" dirty="0" smtClean="0"/>
              <a:t> дерева по еще не пройденным  путям.</a:t>
            </a:r>
          </a:p>
          <a:p>
            <a:pPr>
              <a:buNone/>
            </a:pPr>
            <a:r>
              <a:rPr lang="ru-RU" dirty="0" smtClean="0"/>
              <a:t>Рассмотрим Алгоритм</a:t>
            </a:r>
            <a:r>
              <a:rPr lang="en-US" dirty="0" smtClean="0"/>
              <a:t>:</a:t>
            </a:r>
            <a:endParaRPr lang="ru-RU" dirty="0" smtClean="0"/>
          </a:p>
          <a:p>
            <a:pPr marL="514350" indent="-514350">
              <a:buAutoNum type="arabicPeriod"/>
            </a:pPr>
            <a:r>
              <a:rPr lang="ru-RU" dirty="0" smtClean="0"/>
              <a:t>Начинаем обход с первого уровня т.е.с корня, включаем его(8)</a:t>
            </a:r>
          </a:p>
          <a:p>
            <a:pPr marL="514350" indent="-514350">
              <a:buAutoNum type="arabicPeriod"/>
            </a:pPr>
            <a:r>
              <a:rPr lang="ru-RU" dirty="0" smtClean="0"/>
              <a:t> переходим на второй уровень и обходим левое поддерево, включаем первого потомка (6) </a:t>
            </a:r>
          </a:p>
          <a:p>
            <a:pPr marL="514350" indent="-514350">
              <a:buAutoNum type="arabicPeriod"/>
            </a:pPr>
            <a:r>
              <a:rPr lang="ru-RU" dirty="0" smtClean="0"/>
              <a:t> переходим на 3 уровень и включаем сыновей слева на право, в начале (5) и (7)</a:t>
            </a:r>
          </a:p>
          <a:p>
            <a:pPr marL="514350" indent="-514350">
              <a:buAutoNum type="arabicPeriod"/>
            </a:pPr>
            <a:r>
              <a:rPr lang="ru-RU" dirty="0" smtClean="0"/>
              <a:t>Попробуйте сделать для правого поддерева.</a:t>
            </a:r>
          </a:p>
          <a:p>
            <a:pPr marL="514350" indent="-514350">
              <a:buNone/>
            </a:pPr>
            <a:r>
              <a:rPr lang="ru-RU" dirty="0" smtClean="0"/>
              <a:t> ответ </a:t>
            </a:r>
            <a:r>
              <a:rPr lang="en-US" dirty="0" smtClean="0"/>
              <a:t>:</a:t>
            </a:r>
            <a:r>
              <a:rPr lang="ru-RU" dirty="0" smtClean="0"/>
              <a:t> 8-6-5-7-10-9-12</a:t>
            </a:r>
            <a:endParaRPr lang="en-US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9" name="Содержимое 8" descr="1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726714" y="2729637"/>
            <a:ext cx="1024043" cy="883847"/>
          </a:xfrm>
        </p:spPr>
      </p:pic>
      <p:sp>
        <p:nvSpPr>
          <p:cNvPr id="5" name="Овал 4"/>
          <p:cNvSpPr/>
          <p:nvPr/>
        </p:nvSpPr>
        <p:spPr>
          <a:xfrm>
            <a:off x="7839940" y="1377757"/>
            <a:ext cx="997527" cy="858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/>
              <a:t>8</a:t>
            </a:r>
            <a:endParaRPr lang="ru-RU" sz="3600" dirty="0"/>
          </a:p>
        </p:txBody>
      </p:sp>
      <p:pic>
        <p:nvPicPr>
          <p:cNvPr id="10" name="Рисунок 9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10538" y="2842372"/>
            <a:ext cx="1024043" cy="883847"/>
          </a:xfrm>
          <a:prstGeom prst="rect">
            <a:avLst/>
          </a:prstGeom>
        </p:spPr>
      </p:pic>
      <p:pic>
        <p:nvPicPr>
          <p:cNvPr id="11" name="Рисунок 10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92962" y="4020009"/>
            <a:ext cx="1024043" cy="883847"/>
          </a:xfrm>
          <a:prstGeom prst="rect">
            <a:avLst/>
          </a:prstGeom>
        </p:spPr>
      </p:pic>
      <p:pic>
        <p:nvPicPr>
          <p:cNvPr id="12" name="Рисунок 11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20160" y="4036943"/>
            <a:ext cx="1024043" cy="883847"/>
          </a:xfrm>
          <a:prstGeom prst="rect">
            <a:avLst/>
          </a:prstGeom>
        </p:spPr>
      </p:pic>
      <p:pic>
        <p:nvPicPr>
          <p:cNvPr id="13" name="Рисунок 12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064961" y="4053875"/>
            <a:ext cx="1024043" cy="8838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54850" y="2810935"/>
            <a:ext cx="384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6</a:t>
            </a:r>
            <a:endParaRPr lang="ru-RU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9273116" y="2946400"/>
            <a:ext cx="628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 smtClean="0"/>
              <a:t>10</a:t>
            </a:r>
            <a:endParaRPr lang="ru-RU" sz="36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9517" y="4114800"/>
            <a:ext cx="465507" cy="664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5</a:t>
            </a:r>
            <a:endParaRPr lang="ru-RU" sz="3600" dirty="0"/>
          </a:p>
        </p:txBody>
      </p:sp>
      <p:sp>
        <p:nvSpPr>
          <p:cNvPr id="17" name="TextBox 16"/>
          <p:cNvSpPr txBox="1"/>
          <p:nvPr/>
        </p:nvSpPr>
        <p:spPr>
          <a:xfrm>
            <a:off x="7490963" y="4175185"/>
            <a:ext cx="500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 7</a:t>
            </a:r>
            <a:endParaRPr lang="ru-RU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10322982" y="4148666"/>
            <a:ext cx="627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 smtClean="0"/>
              <a:t>12</a:t>
            </a:r>
            <a:endParaRPr lang="ru-RU" sz="3600" dirty="0"/>
          </a:p>
        </p:txBody>
      </p:sp>
      <p:pic>
        <p:nvPicPr>
          <p:cNvPr id="19" name="Рисунок 18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07095" y="4043753"/>
            <a:ext cx="1024043" cy="8838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49784" y="4114800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 smtClean="0"/>
              <a:t>9</a:t>
            </a:r>
            <a:endParaRPr lang="ru-RU" sz="36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 flipH="1">
            <a:off x="7579783" y="2218267"/>
            <a:ext cx="338667" cy="4233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8782050" y="2235200"/>
            <a:ext cx="321733" cy="4741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H="1">
            <a:off x="6377517" y="3505200"/>
            <a:ext cx="3048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7410450" y="3623733"/>
            <a:ext cx="118533" cy="372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H="1">
            <a:off x="9154583" y="3725333"/>
            <a:ext cx="118534" cy="2878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10102850" y="3640667"/>
            <a:ext cx="287867" cy="338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66960" y="1454728"/>
            <a:ext cx="18004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1 уровень</a:t>
            </a:r>
            <a:endParaRPr lang="ru-RU" sz="3000" dirty="0"/>
          </a:p>
        </p:txBody>
      </p:sp>
      <p:sp>
        <p:nvSpPr>
          <p:cNvPr id="30" name="TextBox 29"/>
          <p:cNvSpPr txBox="1"/>
          <p:nvPr/>
        </p:nvSpPr>
        <p:spPr>
          <a:xfrm>
            <a:off x="10066626" y="3024620"/>
            <a:ext cx="18245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2 уровень</a:t>
            </a:r>
            <a:endParaRPr lang="ru-RU" sz="3000" dirty="0"/>
          </a:p>
        </p:txBody>
      </p:sp>
      <p:sp>
        <p:nvSpPr>
          <p:cNvPr id="32" name="TextBox 31"/>
          <p:cNvSpPr txBox="1"/>
          <p:nvPr/>
        </p:nvSpPr>
        <p:spPr>
          <a:xfrm>
            <a:off x="11029951" y="4214813"/>
            <a:ext cx="18020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3 уровень</a:t>
            </a:r>
            <a:endParaRPr lang="ru-RU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14" grpId="0"/>
      <p:bldP spid="15" grpId="1"/>
      <p:bldP spid="16" grpId="0"/>
      <p:bldP spid="17" grpId="0"/>
      <p:bldP spid="18" grpId="1"/>
      <p:bldP spid="2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01791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void Show(Node *&amp;tree)</a:t>
            </a:r>
            <a:r>
              <a:rPr lang="ru-RU" dirty="0" smtClean="0"/>
              <a:t>  </a:t>
            </a:r>
            <a:r>
              <a:rPr lang="en-US" dirty="0" smtClean="0"/>
              <a:t>// </a:t>
            </a:r>
            <a:r>
              <a:rPr lang="ru-RU" dirty="0" smtClean="0"/>
              <a:t>функция обхода  дерева</a:t>
            </a:r>
            <a:endParaRPr lang="en-US" dirty="0" smtClean="0"/>
          </a:p>
          <a:p>
            <a:r>
              <a:rPr lang="ru-RU" dirty="0" smtClean="0"/>
              <a:t>{</a:t>
            </a:r>
          </a:p>
          <a:p>
            <a:r>
              <a:rPr lang="ru-RU" dirty="0" smtClean="0"/>
              <a:t>    </a:t>
            </a:r>
            <a:r>
              <a:rPr lang="ru-RU" dirty="0" err="1" smtClean="0"/>
              <a:t>if</a:t>
            </a:r>
            <a:r>
              <a:rPr lang="ru-RU" dirty="0" smtClean="0"/>
              <a:t> (</a:t>
            </a:r>
            <a:r>
              <a:rPr lang="ru-RU" dirty="0" err="1" smtClean="0"/>
              <a:t>NULL==tree</a:t>
            </a:r>
            <a:r>
              <a:rPr lang="ru-RU" dirty="0" smtClean="0"/>
              <a:t>)    </a:t>
            </a:r>
            <a:r>
              <a:rPr lang="ru-RU" dirty="0" err="1" smtClean="0"/>
              <a:t>return</a:t>
            </a:r>
            <a:r>
              <a:rPr lang="ru-RU" dirty="0" smtClean="0"/>
              <a:t>;    //Если дерева нет, выходим</a:t>
            </a:r>
          </a:p>
          <a:p>
            <a:r>
              <a:rPr lang="ru-RU" dirty="0" smtClean="0"/>
              <a:t>   </a:t>
            </a:r>
          </a:p>
          <a:p>
            <a:r>
              <a:rPr lang="ru-RU" dirty="0" smtClean="0"/>
              <a:t>    </a:t>
            </a:r>
            <a:r>
              <a:rPr lang="ru-RU" dirty="0" err="1" smtClean="0"/>
              <a:t>cout</a:t>
            </a:r>
            <a:r>
              <a:rPr lang="ru-RU" dirty="0" smtClean="0"/>
              <a:t>&lt;&lt;</a:t>
            </a:r>
            <a:r>
              <a:rPr lang="ru-RU" dirty="0" err="1" smtClean="0"/>
              <a:t>tree</a:t>
            </a:r>
            <a:r>
              <a:rPr lang="ru-RU" dirty="0" smtClean="0"/>
              <a:t>-&gt;</a:t>
            </a:r>
            <a:r>
              <a:rPr lang="ru-RU" dirty="0" err="1" smtClean="0"/>
              <a:t>x</a:t>
            </a:r>
            <a:r>
              <a:rPr lang="ru-RU" dirty="0" smtClean="0"/>
              <a:t>&lt;&lt;</a:t>
            </a:r>
            <a:r>
              <a:rPr lang="ru-RU" dirty="0" err="1" smtClean="0"/>
              <a:t>endl</a:t>
            </a:r>
            <a:r>
              <a:rPr lang="ru-RU" dirty="0" smtClean="0"/>
              <a:t>; //Посетили узел</a:t>
            </a:r>
          </a:p>
          <a:p>
            <a:r>
              <a:rPr lang="ru-RU" dirty="0" smtClean="0"/>
              <a:t>    </a:t>
            </a:r>
            <a:r>
              <a:rPr lang="ru-RU" dirty="0" err="1" smtClean="0"/>
              <a:t>Show</a:t>
            </a:r>
            <a:r>
              <a:rPr lang="ru-RU" dirty="0" smtClean="0"/>
              <a:t>(</a:t>
            </a:r>
            <a:r>
              <a:rPr lang="ru-RU" dirty="0" err="1" smtClean="0"/>
              <a:t>tree</a:t>
            </a:r>
            <a:r>
              <a:rPr lang="ru-RU" dirty="0" smtClean="0"/>
              <a:t>-&gt;</a:t>
            </a:r>
            <a:r>
              <a:rPr lang="ru-RU" dirty="0" err="1" smtClean="0"/>
              <a:t>l</a:t>
            </a:r>
            <a:r>
              <a:rPr lang="ru-RU" dirty="0" smtClean="0"/>
              <a:t>); //Обошли левое поддерево   </a:t>
            </a:r>
          </a:p>
          <a:p>
            <a:r>
              <a:rPr lang="ru-RU" dirty="0" smtClean="0"/>
              <a:t>    </a:t>
            </a:r>
            <a:r>
              <a:rPr lang="ru-RU" dirty="0" err="1" smtClean="0"/>
              <a:t>Show</a:t>
            </a:r>
            <a:r>
              <a:rPr lang="ru-RU" dirty="0" smtClean="0"/>
              <a:t>(</a:t>
            </a:r>
            <a:r>
              <a:rPr lang="ru-RU" dirty="0" err="1" smtClean="0"/>
              <a:t>tree</a:t>
            </a:r>
            <a:r>
              <a:rPr lang="ru-RU" dirty="0" smtClean="0"/>
              <a:t>-&gt;</a:t>
            </a:r>
            <a:r>
              <a:rPr lang="ru-RU" dirty="0" err="1" smtClean="0"/>
              <a:t>r</a:t>
            </a:r>
            <a:r>
              <a:rPr lang="ru-RU" dirty="0" smtClean="0"/>
              <a:t>); //Обошли правое поддерево   </a:t>
            </a:r>
          </a:p>
          <a:p>
            <a:r>
              <a:rPr lang="ru-RU" dirty="0" smtClean="0"/>
              <a:t>}</a:t>
            </a:r>
          </a:p>
          <a:p>
            <a:r>
              <a:rPr lang="ru-RU" dirty="0" smtClean="0"/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3266290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void main()</a:t>
            </a:r>
          </a:p>
          <a:p>
            <a:r>
              <a:rPr lang="ru-RU" dirty="0" smtClean="0"/>
              <a:t>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x; //</a:t>
            </a:r>
            <a:r>
              <a:rPr lang="ru-RU" dirty="0" smtClean="0"/>
              <a:t>Некоторые данные</a:t>
            </a:r>
          </a:p>
          <a:p>
            <a:r>
              <a:rPr lang="ru-RU" dirty="0" smtClean="0"/>
              <a:t>    </a:t>
            </a:r>
            <a:r>
              <a:rPr lang="ru-RU" dirty="0" err="1" smtClean="0"/>
              <a:t>Node</a:t>
            </a:r>
            <a:r>
              <a:rPr lang="ru-RU" dirty="0" smtClean="0"/>
              <a:t> *</a:t>
            </a:r>
            <a:r>
              <a:rPr lang="ru-RU" dirty="0" err="1" smtClean="0"/>
              <a:t>MyTree=NULL</a:t>
            </a:r>
            <a:r>
              <a:rPr lang="ru-RU" dirty="0" smtClean="0"/>
              <a:t>; //Указатель на нашу структуру. Инициализируем во избежание ошибок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 </a:t>
            </a:r>
            <a:r>
              <a:rPr lang="ru-RU" dirty="0" err="1" smtClean="0"/>
              <a:t>for</a:t>
            </a:r>
            <a:r>
              <a:rPr lang="ru-RU" dirty="0" smtClean="0"/>
              <a:t> (</a:t>
            </a:r>
            <a:r>
              <a:rPr lang="ru-RU" dirty="0" err="1" smtClean="0"/>
              <a:t>int</a:t>
            </a:r>
            <a:r>
              <a:rPr lang="ru-RU" dirty="0" smtClean="0"/>
              <a:t> i=0;i&lt;7;i++) //В дереве будет 7 узлов</a:t>
            </a:r>
          </a:p>
          <a:p>
            <a:r>
              <a:rPr lang="ru-RU" dirty="0" smtClean="0"/>
              <a:t>  {</a:t>
            </a:r>
          </a:p>
          <a:p>
            <a:r>
              <a:rPr lang="ru-RU" dirty="0" smtClean="0"/>
              <a:t>      </a:t>
            </a:r>
            <a:r>
              <a:rPr lang="ru-RU" dirty="0" err="1" smtClean="0"/>
              <a:t>cout</a:t>
            </a:r>
            <a:r>
              <a:rPr lang="ru-RU" dirty="0" smtClean="0"/>
              <a:t>&lt;&lt;"X = "; </a:t>
            </a:r>
            <a:r>
              <a:rPr lang="ru-RU" dirty="0" err="1" smtClean="0"/>
              <a:t>cin</a:t>
            </a:r>
            <a:r>
              <a:rPr lang="ru-RU" dirty="0" smtClean="0"/>
              <a:t>&gt;&gt;</a:t>
            </a:r>
            <a:r>
              <a:rPr lang="ru-RU" dirty="0" err="1" smtClean="0"/>
              <a:t>x</a:t>
            </a:r>
            <a:r>
              <a:rPr lang="ru-RU" dirty="0" smtClean="0"/>
              <a:t>; //Ввели X с клавиатуры</a:t>
            </a:r>
          </a:p>
          <a:p>
            <a:r>
              <a:rPr lang="ru-RU" dirty="0" smtClean="0"/>
              <a:t>      </a:t>
            </a:r>
            <a:r>
              <a:rPr lang="ru-RU" dirty="0" err="1" smtClean="0"/>
              <a:t>add</a:t>
            </a:r>
            <a:r>
              <a:rPr lang="ru-RU" dirty="0" smtClean="0"/>
              <a:t>(</a:t>
            </a:r>
            <a:r>
              <a:rPr lang="ru-RU" dirty="0" err="1" smtClean="0"/>
              <a:t>x,MyTree</a:t>
            </a:r>
            <a:r>
              <a:rPr lang="ru-RU" dirty="0" smtClean="0"/>
              <a:t>); //Добавили X в дерево</a:t>
            </a:r>
          </a:p>
          <a:p>
            <a:r>
              <a:rPr lang="ru-RU" dirty="0" smtClean="0"/>
              <a:t>  }</a:t>
            </a:r>
          </a:p>
          <a:p>
            <a:r>
              <a:rPr lang="ru-RU" dirty="0" smtClean="0"/>
              <a:t>  </a:t>
            </a:r>
            <a:r>
              <a:rPr lang="ru-RU" dirty="0" err="1" smtClean="0"/>
              <a:t>Show</a:t>
            </a:r>
            <a:r>
              <a:rPr lang="ru-RU" dirty="0" smtClean="0"/>
              <a:t>(</a:t>
            </a:r>
            <a:r>
              <a:rPr lang="ru-RU" dirty="0" err="1" smtClean="0"/>
              <a:t>MyTree</a:t>
            </a:r>
            <a:r>
              <a:rPr lang="ru-RU" dirty="0" smtClean="0"/>
              <a:t>); //Обошли дерево и показали его звенья в линейном порядке</a:t>
            </a:r>
          </a:p>
          <a:p>
            <a:r>
              <a:rPr lang="ru-RU" dirty="0" smtClean="0"/>
              <a:t>}</a:t>
            </a: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72374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Обход в глубину в прямом порядке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		Обход дерева в ширину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Обход в ширину – это такой обход дерева, при котором вершины перебираются в том или ином порядке по ярусам, начиная с нуля.</a:t>
            </a:r>
          </a:p>
          <a:p>
            <a:pPr>
              <a:buNone/>
            </a:pPr>
            <a:r>
              <a:rPr lang="ru-RU" dirty="0" smtClean="0"/>
              <a:t>Рассмотрим алгоритм</a:t>
            </a:r>
            <a:r>
              <a:rPr lang="en-US" dirty="0" smtClean="0"/>
              <a:t>: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Начинаем обход с первого уровня т.е.с корня, включаем его(8)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Обходим второй уровень слева направо, т.е. (6) и (10)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Обходим третий уровень, так же слева направо (5) (7) (9) (12)</a:t>
            </a:r>
          </a:p>
          <a:p>
            <a:pPr>
              <a:buNone/>
            </a:pPr>
            <a:r>
              <a:rPr lang="ru-RU" dirty="0" smtClean="0"/>
              <a:t>Ответ </a:t>
            </a:r>
            <a:r>
              <a:rPr lang="en-US" dirty="0" smtClean="0"/>
              <a:t>:</a:t>
            </a:r>
            <a:r>
              <a:rPr lang="ru-RU" dirty="0" smtClean="0"/>
              <a:t> 8-6-10-5-7-9-12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pic>
        <p:nvPicPr>
          <p:cNvPr id="5" name="Содержимое 4" descr="12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0918254" y="3870902"/>
            <a:ext cx="1066712" cy="950897"/>
          </a:xfrm>
        </p:spPr>
      </p:pic>
      <p:pic>
        <p:nvPicPr>
          <p:cNvPr id="6" name="Рисунок 5" descr="Рисунок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7127" y="1422950"/>
            <a:ext cx="1036234" cy="896038"/>
          </a:xfrm>
          <a:prstGeom prst="rect">
            <a:avLst/>
          </a:prstGeom>
        </p:spPr>
      </p:pic>
      <p:pic>
        <p:nvPicPr>
          <p:cNvPr id="7" name="Рисунок 6" descr="Рисунок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61627" y="2590868"/>
            <a:ext cx="1036234" cy="896038"/>
          </a:xfrm>
          <a:prstGeom prst="rect">
            <a:avLst/>
          </a:prstGeom>
        </p:spPr>
      </p:pic>
      <p:pic>
        <p:nvPicPr>
          <p:cNvPr id="8" name="Рисунок 7" descr="Рисунок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958873" y="3862302"/>
            <a:ext cx="1036234" cy="896038"/>
          </a:xfrm>
          <a:prstGeom prst="rect">
            <a:avLst/>
          </a:prstGeom>
        </p:spPr>
      </p:pic>
      <p:pic>
        <p:nvPicPr>
          <p:cNvPr id="9" name="Рисунок 8" descr="Рисунок5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834154" y="3908783"/>
            <a:ext cx="1036234" cy="896038"/>
          </a:xfrm>
          <a:prstGeom prst="rect">
            <a:avLst/>
          </a:prstGeom>
        </p:spPr>
      </p:pic>
      <p:pic>
        <p:nvPicPr>
          <p:cNvPr id="10" name="Рисунок 9" descr="9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218230" y="3832412"/>
            <a:ext cx="1036234" cy="987470"/>
          </a:xfrm>
          <a:prstGeom prst="rect">
            <a:avLst/>
          </a:prstGeom>
        </p:spPr>
      </p:pic>
      <p:pic>
        <p:nvPicPr>
          <p:cNvPr id="11" name="Рисунок 10" descr="10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908130" y="2665155"/>
            <a:ext cx="1060616" cy="896038"/>
          </a:xfrm>
          <a:prstGeom prst="rect">
            <a:avLst/>
          </a:prstGeom>
        </p:spPr>
      </p:pic>
      <p:cxnSp>
        <p:nvCxnSpPr>
          <p:cNvPr id="21" name="Прямая со стрелкой 20"/>
          <p:cNvCxnSpPr/>
          <p:nvPr/>
        </p:nvCxnSpPr>
        <p:spPr>
          <a:xfrm flipH="1">
            <a:off x="6866626" y="3364303"/>
            <a:ext cx="500332" cy="431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8005313" y="3502325"/>
            <a:ext cx="189781" cy="3278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10869283" y="3571336"/>
            <a:ext cx="276045" cy="345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>
            <a:off x="9730596" y="2242868"/>
            <a:ext cx="276046" cy="3795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>
            <a:off x="9989389" y="3536830"/>
            <a:ext cx="155275" cy="362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 flipH="1">
            <a:off x="8333117" y="2191109"/>
            <a:ext cx="362309" cy="3968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907211" y="-23863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Алгоритм обхода в ширину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6" name="Рисунок 5" descr="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66471" y="4332745"/>
            <a:ext cx="1036234" cy="987470"/>
          </a:xfrm>
          <a:prstGeom prst="rect">
            <a:avLst/>
          </a:prstGeom>
        </p:spPr>
      </p:pic>
      <p:pic>
        <p:nvPicPr>
          <p:cNvPr id="7" name="Рисунок 6" descr="Рисунок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00644" y="1825040"/>
            <a:ext cx="1036234" cy="896038"/>
          </a:xfrm>
          <a:prstGeom prst="rect">
            <a:avLst/>
          </a:prstGeom>
        </p:spPr>
      </p:pic>
      <p:pic>
        <p:nvPicPr>
          <p:cNvPr id="8" name="Рисунок 7" descr="Рисунок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15143" y="3027464"/>
            <a:ext cx="1036234" cy="896038"/>
          </a:xfrm>
          <a:prstGeom prst="rect">
            <a:avLst/>
          </a:prstGeom>
        </p:spPr>
      </p:pic>
      <p:pic>
        <p:nvPicPr>
          <p:cNvPr id="9" name="Рисунок 8" descr="Рисунок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12721" y="4326703"/>
            <a:ext cx="1036234" cy="896038"/>
          </a:xfrm>
          <a:prstGeom prst="rect">
            <a:avLst/>
          </a:prstGeom>
        </p:spPr>
      </p:pic>
      <p:pic>
        <p:nvPicPr>
          <p:cNvPr id="10" name="Рисунок 9" descr="Рисунок5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88004" y="4390438"/>
            <a:ext cx="1036234" cy="896038"/>
          </a:xfrm>
          <a:prstGeom prst="rect">
            <a:avLst/>
          </a:prstGeom>
        </p:spPr>
      </p:pic>
      <p:pic>
        <p:nvPicPr>
          <p:cNvPr id="11" name="Рисунок 10" descr="12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125288" y="4351029"/>
            <a:ext cx="1066712" cy="950897"/>
          </a:xfrm>
          <a:prstGeom prst="rect">
            <a:avLst/>
          </a:prstGeom>
        </p:spPr>
      </p:pic>
      <p:pic>
        <p:nvPicPr>
          <p:cNvPr id="12" name="Рисунок 11" descr="10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010827" y="2918012"/>
            <a:ext cx="1072807" cy="987470"/>
          </a:xfrm>
          <a:prstGeom prst="rect">
            <a:avLst/>
          </a:prstGeom>
        </p:spPr>
      </p:pic>
      <p:cxnSp>
        <p:nvCxnSpPr>
          <p:cNvPr id="13" name="Прямая со стрелкой 12"/>
          <p:cNvCxnSpPr/>
          <p:nvPr/>
        </p:nvCxnSpPr>
        <p:spPr>
          <a:xfrm flipH="1">
            <a:off x="8402129" y="2605177"/>
            <a:ext cx="379562" cy="396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9661585" y="2708694"/>
            <a:ext cx="327804" cy="3450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7039155" y="3864634"/>
            <a:ext cx="396815" cy="465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8022566" y="3985404"/>
            <a:ext cx="138023" cy="4485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>
            <a:off x="9885872" y="3916392"/>
            <a:ext cx="276045" cy="5003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10938294" y="3899140"/>
            <a:ext cx="327804" cy="552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60589" y="1915064"/>
            <a:ext cx="385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</a:t>
            </a:r>
            <a:endParaRPr lang="ru-RU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6901132" y="3174521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</a:t>
            </a:r>
            <a:endParaRPr lang="ru-R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9558068" y="3226280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c</a:t>
            </a:r>
            <a:endParaRPr lang="ru-RU" sz="3200" dirty="0"/>
          </a:p>
        </p:txBody>
      </p:sp>
      <p:sp>
        <p:nvSpPr>
          <p:cNvPr id="23" name="TextBox 22"/>
          <p:cNvSpPr txBox="1"/>
          <p:nvPr/>
        </p:nvSpPr>
        <p:spPr>
          <a:xfrm>
            <a:off x="5848709" y="483079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</a:t>
            </a:r>
            <a:endParaRPr lang="ru-R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7660257" y="4733315"/>
            <a:ext cx="69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e</a:t>
            </a:r>
            <a:endParaRPr lang="ru-RU" sz="3200" dirty="0"/>
          </a:p>
        </p:txBody>
      </p:sp>
      <p:sp>
        <p:nvSpPr>
          <p:cNvPr id="25" name="TextBox 24"/>
          <p:cNvSpPr txBox="1"/>
          <p:nvPr/>
        </p:nvSpPr>
        <p:spPr>
          <a:xfrm>
            <a:off x="9023230" y="4606506"/>
            <a:ext cx="314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f</a:t>
            </a:r>
            <a:endParaRPr lang="ru-RU" sz="3200" dirty="0"/>
          </a:p>
        </p:txBody>
      </p:sp>
      <p:sp>
        <p:nvSpPr>
          <p:cNvPr id="26" name="TextBox 25"/>
          <p:cNvSpPr txBox="1"/>
          <p:nvPr/>
        </p:nvSpPr>
        <p:spPr>
          <a:xfrm>
            <a:off x="10731261" y="4554748"/>
            <a:ext cx="402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g</a:t>
            </a:r>
            <a:endParaRPr lang="ru-RU" sz="3200" dirty="0"/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6763109" y="1000664"/>
            <a:ext cx="966158" cy="569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a</a:t>
            </a:r>
            <a:endParaRPr lang="ru-RU" sz="3200" dirty="0"/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5624423" y="983412"/>
            <a:ext cx="966158" cy="569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b</a:t>
            </a:r>
            <a:endParaRPr lang="ru-RU" sz="3200" dirty="0"/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4451231" y="966159"/>
            <a:ext cx="966158" cy="569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c</a:t>
            </a:r>
            <a:endParaRPr lang="ru-RU" sz="3200" dirty="0"/>
          </a:p>
        </p:txBody>
      </p:sp>
      <p:sp>
        <p:nvSpPr>
          <p:cNvPr id="30" name="TextBox 29"/>
          <p:cNvSpPr txBox="1"/>
          <p:nvPr/>
        </p:nvSpPr>
        <p:spPr>
          <a:xfrm>
            <a:off x="2001328" y="3140015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8</a:t>
            </a:r>
            <a:endParaRPr lang="ru-RU" sz="3200" dirty="0"/>
          </a:p>
        </p:txBody>
      </p:sp>
      <p:sp>
        <p:nvSpPr>
          <p:cNvPr id="31" name="TextBox 30"/>
          <p:cNvSpPr txBox="1"/>
          <p:nvPr/>
        </p:nvSpPr>
        <p:spPr>
          <a:xfrm>
            <a:off x="2501659" y="3157267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6</a:t>
            </a:r>
            <a:endParaRPr lang="ru-RU" sz="3200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3361427" y="997788"/>
            <a:ext cx="966158" cy="569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d</a:t>
            </a:r>
            <a:endParaRPr lang="ru-RU" sz="3200" dirty="0"/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2309005" y="997788"/>
            <a:ext cx="966158" cy="569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e</a:t>
            </a:r>
            <a:endParaRPr lang="ru-RU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3001992" y="3157268"/>
            <a:ext cx="5806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10</a:t>
            </a:r>
            <a:endParaRPr lang="ru-RU" sz="3200" dirty="0"/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1308340" y="980536"/>
            <a:ext cx="966158" cy="569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f</a:t>
            </a:r>
            <a:endParaRPr lang="ru-RU" sz="3200" dirty="0"/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293298" y="997788"/>
            <a:ext cx="966158" cy="569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g</a:t>
            </a:r>
            <a:endParaRPr lang="ru-RU" sz="3200" dirty="0"/>
          </a:p>
        </p:txBody>
      </p:sp>
      <p:sp>
        <p:nvSpPr>
          <p:cNvPr id="37" name="TextBox 36"/>
          <p:cNvSpPr txBox="1"/>
          <p:nvPr/>
        </p:nvSpPr>
        <p:spPr>
          <a:xfrm>
            <a:off x="3692105" y="3088257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5</a:t>
            </a:r>
            <a:endParaRPr lang="ru-RU" sz="3200" dirty="0"/>
          </a:p>
        </p:txBody>
      </p:sp>
      <p:sp>
        <p:nvSpPr>
          <p:cNvPr id="38" name="TextBox 37"/>
          <p:cNvSpPr txBox="1"/>
          <p:nvPr/>
        </p:nvSpPr>
        <p:spPr>
          <a:xfrm>
            <a:off x="4175186" y="3105511"/>
            <a:ext cx="431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2769" y="3105510"/>
            <a:ext cx="56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3103" y="3174520"/>
            <a:ext cx="579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12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51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52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66" dur="250" autoRev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67" dur="250" autoRev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250" autoRev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autoRev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3" dur="250" autoRev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124" dur="250" autoRev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250" autoRev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50" autoRev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7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85" dur="250" autoRev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186" dur="250" autoRev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250" autoRev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250" autoRev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7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02" dur="250" autoRev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203" dur="250" autoRev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250" autoRev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250" autoRev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7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19" dur="250" autoRev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220" dur="250" autoRev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250" autoRev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250" autoRev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7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36" dur="250" autoRev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237" dur="250" autoRev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8" dur="250" autoRev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250" autoRev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1" grpId="0"/>
      <p:bldP spid="32" grpId="0" animBg="1"/>
      <p:bldP spid="32" grpId="1" animBg="1"/>
      <p:bldP spid="32" grpId="2" animBg="1"/>
      <p:bldP spid="32" grpId="3" animBg="1"/>
      <p:bldP spid="33" grpId="0" animBg="1"/>
      <p:bldP spid="33" grpId="1" animBg="1"/>
      <p:bldP spid="33" grpId="2" animBg="1"/>
      <p:bldP spid="33" grpId="3" animBg="1"/>
      <p:bldP spid="34" grpId="0"/>
      <p:bldP spid="35" grpId="0" animBg="1"/>
      <p:bldP spid="35" grpId="1" animBg="1"/>
      <p:bldP spid="35" grpId="2" animBg="1"/>
      <p:bldP spid="35" grpId="3" animBg="1"/>
      <p:bldP spid="35" grpId="4" animBg="1"/>
      <p:bldP spid="36" grpId="0" animBg="1"/>
      <p:bldP spid="36" grpId="1" animBg="1"/>
      <p:bldP spid="36" grpId="2" animBg="1"/>
      <p:bldP spid="36" grpId="3" animBg="1"/>
      <p:bldP spid="37" grpId="0"/>
      <p:bldP spid="38" grpId="0"/>
      <p:bldP spid="39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5672" y="0"/>
            <a:ext cx="10515600" cy="1325563"/>
          </a:xfrm>
        </p:spPr>
        <p:txBody>
          <a:bodyPr/>
          <a:lstStyle/>
          <a:p>
            <a:r>
              <a:rPr lang="ru-RU" dirty="0" smtClean="0"/>
              <a:t>Обход дерева в ширину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63592" y="131162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void </a:t>
            </a:r>
            <a:r>
              <a:rPr lang="en-US" dirty="0" err="1" smtClean="0"/>
              <a:t>levels_tree</a:t>
            </a:r>
            <a:r>
              <a:rPr lang="en-US" dirty="0" smtClean="0"/>
              <a:t>(</a:t>
            </a:r>
            <a:r>
              <a:rPr lang="en-US" dirty="0" err="1" smtClean="0"/>
              <a:t>treenode</a:t>
            </a:r>
            <a:r>
              <a:rPr lang="en-US" dirty="0" smtClean="0"/>
              <a:t>*</a:t>
            </a:r>
            <a:r>
              <a:rPr lang="en-US" dirty="0" err="1" smtClean="0"/>
              <a:t>tree_top</a:t>
            </a:r>
            <a:r>
              <a:rPr lang="en-US" dirty="0" smtClean="0"/>
              <a:t>)</a:t>
            </a:r>
          </a:p>
          <a:p>
            <a:r>
              <a:rPr lang="ru-RU" dirty="0" smtClean="0"/>
              <a:t>{</a:t>
            </a:r>
          </a:p>
          <a:p>
            <a:r>
              <a:rPr lang="en-US" dirty="0" err="1" smtClean="0"/>
              <a:t>queuenode</a:t>
            </a:r>
            <a:r>
              <a:rPr lang="en-US" dirty="0" smtClean="0"/>
              <a:t>*</a:t>
            </a:r>
            <a:r>
              <a:rPr lang="en-US" dirty="0" err="1" smtClean="0"/>
              <a:t>q_top</a:t>
            </a:r>
            <a:r>
              <a:rPr lang="en-US" dirty="0" smtClean="0"/>
              <a:t>, *</a:t>
            </a:r>
            <a:r>
              <a:rPr lang="en-US" dirty="0" err="1" smtClean="0"/>
              <a:t>q_end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n, k, </a:t>
            </a:r>
            <a:r>
              <a:rPr lang="en-US" dirty="0" err="1" smtClean="0"/>
              <a:t>kl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treenode</a:t>
            </a:r>
            <a:r>
              <a:rPr lang="en-US" dirty="0" smtClean="0"/>
              <a:t>*p;</a:t>
            </a:r>
          </a:p>
          <a:p>
            <a:r>
              <a:rPr lang="en-US" dirty="0" smtClean="0"/>
              <a:t>p = </a:t>
            </a:r>
            <a:r>
              <a:rPr lang="en-US" dirty="0" err="1" smtClean="0"/>
              <a:t>tree_top</a:t>
            </a:r>
            <a:r>
              <a:rPr lang="en-US" dirty="0" smtClean="0"/>
              <a:t>;</a:t>
            </a:r>
          </a:p>
          <a:p>
            <a:r>
              <a:rPr lang="en-US" dirty="0" smtClean="0"/>
              <a:t>if (p)</a:t>
            </a:r>
          </a:p>
          <a:p>
            <a:r>
              <a:rPr lang="ru-RU" dirty="0" smtClean="0"/>
              <a:t>{</a:t>
            </a:r>
          </a:p>
          <a:p>
            <a:r>
              <a:rPr lang="en-US" dirty="0" err="1" smtClean="0"/>
              <a:t>q_top</a:t>
            </a:r>
            <a:r>
              <a:rPr lang="en-US" dirty="0" smtClean="0"/>
              <a:t> = NULL;</a:t>
            </a:r>
          </a:p>
          <a:p>
            <a:r>
              <a:rPr lang="en-US" dirty="0" err="1" smtClean="0"/>
              <a:t>q_end</a:t>
            </a:r>
            <a:r>
              <a:rPr lang="en-US" dirty="0" smtClean="0"/>
              <a:t> = NULL;</a:t>
            </a:r>
          </a:p>
          <a:p>
            <a:r>
              <a:rPr lang="en-US" dirty="0" smtClean="0"/>
              <a:t>n = 0;</a:t>
            </a:r>
          </a:p>
          <a:p>
            <a:r>
              <a:rPr lang="en-US" dirty="0" err="1" smtClean="0"/>
              <a:t>push_queue</a:t>
            </a:r>
            <a:r>
              <a:rPr lang="en-US" dirty="0" smtClean="0"/>
              <a:t>(</a:t>
            </a:r>
            <a:r>
              <a:rPr lang="en-US" dirty="0" err="1" smtClean="0"/>
              <a:t>q_top</a:t>
            </a:r>
            <a:r>
              <a:rPr lang="en-US" dirty="0" smtClean="0"/>
              <a:t>, </a:t>
            </a:r>
            <a:r>
              <a:rPr lang="en-US" dirty="0" err="1" smtClean="0"/>
              <a:t>q_end</a:t>
            </a:r>
            <a:r>
              <a:rPr lang="en-US" dirty="0" smtClean="0"/>
              <a:t>, p);</a:t>
            </a:r>
          </a:p>
          <a:p>
            <a:r>
              <a:rPr lang="en-US" dirty="0" smtClean="0"/>
              <a:t>k = 1;</a:t>
            </a:r>
          </a:p>
          <a:p>
            <a:r>
              <a:rPr lang="en-US" dirty="0" smtClean="0"/>
              <a:t>do</a:t>
            </a:r>
          </a:p>
          <a:p>
            <a:r>
              <a:rPr lang="ru-RU" dirty="0" smtClean="0"/>
              <a:t>{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n &lt;&lt; "level";</a:t>
            </a:r>
          </a:p>
          <a:p>
            <a:r>
              <a:rPr lang="en-US" dirty="0" err="1" smtClean="0"/>
              <a:t>kl</a:t>
            </a:r>
            <a:r>
              <a:rPr lang="en-US" dirty="0" smtClean="0"/>
              <a:t> = 0;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/>
          <p:cNvSpPr/>
          <p:nvPr/>
        </p:nvSpPr>
        <p:spPr>
          <a:xfrm>
            <a:off x="0" y="526104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n-NO" dirty="0" smtClean="0"/>
              <a:t>for (i = 1; i &lt;= k; i++)</a:t>
            </a:r>
          </a:p>
          <a:p>
            <a:r>
              <a:rPr lang="ru-RU" dirty="0" smtClean="0"/>
              <a:t>{</a:t>
            </a:r>
          </a:p>
          <a:p>
            <a:r>
              <a:rPr lang="en-US" dirty="0" err="1" smtClean="0"/>
              <a:t>pop_queue</a:t>
            </a:r>
            <a:r>
              <a:rPr lang="en-US" dirty="0" smtClean="0"/>
              <a:t>(</a:t>
            </a:r>
            <a:r>
              <a:rPr lang="en-US" dirty="0" err="1" smtClean="0"/>
              <a:t>q_top</a:t>
            </a:r>
            <a:r>
              <a:rPr lang="en-US" dirty="0" smtClean="0"/>
              <a:t>, p);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 " &lt;&lt; p-&gt;data;</a:t>
            </a:r>
          </a:p>
          <a:p>
            <a:r>
              <a:rPr lang="en-US" dirty="0" smtClean="0"/>
              <a:t>if (p-&gt;left)</a:t>
            </a:r>
          </a:p>
          <a:p>
            <a:r>
              <a:rPr lang="ru-RU" dirty="0" smtClean="0"/>
              <a:t>{</a:t>
            </a:r>
          </a:p>
          <a:p>
            <a:r>
              <a:rPr lang="en-US" dirty="0" err="1" smtClean="0"/>
              <a:t>push_queue</a:t>
            </a:r>
            <a:r>
              <a:rPr lang="en-US" dirty="0" smtClean="0"/>
              <a:t>(</a:t>
            </a:r>
            <a:r>
              <a:rPr lang="en-US" dirty="0" err="1" smtClean="0"/>
              <a:t>q_top</a:t>
            </a:r>
            <a:r>
              <a:rPr lang="en-US" dirty="0" smtClean="0"/>
              <a:t>, </a:t>
            </a:r>
            <a:r>
              <a:rPr lang="en-US" dirty="0" err="1" smtClean="0"/>
              <a:t>q_end</a:t>
            </a:r>
            <a:r>
              <a:rPr lang="en-US" dirty="0" smtClean="0"/>
              <a:t>, p-&gt;left);</a:t>
            </a:r>
          </a:p>
          <a:p>
            <a:r>
              <a:rPr lang="en-US" dirty="0" err="1" smtClean="0"/>
              <a:t>kl</a:t>
            </a:r>
            <a:r>
              <a:rPr lang="en-US" dirty="0" smtClean="0"/>
              <a:t>++;</a:t>
            </a:r>
          </a:p>
          <a:p>
            <a:r>
              <a:rPr lang="ru-RU" dirty="0" smtClean="0"/>
              <a:t>}</a:t>
            </a:r>
          </a:p>
          <a:p>
            <a:r>
              <a:rPr lang="en-US" dirty="0" smtClean="0"/>
              <a:t>if (p-&gt;right)</a:t>
            </a:r>
          </a:p>
          <a:p>
            <a:r>
              <a:rPr lang="ru-RU" dirty="0" smtClean="0"/>
              <a:t>{</a:t>
            </a:r>
          </a:p>
          <a:p>
            <a:r>
              <a:rPr lang="en-US" dirty="0" err="1" smtClean="0"/>
              <a:t>push_queue</a:t>
            </a:r>
            <a:r>
              <a:rPr lang="en-US" dirty="0" smtClean="0"/>
              <a:t>(</a:t>
            </a:r>
            <a:r>
              <a:rPr lang="en-US" dirty="0" err="1" smtClean="0"/>
              <a:t>q_top</a:t>
            </a:r>
            <a:r>
              <a:rPr lang="en-US" dirty="0" smtClean="0"/>
              <a:t>, </a:t>
            </a:r>
            <a:r>
              <a:rPr lang="en-US" dirty="0" err="1" smtClean="0"/>
              <a:t>q_end</a:t>
            </a:r>
            <a:r>
              <a:rPr lang="en-US" dirty="0" smtClean="0"/>
              <a:t>, p-&gt;right);</a:t>
            </a:r>
          </a:p>
          <a:p>
            <a:r>
              <a:rPr lang="en-US" dirty="0" err="1" smtClean="0"/>
              <a:t>kl</a:t>
            </a:r>
            <a:r>
              <a:rPr lang="en-US" dirty="0" smtClean="0"/>
              <a:t>++;</a:t>
            </a:r>
          </a:p>
          <a:p>
            <a:r>
              <a:rPr lang="ru-RU" dirty="0" smtClean="0"/>
              <a:t>}</a:t>
            </a:r>
          </a:p>
          <a:p>
            <a:r>
              <a:rPr lang="ru-RU" dirty="0" smtClean="0"/>
              <a:t>}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n++;</a:t>
            </a:r>
          </a:p>
          <a:p>
            <a:r>
              <a:rPr lang="en-US" dirty="0" smtClean="0"/>
              <a:t>k = </a:t>
            </a:r>
            <a:r>
              <a:rPr lang="en-US" dirty="0" err="1" smtClean="0"/>
              <a:t>kl</a:t>
            </a:r>
            <a:r>
              <a:rPr lang="en-US" dirty="0" smtClean="0"/>
              <a:t>;</a:t>
            </a:r>
          </a:p>
          <a:p>
            <a:r>
              <a:rPr lang="en-US" dirty="0" smtClean="0"/>
              <a:t>} while (k != 0);</a:t>
            </a:r>
          </a:p>
          <a:p>
            <a:r>
              <a:rPr lang="ru-RU" dirty="0" smtClean="0"/>
              <a:t>}</a:t>
            </a:r>
          </a:p>
          <a:p>
            <a:r>
              <a:rPr lang="ru-RU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10592</TotalTime>
  <Words>571</Words>
  <Application>Microsoft Office PowerPoint</Application>
  <PresentationFormat>Произвольный</PresentationFormat>
  <Paragraphs>122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Глубина</vt:lpstr>
      <vt:lpstr>Деревья</vt:lpstr>
      <vt:lpstr>                  Обход  дерева</vt:lpstr>
      <vt:lpstr>  Варианты обхода дерева</vt:lpstr>
      <vt:lpstr>    Обход в глубину, прямой порядок</vt:lpstr>
      <vt:lpstr>Обход в глубину в прямом порядке</vt:lpstr>
      <vt:lpstr>  Обход дерева в ширину </vt:lpstr>
      <vt:lpstr>Алгоритм обхода в ширину </vt:lpstr>
      <vt:lpstr>Обход дерева в ширину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Iskander Falyakhov</dc:creator>
  <cp:lastModifiedBy>Аделя Ахметова</cp:lastModifiedBy>
  <cp:revision>255</cp:revision>
  <dcterms:created xsi:type="dcterms:W3CDTF">2015-11-22T12:50:33Z</dcterms:created>
  <dcterms:modified xsi:type="dcterms:W3CDTF">2015-12-24T09:19:36Z</dcterms:modified>
</cp:coreProperties>
</file>