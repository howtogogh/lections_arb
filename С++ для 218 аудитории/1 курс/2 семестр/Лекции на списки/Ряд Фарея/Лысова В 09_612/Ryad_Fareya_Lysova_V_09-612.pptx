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71" r:id="rId9"/>
    <p:sldId id="272" r:id="rId10"/>
    <p:sldId id="273" r:id="rId11"/>
    <p:sldId id="274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71B342-29EB-4D0D-8B9F-E245812BEF81}" type="datetimeFigureOut">
              <a:rPr lang="ru-RU" smtClean="0"/>
              <a:t>26.12.2017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2D206-2512-4546-B340-A58AA6C933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36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57693" y="1554478"/>
            <a:ext cx="8915399" cy="2203998"/>
          </a:xfrm>
        </p:spPr>
        <p:txBody>
          <a:bodyPr>
            <a:normAutofit/>
          </a:bodyPr>
          <a:lstStyle/>
          <a:p>
            <a:pPr algn="ctr"/>
            <a:r>
              <a:rPr lang="ru-RU" sz="8800" dirty="0" smtClean="0"/>
              <a:t>Ряд </a:t>
            </a:r>
            <a:r>
              <a:rPr lang="ru-RU" sz="8800" dirty="0" err="1" smtClean="0"/>
              <a:t>Фарея</a:t>
            </a:r>
            <a:endParaRPr lang="ru-RU" sz="8800" dirty="0"/>
          </a:p>
        </p:txBody>
      </p:sp>
      <p:sp>
        <p:nvSpPr>
          <p:cNvPr id="3" name="TextBox 2"/>
          <p:cNvSpPr txBox="1"/>
          <p:nvPr/>
        </p:nvSpPr>
        <p:spPr>
          <a:xfrm>
            <a:off x="3579223" y="4258491"/>
            <a:ext cx="59174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80000"/>
            <a:r>
              <a:rPr lang="ru-RU" sz="2400" i="1" dirty="0" smtClean="0"/>
              <a:t>Подготовила: студентка гр. 09-612,</a:t>
            </a:r>
          </a:p>
          <a:p>
            <a:pPr algn="ctr" defTabSz="180000"/>
            <a:r>
              <a:rPr lang="ru-RU" sz="2400" i="1" dirty="0" smtClean="0"/>
              <a:t>Лысова В. А.</a:t>
            </a:r>
          </a:p>
          <a:p>
            <a:pPr algn="ctr" defTabSz="180000"/>
            <a:endParaRPr lang="ru-RU" sz="2400" i="1" dirty="0" smtClean="0"/>
          </a:p>
          <a:p>
            <a:pPr defTabSz="180000"/>
            <a:r>
              <a:rPr lang="ru-RU" sz="2400" i="1" dirty="0" smtClean="0"/>
              <a:t>Преподаватель: </a:t>
            </a:r>
            <a:r>
              <a:rPr lang="ru-RU" sz="2400" i="1" dirty="0" err="1" smtClean="0"/>
              <a:t>Ахтямов</a:t>
            </a:r>
            <a:r>
              <a:rPr lang="ru-RU" sz="2400" i="1" dirty="0" smtClean="0"/>
              <a:t> Р. Б. </a:t>
            </a:r>
            <a:endParaRPr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36040467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17268" y="349790"/>
            <a:ext cx="8911687" cy="1280890"/>
          </a:xfrm>
        </p:spPr>
        <p:txBody>
          <a:bodyPr>
            <a:noAutofit/>
          </a:bodyPr>
          <a:lstStyle/>
          <a:p>
            <a:r>
              <a:rPr lang="ru-RU" sz="4000" b="1" dirty="0" smtClean="0"/>
              <a:t>Джон </a:t>
            </a:r>
            <a:r>
              <a:rPr lang="ru-RU" sz="4000" b="1" dirty="0" err="1" smtClean="0"/>
              <a:t>Фарей</a:t>
            </a:r>
            <a:r>
              <a:rPr lang="ru-RU" sz="4000" b="1" dirty="0" smtClean="0"/>
              <a:t/>
            </a:r>
            <a:br>
              <a:rPr lang="ru-RU" sz="4000" b="1" dirty="0" smtClean="0"/>
            </a:br>
            <a:r>
              <a:rPr lang="ru-RU" sz="4000" b="1" dirty="0" smtClean="0"/>
              <a:t>(1776 – 1826)</a:t>
            </a:r>
            <a:endParaRPr lang="ru-RU" sz="40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75212" y="2286000"/>
            <a:ext cx="718457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Английский математик и геолог. Его единственным известным вкладом в математику были дроби, названные в его честь. В 1816 году была опубликована статья </a:t>
            </a:r>
            <a:r>
              <a:rPr lang="ru-RU" sz="2800" dirty="0" err="1"/>
              <a:t>Фарея</a:t>
            </a:r>
            <a:r>
              <a:rPr lang="ru-RU" sz="2800" dirty="0"/>
              <a:t> «Об интересном свойстве обыкновенных дробей», в которой он определил последовательность F.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325" y="349790"/>
            <a:ext cx="3237774" cy="3911405"/>
          </a:xfrm>
        </p:spPr>
      </p:pic>
    </p:spTree>
    <p:extLst>
      <p:ext uri="{BB962C8B-B14F-4D97-AF65-F5344CB8AC3E}">
        <p14:creationId xmlns:p14="http://schemas.microsoft.com/office/powerpoint/2010/main" val="5420185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64439" y="0"/>
            <a:ext cx="9263574" cy="1772919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Рядом </a:t>
            </a:r>
            <a:r>
              <a:rPr lang="ru-RU" sz="2400" dirty="0" err="1" smtClean="0"/>
              <a:t>Фарея</a:t>
            </a:r>
            <a:r>
              <a:rPr lang="ru-RU" sz="2400" dirty="0" smtClean="0"/>
              <a:t> порядка </a:t>
            </a:r>
            <a:r>
              <a:rPr lang="en-US" sz="2400" dirty="0" smtClean="0"/>
              <a:t>n</a:t>
            </a:r>
            <a:r>
              <a:rPr lang="ru-RU" sz="2400" dirty="0" smtClean="0"/>
              <a:t> называется возрастающая последовательность неотрицательных несократимых дробей, не превосходящих 1, со знаменателем, не превосходящих </a:t>
            </a:r>
            <a:r>
              <a:rPr lang="en-US" sz="2400" dirty="0" smtClean="0"/>
              <a:t>n.</a:t>
            </a:r>
            <a:r>
              <a:rPr lang="ru-RU" sz="2400" dirty="0" smtClean="0"/>
              <a:t> </a:t>
            </a:r>
            <a:endParaRPr lang="ru-RU" sz="24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963" y="1481446"/>
            <a:ext cx="8364525" cy="1173207"/>
          </a:xfrm>
        </p:spPr>
      </p:pic>
      <p:sp>
        <p:nvSpPr>
          <p:cNvPr id="5" name="TextBox 4"/>
          <p:cNvSpPr txBox="1"/>
          <p:nvPr/>
        </p:nvSpPr>
        <p:spPr>
          <a:xfrm>
            <a:off x="1536842" y="2480387"/>
            <a:ext cx="971876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Последовательность </a:t>
            </a:r>
            <a:r>
              <a:rPr lang="ru-RU" sz="2000" dirty="0" err="1" smtClean="0"/>
              <a:t>Фарея</a:t>
            </a:r>
            <a:r>
              <a:rPr lang="ru-RU" sz="2000" dirty="0" smtClean="0"/>
              <a:t> порядка </a:t>
            </a:r>
            <a:r>
              <a:rPr lang="en-US" sz="2000" dirty="0" smtClean="0"/>
              <a:t>n</a:t>
            </a:r>
            <a:r>
              <a:rPr lang="ru-RU" sz="2000" dirty="0" smtClean="0"/>
              <a:t>+1</a:t>
            </a:r>
            <a:r>
              <a:rPr lang="en-US" sz="2000" dirty="0" smtClean="0"/>
              <a:t> </a:t>
            </a:r>
            <a:r>
              <a:rPr lang="ru-RU" sz="2000" dirty="0" smtClean="0"/>
              <a:t>можно построить из последовательности порядка </a:t>
            </a:r>
            <a:r>
              <a:rPr lang="en-US" sz="2000" dirty="0" smtClean="0"/>
              <a:t>n</a:t>
            </a:r>
            <a:r>
              <a:rPr lang="ru-RU" sz="2000" dirty="0" smtClean="0"/>
              <a:t> по следующему правилу</a:t>
            </a:r>
            <a:r>
              <a:rPr lang="en-US" sz="2000" dirty="0" smtClean="0"/>
              <a:t>:</a:t>
            </a:r>
            <a:endParaRPr lang="ru-RU" sz="2000" dirty="0" smtClean="0"/>
          </a:p>
          <a:p>
            <a:endParaRPr lang="ru-RU" sz="2000" dirty="0" smtClean="0"/>
          </a:p>
          <a:p>
            <a:pPr marL="342900" indent="-342900">
              <a:buAutoNum type="arabicPeriod"/>
            </a:pPr>
            <a:r>
              <a:rPr lang="ru-RU" sz="2000" dirty="0" smtClean="0"/>
              <a:t>Копируем все элементы последовательности порядка </a:t>
            </a:r>
            <a:r>
              <a:rPr lang="en-US" sz="2000" dirty="0" smtClean="0"/>
              <a:t>n</a:t>
            </a:r>
            <a:r>
              <a:rPr lang="ru-RU" sz="2000" dirty="0" smtClean="0"/>
              <a:t>.</a:t>
            </a:r>
          </a:p>
          <a:p>
            <a:pPr marL="342900" indent="-342900">
              <a:buAutoNum type="arabicPeriod"/>
            </a:pPr>
            <a:r>
              <a:rPr lang="ru-RU" sz="2000" dirty="0" smtClean="0"/>
              <a:t>Если сумма знаменателей в двух соседних дробях</a:t>
            </a:r>
            <a:r>
              <a:rPr lang="en-US" sz="2000" dirty="0" smtClean="0"/>
              <a:t> </a:t>
            </a:r>
            <a:r>
              <a:rPr lang="ru-RU" sz="2000" dirty="0" smtClean="0"/>
              <a:t>последовательности порядка </a:t>
            </a:r>
            <a:r>
              <a:rPr lang="en-US" sz="2000" dirty="0" smtClean="0"/>
              <a:t>n </a:t>
            </a:r>
            <a:r>
              <a:rPr lang="ru-RU" sz="2000" dirty="0" smtClean="0"/>
              <a:t>даёт число не большее, чем </a:t>
            </a:r>
            <a:r>
              <a:rPr lang="en-US" sz="2000" dirty="0" smtClean="0"/>
              <a:t>n+1</a:t>
            </a:r>
            <a:r>
              <a:rPr lang="ru-RU" sz="2000" dirty="0" smtClean="0"/>
              <a:t>, вставляем между этими дробями их медианту, равную отношению суммы их числителей к сумме их знаменателей.</a:t>
            </a:r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292" y="4990011"/>
            <a:ext cx="3566159" cy="1867989"/>
          </a:xfrm>
          <a:prstGeom prst="rect">
            <a:avLst/>
          </a:prstGeom>
        </p:spPr>
      </p:pic>
      <p:sp>
        <p:nvSpPr>
          <p:cNvPr id="10" name="Стрелка вправо 9"/>
          <p:cNvSpPr/>
          <p:nvPr/>
        </p:nvSpPr>
        <p:spPr>
          <a:xfrm>
            <a:off x="4572000" y="5342709"/>
            <a:ext cx="3226526" cy="13846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Последовательности </a:t>
            </a:r>
            <a:r>
              <a:rPr lang="ru-RU" dirty="0" err="1" smtClean="0"/>
              <a:t>Фарея</a:t>
            </a:r>
            <a:r>
              <a:rPr lang="ru-RU" dirty="0" smtClean="0"/>
              <a:t> для </a:t>
            </a:r>
            <a:r>
              <a:rPr lang="en-US" dirty="0" smtClean="0"/>
              <a:t>n</a:t>
            </a:r>
            <a:r>
              <a:rPr lang="ru-RU" dirty="0" smtClean="0"/>
              <a:t> от 1 до 3: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89375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75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25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25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25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25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5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76994" y="1637210"/>
            <a:ext cx="9897881" cy="377762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9600" dirty="0" smtClean="0"/>
              <a:t>       </a:t>
            </a:r>
            <a:r>
              <a:rPr lang="ru-RU" sz="9600" dirty="0" smtClean="0"/>
              <a:t>КОД ПРОГРАММЫ:</a:t>
            </a:r>
            <a:endParaRPr lang="ru-RU" sz="9600" dirty="0"/>
          </a:p>
        </p:txBody>
      </p:sp>
    </p:spTree>
    <p:extLst>
      <p:ext uri="{BB962C8B-B14F-4D97-AF65-F5344CB8AC3E}">
        <p14:creationId xmlns:p14="http://schemas.microsoft.com/office/powerpoint/2010/main" val="723925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89212" y="258350"/>
            <a:ext cx="8911687" cy="695239"/>
          </a:xfrm>
        </p:spPr>
        <p:txBody>
          <a:bodyPr/>
          <a:lstStyle/>
          <a:p>
            <a:r>
              <a:rPr lang="ru-RU" dirty="0" smtClean="0"/>
              <a:t>Написание кода программы: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1486" y="1267098"/>
            <a:ext cx="5535885" cy="5290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#include&lt;</a:t>
            </a:r>
            <a:r>
              <a:rPr lang="en-US" sz="3200" dirty="0" err="1">
                <a:solidFill>
                  <a:schemeClr val="tx1"/>
                </a:solidFill>
              </a:rPr>
              <a:t>iostream</a:t>
            </a:r>
            <a:r>
              <a:rPr lang="en-US" sz="3200" dirty="0">
                <a:solidFill>
                  <a:schemeClr val="tx1"/>
                </a:solidFill>
              </a:rPr>
              <a:t>&gt;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using namespace </a:t>
            </a:r>
            <a:r>
              <a:rPr lang="en-US" sz="3200" dirty="0" err="1">
                <a:solidFill>
                  <a:schemeClr val="tx1"/>
                </a:solidFill>
              </a:rPr>
              <a:t>std</a:t>
            </a:r>
            <a:r>
              <a:rPr lang="en-US" sz="3200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3200" dirty="0" err="1">
                <a:solidFill>
                  <a:schemeClr val="tx1"/>
                </a:solidFill>
              </a:rPr>
              <a:t>struct</a:t>
            </a:r>
            <a:r>
              <a:rPr lang="en-US" sz="3200" dirty="0">
                <a:solidFill>
                  <a:schemeClr val="tx1"/>
                </a:solidFill>
              </a:rPr>
              <a:t> node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{ 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     </a:t>
            </a:r>
            <a:r>
              <a:rPr lang="en-US" sz="3200" dirty="0" err="1">
                <a:solidFill>
                  <a:schemeClr val="tx1"/>
                </a:solidFill>
              </a:rPr>
              <a:t>int</a:t>
            </a:r>
            <a:r>
              <a:rPr lang="en-US" sz="3200" dirty="0">
                <a:solidFill>
                  <a:schemeClr val="tx1"/>
                </a:solidFill>
              </a:rPr>
              <a:t> info1;// </a:t>
            </a:r>
            <a:r>
              <a:rPr lang="ru-RU" sz="3200" dirty="0">
                <a:solidFill>
                  <a:schemeClr val="tx1"/>
                </a:solidFill>
              </a:rPr>
              <a:t>числитель</a:t>
            </a:r>
          </a:p>
          <a:p>
            <a:pPr marL="0" indent="0">
              <a:buNone/>
            </a:pPr>
            <a:r>
              <a:rPr lang="ru-RU" sz="3200" dirty="0">
                <a:solidFill>
                  <a:schemeClr val="tx1"/>
                </a:solidFill>
              </a:rPr>
              <a:t>     </a:t>
            </a:r>
            <a:r>
              <a:rPr lang="en-US" sz="3200" dirty="0" err="1" smtClean="0">
                <a:solidFill>
                  <a:schemeClr val="tx1"/>
                </a:solidFill>
              </a:rPr>
              <a:t>int</a:t>
            </a:r>
            <a:r>
              <a:rPr lang="ru-RU" sz="3200" dirty="0" smtClean="0">
                <a:solidFill>
                  <a:schemeClr val="tx1"/>
                </a:solidFill>
              </a:rPr>
              <a:t> </a:t>
            </a:r>
            <a:r>
              <a:rPr lang="en-US" sz="3200" dirty="0" smtClean="0">
                <a:solidFill>
                  <a:schemeClr val="tx1"/>
                </a:solidFill>
              </a:rPr>
              <a:t>info2;//</a:t>
            </a:r>
            <a:r>
              <a:rPr lang="ru-RU" sz="3200" dirty="0" smtClean="0">
                <a:solidFill>
                  <a:schemeClr val="tx1"/>
                </a:solidFill>
              </a:rPr>
              <a:t>знаменатель</a:t>
            </a:r>
            <a:endParaRPr lang="ru-RU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3200" dirty="0">
                <a:solidFill>
                  <a:schemeClr val="tx1"/>
                </a:solidFill>
              </a:rPr>
              <a:t>    </a:t>
            </a:r>
            <a:r>
              <a:rPr lang="en-US" sz="3200" dirty="0">
                <a:solidFill>
                  <a:schemeClr val="tx1"/>
                </a:solidFill>
              </a:rPr>
              <a:t>node*next;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};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7498080" y="1449977"/>
            <a:ext cx="4002819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Подключаем стандартные библиотеки </a:t>
            </a:r>
          </a:p>
          <a:p>
            <a:pPr algn="ctr"/>
            <a:r>
              <a:rPr lang="ru-RU" sz="2400" dirty="0" smtClean="0"/>
              <a:t>И создаем структуру, в которой описываем числитель и знаменатель для дроби, а также указатель на следующий элемент.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006272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750"/>
                            </p:stCondLst>
                            <p:childTnLst>
                              <p:par>
                                <p:cTn id="48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750"/>
                            </p:stCondLst>
                            <p:childTnLst>
                              <p:par>
                                <p:cTn id="57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12321"/>
          </a:xfrm>
        </p:spPr>
        <p:txBody>
          <a:bodyPr/>
          <a:lstStyle/>
          <a:p>
            <a:r>
              <a:rPr lang="ru-RU" dirty="0"/>
              <a:t>Написание кода программы: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3723" y="1336430"/>
            <a:ext cx="6189785" cy="53457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void </a:t>
            </a:r>
            <a:r>
              <a:rPr lang="en-US" sz="2800" dirty="0" err="1"/>
              <a:t>createListFarray</a:t>
            </a:r>
            <a:r>
              <a:rPr lang="en-US" sz="2800" dirty="0"/>
              <a:t>(node*&amp;top, </a:t>
            </a:r>
            <a:r>
              <a:rPr lang="en-US" sz="2800" dirty="0" err="1"/>
              <a:t>int</a:t>
            </a:r>
            <a:r>
              <a:rPr lang="en-US" sz="2800" dirty="0"/>
              <a:t> n)</a:t>
            </a:r>
          </a:p>
          <a:p>
            <a:pPr marL="0" indent="0">
              <a:buNone/>
            </a:pPr>
            <a:r>
              <a:rPr lang="en-US" sz="2800" dirty="0"/>
              <a:t>{</a:t>
            </a:r>
          </a:p>
          <a:p>
            <a:pPr marL="0" indent="0">
              <a:buNone/>
            </a:pPr>
            <a:r>
              <a:rPr lang="en-US" sz="2800" dirty="0"/>
              <a:t>    node*p,*r, *c;</a:t>
            </a:r>
          </a:p>
          <a:p>
            <a:pPr marL="0" indent="0">
              <a:buNone/>
            </a:pPr>
            <a:r>
              <a:rPr lang="en-US" sz="2800" dirty="0"/>
              <a:t>    </a:t>
            </a:r>
            <a:r>
              <a:rPr lang="en-US" sz="2800" dirty="0" err="1"/>
              <a:t>int</a:t>
            </a:r>
            <a:r>
              <a:rPr lang="en-US" sz="2800" dirty="0"/>
              <a:t> </a:t>
            </a:r>
            <a:r>
              <a:rPr lang="en-US" sz="2800" dirty="0" err="1"/>
              <a:t>a,b,k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/>
              <a:t>    p=new node; </a:t>
            </a:r>
          </a:p>
          <a:p>
            <a:pPr marL="0" indent="0">
              <a:buNone/>
            </a:pPr>
            <a:r>
              <a:rPr lang="en-US" sz="2800" dirty="0"/>
              <a:t>	top=p;</a:t>
            </a:r>
          </a:p>
          <a:p>
            <a:pPr marL="0" indent="0">
              <a:buNone/>
            </a:pPr>
            <a:r>
              <a:rPr lang="en-US" sz="2800" dirty="0"/>
              <a:t>	p-&gt;info1=1;</a:t>
            </a:r>
          </a:p>
          <a:p>
            <a:pPr marL="0" indent="0">
              <a:buNone/>
            </a:pPr>
            <a:r>
              <a:rPr lang="en-US" sz="2800" dirty="0"/>
              <a:t>	p-&gt;info2=0;</a:t>
            </a:r>
          </a:p>
          <a:p>
            <a:pPr marL="0" indent="0">
              <a:buNone/>
            </a:pP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6963508" y="1193136"/>
            <a:ext cx="5035176" cy="563231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Напишем функцию для создания </a:t>
            </a:r>
          </a:p>
          <a:p>
            <a:pPr algn="ctr"/>
            <a:r>
              <a:rPr lang="ru-RU" sz="2400" dirty="0" smtClean="0"/>
              <a:t>Ряда </a:t>
            </a:r>
            <a:r>
              <a:rPr lang="ru-RU" sz="2400" dirty="0" err="1" smtClean="0"/>
              <a:t>Фарея</a:t>
            </a:r>
            <a:r>
              <a:rPr lang="ru-RU" sz="2400" dirty="0" smtClean="0"/>
              <a:t>, входными параметрами </a:t>
            </a:r>
          </a:p>
          <a:p>
            <a:pPr algn="ctr"/>
            <a:r>
              <a:rPr lang="ru-RU" sz="2400" dirty="0"/>
              <a:t>б</a:t>
            </a:r>
            <a:r>
              <a:rPr lang="ru-RU" sz="2400" dirty="0" smtClean="0"/>
              <a:t>удут являться указатель на начало </a:t>
            </a:r>
          </a:p>
          <a:p>
            <a:pPr algn="ctr"/>
            <a:r>
              <a:rPr lang="ru-RU" sz="2400" dirty="0" smtClean="0"/>
              <a:t>списка дробей и их размерность;</a:t>
            </a:r>
          </a:p>
          <a:p>
            <a:pPr algn="ctr"/>
            <a:r>
              <a:rPr lang="ru-RU" sz="2400" dirty="0" smtClean="0"/>
              <a:t>Создадим указатели и </a:t>
            </a:r>
            <a:r>
              <a:rPr lang="ru-RU" sz="2400" dirty="0" err="1" smtClean="0"/>
              <a:t>переменые</a:t>
            </a:r>
            <a:r>
              <a:rPr lang="ru-RU" sz="2400" dirty="0" smtClean="0"/>
              <a:t>, </a:t>
            </a:r>
          </a:p>
          <a:p>
            <a:pPr algn="ctr"/>
            <a:r>
              <a:rPr lang="ru-RU" sz="2400" dirty="0" smtClean="0"/>
              <a:t>Встанем на начало списка и присвоим </a:t>
            </a:r>
          </a:p>
          <a:p>
            <a:pPr algn="ctr"/>
            <a:r>
              <a:rPr lang="ru-RU" sz="2400" dirty="0"/>
              <a:t>ч</a:t>
            </a:r>
            <a:r>
              <a:rPr lang="ru-RU" sz="2400" dirty="0" smtClean="0"/>
              <a:t>ислителю и знаменателю </a:t>
            </a:r>
            <a:r>
              <a:rPr lang="ru-RU" sz="2400" dirty="0" err="1" smtClean="0"/>
              <a:t>соответсвующие</a:t>
            </a:r>
            <a:r>
              <a:rPr lang="ru-RU" sz="2400" dirty="0" smtClean="0"/>
              <a:t> </a:t>
            </a:r>
          </a:p>
          <a:p>
            <a:pPr algn="ctr"/>
            <a:r>
              <a:rPr lang="ru-RU" sz="2400" dirty="0"/>
              <a:t>з</a:t>
            </a:r>
            <a:r>
              <a:rPr lang="ru-RU" sz="2400" dirty="0" smtClean="0"/>
              <a:t>начения.</a:t>
            </a:r>
          </a:p>
        </p:txBody>
      </p:sp>
    </p:spTree>
    <p:extLst>
      <p:ext uri="{BB962C8B-B14F-4D97-AF65-F5344CB8AC3E}">
        <p14:creationId xmlns:p14="http://schemas.microsoft.com/office/powerpoint/2010/main" val="22698712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750"/>
                            </p:stCondLst>
                            <p:childTnLst>
                              <p:par>
                                <p:cTn id="48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750"/>
                            </p:stCondLst>
                            <p:childTnLst>
                              <p:par>
                                <p:cTn id="69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750"/>
                            </p:stCondLst>
                            <p:childTnLst>
                              <p:par>
                                <p:cTn id="78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2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2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2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2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2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2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9862" y="206098"/>
            <a:ext cx="8911687" cy="677152"/>
          </a:xfrm>
        </p:spPr>
        <p:txBody>
          <a:bodyPr/>
          <a:lstStyle/>
          <a:p>
            <a:r>
              <a:rPr lang="ru-RU" dirty="0"/>
              <a:t>Написание кода программы: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5474" y="1301262"/>
            <a:ext cx="4245429" cy="55567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p-&gt;next=new node;</a:t>
            </a:r>
          </a:p>
          <a:p>
            <a:pPr marL="0" indent="0">
              <a:buNone/>
            </a:pPr>
            <a:r>
              <a:rPr lang="en-US" sz="3200" dirty="0"/>
              <a:t>	p=p-&gt;next;</a:t>
            </a:r>
          </a:p>
          <a:p>
            <a:pPr marL="0" indent="0">
              <a:buNone/>
            </a:pPr>
            <a:r>
              <a:rPr lang="en-US" sz="3200" dirty="0"/>
              <a:t>	p-&gt;info1=1;</a:t>
            </a:r>
          </a:p>
          <a:p>
            <a:pPr marL="0" indent="0">
              <a:buNone/>
            </a:pPr>
            <a:r>
              <a:rPr lang="en-US" sz="3200" dirty="0"/>
              <a:t>	p-&gt;info2=1;</a:t>
            </a:r>
          </a:p>
          <a:p>
            <a:pPr marL="0" indent="0">
              <a:buNone/>
            </a:pPr>
            <a:r>
              <a:rPr lang="en-US" sz="3200" dirty="0"/>
              <a:t>	p-&gt;next=NULL;</a:t>
            </a:r>
          </a:p>
          <a:p>
            <a:pPr marL="0" indent="0">
              <a:buNone/>
            </a:pPr>
            <a:r>
              <a:rPr lang="en-US" sz="3200" dirty="0"/>
              <a:t>	for(k=2;k&lt;=</a:t>
            </a:r>
            <a:r>
              <a:rPr lang="en-US" sz="3200" dirty="0" err="1"/>
              <a:t>n;k</a:t>
            </a:r>
            <a:r>
              <a:rPr lang="en-US" sz="3200" dirty="0"/>
              <a:t>++)</a:t>
            </a:r>
          </a:p>
          <a:p>
            <a:pPr marL="0" indent="0">
              <a:buNone/>
            </a:pPr>
            <a:r>
              <a:rPr lang="en-US" sz="3200" dirty="0"/>
              <a:t>	{</a:t>
            </a:r>
          </a:p>
          <a:p>
            <a:pPr marL="0" indent="0">
              <a:buNone/>
            </a:pPr>
            <a:r>
              <a:rPr lang="en-US" sz="3200" dirty="0"/>
              <a:t>		p=top;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315199" y="1301262"/>
            <a:ext cx="4376058" cy="48936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Создаём новый элемент,</a:t>
            </a:r>
          </a:p>
          <a:p>
            <a:pPr algn="ctr"/>
            <a:r>
              <a:rPr lang="ru-RU" sz="2400" dirty="0" smtClean="0"/>
              <a:t>и продвигаемся по списку;</a:t>
            </a:r>
          </a:p>
          <a:p>
            <a:pPr algn="ctr"/>
            <a:r>
              <a:rPr lang="ru-RU" sz="2400" dirty="0" smtClean="0"/>
              <a:t>Присвоим числителю и знаменателю </a:t>
            </a:r>
          </a:p>
          <a:p>
            <a:pPr algn="ctr"/>
            <a:r>
              <a:rPr lang="ru-RU" sz="2400" dirty="0" smtClean="0"/>
              <a:t>новое значение, которое будет равно </a:t>
            </a:r>
          </a:p>
          <a:p>
            <a:pPr algn="ctr"/>
            <a:r>
              <a:rPr lang="ru-RU" sz="2400" dirty="0" smtClean="0"/>
              <a:t>единице, что будет являться последним</a:t>
            </a:r>
          </a:p>
          <a:p>
            <a:pPr algn="ctr"/>
            <a:r>
              <a:rPr lang="ru-RU" sz="2400" dirty="0" smtClean="0"/>
              <a:t>элементом.</a:t>
            </a:r>
          </a:p>
          <a:p>
            <a:pPr algn="ctr"/>
            <a:r>
              <a:rPr lang="ru-RU" sz="2400" dirty="0" smtClean="0"/>
              <a:t>Запустим новый цикл и встанем на</a:t>
            </a:r>
          </a:p>
          <a:p>
            <a:pPr algn="ctr"/>
            <a:r>
              <a:rPr lang="ru-RU" sz="2400" dirty="0" smtClean="0"/>
              <a:t>начало списка. 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885373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750"/>
                            </p:stCondLst>
                            <p:childTnLst>
                              <p:par>
                                <p:cTn id="48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750"/>
                            </p:stCondLst>
                            <p:childTnLst>
                              <p:par>
                                <p:cTn id="61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2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2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750"/>
                            </p:stCondLst>
                            <p:childTnLst>
                              <p:par>
                                <p:cTn id="84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2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2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2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2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2925" y="219664"/>
            <a:ext cx="8911687" cy="712321"/>
          </a:xfrm>
        </p:spPr>
        <p:txBody>
          <a:bodyPr>
            <a:noAutofit/>
          </a:bodyPr>
          <a:lstStyle/>
          <a:p>
            <a:r>
              <a:rPr lang="ru-RU" sz="4400" dirty="0"/>
              <a:t>Написание кода программы: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8673" y="1283677"/>
            <a:ext cx="5710726" cy="51347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/>
              <a:t> while(p-&gt;next)</a:t>
            </a:r>
          </a:p>
          <a:p>
            <a:pPr marL="0" indent="0">
              <a:buNone/>
            </a:pPr>
            <a:r>
              <a:rPr lang="en-US" sz="4000" dirty="0"/>
              <a:t>	    {</a:t>
            </a:r>
          </a:p>
          <a:p>
            <a:pPr marL="0" indent="0">
              <a:buNone/>
            </a:pPr>
            <a:r>
              <a:rPr lang="en-US" sz="4000" dirty="0"/>
              <a:t>		  c=p;</a:t>
            </a:r>
          </a:p>
          <a:p>
            <a:pPr marL="0" indent="0">
              <a:buNone/>
            </a:pPr>
            <a:r>
              <a:rPr lang="en-US" sz="4000" dirty="0"/>
              <a:t>		  a=p-&gt;info1;</a:t>
            </a:r>
          </a:p>
          <a:p>
            <a:pPr marL="0" indent="0">
              <a:buNone/>
            </a:pPr>
            <a:r>
              <a:rPr lang="en-US" sz="4000" dirty="0"/>
              <a:t>		  b=p-&gt;info2;</a:t>
            </a:r>
          </a:p>
          <a:p>
            <a:pPr marL="0" indent="0">
              <a:buNone/>
            </a:pPr>
            <a:r>
              <a:rPr lang="en-US" sz="4000" dirty="0"/>
              <a:t>		  p=p-&gt;next;</a:t>
            </a:r>
            <a:endParaRPr lang="ru-RU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6450890" y="1723293"/>
            <a:ext cx="5559401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Пока список есть, присваиваем </a:t>
            </a:r>
          </a:p>
          <a:p>
            <a:pPr algn="ctr"/>
            <a:r>
              <a:rPr lang="ru-RU" sz="2400" dirty="0"/>
              <a:t>в</a:t>
            </a:r>
            <a:r>
              <a:rPr lang="ru-RU" sz="2400" dirty="0" smtClean="0"/>
              <a:t>веденным переменным</a:t>
            </a:r>
          </a:p>
          <a:p>
            <a:pPr algn="ctr"/>
            <a:r>
              <a:rPr lang="ru-RU" sz="2400" dirty="0"/>
              <a:t>з</a:t>
            </a:r>
            <a:r>
              <a:rPr lang="ru-RU" sz="2400" dirty="0" smtClean="0"/>
              <a:t>начение числителя и знаменателя.</a:t>
            </a:r>
          </a:p>
          <a:p>
            <a:pPr algn="ctr"/>
            <a:r>
              <a:rPr lang="ru-RU" sz="2400" dirty="0" smtClean="0"/>
              <a:t>Продвигаемся по списку к </a:t>
            </a:r>
          </a:p>
          <a:p>
            <a:pPr algn="ctr"/>
            <a:r>
              <a:rPr lang="ru-RU" sz="2400" dirty="0"/>
              <a:t>с</a:t>
            </a:r>
            <a:r>
              <a:rPr lang="ru-RU" sz="2400" dirty="0" smtClean="0"/>
              <a:t>ледующему элементу.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166743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750"/>
                            </p:stCondLst>
                            <p:childTnLst>
                              <p:par>
                                <p:cTn id="63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89211" y="0"/>
            <a:ext cx="8911687" cy="589228"/>
          </a:xfrm>
        </p:spPr>
        <p:txBody>
          <a:bodyPr>
            <a:noAutofit/>
          </a:bodyPr>
          <a:lstStyle/>
          <a:p>
            <a:r>
              <a:rPr lang="ru-RU" sz="4000" dirty="0"/>
              <a:t>Написание кода программы: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51912" y="589228"/>
            <a:ext cx="7018365" cy="60842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400" dirty="0"/>
              <a:t> if(p-&gt;info1+a==k)</a:t>
            </a:r>
          </a:p>
          <a:p>
            <a:pPr marL="0" indent="0">
              <a:buNone/>
            </a:pPr>
            <a:r>
              <a:rPr lang="en-US" sz="3400" dirty="0"/>
              <a:t>		  {</a:t>
            </a:r>
          </a:p>
          <a:p>
            <a:pPr marL="0" indent="0">
              <a:buNone/>
            </a:pPr>
            <a:r>
              <a:rPr lang="en-US" sz="3400" dirty="0"/>
              <a:t>			  r=new node;</a:t>
            </a:r>
          </a:p>
          <a:p>
            <a:pPr marL="0" indent="0">
              <a:buNone/>
            </a:pPr>
            <a:r>
              <a:rPr lang="en-US" sz="3400" dirty="0"/>
              <a:t>			  r-&gt;info1=k;</a:t>
            </a:r>
          </a:p>
          <a:p>
            <a:pPr marL="0" indent="0">
              <a:buNone/>
            </a:pPr>
            <a:r>
              <a:rPr lang="en-US" sz="3400" dirty="0"/>
              <a:t>			  r-&gt;info2=p-&gt;info2+b;</a:t>
            </a:r>
          </a:p>
          <a:p>
            <a:pPr marL="0" indent="0">
              <a:buNone/>
            </a:pPr>
            <a:r>
              <a:rPr lang="en-US" sz="3400" dirty="0"/>
              <a:t>			  r-&gt;next=p;</a:t>
            </a:r>
          </a:p>
          <a:p>
            <a:pPr marL="0" indent="0">
              <a:buNone/>
            </a:pPr>
            <a:r>
              <a:rPr lang="en-US" sz="3400" dirty="0"/>
              <a:t>			  c-&gt;next=r</a:t>
            </a:r>
            <a:r>
              <a:rPr lang="en-US" sz="3400" dirty="0" smtClean="0"/>
              <a:t>; </a:t>
            </a:r>
            <a:r>
              <a:rPr lang="en-US" sz="3400" dirty="0"/>
              <a:t>}</a:t>
            </a:r>
          </a:p>
          <a:p>
            <a:pPr marL="0" indent="0">
              <a:buNone/>
            </a:pPr>
            <a:r>
              <a:rPr lang="en-US" sz="3400" dirty="0"/>
              <a:t>	  </a:t>
            </a:r>
            <a:r>
              <a:rPr lang="en-US" sz="3400" dirty="0" smtClean="0"/>
              <a:t>}</a:t>
            </a:r>
            <a:r>
              <a:rPr lang="en-US" sz="3400" dirty="0"/>
              <a:t>	</a:t>
            </a:r>
            <a:endParaRPr lang="ru-RU" sz="3400" dirty="0" smtClean="0"/>
          </a:p>
          <a:p>
            <a:pPr marL="0" indent="0">
              <a:buNone/>
            </a:pPr>
            <a:r>
              <a:rPr lang="en-US" sz="3400" dirty="0" smtClean="0"/>
              <a:t>}</a:t>
            </a:r>
            <a:r>
              <a:rPr lang="ru-RU" sz="3400" dirty="0" smtClean="0"/>
              <a:t>   </a:t>
            </a:r>
            <a:r>
              <a:rPr lang="en-US" sz="3400" dirty="0" smtClean="0"/>
              <a:t>}</a:t>
            </a:r>
            <a:endParaRPr lang="ru-RU" sz="3400" dirty="0"/>
          </a:p>
        </p:txBody>
      </p:sp>
      <p:sp>
        <p:nvSpPr>
          <p:cNvPr id="4" name="TextBox 3"/>
          <p:cNvSpPr txBox="1"/>
          <p:nvPr/>
        </p:nvSpPr>
        <p:spPr>
          <a:xfrm>
            <a:off x="7385537" y="984738"/>
            <a:ext cx="4560278" cy="38164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800" dirty="0" smtClean="0"/>
              <a:t>Если числитель +</a:t>
            </a:r>
            <a:r>
              <a:rPr lang="ru-RU" sz="2800" dirty="0"/>
              <a:t>а равен </a:t>
            </a:r>
            <a:r>
              <a:rPr lang="ru-RU" sz="2800" dirty="0" smtClean="0"/>
              <a:t>к, то добавляем новый элемент.</a:t>
            </a:r>
          </a:p>
          <a:p>
            <a:pPr algn="ctr"/>
            <a:r>
              <a:rPr lang="ru-RU" sz="2800" dirty="0" smtClean="0"/>
              <a:t>Присваиваем знаменателю значение +</a:t>
            </a:r>
            <a:r>
              <a:rPr lang="en-US" sz="2800" dirty="0" smtClean="0"/>
              <a:t>b</a:t>
            </a:r>
            <a:r>
              <a:rPr lang="ru-RU" sz="2800" dirty="0" smtClean="0"/>
              <a:t>.</a:t>
            </a:r>
          </a:p>
          <a:p>
            <a:pPr algn="ctr"/>
            <a:r>
              <a:rPr lang="ru-RU" sz="2800" dirty="0" smtClean="0"/>
              <a:t>Продвигаемся по списку.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3410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750"/>
                            </p:stCondLst>
                            <p:childTnLst>
                              <p:par>
                                <p:cTn id="52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750"/>
                            </p:stCondLst>
                            <p:childTnLst>
                              <p:par>
                                <p:cTn id="63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750"/>
                            </p:stCondLst>
                            <p:childTnLst>
                              <p:par>
                                <p:cTn id="72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89212" y="0"/>
            <a:ext cx="8911687" cy="694736"/>
          </a:xfrm>
        </p:spPr>
        <p:txBody>
          <a:bodyPr/>
          <a:lstStyle/>
          <a:p>
            <a:r>
              <a:rPr lang="ru-RU" dirty="0"/>
              <a:t>Написание кода программы: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5708" y="694735"/>
            <a:ext cx="5380892" cy="63039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</a:t>
            </a:r>
            <a:r>
              <a:rPr lang="en-US" sz="2400" dirty="0" err="1"/>
              <a:t>showFarray</a:t>
            </a:r>
            <a:r>
              <a:rPr lang="en-US" sz="2400" dirty="0"/>
              <a:t>(node*top)</a:t>
            </a:r>
          </a:p>
          <a:p>
            <a:pPr marL="0" indent="0">
              <a:buNone/>
            </a:pP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	node*p;</a:t>
            </a:r>
          </a:p>
          <a:p>
            <a:pPr marL="0" indent="0">
              <a:buNone/>
            </a:pPr>
            <a:r>
              <a:rPr lang="en-US" sz="2400" dirty="0"/>
              <a:t>	p=top;</a:t>
            </a:r>
          </a:p>
          <a:p>
            <a:pPr marL="0" indent="0">
              <a:buNone/>
            </a:pPr>
            <a:r>
              <a:rPr lang="en-US" sz="2400" dirty="0"/>
              <a:t>	while(p)</a:t>
            </a:r>
          </a:p>
          <a:p>
            <a:pPr marL="0" indent="0">
              <a:buNone/>
            </a:pPr>
            <a:r>
              <a:rPr lang="en-US" sz="2400" dirty="0"/>
              <a:t>		{</a:t>
            </a:r>
          </a:p>
          <a:p>
            <a:pPr marL="0" indent="0">
              <a:buNone/>
            </a:pPr>
            <a:r>
              <a:rPr lang="en-US" sz="2400" dirty="0"/>
              <a:t>			</a:t>
            </a:r>
            <a:r>
              <a:rPr lang="en-US" sz="2400" dirty="0" err="1"/>
              <a:t>cout</a:t>
            </a:r>
            <a:r>
              <a:rPr lang="en-US" sz="2400" dirty="0"/>
              <a:t>&lt;&lt;p-&gt;info2&lt;&lt;"/"&lt;&lt;p-&gt;info1&lt;&lt;',';</a:t>
            </a:r>
          </a:p>
          <a:p>
            <a:pPr marL="0" indent="0">
              <a:buNone/>
            </a:pPr>
            <a:r>
              <a:rPr lang="en-US" sz="2400" dirty="0"/>
              <a:t>			p=p-&gt;next;</a:t>
            </a:r>
          </a:p>
          <a:p>
            <a:pPr marL="0" indent="0">
              <a:buNone/>
            </a:pPr>
            <a:r>
              <a:rPr lang="en-US" sz="2400" dirty="0"/>
              <a:t>		}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cout</a:t>
            </a:r>
            <a:r>
              <a:rPr lang="en-US" sz="2400" dirty="0"/>
              <a:t>&lt;&lt;</a:t>
            </a:r>
            <a:r>
              <a:rPr lang="en-US" sz="2400" dirty="0" err="1"/>
              <a:t>endl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516387" y="1090247"/>
            <a:ext cx="5554726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sz="2400" dirty="0" smtClean="0"/>
              <a:t>Создадим функцию для вывода </a:t>
            </a:r>
          </a:p>
          <a:p>
            <a:pPr algn="ctr"/>
            <a:r>
              <a:rPr lang="ru-RU" sz="2400" dirty="0" smtClean="0"/>
              <a:t>Ряда </a:t>
            </a:r>
            <a:r>
              <a:rPr lang="ru-RU" sz="2400" dirty="0" err="1" smtClean="0"/>
              <a:t>Фарея</a:t>
            </a:r>
            <a:r>
              <a:rPr lang="ru-RU" sz="2400" dirty="0" smtClean="0"/>
              <a:t>.</a:t>
            </a:r>
          </a:p>
          <a:p>
            <a:pPr algn="ctr"/>
            <a:r>
              <a:rPr lang="ru-RU" sz="2400" dirty="0" smtClean="0"/>
              <a:t>Встанем на начало списка и пока</a:t>
            </a:r>
          </a:p>
          <a:p>
            <a:pPr algn="ctr"/>
            <a:r>
              <a:rPr lang="ru-RU" sz="2400" dirty="0"/>
              <a:t>о</a:t>
            </a:r>
            <a:r>
              <a:rPr lang="ru-RU" sz="2400" dirty="0" smtClean="0"/>
              <a:t>н есть будем выводить через </a:t>
            </a:r>
          </a:p>
          <a:p>
            <a:pPr algn="ctr"/>
            <a:r>
              <a:rPr lang="ru-RU" sz="2400" dirty="0"/>
              <a:t>з</a:t>
            </a:r>
            <a:r>
              <a:rPr lang="ru-RU" sz="2400" dirty="0" smtClean="0"/>
              <a:t>апятую дроби.</a:t>
            </a:r>
          </a:p>
          <a:p>
            <a:pPr algn="ctr"/>
            <a:r>
              <a:rPr lang="ru-RU" sz="2400" dirty="0" smtClean="0"/>
              <a:t>Переход на новую строку.</a:t>
            </a:r>
          </a:p>
        </p:txBody>
      </p:sp>
    </p:spTree>
    <p:extLst>
      <p:ext uri="{BB962C8B-B14F-4D97-AF65-F5344CB8AC3E}">
        <p14:creationId xmlns:p14="http://schemas.microsoft.com/office/powerpoint/2010/main" val="16579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2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25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25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750"/>
                            </p:stCondLst>
                            <p:childTnLst>
                              <p:par>
                                <p:cTn id="60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750"/>
                            </p:stCondLst>
                            <p:childTnLst>
                              <p:par>
                                <p:cTn id="71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750"/>
                            </p:stCondLst>
                            <p:childTnLst>
                              <p:par>
                                <p:cTn id="100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2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2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99494" y="0"/>
            <a:ext cx="8911687" cy="677152"/>
          </a:xfrm>
        </p:spPr>
        <p:txBody>
          <a:bodyPr/>
          <a:lstStyle/>
          <a:p>
            <a:r>
              <a:rPr lang="ru-RU" dirty="0"/>
              <a:t>Написание кода программы: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47446" y="844062"/>
            <a:ext cx="7121769" cy="60139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void main()</a:t>
            </a:r>
          </a:p>
          <a:p>
            <a:pPr marL="0" indent="0">
              <a:buNone/>
            </a:pP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	node*</a:t>
            </a:r>
            <a:r>
              <a:rPr lang="en-US" sz="2400" dirty="0" err="1"/>
              <a:t>list_Farray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int</a:t>
            </a:r>
            <a:r>
              <a:rPr lang="en-US" sz="2400" dirty="0"/>
              <a:t> n;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cout</a:t>
            </a:r>
            <a:r>
              <a:rPr lang="en-US" sz="2400" dirty="0"/>
              <a:t>&lt;&lt;"enter order of row  </a:t>
            </a:r>
            <a:r>
              <a:rPr lang="en-US" sz="2400" dirty="0" err="1"/>
              <a:t>Farray</a:t>
            </a:r>
            <a:r>
              <a:rPr lang="en-US" sz="2400" dirty="0"/>
              <a:t>"&lt;&lt;</a:t>
            </a:r>
            <a:r>
              <a:rPr lang="en-US" sz="2400" dirty="0" err="1"/>
              <a:t>endl</a:t>
            </a:r>
            <a:r>
              <a:rPr lang="en-US" sz="2400" dirty="0"/>
              <a:t>&lt;&lt;"n=";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cin</a:t>
            </a:r>
            <a:r>
              <a:rPr lang="en-US" sz="2400" dirty="0"/>
              <a:t>&gt;&gt;n;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createListFarray</a:t>
            </a:r>
            <a:r>
              <a:rPr lang="en-US" sz="2400" dirty="0"/>
              <a:t>( </a:t>
            </a:r>
            <a:r>
              <a:rPr lang="en-US" sz="2400" dirty="0" err="1"/>
              <a:t>list_Farray</a:t>
            </a:r>
            <a:r>
              <a:rPr lang="en-US" sz="2400" dirty="0"/>
              <a:t> , n );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cout</a:t>
            </a:r>
            <a:r>
              <a:rPr lang="en-US" sz="2400" dirty="0"/>
              <a:t>&lt;&lt;"Row of  </a:t>
            </a:r>
            <a:r>
              <a:rPr lang="en-US" sz="2400" dirty="0" err="1"/>
              <a:t>Farray</a:t>
            </a:r>
            <a:r>
              <a:rPr lang="en-US" sz="2400" dirty="0"/>
              <a:t>"&lt;&lt;</a:t>
            </a:r>
            <a:r>
              <a:rPr lang="en-US" sz="2400" dirty="0" err="1"/>
              <a:t>endl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showFarray</a:t>
            </a:r>
            <a:r>
              <a:rPr lang="en-US" sz="2400" dirty="0"/>
              <a:t>(</a:t>
            </a:r>
            <a:r>
              <a:rPr lang="en-US" sz="2400" dirty="0" err="1"/>
              <a:t>list_Farray</a:t>
            </a:r>
            <a:r>
              <a:rPr lang="en-US" sz="2400" dirty="0"/>
              <a:t>);</a:t>
            </a:r>
          </a:p>
          <a:p>
            <a:pPr marL="0" indent="0">
              <a:buNone/>
            </a:pPr>
            <a:r>
              <a:rPr lang="en-US" sz="2400" dirty="0"/>
              <a:t>	system ("pause");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431219" y="1248508"/>
            <a:ext cx="5256567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sz="2400" dirty="0" smtClean="0"/>
              <a:t>Опишем главную функцию.</a:t>
            </a:r>
          </a:p>
          <a:p>
            <a:pPr algn="ctr"/>
            <a:r>
              <a:rPr lang="ru-RU" sz="2400" dirty="0" smtClean="0"/>
              <a:t>Создадим указатель на список, </a:t>
            </a:r>
          </a:p>
          <a:p>
            <a:pPr algn="ctr"/>
            <a:r>
              <a:rPr lang="ru-RU" sz="2400" dirty="0" smtClean="0"/>
              <a:t>и введем порядок дробей.</a:t>
            </a:r>
          </a:p>
          <a:p>
            <a:pPr algn="ctr"/>
            <a:r>
              <a:rPr lang="ru-RU" sz="2400" dirty="0" smtClean="0"/>
              <a:t>Создадим список,</a:t>
            </a:r>
          </a:p>
          <a:p>
            <a:pPr algn="ctr"/>
            <a:r>
              <a:rPr lang="ru-RU" sz="2400" dirty="0" smtClean="0"/>
              <a:t> заполненный дробями</a:t>
            </a:r>
          </a:p>
          <a:p>
            <a:pPr algn="ctr"/>
            <a:r>
              <a:rPr lang="ru-RU" sz="2400" dirty="0" smtClean="0"/>
              <a:t>и выведем его на экран.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1874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2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2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25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25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25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750"/>
                            </p:stCondLst>
                            <p:childTnLst>
                              <p:par>
                                <p:cTn id="60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750"/>
                            </p:stCondLst>
                            <p:childTnLst>
                              <p:par>
                                <p:cTn id="67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750"/>
                            </p:stCondLst>
                            <p:childTnLst>
                              <p:par>
                                <p:cTn id="86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2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2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9750"/>
                            </p:stCondLst>
                            <p:childTnLst>
                              <p:par>
                                <p:cTn id="105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-211016" y="298938"/>
            <a:ext cx="12995031" cy="6559062"/>
          </a:xfrm>
        </p:spPr>
        <p:txBody>
          <a:bodyPr>
            <a:normAutofit/>
          </a:bodyPr>
          <a:lstStyle/>
          <a:p>
            <a:pPr marL="400050" lvl="1" indent="0" algn="just">
              <a:buNone/>
            </a:pPr>
            <a:endParaRPr lang="ru-RU" sz="6000" dirty="0" smtClean="0"/>
          </a:p>
          <a:p>
            <a:pPr marL="400050" lvl="1" indent="0" algn="just">
              <a:buNone/>
            </a:pPr>
            <a:endParaRPr lang="ru-RU" sz="6000" dirty="0"/>
          </a:p>
          <a:p>
            <a:pPr marL="400050" lvl="1" indent="0" algn="just">
              <a:buNone/>
            </a:pPr>
            <a:r>
              <a:rPr lang="ru-RU" sz="80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Спасибо за внимание!</a:t>
            </a:r>
            <a:endParaRPr lang="ru-RU" sz="80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821278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3150</TotalTime>
  <Words>450</Words>
  <Application>Microsoft Office PowerPoint</Application>
  <PresentationFormat>Широкоэкранный</PresentationFormat>
  <Paragraphs>124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Легкий дым</vt:lpstr>
      <vt:lpstr>Ряд Фарея</vt:lpstr>
      <vt:lpstr>Джон Фарей (1776 – 1826)</vt:lpstr>
      <vt:lpstr>Рядом Фарея порядка n называется возрастающая последовательность неотрицательных несократимых дробей, не превосходящих 1, со знаменателем, не превосходящих n. </vt:lpstr>
      <vt:lpstr>Презентация PowerPoint</vt:lpstr>
      <vt:lpstr>Написание кода программы:</vt:lpstr>
      <vt:lpstr>Написание кода программы:</vt:lpstr>
      <vt:lpstr>Написание кода программы:</vt:lpstr>
      <vt:lpstr>Написание кода программы:</vt:lpstr>
      <vt:lpstr>Написание кода программы:</vt:lpstr>
      <vt:lpstr>Написание кода программы:</vt:lpstr>
      <vt:lpstr>Написание кода программы: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Ряд Фарея</dc:title>
  <dc:creator>Пользователь Windows</dc:creator>
  <cp:lastModifiedBy>Varya Lysova</cp:lastModifiedBy>
  <cp:revision>53</cp:revision>
  <dcterms:created xsi:type="dcterms:W3CDTF">2017-11-29T13:09:19Z</dcterms:created>
  <dcterms:modified xsi:type="dcterms:W3CDTF">2017-12-26T07:09:36Z</dcterms:modified>
</cp:coreProperties>
</file>