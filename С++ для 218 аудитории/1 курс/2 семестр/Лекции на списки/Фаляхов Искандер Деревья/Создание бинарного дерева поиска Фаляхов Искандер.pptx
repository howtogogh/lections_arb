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6" r:id="rId9"/>
    <p:sldId id="268" r:id="rId10"/>
    <p:sldId id="269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64" r:id="rId19"/>
    <p:sldId id="26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58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4E68B-0552-4696-A417-C946BF72CD50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78288-A4F2-422C-8FF6-8CFD526C49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89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78288-A4F2-422C-8FF6-8CFD526C494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480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78288-A4F2-422C-8FF6-8CFD526C494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328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78288-A4F2-422C-8FF6-8CFD526C494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04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261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34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32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39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49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57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654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32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3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49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57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4558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025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501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997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659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91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895102B-B04E-4C47-9D4E-F9A0149CB8BC}" type="datetimeFigureOut">
              <a:rPr lang="ru-RU" smtClean="0"/>
              <a:t>24.04.2017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E1F75DE-6832-4EAB-8F5B-24ABD10DC5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733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7884"/>
            <a:ext cx="12262341" cy="700588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59170" y="4901183"/>
            <a:ext cx="9144000" cy="931355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tx1"/>
                </a:solidFill>
                <a:latin typeface="+mn-lt"/>
              </a:rPr>
              <a:t>Деревья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222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Определение дерева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648454"/>
              </p:ext>
            </p:extLst>
          </p:nvPr>
        </p:nvGraphicFramePr>
        <p:xfrm>
          <a:off x="8321040" y="142094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144452"/>
              </p:ext>
            </p:extLst>
          </p:nvPr>
        </p:nvGraphicFramePr>
        <p:xfrm>
          <a:off x="8321040" y="196043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30859"/>
              </p:ext>
            </p:extLst>
          </p:nvPr>
        </p:nvGraphicFramePr>
        <p:xfrm>
          <a:off x="9281160" y="196043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3" name="Прямая со стрелкой 12"/>
          <p:cNvCxnSpPr>
            <a:cxnSpLocks/>
          </p:cNvCxnSpPr>
          <p:nvPr/>
        </p:nvCxnSpPr>
        <p:spPr>
          <a:xfrm flipH="1">
            <a:off x="8193001" y="2212848"/>
            <a:ext cx="70197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9662160" y="2228088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0634545"/>
              </p:ext>
            </p:extLst>
          </p:nvPr>
        </p:nvGraphicFramePr>
        <p:xfrm>
          <a:off x="7104888" y="3054668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763106"/>
              </p:ext>
            </p:extLst>
          </p:nvPr>
        </p:nvGraphicFramePr>
        <p:xfrm>
          <a:off x="7104888" y="3594164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099218"/>
              </p:ext>
            </p:extLst>
          </p:nvPr>
        </p:nvGraphicFramePr>
        <p:xfrm>
          <a:off x="8065008" y="3594164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5311085"/>
              </p:ext>
            </p:extLst>
          </p:nvPr>
        </p:nvGraphicFramePr>
        <p:xfrm>
          <a:off x="9415272" y="305162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47941"/>
              </p:ext>
            </p:extLst>
          </p:nvPr>
        </p:nvGraphicFramePr>
        <p:xfrm>
          <a:off x="9415272" y="359111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078666"/>
              </p:ext>
            </p:extLst>
          </p:nvPr>
        </p:nvGraphicFramePr>
        <p:xfrm>
          <a:off x="10375392" y="359111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5" name="Прямая со стрелкой 24"/>
          <p:cNvCxnSpPr/>
          <p:nvPr/>
        </p:nvCxnSpPr>
        <p:spPr>
          <a:xfrm flipH="1">
            <a:off x="6592824" y="3956304"/>
            <a:ext cx="966216" cy="719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128053"/>
              </p:ext>
            </p:extLst>
          </p:nvPr>
        </p:nvGraphicFramePr>
        <p:xfrm>
          <a:off x="5515356" y="4779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6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56937"/>
              </p:ext>
            </p:extLst>
          </p:nvPr>
        </p:nvGraphicFramePr>
        <p:xfrm>
          <a:off x="5515356" y="5318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60509"/>
              </p:ext>
            </p:extLst>
          </p:nvPr>
        </p:nvGraphicFramePr>
        <p:xfrm>
          <a:off x="6475476" y="5318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9" name="Прямая со стрелкой 28"/>
          <p:cNvCxnSpPr/>
          <p:nvPr/>
        </p:nvCxnSpPr>
        <p:spPr>
          <a:xfrm flipH="1">
            <a:off x="8769096" y="390753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368844"/>
              </p:ext>
            </p:extLst>
          </p:nvPr>
        </p:nvGraphicFramePr>
        <p:xfrm>
          <a:off x="7834884" y="477621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13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982319"/>
              </p:ext>
            </p:extLst>
          </p:nvPr>
        </p:nvGraphicFramePr>
        <p:xfrm>
          <a:off x="7834884" y="531571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119647"/>
              </p:ext>
            </p:extLst>
          </p:nvPr>
        </p:nvGraphicFramePr>
        <p:xfrm>
          <a:off x="8795004" y="531571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0690882"/>
              </p:ext>
            </p:extLst>
          </p:nvPr>
        </p:nvGraphicFramePr>
        <p:xfrm>
          <a:off x="10178796" y="4779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823386"/>
              </p:ext>
            </p:extLst>
          </p:nvPr>
        </p:nvGraphicFramePr>
        <p:xfrm>
          <a:off x="10178796" y="5318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932466"/>
              </p:ext>
            </p:extLst>
          </p:nvPr>
        </p:nvGraphicFramePr>
        <p:xfrm>
          <a:off x="11138916" y="5318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0" name="Прямая со стрелкой 39"/>
          <p:cNvCxnSpPr/>
          <p:nvPr/>
        </p:nvCxnSpPr>
        <p:spPr>
          <a:xfrm>
            <a:off x="10829544" y="3877056"/>
            <a:ext cx="371856" cy="798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8960" y="1774722"/>
            <a:ext cx="6731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По сути, дерево в С++ - это удобный способ хранения какой-либо текстовой, числовой или какой-либо другой информации. Оно представляет из себя иерархическую систему элементов, соединенных друг с другом ссылками.</a:t>
            </a:r>
            <a:r>
              <a:rPr lang="en-US" sz="2400" dirty="0" smtClean="0"/>
              <a:t> </a:t>
            </a:r>
            <a:r>
              <a:rPr lang="ru-RU" sz="2400" dirty="0" smtClean="0"/>
              <a:t>В данном примере мы будем рассматривать бинарное дерево поиска.</a:t>
            </a:r>
          </a:p>
        </p:txBody>
      </p:sp>
    </p:spTree>
    <p:extLst>
      <p:ext uri="{BB962C8B-B14F-4D97-AF65-F5344CB8AC3E}">
        <p14:creationId xmlns:p14="http://schemas.microsoft.com/office/powerpoint/2010/main" val="204406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" y="-213360"/>
            <a:ext cx="6479122" cy="722376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648454"/>
              </p:ext>
            </p:extLst>
          </p:nvPr>
        </p:nvGraphicFramePr>
        <p:xfrm>
          <a:off x="8321040" y="142094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144452"/>
              </p:ext>
            </p:extLst>
          </p:nvPr>
        </p:nvGraphicFramePr>
        <p:xfrm>
          <a:off x="8321040" y="196043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30859"/>
              </p:ext>
            </p:extLst>
          </p:nvPr>
        </p:nvGraphicFramePr>
        <p:xfrm>
          <a:off x="9281160" y="196043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3" name="Прямая со стрелкой 12"/>
          <p:cNvCxnSpPr/>
          <p:nvPr/>
        </p:nvCxnSpPr>
        <p:spPr>
          <a:xfrm flipH="1">
            <a:off x="8193024" y="2212848"/>
            <a:ext cx="576072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9662160" y="2228088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0634545"/>
              </p:ext>
            </p:extLst>
          </p:nvPr>
        </p:nvGraphicFramePr>
        <p:xfrm>
          <a:off x="7104888" y="3054668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763106"/>
              </p:ext>
            </p:extLst>
          </p:nvPr>
        </p:nvGraphicFramePr>
        <p:xfrm>
          <a:off x="7104888" y="3594164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099218"/>
              </p:ext>
            </p:extLst>
          </p:nvPr>
        </p:nvGraphicFramePr>
        <p:xfrm>
          <a:off x="8065008" y="3594164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5311085"/>
              </p:ext>
            </p:extLst>
          </p:nvPr>
        </p:nvGraphicFramePr>
        <p:xfrm>
          <a:off x="9415272" y="305162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47941"/>
              </p:ext>
            </p:extLst>
          </p:nvPr>
        </p:nvGraphicFramePr>
        <p:xfrm>
          <a:off x="9415272" y="359111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078666"/>
              </p:ext>
            </p:extLst>
          </p:nvPr>
        </p:nvGraphicFramePr>
        <p:xfrm>
          <a:off x="10375392" y="359111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5" name="Прямая со стрелкой 24"/>
          <p:cNvCxnSpPr/>
          <p:nvPr/>
        </p:nvCxnSpPr>
        <p:spPr>
          <a:xfrm flipH="1">
            <a:off x="6592824" y="3956304"/>
            <a:ext cx="966216" cy="719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128053"/>
              </p:ext>
            </p:extLst>
          </p:nvPr>
        </p:nvGraphicFramePr>
        <p:xfrm>
          <a:off x="5515356" y="4779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6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56937"/>
              </p:ext>
            </p:extLst>
          </p:nvPr>
        </p:nvGraphicFramePr>
        <p:xfrm>
          <a:off x="5515356" y="5318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60509"/>
              </p:ext>
            </p:extLst>
          </p:nvPr>
        </p:nvGraphicFramePr>
        <p:xfrm>
          <a:off x="6475476" y="5318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9" name="Прямая со стрелкой 28"/>
          <p:cNvCxnSpPr/>
          <p:nvPr/>
        </p:nvCxnSpPr>
        <p:spPr>
          <a:xfrm flipH="1">
            <a:off x="8769096" y="390753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368844"/>
              </p:ext>
            </p:extLst>
          </p:nvPr>
        </p:nvGraphicFramePr>
        <p:xfrm>
          <a:off x="7834884" y="477621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13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982319"/>
              </p:ext>
            </p:extLst>
          </p:nvPr>
        </p:nvGraphicFramePr>
        <p:xfrm>
          <a:off x="7834884" y="531571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119647"/>
              </p:ext>
            </p:extLst>
          </p:nvPr>
        </p:nvGraphicFramePr>
        <p:xfrm>
          <a:off x="8795004" y="531571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0690882"/>
              </p:ext>
            </p:extLst>
          </p:nvPr>
        </p:nvGraphicFramePr>
        <p:xfrm>
          <a:off x="10178796" y="4779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823386"/>
              </p:ext>
            </p:extLst>
          </p:nvPr>
        </p:nvGraphicFramePr>
        <p:xfrm>
          <a:off x="10178796" y="5318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932466"/>
              </p:ext>
            </p:extLst>
          </p:nvPr>
        </p:nvGraphicFramePr>
        <p:xfrm>
          <a:off x="11138916" y="5318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0" name="Прямая со стрелкой 39"/>
          <p:cNvCxnSpPr/>
          <p:nvPr/>
        </p:nvCxnSpPr>
        <p:spPr>
          <a:xfrm>
            <a:off x="10829544" y="3877056"/>
            <a:ext cx="371856" cy="798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33130" y="2550050"/>
            <a:ext cx="56588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Если присмотреться, становится понятно, что дерево в </a:t>
            </a:r>
            <a:r>
              <a:rPr lang="en-US" sz="2400" dirty="0" smtClean="0"/>
              <a:t>C++ </a:t>
            </a:r>
            <a:r>
              <a:rPr lang="ru-RU" sz="2400" dirty="0" smtClean="0"/>
              <a:t>похоже на обычное дерево, только перевернутое. Давайте разберемся в его устройстве перед переходом к практике.</a:t>
            </a:r>
          </a:p>
        </p:txBody>
      </p:sp>
    </p:spTree>
    <p:extLst>
      <p:ext uri="{BB962C8B-B14F-4D97-AF65-F5344CB8AC3E}">
        <p14:creationId xmlns:p14="http://schemas.microsoft.com/office/powerpoint/2010/main" val="234766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1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2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2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2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3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3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3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4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4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4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4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4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5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5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742 -0.01135 -0.00378 -0.00649 -0.01094 -0.01505 L -0.01341 -0.01783 C -0.01419 -0.01899 -0.01497 -0.02014 -0.01589 -0.02084 C -0.01706 -0.02176 -0.0181 -0.02292 -0.01927 -0.02385 C -0.02214 -0.02616 -0.02227 -0.025 -0.02591 -0.02686 C -0.0276 -0.02755 -0.02917 -0.02894 -0.03086 -0.02986 C -0.03203 -0.03033 -0.03307 -0.03079 -0.03424 -0.03125 C -0.03503 -0.03172 -0.03594 -0.03241 -0.03672 -0.03264 C -0.03841 -0.03334 -0.0401 -0.03357 -0.04167 -0.03426 C -0.05 -0.03797 -0.04362 -0.03588 -0.05091 -0.04167 C -0.05247 -0.04283 -0.0543 -0.04352 -0.05586 -0.04468 C -0.05729 -0.04561 -0.05859 -0.04676 -0.06003 -0.04746 C -0.06172 -0.04838 -0.06341 -0.04838 -0.0651 -0.04908 C -0.0763 -0.05371 -0.06523 -0.05139 -0.07917 -0.05348 L -0.09922 -0.05649 C -0.10195 -0.05741 -0.10482 -0.05857 -0.10755 -0.05949 C -0.11003 -0.06019 -0.11263 -0.06042 -0.1151 -0.06088 L -0.12174 -0.0625 C -0.12474 -0.06297 -0.12786 -0.0632 -0.13086 -0.06389 C -0.13281 -0.06436 -0.13477 -0.06482 -0.13672 -0.06528 C -0.14245 -0.06667 -0.14505 -0.06713 -0.15091 -0.06829 C -0.15312 -0.06922 -0.15534 -0.07061 -0.15755 -0.0713 C -0.17669 -0.07616 -0.15299 -0.06991 -0.16758 -0.07431 C -0.17018 -0.075 -0.17487 -0.07593 -0.1776 -0.07732 C -0.18008 -0.07848 -0.18255 -0.08056 -0.18503 -0.08172 C -0.18698 -0.08241 -0.18893 -0.08241 -0.19089 -0.08311 C -0.19284 -0.0838 -0.19479 -0.08542 -0.19674 -0.08611 C -0.1987 -0.08681 -0.20065 -0.08704 -0.2026 -0.0875 C -0.2043 -0.08797 -0.20586 -0.08866 -0.20755 -0.08912 C -0.20898 -0.09005 -0.21029 -0.09121 -0.21172 -0.09213 C -0.21471 -0.09375 -0.21784 -0.09422 -0.22083 -0.09491 C -0.22721 -0.09885 -0.2194 -0.09375 -0.22591 -0.09954 C -0.22669 -0.10024 -0.2276 -0.10024 -0.22839 -0.10093 C -0.23177 -0.10348 -0.23112 -0.10394 -0.23424 -0.10533 C -0.2375 -0.10695 -0.24297 -0.10811 -0.24583 -0.10834 C -0.2625 -0.10926 -0.27917 -0.10926 -0.29583 -0.10996 C -0.29727 -0.11088 -0.2987 -0.11181 -0.3 -0.11274 L -0.32253 -0.13056 L -0.33008 -0.13658 C -0.33255 -0.13843 -0.3349 -0.14144 -0.3375 -0.14236 C -0.34154 -0.14399 -0.34701 -0.14584 -0.35091 -0.14838 C -0.35286 -0.14977 -0.35469 -0.15162 -0.35677 -0.15278 C -0.35807 -0.15371 -0.35951 -0.15394 -0.36094 -0.1544 C -0.36393 -0.1551 -0.37227 -0.15672 -0.375 -0.15718 L -0.40924 -0.15579 C -0.4112 -0.15556 -0.41315 -0.15463 -0.4151 -0.1544 C -0.42005 -0.15324 -0.425 -0.15209 -0.43008 -0.15139 C -0.43307 -0.15093 -0.4362 -0.15047 -0.43919 -0.14977 C -0.44089 -0.14954 -0.44258 -0.14861 -0.44427 -0.14838 C -0.44974 -0.14769 -0.45534 -0.14746 -0.46094 -0.14699 C -0.46198 -0.14653 -0.46315 -0.14607 -0.46419 -0.14537 C -0.46589 -0.14445 -0.46797 -0.14028 -0.46927 -0.14236 L -0.47083 -0.14537 L -0.47083 -0.14838 " pathEditMode="relative" ptsTypes="AAAAAAAAAAAAAAAAAAAAAAAAAAAAAAAAAAAAAAAAAAAAAAAAAAAAAAAA">
                                      <p:cBhvr>
                                        <p:cTn id="5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7960" y="-303650"/>
            <a:ext cx="10515600" cy="1325563"/>
          </a:xfrm>
        </p:spPr>
        <p:txBody>
          <a:bodyPr/>
          <a:lstStyle/>
          <a:p>
            <a:r>
              <a:rPr lang="ru-RU" dirty="0" smtClean="0"/>
              <a:t>Элемент дерева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7942561"/>
              </p:ext>
            </p:extLst>
          </p:nvPr>
        </p:nvGraphicFramePr>
        <p:xfrm>
          <a:off x="8798560" y="456038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92710"/>
              </p:ext>
            </p:extLst>
          </p:nvPr>
        </p:nvGraphicFramePr>
        <p:xfrm>
          <a:off x="8798560" y="509987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248703"/>
              </p:ext>
            </p:extLst>
          </p:nvPr>
        </p:nvGraphicFramePr>
        <p:xfrm>
          <a:off x="9758680" y="509987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3" name="Прямая со стрелкой 12"/>
          <p:cNvCxnSpPr/>
          <p:nvPr/>
        </p:nvCxnSpPr>
        <p:spPr>
          <a:xfrm flipH="1">
            <a:off x="8670544" y="5352288"/>
            <a:ext cx="576072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10139680" y="5367528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70544" y="1186041"/>
            <a:ext cx="353568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struct</a:t>
            </a:r>
            <a:r>
              <a:rPr lang="en-US" sz="2800" b="1" dirty="0"/>
              <a:t> </a:t>
            </a:r>
            <a:r>
              <a:rPr lang="en-US" sz="2800" b="1" dirty="0" err="1"/>
              <a:t>treeNode</a:t>
            </a:r>
            <a:endParaRPr lang="ru-RU" sz="2800" b="1" dirty="0"/>
          </a:p>
          <a:p>
            <a:r>
              <a:rPr lang="en-US" sz="2800" b="1" dirty="0"/>
              <a:t>{</a:t>
            </a:r>
            <a:endParaRPr lang="ru-RU" sz="2800" b="1" dirty="0"/>
          </a:p>
          <a:p>
            <a:r>
              <a:rPr lang="en-US" sz="2800" b="1" dirty="0" err="1" smtClean="0"/>
              <a:t>int</a:t>
            </a:r>
            <a:r>
              <a:rPr lang="en-US" sz="2800" b="1" dirty="0" smtClean="0"/>
              <a:t>   </a:t>
            </a:r>
            <a:r>
              <a:rPr lang="en-US" sz="2800" b="1" dirty="0"/>
              <a:t>data</a:t>
            </a:r>
            <a:r>
              <a:rPr lang="en-US" sz="2800" b="1" dirty="0" smtClean="0"/>
              <a:t>;</a:t>
            </a:r>
            <a:endParaRPr lang="ru-RU" sz="2800" b="1" dirty="0" smtClean="0"/>
          </a:p>
          <a:p>
            <a:r>
              <a:rPr lang="en-US" sz="2800" b="1" dirty="0" err="1" smtClean="0"/>
              <a:t>treeNode</a:t>
            </a:r>
            <a:r>
              <a:rPr lang="en-US" sz="2800" b="1" dirty="0" smtClean="0"/>
              <a:t>* left;</a:t>
            </a:r>
            <a:endParaRPr lang="ru-RU" sz="2800" b="1" dirty="0" smtClean="0"/>
          </a:p>
          <a:p>
            <a:r>
              <a:rPr lang="en-US" sz="2800" b="1" dirty="0" err="1" smtClean="0"/>
              <a:t>treeNode</a:t>
            </a:r>
            <a:r>
              <a:rPr lang="en-US" sz="2800" b="1" dirty="0" smtClean="0"/>
              <a:t>* right;</a:t>
            </a:r>
            <a:endParaRPr lang="ru-RU" sz="2800" b="1" dirty="0" smtClean="0"/>
          </a:p>
          <a:p>
            <a:r>
              <a:rPr lang="en-US" sz="2800" b="1" dirty="0" smtClean="0"/>
              <a:t>};</a:t>
            </a:r>
            <a:endParaRPr lang="ru-RU" sz="2800" b="1" dirty="0"/>
          </a:p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386080" y="2222242"/>
            <a:ext cx="639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Первое поле </a:t>
            </a:r>
            <a:r>
              <a:rPr lang="en-US" dirty="0" smtClean="0"/>
              <a:t>– </a:t>
            </a:r>
            <a:r>
              <a:rPr lang="en-US" b="1" i="1" u="sng" dirty="0" smtClean="0"/>
              <a:t>data</a:t>
            </a:r>
            <a:r>
              <a:rPr lang="en-US" dirty="0" smtClean="0"/>
              <a:t>.</a:t>
            </a:r>
            <a:r>
              <a:rPr lang="ru-RU" dirty="0" smtClean="0"/>
              <a:t> Оно содержит, как уже говорилось ранее, значение данных, содержащихся в элементе. В данном случае поле имеет тип </a:t>
            </a:r>
            <a:r>
              <a:rPr lang="en-US" dirty="0" err="1" smtClean="0"/>
              <a:t>int</a:t>
            </a:r>
            <a:r>
              <a:rPr lang="en-US" dirty="0" smtClean="0"/>
              <a:t>, </a:t>
            </a:r>
            <a:r>
              <a:rPr lang="ru-RU" dirty="0" smtClean="0"/>
              <a:t>так как мы будем рассматривать пример дерева целых чисел .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86080" y="3422571"/>
            <a:ext cx="6273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Второе и третье поле – это поля </a:t>
            </a:r>
            <a:r>
              <a:rPr lang="en-US" b="1" i="1" u="sng" dirty="0" smtClean="0"/>
              <a:t>left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b="1" i="1" u="sng" dirty="0" smtClean="0"/>
              <a:t>right</a:t>
            </a:r>
            <a:r>
              <a:rPr lang="en-US" dirty="0" smtClean="0"/>
              <a:t>. </a:t>
            </a:r>
            <a:r>
              <a:rPr lang="ru-RU" dirty="0" smtClean="0"/>
              <a:t>Поле </a:t>
            </a:r>
            <a:r>
              <a:rPr lang="en-US" b="1" i="1" dirty="0" smtClean="0"/>
              <a:t>left</a:t>
            </a:r>
            <a:r>
              <a:rPr lang="en-US" dirty="0" smtClean="0"/>
              <a:t> </a:t>
            </a:r>
            <a:r>
              <a:rPr lang="ru-RU" dirty="0"/>
              <a:t> </a:t>
            </a:r>
            <a:r>
              <a:rPr lang="ru-RU" dirty="0" smtClean="0"/>
              <a:t>содержит ссылку на левого сына, а поле </a:t>
            </a:r>
            <a:r>
              <a:rPr lang="en-US" b="1" i="1" dirty="0" smtClean="0"/>
              <a:t>right</a:t>
            </a:r>
            <a:r>
              <a:rPr lang="en-US" dirty="0" smtClean="0"/>
              <a:t> </a:t>
            </a:r>
            <a:r>
              <a:rPr lang="ru-RU" dirty="0" smtClean="0"/>
              <a:t>– на правого. Они имеют тип </a:t>
            </a:r>
            <a:r>
              <a:rPr lang="en-US" b="1" i="1" dirty="0" err="1" smtClean="0"/>
              <a:t>treeNode</a:t>
            </a:r>
            <a:r>
              <a:rPr lang="en-US" b="1" i="1" dirty="0" smtClean="0"/>
              <a:t>*</a:t>
            </a:r>
            <a:r>
              <a:rPr lang="en-US" dirty="0" smtClean="0"/>
              <a:t>, </a:t>
            </a:r>
            <a:r>
              <a:rPr lang="ru-RU" dirty="0" smtClean="0"/>
              <a:t>потому что содержат ссылку на другой элемент дерева, который тоже создается с помощью структуры </a:t>
            </a:r>
            <a:r>
              <a:rPr lang="en-US" b="1" i="1" dirty="0" err="1" smtClean="0"/>
              <a:t>treeNode</a:t>
            </a:r>
            <a:r>
              <a:rPr lang="en-US" dirty="0" smtClean="0"/>
              <a:t>. </a:t>
            </a:r>
            <a:r>
              <a:rPr lang="ru-RU" dirty="0" smtClean="0"/>
              <a:t>Если в них содержится ссылка </a:t>
            </a:r>
            <a:r>
              <a:rPr lang="en-US" dirty="0" smtClean="0"/>
              <a:t>NULL</a:t>
            </a:r>
            <a:r>
              <a:rPr lang="ru-RU" dirty="0" smtClean="0"/>
              <a:t> (ссылка на нуль)</a:t>
            </a:r>
            <a:r>
              <a:rPr lang="en-US" dirty="0" smtClean="0"/>
              <a:t>, </a:t>
            </a:r>
            <a:r>
              <a:rPr lang="ru-RU" dirty="0" smtClean="0"/>
              <a:t>значит они не имеют этого потомка.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386080" y="1021913"/>
            <a:ext cx="7376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Давайте разберемся в устройстве каждого отдельного элемента. Элемент создается с помощью объявления структуры </a:t>
            </a:r>
            <a:r>
              <a:rPr lang="en-US" b="1" i="1" u="sng" dirty="0" err="1" smtClean="0"/>
              <a:t>treeNode</a:t>
            </a:r>
            <a:r>
              <a:rPr lang="ru-RU" dirty="0" smtClean="0"/>
              <a:t>, состоящей из трех полей : поля значения и два поля, содержащих по одной ссылке каждое, с адресом потомков (левого и правого сына).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021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04800" y="380048"/>
            <a:ext cx="6309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Любое дерево в С++ состоит из элементов. У элементов имеется определенная иерархия.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117600"/>
            <a:ext cx="5476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Самый первый элемент дерева называется корнем. При работе с деревьями в С++ очень важно, чтобы программа помнила адрес корня вашего дерева, чтобы потом она смогла обращаться к другим ее элементам. В коде мы будем обозначать его </a:t>
            </a:r>
            <a:r>
              <a:rPr lang="en-US" sz="2400" b="1" i="1" dirty="0" err="1" smtClean="0"/>
              <a:t>tree_top</a:t>
            </a:r>
            <a:r>
              <a:rPr lang="en-US" sz="2400" b="1" i="1" dirty="0" smtClean="0"/>
              <a:t> </a:t>
            </a:r>
            <a:r>
              <a:rPr lang="ru-RU" sz="2400" dirty="0" smtClean="0"/>
              <a:t>(опять же аналогия с односвязным списком).</a:t>
            </a:r>
            <a:endParaRPr lang="ru-RU" sz="2400" b="1" i="1" dirty="0"/>
          </a:p>
        </p:txBody>
      </p:sp>
      <p:sp>
        <p:nvSpPr>
          <p:cNvPr id="9" name="TextBox 8"/>
          <p:cNvSpPr txBox="1"/>
          <p:nvPr/>
        </p:nvSpPr>
        <p:spPr>
          <a:xfrm>
            <a:off x="8625840" y="611436"/>
            <a:ext cx="133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t</a:t>
            </a:r>
            <a:r>
              <a:rPr lang="en-US" sz="2400" b="1" dirty="0" err="1" smtClean="0"/>
              <a:t>ree_top</a:t>
            </a:r>
            <a:endParaRPr lang="ru-RU" sz="2400" b="1" dirty="0"/>
          </a:p>
        </p:txBody>
      </p:sp>
      <p:graphicFrame>
        <p:nvGraphicFramePr>
          <p:cNvPr id="12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6602550"/>
              </p:ext>
            </p:extLst>
          </p:nvPr>
        </p:nvGraphicFramePr>
        <p:xfrm>
          <a:off x="8342376" y="1061431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612441"/>
              </p:ext>
            </p:extLst>
          </p:nvPr>
        </p:nvGraphicFramePr>
        <p:xfrm>
          <a:off x="8342376" y="1600927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004275"/>
              </p:ext>
            </p:extLst>
          </p:nvPr>
        </p:nvGraphicFramePr>
        <p:xfrm>
          <a:off x="9302496" y="1600927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5" name="Прямая со стрелкой 14"/>
          <p:cNvCxnSpPr>
            <a:cxnSpLocks/>
          </p:cNvCxnSpPr>
          <p:nvPr/>
        </p:nvCxnSpPr>
        <p:spPr>
          <a:xfrm flipH="1">
            <a:off x="8214337" y="1853339"/>
            <a:ext cx="70197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9683496" y="1868579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523257"/>
              </p:ext>
            </p:extLst>
          </p:nvPr>
        </p:nvGraphicFramePr>
        <p:xfrm>
          <a:off x="7126224" y="2695159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72917"/>
              </p:ext>
            </p:extLst>
          </p:nvPr>
        </p:nvGraphicFramePr>
        <p:xfrm>
          <a:off x="7126224" y="3234655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37471"/>
              </p:ext>
            </p:extLst>
          </p:nvPr>
        </p:nvGraphicFramePr>
        <p:xfrm>
          <a:off x="8086344" y="3234655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6477852"/>
              </p:ext>
            </p:extLst>
          </p:nvPr>
        </p:nvGraphicFramePr>
        <p:xfrm>
          <a:off x="9436608" y="2692111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386960"/>
              </p:ext>
            </p:extLst>
          </p:nvPr>
        </p:nvGraphicFramePr>
        <p:xfrm>
          <a:off x="9436608" y="3231607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808605"/>
              </p:ext>
            </p:extLst>
          </p:nvPr>
        </p:nvGraphicFramePr>
        <p:xfrm>
          <a:off x="10396728" y="3231607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4" name="Прямая со стрелкой 23"/>
          <p:cNvCxnSpPr/>
          <p:nvPr/>
        </p:nvCxnSpPr>
        <p:spPr>
          <a:xfrm flipH="1">
            <a:off x="8790432" y="3548027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4800" y="1117600"/>
            <a:ext cx="58912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Также в деревьях есть такие понятия как «предок» и «потомок». «Потомки» - это элементы, на которые ссылается рассматриваемый элемент (еще их называют «левом сыном» и правым сыном»). У каждого элемента может быть максимум 2 потомка. Например, в дереве, расположенном на экране, элементы со значениями 8 и 14 являются потомками элемента 12(8 – левый сын, 14 – правый). </a:t>
            </a:r>
            <a:endParaRPr lang="ru-RU" sz="2400" dirty="0"/>
          </a:p>
        </p:txBody>
      </p:sp>
      <p:graphicFrame>
        <p:nvGraphicFramePr>
          <p:cNvPr id="2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7163974"/>
              </p:ext>
            </p:extLst>
          </p:nvPr>
        </p:nvGraphicFramePr>
        <p:xfrm>
          <a:off x="7661148" y="440029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13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502468"/>
              </p:ext>
            </p:extLst>
          </p:nvPr>
        </p:nvGraphicFramePr>
        <p:xfrm>
          <a:off x="7661148" y="493979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766727"/>
              </p:ext>
            </p:extLst>
          </p:nvPr>
        </p:nvGraphicFramePr>
        <p:xfrm>
          <a:off x="8621268" y="493979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04800" y="1073101"/>
            <a:ext cx="55321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Предок – это элемент, который ссылается на рассматриваемый элемент дерева. Например, в нашем дереве элемент со значением 12 является предком элементов 8 и 14, а 14 – предок элемента со значением 13. Как видно на схеме, корень дерева не может иметь предка.</a:t>
            </a:r>
          </a:p>
        </p:txBody>
      </p:sp>
    </p:spTree>
    <p:extLst>
      <p:ext uri="{BB962C8B-B14F-4D97-AF65-F5344CB8AC3E}">
        <p14:creationId xmlns:p14="http://schemas.microsoft.com/office/powerpoint/2010/main" val="377085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" grpId="0"/>
      <p:bldP spid="26" grpId="0"/>
      <p:bldP spid="26" grpId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0360" y="-122555"/>
            <a:ext cx="10515600" cy="1325563"/>
          </a:xfrm>
        </p:spPr>
        <p:txBody>
          <a:bodyPr/>
          <a:lstStyle/>
          <a:p>
            <a:r>
              <a:rPr lang="ru-RU" dirty="0" smtClean="0"/>
              <a:t>Закрепление</a:t>
            </a:r>
            <a:endParaRPr lang="ru-RU" dirty="0"/>
          </a:p>
        </p:txBody>
      </p:sp>
      <p:graphicFrame>
        <p:nvGraphicFramePr>
          <p:cNvPr id="4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0626828"/>
              </p:ext>
            </p:extLst>
          </p:nvPr>
        </p:nvGraphicFramePr>
        <p:xfrm>
          <a:off x="8188960" y="29318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050375"/>
              </p:ext>
            </p:extLst>
          </p:nvPr>
        </p:nvGraphicFramePr>
        <p:xfrm>
          <a:off x="8188960" y="83267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884360"/>
              </p:ext>
            </p:extLst>
          </p:nvPr>
        </p:nvGraphicFramePr>
        <p:xfrm>
          <a:off x="9149080" y="83267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7" name="Прямая со стрелкой 6"/>
          <p:cNvCxnSpPr>
            <a:cxnSpLocks/>
          </p:cNvCxnSpPr>
          <p:nvPr/>
        </p:nvCxnSpPr>
        <p:spPr>
          <a:xfrm flipH="1">
            <a:off x="8060921" y="1085088"/>
            <a:ext cx="70197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9530080" y="1100328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9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8170041"/>
              </p:ext>
            </p:extLst>
          </p:nvPr>
        </p:nvGraphicFramePr>
        <p:xfrm>
          <a:off x="6972808" y="1926908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063931"/>
              </p:ext>
            </p:extLst>
          </p:nvPr>
        </p:nvGraphicFramePr>
        <p:xfrm>
          <a:off x="6972808" y="2466404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01305"/>
              </p:ext>
            </p:extLst>
          </p:nvPr>
        </p:nvGraphicFramePr>
        <p:xfrm>
          <a:off x="7932928" y="2466404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056799"/>
              </p:ext>
            </p:extLst>
          </p:nvPr>
        </p:nvGraphicFramePr>
        <p:xfrm>
          <a:off x="9283192" y="192386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44816"/>
              </p:ext>
            </p:extLst>
          </p:nvPr>
        </p:nvGraphicFramePr>
        <p:xfrm>
          <a:off x="9283192" y="246335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791223"/>
              </p:ext>
            </p:extLst>
          </p:nvPr>
        </p:nvGraphicFramePr>
        <p:xfrm>
          <a:off x="10243312" y="246335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5" name="Прямая со стрелкой 14"/>
          <p:cNvCxnSpPr/>
          <p:nvPr/>
        </p:nvCxnSpPr>
        <p:spPr>
          <a:xfrm flipH="1">
            <a:off x="6460744" y="2828544"/>
            <a:ext cx="966216" cy="719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7555107"/>
              </p:ext>
            </p:extLst>
          </p:nvPr>
        </p:nvGraphicFramePr>
        <p:xfrm>
          <a:off x="5383276" y="365150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6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318828"/>
              </p:ext>
            </p:extLst>
          </p:nvPr>
        </p:nvGraphicFramePr>
        <p:xfrm>
          <a:off x="5383276" y="419100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853654"/>
              </p:ext>
            </p:extLst>
          </p:nvPr>
        </p:nvGraphicFramePr>
        <p:xfrm>
          <a:off x="6343396" y="419100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9" name="Прямая со стрелкой 18"/>
          <p:cNvCxnSpPr/>
          <p:nvPr/>
        </p:nvCxnSpPr>
        <p:spPr>
          <a:xfrm flipH="1">
            <a:off x="8637016" y="277977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4119792"/>
              </p:ext>
            </p:extLst>
          </p:nvPr>
        </p:nvGraphicFramePr>
        <p:xfrm>
          <a:off x="7702804" y="364845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13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201867"/>
              </p:ext>
            </p:extLst>
          </p:nvPr>
        </p:nvGraphicFramePr>
        <p:xfrm>
          <a:off x="7702804" y="418795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321572"/>
              </p:ext>
            </p:extLst>
          </p:nvPr>
        </p:nvGraphicFramePr>
        <p:xfrm>
          <a:off x="8662924" y="418795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0591772"/>
              </p:ext>
            </p:extLst>
          </p:nvPr>
        </p:nvGraphicFramePr>
        <p:xfrm>
          <a:off x="10046716" y="365150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183518"/>
              </p:ext>
            </p:extLst>
          </p:nvPr>
        </p:nvGraphicFramePr>
        <p:xfrm>
          <a:off x="10046716" y="419100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7270"/>
              </p:ext>
            </p:extLst>
          </p:nvPr>
        </p:nvGraphicFramePr>
        <p:xfrm>
          <a:off x="11006836" y="419100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6" name="Прямая со стрелкой 25"/>
          <p:cNvCxnSpPr/>
          <p:nvPr/>
        </p:nvCxnSpPr>
        <p:spPr>
          <a:xfrm>
            <a:off x="10697464" y="2749296"/>
            <a:ext cx="371856" cy="798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 flipH="1">
            <a:off x="9459976" y="444601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8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5538258"/>
              </p:ext>
            </p:extLst>
          </p:nvPr>
        </p:nvGraphicFramePr>
        <p:xfrm>
          <a:off x="8441436" y="5287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15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767044"/>
              </p:ext>
            </p:extLst>
          </p:nvPr>
        </p:nvGraphicFramePr>
        <p:xfrm>
          <a:off x="8441436" y="5826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406550"/>
              </p:ext>
            </p:extLst>
          </p:nvPr>
        </p:nvGraphicFramePr>
        <p:xfrm>
          <a:off x="9401556" y="5826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95744" y="1310640"/>
            <a:ext cx="44094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Попрактикуйтесь в определении предков элементов и их сыновей (потомков). Определите предков, правых и левых сыновей элементов дерева на слайде.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7408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9560" y="210015"/>
            <a:ext cx="7306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Перед созданием бинарного дерева поиска, разберемся в его свойствах и правилах построения.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89560" y="996696"/>
            <a:ext cx="6812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У элементов дерева есть свои «поддеревья». У элемента может быть левое и правое поддерево.</a:t>
            </a:r>
            <a:endParaRPr lang="ru-RU" sz="2400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7125230"/>
              </p:ext>
            </p:extLst>
          </p:nvPr>
        </p:nvGraphicFramePr>
        <p:xfrm>
          <a:off x="8188960" y="29318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647491"/>
              </p:ext>
            </p:extLst>
          </p:nvPr>
        </p:nvGraphicFramePr>
        <p:xfrm>
          <a:off x="8188960" y="83267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634484"/>
              </p:ext>
            </p:extLst>
          </p:nvPr>
        </p:nvGraphicFramePr>
        <p:xfrm>
          <a:off x="9149080" y="83267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9" name="Прямая со стрелкой 8"/>
          <p:cNvCxnSpPr>
            <a:cxnSpLocks/>
          </p:cNvCxnSpPr>
          <p:nvPr/>
        </p:nvCxnSpPr>
        <p:spPr>
          <a:xfrm flipH="1">
            <a:off x="8060921" y="1085088"/>
            <a:ext cx="70197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9530080" y="1100328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7426784"/>
              </p:ext>
            </p:extLst>
          </p:nvPr>
        </p:nvGraphicFramePr>
        <p:xfrm>
          <a:off x="6972808" y="1926908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726983"/>
              </p:ext>
            </p:extLst>
          </p:nvPr>
        </p:nvGraphicFramePr>
        <p:xfrm>
          <a:off x="6972808" y="2466404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361573"/>
              </p:ext>
            </p:extLst>
          </p:nvPr>
        </p:nvGraphicFramePr>
        <p:xfrm>
          <a:off x="7932928" y="2466404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4248691"/>
              </p:ext>
            </p:extLst>
          </p:nvPr>
        </p:nvGraphicFramePr>
        <p:xfrm>
          <a:off x="9283192" y="1923860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984335"/>
              </p:ext>
            </p:extLst>
          </p:nvPr>
        </p:nvGraphicFramePr>
        <p:xfrm>
          <a:off x="9283192" y="2463356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926960"/>
              </p:ext>
            </p:extLst>
          </p:nvPr>
        </p:nvGraphicFramePr>
        <p:xfrm>
          <a:off x="10243312" y="2463356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7" name="Прямая со стрелкой 16"/>
          <p:cNvCxnSpPr/>
          <p:nvPr/>
        </p:nvCxnSpPr>
        <p:spPr>
          <a:xfrm flipH="1">
            <a:off x="6460744" y="2828544"/>
            <a:ext cx="966216" cy="719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9732785"/>
              </p:ext>
            </p:extLst>
          </p:nvPr>
        </p:nvGraphicFramePr>
        <p:xfrm>
          <a:off x="5383276" y="365150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6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839735"/>
              </p:ext>
            </p:extLst>
          </p:nvPr>
        </p:nvGraphicFramePr>
        <p:xfrm>
          <a:off x="5383276" y="419100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509062"/>
              </p:ext>
            </p:extLst>
          </p:nvPr>
        </p:nvGraphicFramePr>
        <p:xfrm>
          <a:off x="6343396" y="419100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1" name="Прямая со стрелкой 20"/>
          <p:cNvCxnSpPr/>
          <p:nvPr/>
        </p:nvCxnSpPr>
        <p:spPr>
          <a:xfrm flipH="1">
            <a:off x="8637016" y="277977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9399612"/>
              </p:ext>
            </p:extLst>
          </p:nvPr>
        </p:nvGraphicFramePr>
        <p:xfrm>
          <a:off x="7702804" y="364845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13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982822"/>
              </p:ext>
            </p:extLst>
          </p:nvPr>
        </p:nvGraphicFramePr>
        <p:xfrm>
          <a:off x="7702804" y="418795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850401"/>
              </p:ext>
            </p:extLst>
          </p:nvPr>
        </p:nvGraphicFramePr>
        <p:xfrm>
          <a:off x="8662924" y="418795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0484803"/>
              </p:ext>
            </p:extLst>
          </p:nvPr>
        </p:nvGraphicFramePr>
        <p:xfrm>
          <a:off x="10046716" y="365150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519956"/>
              </p:ext>
            </p:extLst>
          </p:nvPr>
        </p:nvGraphicFramePr>
        <p:xfrm>
          <a:off x="10046716" y="419100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970302"/>
              </p:ext>
            </p:extLst>
          </p:nvPr>
        </p:nvGraphicFramePr>
        <p:xfrm>
          <a:off x="11006836" y="419100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8" name="Прямая со стрелкой 27"/>
          <p:cNvCxnSpPr/>
          <p:nvPr/>
        </p:nvCxnSpPr>
        <p:spPr>
          <a:xfrm>
            <a:off x="10697464" y="2749296"/>
            <a:ext cx="371856" cy="798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flipH="1">
            <a:off x="9459976" y="4446016"/>
            <a:ext cx="108508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1369049"/>
              </p:ext>
            </p:extLst>
          </p:nvPr>
        </p:nvGraphicFramePr>
        <p:xfrm>
          <a:off x="8441436" y="5287264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15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985258"/>
              </p:ext>
            </p:extLst>
          </p:nvPr>
        </p:nvGraphicFramePr>
        <p:xfrm>
          <a:off x="8441436" y="5826760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501031"/>
              </p:ext>
            </p:extLst>
          </p:nvPr>
        </p:nvGraphicFramePr>
        <p:xfrm>
          <a:off x="9401556" y="5826760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4" name="Прямая со стрелкой 33"/>
          <p:cNvCxnSpPr/>
          <p:nvPr/>
        </p:nvCxnSpPr>
        <p:spPr>
          <a:xfrm flipH="1">
            <a:off x="4248727" y="2444496"/>
            <a:ext cx="1390997" cy="5942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>
            <a:off x="6644457" y="2444496"/>
            <a:ext cx="1141798" cy="297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89560" y="152514"/>
            <a:ext cx="7824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Например, элемент 12 имеет и левое и правое поддерево</a:t>
            </a:r>
            <a:endParaRPr lang="ru-RU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1998338" y="2336501"/>
            <a:ext cx="1944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Левое поддерево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8152697" y="2198316"/>
            <a:ext cx="20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Правое поддерево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9560" y="25348"/>
            <a:ext cx="6164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Как видите, в правом поддереве все числа больше, чем главный элемент (12), а в левом меньше.</a:t>
            </a:r>
            <a:endParaRPr lang="ru-RU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289560" y="25348"/>
            <a:ext cx="5823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Вот так выглядят поддеревья элемента 14. В них также сохраняется это свойство.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1943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195 0.20139 " pathEditMode="relative" ptsTypes="AA">
                                      <p:cBhvr>
                                        <p:cTn id="1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195 0.20139 " pathEditMode="relative" ptsTypes="AA">
                                      <p:cBhvr>
                                        <p:cTn id="1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195 0.20139 " pathEditMode="relative" ptsTypes="AA">
                                      <p:cBhvr>
                                        <p:cTn id="1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2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2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2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2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453 0.14144 " pathEditMode="relative" ptsTypes="AA">
                                      <p:cBhvr>
                                        <p:cTn id="13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3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3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4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4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4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4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4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5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5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5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5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5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6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6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716 0.11343 " pathEditMode="relative" ptsTypes="AA">
                                      <p:cBhvr>
                                        <p:cTn id="16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794 0.11504 L -0.33828 -0.03704 " pathEditMode="relative" ptsTypes="AA">
                                      <p:cBhvr>
                                        <p:cTn id="24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755 0.11459 L -0.33867 -0.03773 " pathEditMode="relative" ptsTypes="AA">
                                      <p:cBhvr>
                                        <p:cTn id="24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625 0.1132 L -0.33659 -0.03634 " pathEditMode="relative" rAng="0" ptsTypes="AA">
                                      <p:cBhvr>
                                        <p:cTn id="25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23" y="-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5078 -0.11319 " pathEditMode="relative" ptsTypes="AA">
                                      <p:cBhvr>
                                        <p:cTn id="25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5078 -0.11319 " pathEditMode="relative" ptsTypes="AA">
                                      <p:cBhvr>
                                        <p:cTn id="25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5078 -0.11319 " pathEditMode="relative" ptsTypes="AA">
                                      <p:cBhvr>
                                        <p:cTn id="25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6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6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6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6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7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7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99 -0.13866 " pathEditMode="relative" ptsTypes="AA">
                                      <p:cBhvr>
                                        <p:cTn id="27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39" grpId="0"/>
      <p:bldP spid="39" grpId="1"/>
      <p:bldP spid="40" grpId="0"/>
      <p:bldP spid="41" grpId="0"/>
      <p:bldP spid="43" grpId="0"/>
      <p:bldP spid="43" grpId="1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67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Создадим бинарное дерево поиска из текстового файла</a:t>
            </a:r>
            <a:r>
              <a:rPr lang="en-US" dirty="0" smtClean="0"/>
              <a:t> “arb.txt”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217152" y="841248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2680" y="-3479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arb.txt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0" y="768096"/>
            <a:ext cx="76992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create_tree</a:t>
            </a:r>
            <a:r>
              <a:rPr lang="en-US" sz="2800" dirty="0"/>
              <a:t>(</a:t>
            </a:r>
            <a:r>
              <a:rPr lang="en-US" sz="2800" dirty="0" err="1"/>
              <a:t>ifstream</a:t>
            </a:r>
            <a:r>
              <a:rPr lang="en-US" sz="2800" dirty="0"/>
              <a:t> &amp;</a:t>
            </a:r>
            <a:r>
              <a:rPr lang="en-US" sz="2800" dirty="0" err="1"/>
              <a:t>f,treeNode</a:t>
            </a:r>
            <a:r>
              <a:rPr lang="en-US" sz="2800" dirty="0"/>
              <a:t>* &amp;</a:t>
            </a:r>
            <a:r>
              <a:rPr lang="en-US" sz="2800" dirty="0" err="1"/>
              <a:t>tree_top</a:t>
            </a:r>
            <a:r>
              <a:rPr lang="en-US" sz="2800" dirty="0"/>
              <a:t>)</a:t>
            </a:r>
            <a:endParaRPr lang="ru-RU" sz="2800" dirty="0"/>
          </a:p>
          <a:p>
            <a:r>
              <a:rPr lang="en-US" sz="2800" dirty="0"/>
              <a:t> {</a:t>
            </a:r>
            <a:endParaRPr lang="ru-RU" sz="2800" dirty="0"/>
          </a:p>
          <a:p>
            <a:r>
              <a:rPr lang="en-US" sz="2800" dirty="0"/>
              <a:t>   </a:t>
            </a:r>
            <a:r>
              <a:rPr lang="en-US" sz="2800" dirty="0" err="1"/>
              <a:t>tree_top</a:t>
            </a:r>
            <a:r>
              <a:rPr lang="en-US" sz="2800" dirty="0"/>
              <a:t>=NULL;</a:t>
            </a:r>
            <a:endParaRPr lang="ru-RU" sz="2800" dirty="0"/>
          </a:p>
          <a:p>
            <a:r>
              <a:rPr lang="en-US" sz="2800" dirty="0"/>
              <a:t>    </a:t>
            </a:r>
            <a:r>
              <a:rPr lang="en-US" sz="2800" dirty="0" err="1"/>
              <a:t>int</a:t>
            </a:r>
            <a:r>
              <a:rPr lang="en-US" sz="2800" dirty="0"/>
              <a:t> x;</a:t>
            </a:r>
            <a:endParaRPr lang="ru-RU" sz="2800" dirty="0"/>
          </a:p>
          <a:p>
            <a:r>
              <a:rPr lang="en-US" sz="2800" dirty="0"/>
              <a:t>          while(f&gt;&gt;x)</a:t>
            </a:r>
            <a:endParaRPr lang="ru-RU" sz="2800" dirty="0"/>
          </a:p>
          <a:p>
            <a:r>
              <a:rPr lang="en-US" sz="2800" dirty="0"/>
              <a:t>		 {</a:t>
            </a:r>
            <a:endParaRPr lang="ru-RU" sz="2800" dirty="0"/>
          </a:p>
          <a:p>
            <a:r>
              <a:rPr lang="en-US" sz="2800" dirty="0"/>
              <a:t>		     </a:t>
            </a:r>
            <a:r>
              <a:rPr lang="en-US" sz="2800" dirty="0" err="1"/>
              <a:t>push_tree</a:t>
            </a:r>
            <a:r>
              <a:rPr lang="en-US" sz="2800" dirty="0"/>
              <a:t>(</a:t>
            </a:r>
            <a:r>
              <a:rPr lang="en-US" sz="2800" dirty="0" err="1"/>
              <a:t>tree_top,x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		  }</a:t>
            </a:r>
            <a:endParaRPr lang="ru-RU" sz="2800" dirty="0"/>
          </a:p>
          <a:p>
            <a:r>
              <a:rPr lang="en-US" sz="2800" dirty="0"/>
              <a:t>}</a:t>
            </a:r>
            <a:endParaRPr lang="ru-RU" sz="2800" dirty="0"/>
          </a:p>
        </p:txBody>
      </p:sp>
      <p:sp>
        <p:nvSpPr>
          <p:cNvPr id="9" name="Стрелка влево 8"/>
          <p:cNvSpPr/>
          <p:nvPr/>
        </p:nvSpPr>
        <p:spPr>
          <a:xfrm>
            <a:off x="7639812" y="868680"/>
            <a:ext cx="758952" cy="365760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537960" y="2221992"/>
            <a:ext cx="54498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Заходим в функцию </a:t>
            </a:r>
            <a:r>
              <a:rPr lang="en-US" sz="2400" dirty="0" err="1"/>
              <a:t>create_tree</a:t>
            </a:r>
            <a:r>
              <a:rPr lang="en-US" sz="2400" dirty="0"/>
              <a:t> (</a:t>
            </a:r>
            <a:r>
              <a:rPr lang="ru-RU" sz="2400" dirty="0"/>
              <a:t>функция создания дерева) принимает в параметры входной текстовый файл, откуда мы будем брать числа и адрес корня дерева, который мы  создали до этого, но не дали ему никакого значения.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5312664"/>
            <a:ext cx="1471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err="1"/>
              <a:t>t</a:t>
            </a:r>
            <a:r>
              <a:rPr lang="en-US" sz="2800" b="1" i="1" dirty="0" err="1" smtClean="0"/>
              <a:t>ree_top</a:t>
            </a:r>
            <a:endParaRPr lang="ru-RU" sz="2800" b="1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6537960" y="2042451"/>
            <a:ext cx="4982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Даем адресу корня значение </a:t>
            </a:r>
            <a:r>
              <a:rPr lang="en-US" sz="2400" dirty="0"/>
              <a:t>NULL,</a:t>
            </a:r>
            <a:r>
              <a:rPr lang="ru-RU" sz="2400" dirty="0"/>
              <a:t> так мы только начинаем создавать дерево.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486" y="5327386"/>
            <a:ext cx="1271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smtClean="0"/>
              <a:t>=NULL</a:t>
            </a:r>
            <a:endParaRPr lang="ru-RU" sz="2800" b="1" i="1" dirty="0"/>
          </a:p>
        </p:txBody>
      </p:sp>
      <p:sp>
        <p:nvSpPr>
          <p:cNvPr id="15" name="Стрелка влево 14"/>
          <p:cNvSpPr/>
          <p:nvPr/>
        </p:nvSpPr>
        <p:spPr>
          <a:xfrm>
            <a:off x="3090672" y="1706135"/>
            <a:ext cx="758952" cy="365760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65936" y="1881217"/>
            <a:ext cx="63915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Создаем переменную </a:t>
            </a:r>
            <a:r>
              <a:rPr lang="en-US" sz="2400" dirty="0"/>
              <a:t>X </a:t>
            </a:r>
            <a:r>
              <a:rPr lang="ru-RU" sz="2400" dirty="0"/>
              <a:t>типа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ru-RU" sz="2400" dirty="0"/>
              <a:t>, чтобы брать из файла числа</a:t>
            </a:r>
          </a:p>
          <a:p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8721006" y="242365"/>
            <a:ext cx="726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i</a:t>
            </a:r>
            <a:r>
              <a:rPr lang="en-US" sz="2400" dirty="0" err="1" smtClean="0"/>
              <a:t>nt</a:t>
            </a:r>
            <a:r>
              <a:rPr lang="en-US" sz="2400" dirty="0" smtClean="0"/>
              <a:t> x</a:t>
            </a:r>
            <a:endParaRPr lang="ru-RU" sz="2400" dirty="0"/>
          </a:p>
        </p:txBody>
      </p:sp>
      <p:sp>
        <p:nvSpPr>
          <p:cNvPr id="16" name="Стрелка влево 15"/>
          <p:cNvSpPr/>
          <p:nvPr/>
        </p:nvSpPr>
        <p:spPr>
          <a:xfrm>
            <a:off x="1209217" y="2221992"/>
            <a:ext cx="758952" cy="365760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6479165" y="1767195"/>
            <a:ext cx="59995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Заходим в цикл, беря из файла число, и даем его значение переменной Х. Затем, заходим в функцию </a:t>
            </a:r>
            <a:r>
              <a:rPr lang="en-US" sz="2400" dirty="0" err="1" smtClean="0"/>
              <a:t>push_tree</a:t>
            </a:r>
            <a:r>
              <a:rPr lang="en-US" sz="2400" dirty="0" smtClean="0"/>
              <a:t>(</a:t>
            </a:r>
            <a:r>
              <a:rPr lang="ru-RU" sz="2400" dirty="0" smtClean="0"/>
              <a:t>функция вставки элемента в дерево). Причем делать это мы будем до тех пор, пока не пройдем файл полостью.</a:t>
            </a:r>
            <a:endParaRPr lang="ru-RU" sz="2400" dirty="0"/>
          </a:p>
        </p:txBody>
      </p:sp>
      <p:sp>
        <p:nvSpPr>
          <p:cNvPr id="18" name="Стрелка вниз 17"/>
          <p:cNvSpPr/>
          <p:nvPr/>
        </p:nvSpPr>
        <p:spPr>
          <a:xfrm>
            <a:off x="9243764" y="692891"/>
            <a:ext cx="324213" cy="351577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9281629" y="213956"/>
            <a:ext cx="473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=7</a:t>
            </a:r>
            <a:endParaRPr lang="ru-RU" sz="2400" dirty="0"/>
          </a:p>
        </p:txBody>
      </p:sp>
      <p:sp>
        <p:nvSpPr>
          <p:cNvPr id="20" name="Стрелка влево 19"/>
          <p:cNvSpPr/>
          <p:nvPr/>
        </p:nvSpPr>
        <p:spPr>
          <a:xfrm>
            <a:off x="2654069" y="2554744"/>
            <a:ext cx="758952" cy="365760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6541891" y="2631485"/>
            <a:ext cx="59156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Дальше рассматривать эту функцию смысла нет, потому что в ней мы только будем заходить в этот цикла, беря следующее число из файла до того момента, пока не пройдем файл полостью. Давайте теперь рассмотрим функцию </a:t>
            </a:r>
            <a:r>
              <a:rPr lang="en-US" sz="2400" dirty="0" err="1" smtClean="0"/>
              <a:t>push_tree</a:t>
            </a:r>
            <a:r>
              <a:rPr lang="en-US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202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668 0.12801 L -0.3668 0.12801 " pathEditMode="relative" ptsTypes="A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96296E-6 L -0.1556 0.070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86" y="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092 L 0.12226 0.05348 " pathEditMode="relative" ptsTypes="AA">
                                      <p:cBhvr>
                                        <p:cTn id="9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232 L 0.25703 0.1301 " pathEditMode="relative" ptsTypes="AA">
                                      <p:cBhvr>
                                        <p:cTn id="11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9" grpId="0" animBg="1"/>
      <p:bldP spid="9" grpId="1" animBg="1"/>
      <p:bldP spid="9" grpId="2" animBg="1"/>
      <p:bldP spid="10" grpId="0"/>
      <p:bldP spid="10" grpId="1"/>
      <p:bldP spid="12" grpId="0"/>
      <p:bldP spid="13" grpId="0"/>
      <p:bldP spid="13" grpId="1"/>
      <p:bldP spid="14" grpId="0"/>
      <p:bldP spid="15" grpId="0" animBg="1"/>
      <p:bldP spid="15" grpId="1" animBg="1"/>
      <p:bldP spid="15" grpId="2" animBg="1"/>
      <p:bldP spid="3" grpId="0"/>
      <p:bldP spid="3" grpId="1"/>
      <p:bldP spid="8" grpId="0"/>
      <p:bldP spid="16" grpId="0" animBg="1"/>
      <p:bldP spid="16" grpId="1" animBg="1"/>
      <p:bldP spid="16" grpId="2" animBg="1"/>
      <p:bldP spid="17" grpId="0"/>
      <p:bldP spid="17" grpId="1"/>
      <p:bldP spid="18" grpId="0" animBg="1"/>
      <p:bldP spid="19" grpId="0"/>
      <p:bldP spid="20" grpId="0" animBg="1"/>
      <p:bldP spid="20" grpId="1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9382" y="129309"/>
            <a:ext cx="8968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Давайте сначала поясним определенные строчки кода, которые встретятся нам дальше.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249382" y="498641"/>
            <a:ext cx="601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Предположим, у нас есть пустое дерево (</a:t>
            </a:r>
            <a:r>
              <a:rPr lang="en-US" dirty="0" err="1" smtClean="0"/>
              <a:t>tree_top</a:t>
            </a:r>
            <a:r>
              <a:rPr lang="en-US" dirty="0" smtClean="0"/>
              <a:t> = NULL).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217671" y="667918"/>
            <a:ext cx="12907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 smtClean="0"/>
              <a:t>tree_top</a:t>
            </a:r>
            <a:r>
              <a:rPr lang="en-US" sz="2000" b="1" i="1" dirty="0" smtClean="0"/>
              <a:t> =</a:t>
            </a:r>
            <a:endParaRPr lang="ru-RU" sz="20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10335841" y="662840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smtClean="0"/>
              <a:t>NULL</a:t>
            </a:r>
            <a:endParaRPr lang="ru-RU" sz="2000" b="1" i="1" dirty="0"/>
          </a:p>
        </p:txBody>
      </p:sp>
      <p:sp>
        <p:nvSpPr>
          <p:cNvPr id="6" name="TextBox 5"/>
          <p:cNvSpPr txBox="1"/>
          <p:nvPr/>
        </p:nvSpPr>
        <p:spPr>
          <a:xfrm>
            <a:off x="249382" y="1081607"/>
            <a:ext cx="7423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Чтобы создать новый пустой</a:t>
            </a:r>
            <a:r>
              <a:rPr lang="en-US" dirty="0" smtClean="0"/>
              <a:t> </a:t>
            </a:r>
            <a:r>
              <a:rPr lang="ru-RU" dirty="0" smtClean="0"/>
              <a:t> элемент дерева воспользуемся командой: </a:t>
            </a:r>
          </a:p>
          <a:p>
            <a:r>
              <a:rPr lang="en-US" dirty="0" err="1" smtClean="0"/>
              <a:t>treeNode</a:t>
            </a:r>
            <a:r>
              <a:rPr lang="en-US" dirty="0" smtClean="0"/>
              <a:t> *m = new </a:t>
            </a:r>
            <a:r>
              <a:rPr lang="en-US" dirty="0" err="1" smtClean="0"/>
              <a:t>treeNode</a:t>
            </a:r>
            <a:r>
              <a:rPr lang="en-US" dirty="0" smtClean="0"/>
              <a:t>;</a:t>
            </a:r>
            <a:endParaRPr lang="ru-RU" dirty="0" smtClean="0"/>
          </a:p>
        </p:txBody>
      </p:sp>
      <p:graphicFrame>
        <p:nvGraphicFramePr>
          <p:cNvPr id="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5389092"/>
              </p:ext>
            </p:extLst>
          </p:nvPr>
        </p:nvGraphicFramePr>
        <p:xfrm>
          <a:off x="8350463" y="1984358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788838"/>
              </p:ext>
            </p:extLst>
          </p:nvPr>
        </p:nvGraphicFramePr>
        <p:xfrm>
          <a:off x="8350463" y="2523854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473466"/>
              </p:ext>
            </p:extLst>
          </p:nvPr>
        </p:nvGraphicFramePr>
        <p:xfrm>
          <a:off x="9310583" y="2523854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427204" y="1497105"/>
            <a:ext cx="439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406400" y="1958770"/>
            <a:ext cx="59453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Дадим ему значение 12 и скажем, что у него нет сыновей:</a:t>
            </a:r>
          </a:p>
          <a:p>
            <a:r>
              <a:rPr lang="en-US" dirty="0" smtClean="0"/>
              <a:t>m-&gt;data=12;</a:t>
            </a:r>
          </a:p>
          <a:p>
            <a:r>
              <a:rPr lang="en-US" dirty="0" smtClean="0"/>
              <a:t>m-&gt;left=NULL;</a:t>
            </a:r>
          </a:p>
          <a:p>
            <a:r>
              <a:rPr lang="en-US" dirty="0" smtClean="0"/>
              <a:t>m-&gt;right=NULL;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9097671" y="1958770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12</a:t>
            </a:r>
            <a:endParaRPr lang="ru-R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8483486" y="261389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361525" y="261389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06400" y="3454400"/>
            <a:ext cx="3929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Теперь, назначим его корнем дерева:</a:t>
            </a:r>
          </a:p>
          <a:p>
            <a:r>
              <a:rPr lang="en-US" dirty="0" err="1" smtClean="0"/>
              <a:t>tree_top</a:t>
            </a:r>
            <a:r>
              <a:rPr lang="en-US" dirty="0" smtClean="0"/>
              <a:t> = m;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406400" y="4276437"/>
            <a:ext cx="482933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И, чтобы дерево состояло не только из одного</a:t>
            </a:r>
          </a:p>
          <a:p>
            <a:r>
              <a:rPr lang="ru-RU" dirty="0" smtClean="0"/>
              <a:t>элемента, создадим еще один пустой элемент</a:t>
            </a:r>
          </a:p>
          <a:p>
            <a:r>
              <a:rPr lang="ru-RU" dirty="0" smtClean="0"/>
              <a:t>и дадим ему значение 14:</a:t>
            </a:r>
          </a:p>
          <a:p>
            <a:r>
              <a:rPr lang="en-US" dirty="0"/>
              <a:t>m = 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m-&gt;</a:t>
            </a:r>
            <a:r>
              <a:rPr lang="en-US" dirty="0" smtClean="0"/>
              <a:t>data=</a:t>
            </a:r>
            <a:r>
              <a:rPr lang="ru-RU" dirty="0" smtClean="0"/>
              <a:t>14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/>
              <a:t>m-&gt;left=NULL;</a:t>
            </a:r>
          </a:p>
          <a:p>
            <a:r>
              <a:rPr lang="en-US" dirty="0"/>
              <a:t>m-&gt;right=NULL</a:t>
            </a:r>
            <a:r>
              <a:rPr lang="en-US" dirty="0" smtClean="0"/>
              <a:t>;</a:t>
            </a:r>
            <a:endParaRPr lang="ru-RU" dirty="0"/>
          </a:p>
        </p:txBody>
      </p:sp>
      <p:graphicFrame>
        <p:nvGraphicFramePr>
          <p:cNvPr id="1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3036336"/>
              </p:ext>
            </p:extLst>
          </p:nvPr>
        </p:nvGraphicFramePr>
        <p:xfrm>
          <a:off x="9648169" y="3863951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49139"/>
              </p:ext>
            </p:extLst>
          </p:nvPr>
        </p:nvGraphicFramePr>
        <p:xfrm>
          <a:off x="9648169" y="4403447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684347"/>
              </p:ext>
            </p:extLst>
          </p:nvPr>
        </p:nvGraphicFramePr>
        <p:xfrm>
          <a:off x="10608289" y="4403447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0335841" y="3839121"/>
            <a:ext cx="530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14</a:t>
            </a:r>
            <a:endParaRPr lang="ru-RU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9781192" y="447501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0659231" y="447501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879273" y="5292099"/>
            <a:ext cx="52286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 теперь соединим их. Пусть элемент</a:t>
            </a:r>
          </a:p>
          <a:p>
            <a:r>
              <a:rPr lang="ru-RU" dirty="0" smtClean="0"/>
              <a:t>со значением 14 будет правым сыном элемента 12:</a:t>
            </a:r>
          </a:p>
          <a:p>
            <a:r>
              <a:rPr lang="en-US" dirty="0" err="1" smtClean="0"/>
              <a:t>tree_top</a:t>
            </a:r>
            <a:r>
              <a:rPr lang="en-US" dirty="0" smtClean="0"/>
              <a:t>-&gt;right = m;</a:t>
            </a:r>
            <a:endParaRPr lang="ru-RU" dirty="0"/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9827591" y="2965094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70255" y="6307762"/>
            <a:ext cx="492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Теперь давайте рассмотрим функцию </a:t>
            </a:r>
            <a:r>
              <a:rPr lang="en-US" dirty="0" err="1" smtClean="0"/>
              <a:t>pust_tree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905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8191 0.12407 " pathEditMode="relative" ptsTypes="AA">
                                      <p:cBhvr>
                                        <p:cTn id="8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0078 0.27477 " pathEditMode="relative" ptsTypes="AA">
                                      <p:cBhvr>
                                        <p:cTn id="10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4" grpId="1"/>
      <p:bldP spid="5" grpId="0"/>
      <p:bldP spid="5" grpId="1"/>
      <p:bldP spid="6" grpId="0"/>
      <p:bldP spid="10" grpId="0"/>
      <p:bldP spid="10" grpId="1"/>
      <p:bldP spid="12" grpId="0"/>
      <p:bldP spid="13" grpId="0"/>
      <p:bldP spid="14" grpId="0"/>
      <p:bldP spid="14" grpId="1"/>
      <p:bldP spid="15" grpId="0"/>
      <p:bldP spid="16" grpId="0"/>
      <p:bldP spid="20" grpId="0"/>
      <p:bldP spid="21" grpId="0"/>
      <p:bldP spid="22" grpId="0"/>
      <p:bldP spid="23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1613072"/>
              </p:ext>
            </p:extLst>
          </p:nvPr>
        </p:nvGraphicFramePr>
        <p:xfrm>
          <a:off x="8553663" y="1457886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437527"/>
              </p:ext>
            </p:extLst>
          </p:nvPr>
        </p:nvGraphicFramePr>
        <p:xfrm>
          <a:off x="8553663" y="1997382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038661"/>
              </p:ext>
            </p:extLst>
          </p:nvPr>
        </p:nvGraphicFramePr>
        <p:xfrm>
          <a:off x="9513783" y="1997382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300871" y="1432298"/>
            <a:ext cx="52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12</a:t>
            </a:r>
            <a:endParaRPr lang="ru-RU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8686686" y="208742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graphicFrame>
        <p:nvGraphicFramePr>
          <p:cNvPr id="19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8491776"/>
              </p:ext>
            </p:extLst>
          </p:nvPr>
        </p:nvGraphicFramePr>
        <p:xfrm>
          <a:off x="9851369" y="3337479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063465"/>
              </p:ext>
            </p:extLst>
          </p:nvPr>
        </p:nvGraphicFramePr>
        <p:xfrm>
          <a:off x="9851369" y="3876975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60311"/>
              </p:ext>
            </p:extLst>
          </p:nvPr>
        </p:nvGraphicFramePr>
        <p:xfrm>
          <a:off x="10811489" y="3876975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0539041" y="3312649"/>
            <a:ext cx="530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14</a:t>
            </a:r>
            <a:endParaRPr lang="ru-RU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9984392" y="394854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862431" y="394854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9984392" y="2309092"/>
            <a:ext cx="726103" cy="8823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434251" y="1032188"/>
            <a:ext cx="1104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tree_top</a:t>
            </a:r>
            <a:endParaRPr lang="ru-RU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148956" y="90570"/>
            <a:ext cx="8034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Теперь, пусть у нас есть дерево, которое мы построили. Нам нужно вставить новый элемент со значением х=13 в него так, чтобы в нем сохранилось свойства левых и правых поддеревьев (оно является бинарным деревом поиска). 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48956" y="1487255"/>
            <a:ext cx="6547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Для хождения по дереву создадим указатель </a:t>
            </a:r>
            <a:r>
              <a:rPr lang="en-US" dirty="0" smtClean="0"/>
              <a:t>m </a:t>
            </a:r>
            <a:r>
              <a:rPr lang="ru-RU" dirty="0" smtClean="0"/>
              <a:t>и поместим его</a:t>
            </a:r>
          </a:p>
          <a:p>
            <a:r>
              <a:rPr lang="ru-RU" dirty="0" smtClean="0"/>
              <a:t>в начало нашего дерева:</a:t>
            </a:r>
          </a:p>
          <a:p>
            <a:r>
              <a:rPr lang="en-US" dirty="0" err="1" smtClean="0"/>
              <a:t>treeNode</a:t>
            </a:r>
            <a:r>
              <a:rPr lang="en-US" dirty="0" smtClean="0"/>
              <a:t> *m;</a:t>
            </a:r>
          </a:p>
          <a:p>
            <a:r>
              <a:rPr lang="en-US" dirty="0" smtClean="0"/>
              <a:t>m=</a:t>
            </a:r>
            <a:r>
              <a:rPr lang="en-US" dirty="0" err="1" smtClean="0"/>
              <a:t>tree_top</a:t>
            </a:r>
            <a:r>
              <a:rPr lang="en-US" dirty="0" smtClean="0"/>
              <a:t>;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416324" y="970633"/>
            <a:ext cx="439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48956" y="2677688"/>
            <a:ext cx="73674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Дальше, нам придется передвигаться по дереву и в нужный момент</a:t>
            </a:r>
          </a:p>
          <a:p>
            <a:r>
              <a:rPr lang="ru-RU" dirty="0" smtClean="0"/>
              <a:t>подставить элемент со значением пять в нужную позицию. Делать это придется в цикле и для того, чтобы понять, когда нам нужно из него выйти, создадим </a:t>
            </a:r>
            <a:r>
              <a:rPr lang="ru-RU" dirty="0" err="1" smtClean="0"/>
              <a:t>булевую</a:t>
            </a:r>
            <a:r>
              <a:rPr lang="ru-RU" dirty="0" smtClean="0"/>
              <a:t> переменную </a:t>
            </a:r>
            <a:r>
              <a:rPr lang="en-US" dirty="0" smtClean="0"/>
              <a:t>b</a:t>
            </a:r>
            <a:r>
              <a:rPr lang="ru-RU" dirty="0" smtClean="0"/>
              <a:t>, равную </a:t>
            </a:r>
            <a:r>
              <a:rPr lang="en-US" dirty="0" smtClean="0"/>
              <a:t>true :</a:t>
            </a:r>
          </a:p>
          <a:p>
            <a:r>
              <a:rPr lang="en-US" dirty="0" err="1" smtClean="0"/>
              <a:t>bool</a:t>
            </a:r>
            <a:r>
              <a:rPr lang="en-US" dirty="0" smtClean="0"/>
              <a:t> b = true;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534400" y="350982"/>
            <a:ext cx="567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b =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8961057" y="350982"/>
            <a:ext cx="707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true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3127" y="42788"/>
            <a:ext cx="428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Теперь заходим в цикл, если при </a:t>
            </a:r>
            <a:r>
              <a:rPr lang="en-US" dirty="0" smtClean="0"/>
              <a:t>b = true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95992" y="394462"/>
            <a:ext cx="4955203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while(b)</a:t>
            </a:r>
            <a:endParaRPr lang="ru-RU" sz="2000" dirty="0"/>
          </a:p>
          <a:p>
            <a:r>
              <a:rPr lang="en-US" sz="2000" dirty="0"/>
              <a:t>		{</a:t>
            </a:r>
            <a:endParaRPr lang="ru-RU" sz="2000" dirty="0"/>
          </a:p>
          <a:p>
            <a:r>
              <a:rPr lang="en-US" sz="2000" dirty="0"/>
              <a:t>		 if </a:t>
            </a:r>
            <a:r>
              <a:rPr lang="en-US" sz="2000" dirty="0" smtClean="0"/>
              <a:t>(</a:t>
            </a:r>
            <a:r>
              <a:rPr lang="ru-RU" sz="2000" dirty="0" smtClean="0"/>
              <a:t>13</a:t>
            </a:r>
            <a:r>
              <a:rPr lang="en-US" sz="2000" dirty="0" smtClean="0"/>
              <a:t>&gt;=</a:t>
            </a:r>
            <a:r>
              <a:rPr lang="en-US" sz="2000" dirty="0"/>
              <a:t>m-&gt;data)</a:t>
            </a:r>
            <a:endParaRPr lang="ru-RU" sz="2000" dirty="0"/>
          </a:p>
          <a:p>
            <a:r>
              <a:rPr lang="en-US" sz="2000" dirty="0"/>
              <a:t>		  {</a:t>
            </a:r>
            <a:endParaRPr lang="ru-RU" sz="2000" dirty="0"/>
          </a:p>
          <a:p>
            <a:r>
              <a:rPr lang="en-US" sz="2000" dirty="0"/>
              <a:t>		    if(m-&gt;right)</a:t>
            </a:r>
            <a:endParaRPr lang="ru-RU" sz="2000" dirty="0"/>
          </a:p>
          <a:p>
            <a:r>
              <a:rPr lang="en-US" sz="2000" dirty="0"/>
              <a:t>			m=m-&gt;right;</a:t>
            </a:r>
            <a:endParaRPr lang="ru-RU" sz="2000" dirty="0"/>
          </a:p>
          <a:p>
            <a:r>
              <a:rPr lang="en-US" sz="2000" dirty="0"/>
              <a:t>		    else</a:t>
            </a:r>
            <a:endParaRPr lang="ru-RU" sz="2000" dirty="0"/>
          </a:p>
          <a:p>
            <a:r>
              <a:rPr lang="en-US" sz="2000" dirty="0"/>
              <a:t>			{  </a:t>
            </a:r>
            <a:endParaRPr lang="ru-RU" sz="2000" dirty="0"/>
          </a:p>
          <a:p>
            <a:r>
              <a:rPr lang="en-US" sz="2000" dirty="0"/>
              <a:t>			   p=new </a:t>
            </a:r>
            <a:r>
              <a:rPr lang="en-US" sz="2000" dirty="0" err="1"/>
              <a:t>treeNode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en-US" sz="2000" dirty="0"/>
              <a:t>			   p-&gt;data=x;</a:t>
            </a:r>
            <a:endParaRPr lang="ru-RU" sz="2000" dirty="0"/>
          </a:p>
          <a:p>
            <a:r>
              <a:rPr lang="en-US" sz="2000" dirty="0"/>
              <a:t>			   p-&gt;left=NULL;</a:t>
            </a:r>
            <a:endParaRPr lang="ru-RU" sz="2000" dirty="0"/>
          </a:p>
          <a:p>
            <a:r>
              <a:rPr lang="en-US" sz="2000" dirty="0"/>
              <a:t>                             p-&gt;right=NULL;</a:t>
            </a:r>
            <a:endParaRPr lang="ru-RU" sz="2000" dirty="0"/>
          </a:p>
          <a:p>
            <a:r>
              <a:rPr lang="en-US" sz="2000" dirty="0"/>
              <a:t>			  m-&gt;right=p;</a:t>
            </a:r>
            <a:endParaRPr lang="ru-RU" sz="2000" dirty="0"/>
          </a:p>
          <a:p>
            <a:r>
              <a:rPr lang="en-US" sz="2000" dirty="0"/>
              <a:t>			  b=false;</a:t>
            </a:r>
            <a:endParaRPr lang="ru-RU" sz="2000" dirty="0"/>
          </a:p>
          <a:p>
            <a:r>
              <a:rPr lang="en-US" sz="2000" dirty="0"/>
              <a:t>			 }</a:t>
            </a:r>
            <a:endParaRPr lang="ru-RU" sz="2000" dirty="0"/>
          </a:p>
          <a:p>
            <a:r>
              <a:rPr lang="en-US" sz="2000" dirty="0"/>
              <a:t>		  }</a:t>
            </a:r>
            <a:endParaRPr lang="ru-RU" sz="2000" dirty="0"/>
          </a:p>
          <a:p>
            <a:r>
              <a:rPr lang="en-US" sz="2000" dirty="0"/>
              <a:t>		</a:t>
            </a:r>
            <a:r>
              <a:rPr lang="en-US" sz="2000" dirty="0" smtClean="0"/>
              <a:t>else</a:t>
            </a:r>
            <a:endParaRPr lang="ru-RU" sz="2000" dirty="0" smtClean="0"/>
          </a:p>
          <a:p>
            <a:r>
              <a:rPr lang="ru-RU" sz="2000" dirty="0"/>
              <a:t>	</a:t>
            </a:r>
            <a:r>
              <a:rPr lang="ru-RU" sz="2000" dirty="0" smtClean="0"/>
              <a:t>	…….</a:t>
            </a:r>
          </a:p>
          <a:p>
            <a:r>
              <a:rPr lang="en-US" sz="2000" dirty="0"/>
              <a:t>}</a:t>
            </a:r>
            <a:endParaRPr lang="ru-RU" sz="2000" dirty="0"/>
          </a:p>
        </p:txBody>
      </p:sp>
      <p:sp>
        <p:nvSpPr>
          <p:cNvPr id="26" name="Стрелка влево 25"/>
          <p:cNvSpPr/>
          <p:nvPr/>
        </p:nvSpPr>
        <p:spPr>
          <a:xfrm>
            <a:off x="9960101" y="543022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 влево 27"/>
          <p:cNvSpPr/>
          <p:nvPr/>
        </p:nvSpPr>
        <p:spPr>
          <a:xfrm>
            <a:off x="3942610" y="107062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375563" y="2087419"/>
            <a:ext cx="25769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Проверяем, больше ли или равно 13 значению элемента </a:t>
            </a:r>
            <a:r>
              <a:rPr lang="en-US" dirty="0" smtClean="0"/>
              <a:t>m. 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8686686" y="1463075"/>
            <a:ext cx="761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13</a:t>
            </a:r>
            <a:r>
              <a:rPr lang="en-US" sz="2400" dirty="0" smtClean="0"/>
              <a:t>  </a:t>
            </a:r>
            <a:r>
              <a:rPr lang="en-US" sz="2400" b="1" dirty="0" smtClean="0"/>
              <a:t>&gt;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66260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768 0.08889 " pathEditMode="relative" ptsTypes="AA">
                                      <p:cBhvr>
                                        <p:cTn id="13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  <p:bldP spid="23" grpId="0"/>
      <p:bldP spid="24" grpId="0"/>
      <p:bldP spid="27" grpId="0"/>
      <p:bldP spid="29" grpId="0"/>
      <p:bldP spid="29" grpId="1"/>
      <p:bldP spid="2" grpId="0"/>
      <p:bldP spid="2" grpId="1"/>
      <p:bldP spid="3" grpId="0"/>
      <p:bldP spid="4" grpId="0"/>
      <p:bldP spid="4" grpId="1"/>
      <p:bldP spid="5" grpId="0"/>
      <p:bldP spid="6" grpId="0"/>
      <p:bldP spid="7" grpId="0"/>
      <p:bldP spid="8" grpId="0"/>
      <p:bldP spid="28" grpId="0" animBg="1"/>
      <p:bldP spid="28" grpId="1" animBg="1"/>
      <p:bldP spid="9" grpId="0"/>
      <p:bldP spid="9" grpId="1"/>
      <p:bldP spid="10" grpId="0" build="allAtOnce"/>
      <p:bldP spid="10" grpId="1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64655"/>
            <a:ext cx="5689378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void </a:t>
            </a:r>
            <a:r>
              <a:rPr lang="en-US" sz="2400" dirty="0" err="1"/>
              <a:t>push_tree</a:t>
            </a:r>
            <a:r>
              <a:rPr lang="en-US" sz="2400" dirty="0"/>
              <a:t>(</a:t>
            </a:r>
            <a:r>
              <a:rPr lang="en-US" sz="2400" dirty="0" err="1"/>
              <a:t>treeNode</a:t>
            </a:r>
            <a:r>
              <a:rPr lang="en-US" sz="2400" dirty="0"/>
              <a:t>* &amp;</a:t>
            </a:r>
            <a:r>
              <a:rPr lang="en-US" sz="2400" dirty="0" err="1"/>
              <a:t>tree_top</a:t>
            </a:r>
            <a:r>
              <a:rPr lang="en-US" sz="2400" dirty="0"/>
              <a:t>, </a:t>
            </a:r>
            <a:r>
              <a:rPr lang="en-US" sz="2400" dirty="0" err="1"/>
              <a:t>int</a:t>
            </a:r>
            <a:r>
              <a:rPr lang="en-US" sz="2400" dirty="0"/>
              <a:t> x)</a:t>
            </a:r>
            <a:endParaRPr lang="ru-RU" sz="2400" dirty="0"/>
          </a:p>
          <a:p>
            <a:r>
              <a:rPr lang="en-US" sz="2400" dirty="0"/>
              <a:t>{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treeNode</a:t>
            </a:r>
            <a:r>
              <a:rPr lang="en-US" sz="2400" dirty="0"/>
              <a:t> *p,*m;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bool</a:t>
            </a:r>
            <a:r>
              <a:rPr lang="en-US" sz="2400" dirty="0"/>
              <a:t> b;</a:t>
            </a:r>
            <a:endParaRPr lang="ru-RU" sz="2400" dirty="0"/>
          </a:p>
          <a:p>
            <a:r>
              <a:rPr lang="en-US" sz="2400" dirty="0"/>
              <a:t>    if(</a:t>
            </a:r>
            <a:r>
              <a:rPr lang="en-US" sz="2400" dirty="0" err="1"/>
              <a:t>tree_top</a:t>
            </a:r>
            <a:r>
              <a:rPr lang="en-US" sz="2400" dirty="0"/>
              <a:t>==NULL)</a:t>
            </a:r>
            <a:endParaRPr lang="ru-RU" sz="2400" dirty="0"/>
          </a:p>
          <a:p>
            <a:r>
              <a:rPr lang="en-US" sz="2400" dirty="0"/>
              <a:t>	  {	</a:t>
            </a:r>
            <a:endParaRPr lang="ru-RU" sz="2400" dirty="0"/>
          </a:p>
          <a:p>
            <a:r>
              <a:rPr lang="en-US" sz="2400" dirty="0"/>
              <a:t>              m=new </a:t>
            </a:r>
            <a:r>
              <a:rPr lang="en-US" sz="2400" dirty="0" err="1"/>
              <a:t>treeNode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en-US" sz="2400" dirty="0"/>
              <a:t>              m-&gt;data=x;</a:t>
            </a:r>
            <a:endParaRPr lang="ru-RU" sz="2400" dirty="0"/>
          </a:p>
          <a:p>
            <a:r>
              <a:rPr lang="en-US" sz="2400" dirty="0"/>
              <a:t>	     m-&gt;left=NULL;</a:t>
            </a:r>
            <a:endParaRPr lang="ru-RU" sz="2400" dirty="0"/>
          </a:p>
          <a:p>
            <a:r>
              <a:rPr lang="en-US" sz="2400" dirty="0"/>
              <a:t>	     m-&gt;right=NULL;</a:t>
            </a:r>
            <a:endParaRPr lang="ru-RU" sz="2400" dirty="0"/>
          </a:p>
          <a:p>
            <a:r>
              <a:rPr lang="en-US" sz="2400" dirty="0"/>
              <a:t>              </a:t>
            </a:r>
            <a:r>
              <a:rPr lang="en-US" sz="2400" dirty="0" err="1"/>
              <a:t>tree_top</a:t>
            </a:r>
            <a:r>
              <a:rPr lang="en-US" sz="2400" dirty="0"/>
              <a:t>=m;		  </a:t>
            </a:r>
            <a:endParaRPr lang="ru-RU" sz="2400" dirty="0"/>
          </a:p>
          <a:p>
            <a:r>
              <a:rPr lang="en-US" sz="2400" dirty="0"/>
              <a:t>	  }</a:t>
            </a:r>
            <a:endParaRPr lang="ru-RU" sz="2400" dirty="0"/>
          </a:p>
          <a:p>
            <a:r>
              <a:rPr lang="en-US" sz="2400" dirty="0"/>
              <a:t>      else		  </a:t>
            </a:r>
            <a:endParaRPr lang="ru-RU" sz="2400" dirty="0"/>
          </a:p>
          <a:p>
            <a:r>
              <a:rPr lang="en-US" sz="2400" dirty="0"/>
              <a:t>	 </a:t>
            </a:r>
            <a:r>
              <a:rPr lang="en-US" sz="2400" dirty="0" smtClean="0"/>
              <a:t>……</a:t>
            </a:r>
          </a:p>
          <a:p>
            <a:r>
              <a:rPr lang="en-US" sz="2400" dirty="0" smtClean="0"/>
              <a:t>}</a:t>
            </a:r>
            <a:endParaRPr lang="ru-RU" sz="2400" dirty="0"/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697438" y="8227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4" name="Стрелка вниз 3"/>
          <p:cNvSpPr/>
          <p:nvPr/>
        </p:nvSpPr>
        <p:spPr>
          <a:xfrm>
            <a:off x="9724050" y="674419"/>
            <a:ext cx="324213" cy="351577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лево 10"/>
          <p:cNvSpPr/>
          <p:nvPr/>
        </p:nvSpPr>
        <p:spPr>
          <a:xfrm>
            <a:off x="2595418" y="77085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8543133" y="140765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i</a:t>
            </a:r>
            <a:r>
              <a:rPr lang="en-US" sz="2400" dirty="0" err="1" smtClean="0"/>
              <a:t>nt</a:t>
            </a:r>
            <a:r>
              <a:rPr lang="en-US" sz="2400" dirty="0" smtClean="0"/>
              <a:t> x=</a:t>
            </a:r>
            <a:endParaRPr lang="ru-R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194485" y="76841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</a:t>
            </a:r>
            <a:r>
              <a:rPr lang="ru-RU" sz="2400" dirty="0" smtClean="0"/>
              <a:t>7</a:t>
            </a:r>
            <a:endParaRPr lang="ru-RU" sz="2400" dirty="0"/>
          </a:p>
        </p:txBody>
      </p:sp>
      <p:sp>
        <p:nvSpPr>
          <p:cNvPr id="16" name="Стрелка влево 15"/>
          <p:cNvSpPr/>
          <p:nvPr/>
        </p:nvSpPr>
        <p:spPr>
          <a:xfrm>
            <a:off x="2996970" y="149283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7110343" y="1058361"/>
            <a:ext cx="106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t</a:t>
            </a:r>
            <a:r>
              <a:rPr lang="en-US" b="1" i="1" dirty="0" err="1" smtClean="0"/>
              <a:t>ree_top</a:t>
            </a:r>
            <a:endParaRPr lang="ru-RU" b="1" i="1" dirty="0"/>
          </a:p>
        </p:txBody>
      </p:sp>
      <p:sp>
        <p:nvSpPr>
          <p:cNvPr id="18" name="TextBox 17"/>
          <p:cNvSpPr txBox="1"/>
          <p:nvPr/>
        </p:nvSpPr>
        <p:spPr>
          <a:xfrm>
            <a:off x="7999031" y="1058361"/>
            <a:ext cx="1383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=NULL</a:t>
            </a:r>
            <a:endParaRPr lang="ru-RU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940119" y="145192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309642" y="1451926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49906" y="173911"/>
            <a:ext cx="843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b</a:t>
            </a:r>
            <a:r>
              <a:rPr lang="en-US" sz="2000" dirty="0" err="1" smtClean="0"/>
              <a:t>ool</a:t>
            </a:r>
            <a:r>
              <a:rPr lang="en-US" sz="2000" dirty="0" smtClean="0"/>
              <a:t> b</a:t>
            </a:r>
            <a:endParaRPr lang="ru-RU" sz="2000" dirty="0"/>
          </a:p>
        </p:txBody>
      </p:sp>
      <p:sp>
        <p:nvSpPr>
          <p:cNvPr id="19" name="Стрелка влево 18"/>
          <p:cNvSpPr/>
          <p:nvPr/>
        </p:nvSpPr>
        <p:spPr>
          <a:xfrm>
            <a:off x="1485737" y="109927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183379"/>
              </p:ext>
            </p:extLst>
          </p:nvPr>
        </p:nvGraphicFramePr>
        <p:xfrm>
          <a:off x="7310172" y="2260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118407"/>
              </p:ext>
            </p:extLst>
          </p:nvPr>
        </p:nvGraphicFramePr>
        <p:xfrm>
          <a:off x="7300936" y="2726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34515"/>
              </p:ext>
            </p:extLst>
          </p:nvPr>
        </p:nvGraphicFramePr>
        <p:xfrm>
          <a:off x="7919773" y="2726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Стрелка влево 22"/>
          <p:cNvSpPr/>
          <p:nvPr/>
        </p:nvSpPr>
        <p:spPr>
          <a:xfrm>
            <a:off x="3279136" y="2214822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761053" y="2214822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7</a:t>
            </a:r>
            <a:endParaRPr lang="ru-R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271656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885460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27" name="Стрелка влево 26"/>
          <p:cNvSpPr/>
          <p:nvPr/>
        </p:nvSpPr>
        <p:spPr>
          <a:xfrm>
            <a:off x="2674228" y="2631867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 влево 27"/>
          <p:cNvSpPr/>
          <p:nvPr/>
        </p:nvSpPr>
        <p:spPr>
          <a:xfrm>
            <a:off x="3519355" y="319408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елка влево 28"/>
          <p:cNvSpPr/>
          <p:nvPr/>
        </p:nvSpPr>
        <p:spPr>
          <a:xfrm>
            <a:off x="2674228" y="371400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9248614" y="140764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4</a:t>
            </a:r>
          </a:p>
        </p:txBody>
      </p:sp>
      <p:sp>
        <p:nvSpPr>
          <p:cNvPr id="30" name="Стрелка влево 29"/>
          <p:cNvSpPr/>
          <p:nvPr/>
        </p:nvSpPr>
        <p:spPr>
          <a:xfrm>
            <a:off x="577204" y="515570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4285672" y="5155708"/>
            <a:ext cx="4451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Выходим из функции </a:t>
            </a:r>
            <a:r>
              <a:rPr lang="en-US" dirty="0" err="1" smtClean="0"/>
              <a:t>push_tree</a:t>
            </a:r>
            <a:r>
              <a:rPr lang="ru-RU" dirty="0" smtClean="0"/>
              <a:t>, снова заходим в цикл в </a:t>
            </a:r>
            <a:r>
              <a:rPr lang="en-US" dirty="0" err="1" smtClean="0"/>
              <a:t>create_tree</a:t>
            </a:r>
            <a:r>
              <a:rPr lang="en-US" dirty="0" smtClean="0"/>
              <a:t>,</a:t>
            </a:r>
            <a:r>
              <a:rPr lang="ru-RU" dirty="0" smtClean="0"/>
              <a:t> беря следующее число из файла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2691" y="4950691"/>
            <a:ext cx="3635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Заходим в </a:t>
            </a:r>
            <a:r>
              <a:rPr lang="en-US" sz="2400" dirty="0" err="1" smtClean="0"/>
              <a:t>push_tree</a:t>
            </a:r>
            <a:r>
              <a:rPr lang="en-US" sz="2400" dirty="0" smtClean="0"/>
              <a:t> </a:t>
            </a:r>
            <a:r>
              <a:rPr lang="ru-RU" sz="2400" dirty="0" smtClean="0"/>
              <a:t>с Х=4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5304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701 0.05255 " pathEditMode="relative" ptsTypes="AA">
                                      <p:cBhvr>
                                        <p:cTn id="5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069 L 0.1289 0.05579 " pathEditMode="relative" ptsTypes="AA">
                                      <p:cBhvr>
                                        <p:cTn id="6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-0.00278 L 0.03046 0.11041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9" y="5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756 0.06736 " pathEditMode="relative" ptsTypes="AA">
                                      <p:cBhvr>
                                        <p:cTn id="9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6 -0.00278 L -0.04961 0.06019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78" y="3148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8 -0.00324 L 0.05951 0.06806 " pathEditMode="relative" ptsTypes="AA">
                                      <p:cBhvr>
                                        <p:cTn id="13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8 -0.00324 L -0.06927 0.07917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29" y="4120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2.91667E-6 2.77556E-17 L -0.00377 0.12708 " pathEditMode="relative" rAng="0" ptsTypes="AA">
                                      <p:cBhvr>
                                        <p:cTn id="16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6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8 -0.00324 L -0.16784 0.21319 " pathEditMode="relative" rAng="0" ptsTypes="AA">
                                      <p:cBhvr>
                                        <p:cTn id="17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51" y="1081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 -0.00139 " pathEditMode="relative" ptsTypes="AA">
                                      <p:cBhvr>
                                        <p:cTn id="18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4" grpId="1" animBg="1"/>
      <p:bldP spid="11" grpId="0" animBg="1"/>
      <p:bldP spid="11" grpId="1" animBg="1"/>
      <p:bldP spid="11" grpId="2" animBg="1"/>
      <p:bldP spid="14" grpId="0"/>
      <p:bldP spid="14" grpId="1" build="allAtOnce"/>
      <p:bldP spid="15" grpId="0"/>
      <p:bldP spid="15" grpId="1"/>
      <p:bldP spid="16" grpId="0" animBg="1"/>
      <p:bldP spid="16" grpId="1" animBg="1"/>
      <p:bldP spid="16" grpId="2" animBg="1"/>
      <p:bldP spid="17" grpId="0"/>
      <p:bldP spid="17" grpId="1"/>
      <p:bldP spid="17" grpId="2"/>
      <p:bldP spid="17" grpId="3"/>
      <p:bldP spid="18" grpId="0"/>
      <p:bldP spid="18" grpId="1"/>
      <p:bldP spid="18" grpId="2"/>
      <p:bldP spid="18" grpId="3"/>
      <p:bldP spid="5" grpId="0"/>
      <p:bldP spid="7" grpId="0"/>
      <p:bldP spid="7" grpId="1"/>
      <p:bldP spid="8" grpId="0"/>
      <p:bldP spid="19" grpId="0" animBg="1"/>
      <p:bldP spid="19" grpId="1" animBg="1"/>
      <p:bldP spid="19" grpId="2" animBg="1"/>
      <p:bldP spid="23" grpId="0" animBg="1"/>
      <p:bldP spid="23" grpId="1" animBg="1"/>
      <p:bldP spid="23" grpId="2" animBg="1"/>
      <p:bldP spid="9" grpId="0"/>
      <p:bldP spid="10" grpId="0"/>
      <p:bldP spid="26" grpId="0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12" grpId="0"/>
      <p:bldP spid="30" grpId="0" animBg="1"/>
      <p:bldP spid="6" grpId="0"/>
      <p:bldP spid="6" grpId="1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64655"/>
            <a:ext cx="5689378" cy="10802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void </a:t>
            </a:r>
            <a:r>
              <a:rPr lang="en-US" sz="2400" dirty="0" err="1"/>
              <a:t>push_tree</a:t>
            </a:r>
            <a:r>
              <a:rPr lang="en-US" sz="2400" dirty="0"/>
              <a:t>(</a:t>
            </a:r>
            <a:r>
              <a:rPr lang="en-US" sz="2400" dirty="0" err="1"/>
              <a:t>treeNode</a:t>
            </a:r>
            <a:r>
              <a:rPr lang="en-US" sz="2400" dirty="0"/>
              <a:t>* &amp;</a:t>
            </a:r>
            <a:r>
              <a:rPr lang="en-US" sz="2400" dirty="0" err="1"/>
              <a:t>tree_top</a:t>
            </a:r>
            <a:r>
              <a:rPr lang="en-US" sz="2400" dirty="0"/>
              <a:t>, </a:t>
            </a:r>
            <a:r>
              <a:rPr lang="en-US" sz="2400" dirty="0" err="1"/>
              <a:t>int</a:t>
            </a:r>
            <a:r>
              <a:rPr lang="en-US" sz="2400" dirty="0"/>
              <a:t> x)</a:t>
            </a:r>
            <a:endParaRPr lang="ru-RU" sz="2400" dirty="0"/>
          </a:p>
          <a:p>
            <a:r>
              <a:rPr lang="en-US" sz="2400" dirty="0"/>
              <a:t>{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treeNode</a:t>
            </a:r>
            <a:r>
              <a:rPr lang="en-US" sz="2400" dirty="0"/>
              <a:t> *p,*m;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bool</a:t>
            </a:r>
            <a:r>
              <a:rPr lang="en-US" sz="2400" dirty="0"/>
              <a:t> b;</a:t>
            </a:r>
            <a:endParaRPr lang="ru-RU" sz="2400" dirty="0"/>
          </a:p>
          <a:p>
            <a:r>
              <a:rPr lang="en-US" sz="2400" dirty="0"/>
              <a:t>    if(</a:t>
            </a:r>
            <a:r>
              <a:rPr lang="en-US" sz="2400" dirty="0" err="1"/>
              <a:t>tree_top</a:t>
            </a:r>
            <a:r>
              <a:rPr lang="en-US" sz="2400" dirty="0"/>
              <a:t>==NULL)</a:t>
            </a:r>
            <a:endParaRPr lang="ru-RU" sz="2400" dirty="0"/>
          </a:p>
          <a:p>
            <a:r>
              <a:rPr lang="en-US" sz="2400" dirty="0"/>
              <a:t>	  {	</a:t>
            </a:r>
            <a:endParaRPr lang="ru-RU" sz="2400" dirty="0"/>
          </a:p>
          <a:p>
            <a:r>
              <a:rPr lang="en-US" sz="2400" dirty="0" smtClean="0"/>
              <a:t>	……</a:t>
            </a:r>
            <a:r>
              <a:rPr lang="en-US" sz="2400" dirty="0"/>
              <a:t>		  </a:t>
            </a:r>
            <a:endParaRPr lang="ru-RU" sz="2400" dirty="0"/>
          </a:p>
          <a:p>
            <a:r>
              <a:rPr lang="en-US" sz="2400" dirty="0"/>
              <a:t>	  }</a:t>
            </a:r>
            <a:endParaRPr lang="ru-RU" sz="2400" dirty="0"/>
          </a:p>
          <a:p>
            <a:r>
              <a:rPr lang="en-US" sz="2400" dirty="0"/>
              <a:t>      else		  </a:t>
            </a:r>
            <a:endParaRPr lang="ru-RU" sz="2400" dirty="0"/>
          </a:p>
          <a:p>
            <a:r>
              <a:rPr lang="en-US" dirty="0"/>
              <a:t>	{</a:t>
            </a:r>
            <a:endParaRPr lang="ru-RU" dirty="0"/>
          </a:p>
          <a:p>
            <a:r>
              <a:rPr lang="en-US" dirty="0"/>
              <a:t>	     m=</a:t>
            </a:r>
            <a:r>
              <a:rPr lang="en-US" dirty="0" err="1"/>
              <a:t>tree_top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     b=true;</a:t>
            </a:r>
            <a:endParaRPr lang="ru-RU" dirty="0"/>
          </a:p>
          <a:p>
            <a:r>
              <a:rPr lang="en-US" dirty="0"/>
              <a:t>	   while(b)</a:t>
            </a:r>
            <a:endParaRPr lang="ru-RU" dirty="0"/>
          </a:p>
          <a:p>
            <a:r>
              <a:rPr lang="en-US" dirty="0"/>
              <a:t>		{</a:t>
            </a:r>
            <a:endParaRPr lang="ru-RU" dirty="0"/>
          </a:p>
          <a:p>
            <a:r>
              <a:rPr lang="en-US" dirty="0"/>
              <a:t>		 if (x&gt;=m-&gt;data)</a:t>
            </a:r>
            <a:endParaRPr lang="ru-RU" dirty="0"/>
          </a:p>
          <a:p>
            <a:r>
              <a:rPr lang="en-US" dirty="0"/>
              <a:t>		</a:t>
            </a:r>
            <a:r>
              <a:rPr lang="en-US" dirty="0" smtClean="0"/>
              <a:t>…….</a:t>
            </a:r>
            <a:endParaRPr lang="ru-RU" dirty="0"/>
          </a:p>
          <a:p>
            <a:r>
              <a:rPr lang="en-US" dirty="0"/>
              <a:t>		else</a:t>
            </a:r>
            <a:endParaRPr lang="ru-RU" dirty="0"/>
          </a:p>
          <a:p>
            <a:r>
              <a:rPr lang="en-US" dirty="0"/>
              <a:t>			{ </a:t>
            </a:r>
            <a:endParaRPr lang="ru-RU" dirty="0"/>
          </a:p>
          <a:p>
            <a:r>
              <a:rPr lang="en-US" dirty="0"/>
              <a:t>			   if(m-&gt;left) m=m-&gt;left;</a:t>
            </a:r>
            <a:endParaRPr lang="ru-RU" dirty="0"/>
          </a:p>
          <a:p>
            <a:r>
              <a:rPr lang="en-US" dirty="0"/>
              <a:t>			       else</a:t>
            </a:r>
            <a:endParaRPr lang="ru-RU" dirty="0"/>
          </a:p>
          <a:p>
            <a:r>
              <a:rPr lang="en-US" dirty="0"/>
              <a:t>			       {</a:t>
            </a:r>
            <a:endParaRPr lang="ru-RU" dirty="0"/>
          </a:p>
          <a:p>
            <a:r>
              <a:rPr lang="en-US" dirty="0"/>
              <a:t>			        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	         </a:t>
            </a:r>
            <a:r>
              <a:rPr lang="en-US" dirty="0"/>
              <a:t>p=new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		          p-&gt;data=x;</a:t>
            </a:r>
            <a:endParaRPr lang="ru-RU" dirty="0"/>
          </a:p>
          <a:p>
            <a:r>
              <a:rPr lang="en-US" dirty="0"/>
              <a:t>			          p-&gt;left=NULL;</a:t>
            </a:r>
            <a:endParaRPr lang="ru-RU" dirty="0"/>
          </a:p>
          <a:p>
            <a:r>
              <a:rPr lang="en-US" dirty="0"/>
              <a:t>                                    p-&gt;right=NULL;</a:t>
            </a:r>
            <a:endParaRPr lang="ru-RU" dirty="0"/>
          </a:p>
          <a:p>
            <a:r>
              <a:rPr lang="en-US" dirty="0"/>
              <a:t>			         m-&gt;left=p;</a:t>
            </a:r>
            <a:endParaRPr lang="ru-RU" dirty="0"/>
          </a:p>
          <a:p>
            <a:r>
              <a:rPr lang="en-US" dirty="0"/>
              <a:t>			         b=false;</a:t>
            </a:r>
            <a:endParaRPr lang="ru-RU" dirty="0"/>
          </a:p>
          <a:p>
            <a:r>
              <a:rPr lang="en-US" dirty="0"/>
              <a:t>			    }</a:t>
            </a:r>
            <a:endParaRPr lang="ru-RU" dirty="0"/>
          </a:p>
          <a:p>
            <a:r>
              <a:rPr lang="en-US" dirty="0"/>
              <a:t>			}               </a:t>
            </a:r>
            <a:endParaRPr lang="ru-RU" dirty="0"/>
          </a:p>
          <a:p>
            <a:r>
              <a:rPr lang="en-US" dirty="0"/>
              <a:t>	}</a:t>
            </a:r>
            <a:endParaRPr lang="ru-RU" dirty="0"/>
          </a:p>
          <a:p>
            <a:r>
              <a:rPr lang="en-US" dirty="0"/>
              <a:t>  }    </a:t>
            </a:r>
            <a:endParaRPr lang="ru-RU" dirty="0"/>
          </a:p>
          <a:p>
            <a:endParaRPr lang="en-US" sz="2400" dirty="0" smtClean="0"/>
          </a:p>
          <a:p>
            <a:r>
              <a:rPr lang="en-US" sz="2400" dirty="0" smtClean="0"/>
              <a:t>}</a:t>
            </a:r>
            <a:endParaRPr lang="ru-RU" sz="2400" dirty="0"/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697438" y="8227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4" name="Стрелка вниз 3"/>
          <p:cNvSpPr/>
          <p:nvPr/>
        </p:nvSpPr>
        <p:spPr>
          <a:xfrm>
            <a:off x="10333650" y="674419"/>
            <a:ext cx="324213" cy="351577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лево 10"/>
          <p:cNvSpPr/>
          <p:nvPr/>
        </p:nvSpPr>
        <p:spPr>
          <a:xfrm>
            <a:off x="2595418" y="77085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8485424" y="181494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 err="1" smtClean="0"/>
              <a:t>nt</a:t>
            </a:r>
            <a:r>
              <a:rPr lang="en-US" sz="2400" b="1" dirty="0" smtClean="0"/>
              <a:t> x=</a:t>
            </a:r>
            <a:endParaRPr lang="ru-RU" sz="2400" b="1" dirty="0"/>
          </a:p>
        </p:txBody>
      </p:sp>
      <p:sp>
        <p:nvSpPr>
          <p:cNvPr id="16" name="Стрелка влево 15"/>
          <p:cNvSpPr/>
          <p:nvPr/>
        </p:nvSpPr>
        <p:spPr>
          <a:xfrm>
            <a:off x="2996970" y="149283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7110343" y="1945045"/>
            <a:ext cx="106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t</a:t>
            </a:r>
            <a:r>
              <a:rPr lang="en-US" b="1" i="1" dirty="0" err="1" smtClean="0"/>
              <a:t>ree_top</a:t>
            </a:r>
            <a:endParaRPr lang="ru-RU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940119" y="145192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309642" y="1451926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76601" y="122029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b</a:t>
            </a:r>
            <a:r>
              <a:rPr lang="en-US" sz="2400" b="1" dirty="0" err="1" smtClean="0"/>
              <a:t>ool</a:t>
            </a:r>
            <a:r>
              <a:rPr lang="en-US" sz="2400" b="1" dirty="0" smtClean="0"/>
              <a:t> b</a:t>
            </a:r>
            <a:endParaRPr lang="ru-RU" sz="2400" b="1" dirty="0"/>
          </a:p>
        </p:txBody>
      </p:sp>
      <p:sp>
        <p:nvSpPr>
          <p:cNvPr id="19" name="Стрелка влево 18"/>
          <p:cNvSpPr/>
          <p:nvPr/>
        </p:nvSpPr>
        <p:spPr>
          <a:xfrm>
            <a:off x="1485737" y="109927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183379"/>
              </p:ext>
            </p:extLst>
          </p:nvPr>
        </p:nvGraphicFramePr>
        <p:xfrm>
          <a:off x="7310172" y="2260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118407"/>
              </p:ext>
            </p:extLst>
          </p:nvPr>
        </p:nvGraphicFramePr>
        <p:xfrm>
          <a:off x="7300936" y="2726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34515"/>
              </p:ext>
            </p:extLst>
          </p:nvPr>
        </p:nvGraphicFramePr>
        <p:xfrm>
          <a:off x="7919773" y="2726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61053" y="2214822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7</a:t>
            </a:r>
            <a:endParaRPr lang="ru-R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271656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885460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28" name="Стрелка влево 27"/>
          <p:cNvSpPr/>
          <p:nvPr/>
        </p:nvSpPr>
        <p:spPr>
          <a:xfrm>
            <a:off x="2021935" y="384273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елка влево 28"/>
          <p:cNvSpPr/>
          <p:nvPr/>
        </p:nvSpPr>
        <p:spPr>
          <a:xfrm>
            <a:off x="2595418" y="355698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9248614" y="140765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182" y="1910657"/>
            <a:ext cx="1973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(не равен </a:t>
            </a:r>
            <a:r>
              <a:rPr lang="en-US" sz="2000" dirty="0" smtClean="0"/>
              <a:t>NULL)</a:t>
            </a:r>
            <a:endParaRPr lang="ru-RU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7313073" y="170301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true</a:t>
            </a:r>
            <a:endParaRPr lang="ru-RU" sz="2000" b="1" dirty="0"/>
          </a:p>
        </p:txBody>
      </p:sp>
      <p:sp>
        <p:nvSpPr>
          <p:cNvPr id="31" name="Стрелка влево 30"/>
          <p:cNvSpPr/>
          <p:nvPr/>
        </p:nvSpPr>
        <p:spPr>
          <a:xfrm>
            <a:off x="1981968" y="407925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7359758" y="2184044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4&lt;</a:t>
            </a:r>
            <a:endParaRPr lang="ru-RU" sz="2400" b="1" dirty="0"/>
          </a:p>
        </p:txBody>
      </p:sp>
      <p:sp>
        <p:nvSpPr>
          <p:cNvPr id="33" name="Стрелка влево 32"/>
          <p:cNvSpPr/>
          <p:nvPr/>
        </p:nvSpPr>
        <p:spPr>
          <a:xfrm>
            <a:off x="3538295" y="467500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08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245 0.04838 " pathEditMode="relative" ptsTypes="AA">
                                      <p:cBhvr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46 L 0.1237 0.05856 " pathEditMode="relative" ptsTypes="AA">
                                      <p:cBhvr>
                                        <p:cTn id="3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102 0.30578 " pathEditMode="relative" ptsTypes="AA">
                                      <p:cBhvr>
                                        <p:cTn id="6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534 0.06736 " pathEditMode="relative" ptsTypes="AA">
                                      <p:cBhvr>
                                        <p:cTn id="7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-0.00092 L -0.04687 0.04491 " pathEditMode="relative" ptsTypes="AA">
                                      <p:cBhvr>
                                        <p:cTn id="8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0 L -0.00143 0.03819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1898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7.40741E-7 L 0.12045 0.08449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16" y="4213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0.13255 0.15532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28" y="7755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0.13912 L 0.02279 -0.58009 " pathEditMode="relative" ptsTypes="AA">
                                      <p:cBhvr>
                                        <p:cTn id="16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1" grpId="0" animBg="1"/>
      <p:bldP spid="11" grpId="1" animBg="1"/>
      <p:bldP spid="11" grpId="2" animBg="1"/>
      <p:bldP spid="16" grpId="0" animBg="1"/>
      <p:bldP spid="16" grpId="1" animBg="1"/>
      <p:bldP spid="16" grpId="2" animBg="1"/>
      <p:bldP spid="17" grpId="0"/>
      <p:bldP spid="17" grpId="1"/>
      <p:bldP spid="5" grpId="0"/>
      <p:bldP spid="7" grpId="0"/>
      <p:bldP spid="7" grpId="1"/>
      <p:bldP spid="8" grpId="0"/>
      <p:bldP spid="8" grpId="1"/>
      <p:bldP spid="8" grpId="2"/>
      <p:bldP spid="19" grpId="0" animBg="1"/>
      <p:bldP spid="19" grpId="1" animBg="1"/>
      <p:bldP spid="19" grpId="2" animBg="1"/>
      <p:bldP spid="10" grpId="0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24" grpId="0"/>
      <p:bldP spid="24" grpId="1"/>
      <p:bldP spid="25" grpId="0"/>
      <p:bldP spid="25" grpId="1"/>
      <p:bldP spid="25" grpId="2"/>
      <p:bldP spid="31" grpId="0" animBg="1"/>
      <p:bldP spid="31" grpId="1" animBg="1"/>
      <p:bldP spid="31" grpId="2" animBg="1"/>
      <p:bldP spid="32" grpId="0"/>
      <p:bldP spid="32" grpId="1"/>
      <p:bldP spid="32" grpId="2"/>
      <p:bldP spid="33" grpId="0" animBg="1"/>
      <p:bldP spid="33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2567687"/>
            <a:ext cx="5689378" cy="10802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void </a:t>
            </a:r>
            <a:r>
              <a:rPr lang="en-US" sz="2400" dirty="0" err="1"/>
              <a:t>push_tree</a:t>
            </a:r>
            <a:r>
              <a:rPr lang="en-US" sz="2400" dirty="0"/>
              <a:t>(</a:t>
            </a:r>
            <a:r>
              <a:rPr lang="en-US" sz="2400" dirty="0" err="1"/>
              <a:t>treeNode</a:t>
            </a:r>
            <a:r>
              <a:rPr lang="en-US" sz="2400" dirty="0"/>
              <a:t>* &amp;</a:t>
            </a:r>
            <a:r>
              <a:rPr lang="en-US" sz="2400" dirty="0" err="1"/>
              <a:t>tree_top</a:t>
            </a:r>
            <a:r>
              <a:rPr lang="en-US" sz="2400" dirty="0"/>
              <a:t>, </a:t>
            </a:r>
            <a:r>
              <a:rPr lang="en-US" sz="2400" dirty="0" err="1"/>
              <a:t>int</a:t>
            </a:r>
            <a:r>
              <a:rPr lang="en-US" sz="2400" dirty="0"/>
              <a:t> x)</a:t>
            </a:r>
            <a:endParaRPr lang="ru-RU" sz="2400" dirty="0"/>
          </a:p>
          <a:p>
            <a:r>
              <a:rPr lang="en-US" sz="2400" dirty="0"/>
              <a:t>{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treeNode</a:t>
            </a:r>
            <a:r>
              <a:rPr lang="en-US" sz="2400" dirty="0"/>
              <a:t> *p,*m;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bool</a:t>
            </a:r>
            <a:r>
              <a:rPr lang="en-US" sz="2400" dirty="0"/>
              <a:t> b;</a:t>
            </a:r>
            <a:endParaRPr lang="ru-RU" sz="2400" dirty="0"/>
          </a:p>
          <a:p>
            <a:r>
              <a:rPr lang="en-US" sz="2400" dirty="0"/>
              <a:t>    if(</a:t>
            </a:r>
            <a:r>
              <a:rPr lang="en-US" sz="2400" dirty="0" err="1"/>
              <a:t>tree_top</a:t>
            </a:r>
            <a:r>
              <a:rPr lang="en-US" sz="2400" dirty="0"/>
              <a:t>==NULL)</a:t>
            </a:r>
            <a:endParaRPr lang="ru-RU" sz="2400" dirty="0"/>
          </a:p>
          <a:p>
            <a:r>
              <a:rPr lang="en-US" sz="2400" dirty="0"/>
              <a:t>	  {	</a:t>
            </a:r>
            <a:endParaRPr lang="ru-RU" sz="2400" dirty="0"/>
          </a:p>
          <a:p>
            <a:r>
              <a:rPr lang="en-US" sz="2400" dirty="0" smtClean="0"/>
              <a:t>	……</a:t>
            </a:r>
            <a:r>
              <a:rPr lang="en-US" sz="2400" dirty="0"/>
              <a:t>		  </a:t>
            </a:r>
            <a:endParaRPr lang="ru-RU" sz="2400" dirty="0"/>
          </a:p>
          <a:p>
            <a:r>
              <a:rPr lang="en-US" sz="2400" dirty="0"/>
              <a:t>	  }</a:t>
            </a:r>
            <a:endParaRPr lang="ru-RU" sz="2400" dirty="0"/>
          </a:p>
          <a:p>
            <a:r>
              <a:rPr lang="en-US" sz="2400" dirty="0"/>
              <a:t>      else		  </a:t>
            </a:r>
            <a:endParaRPr lang="ru-RU" sz="2400" dirty="0"/>
          </a:p>
          <a:p>
            <a:r>
              <a:rPr lang="en-US" dirty="0"/>
              <a:t>	{</a:t>
            </a:r>
            <a:endParaRPr lang="ru-RU" dirty="0"/>
          </a:p>
          <a:p>
            <a:r>
              <a:rPr lang="en-US" dirty="0"/>
              <a:t>	     m=</a:t>
            </a:r>
            <a:r>
              <a:rPr lang="en-US" dirty="0" err="1"/>
              <a:t>tree_top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     b=true;</a:t>
            </a:r>
            <a:endParaRPr lang="ru-RU" dirty="0"/>
          </a:p>
          <a:p>
            <a:r>
              <a:rPr lang="en-US" dirty="0"/>
              <a:t>	   while(b)</a:t>
            </a:r>
            <a:endParaRPr lang="ru-RU" dirty="0"/>
          </a:p>
          <a:p>
            <a:r>
              <a:rPr lang="en-US" dirty="0"/>
              <a:t>		{</a:t>
            </a:r>
            <a:endParaRPr lang="ru-RU" dirty="0"/>
          </a:p>
          <a:p>
            <a:r>
              <a:rPr lang="en-US" dirty="0"/>
              <a:t>		 if (x&gt;=m-&gt;data)</a:t>
            </a:r>
            <a:endParaRPr lang="ru-RU" dirty="0"/>
          </a:p>
          <a:p>
            <a:r>
              <a:rPr lang="en-US" dirty="0"/>
              <a:t>		</a:t>
            </a:r>
            <a:r>
              <a:rPr lang="en-US" dirty="0" smtClean="0"/>
              <a:t>…….</a:t>
            </a:r>
            <a:endParaRPr lang="ru-RU" dirty="0"/>
          </a:p>
          <a:p>
            <a:r>
              <a:rPr lang="en-US" dirty="0"/>
              <a:t>		else</a:t>
            </a:r>
            <a:endParaRPr lang="ru-RU" dirty="0"/>
          </a:p>
          <a:p>
            <a:r>
              <a:rPr lang="en-US" dirty="0"/>
              <a:t>			{ </a:t>
            </a:r>
            <a:endParaRPr lang="ru-RU" dirty="0"/>
          </a:p>
          <a:p>
            <a:r>
              <a:rPr lang="en-US" dirty="0"/>
              <a:t>			   if(m-&gt;left) m=m-&gt;left;</a:t>
            </a:r>
            <a:endParaRPr lang="ru-RU" dirty="0"/>
          </a:p>
          <a:p>
            <a:r>
              <a:rPr lang="en-US" dirty="0"/>
              <a:t>			       else</a:t>
            </a:r>
            <a:endParaRPr lang="ru-RU" dirty="0"/>
          </a:p>
          <a:p>
            <a:r>
              <a:rPr lang="en-US" dirty="0"/>
              <a:t>			 </a:t>
            </a:r>
            <a:r>
              <a:rPr lang="en-US" dirty="0" smtClean="0"/>
              <a:t>      {</a:t>
            </a:r>
            <a:endParaRPr lang="ru-RU" dirty="0" smtClean="0"/>
          </a:p>
          <a:p>
            <a:r>
              <a:rPr lang="en-US" dirty="0"/>
              <a:t>	</a:t>
            </a:r>
            <a:r>
              <a:rPr lang="en-US" dirty="0" smtClean="0"/>
              <a:t>		         </a:t>
            </a:r>
            <a:r>
              <a:rPr lang="en-US" dirty="0"/>
              <a:t>p=new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		          p-&gt;data=x;</a:t>
            </a:r>
            <a:endParaRPr lang="ru-RU" dirty="0"/>
          </a:p>
          <a:p>
            <a:r>
              <a:rPr lang="en-US" dirty="0"/>
              <a:t>			          p-&gt;left=NULL;</a:t>
            </a:r>
            <a:endParaRPr lang="ru-RU" dirty="0"/>
          </a:p>
          <a:p>
            <a:r>
              <a:rPr lang="en-US" dirty="0"/>
              <a:t>                    </a:t>
            </a:r>
            <a:r>
              <a:rPr lang="en-US" dirty="0" smtClean="0"/>
              <a:t>	                              </a:t>
            </a:r>
            <a:r>
              <a:rPr lang="en-US" dirty="0"/>
              <a:t>p-&gt;right=NULL;</a:t>
            </a:r>
            <a:endParaRPr lang="ru-RU" dirty="0"/>
          </a:p>
          <a:p>
            <a:r>
              <a:rPr lang="en-US" dirty="0"/>
              <a:t>			         m-&gt;left=p;</a:t>
            </a:r>
            <a:endParaRPr lang="ru-RU" dirty="0"/>
          </a:p>
          <a:p>
            <a:r>
              <a:rPr lang="en-US" dirty="0"/>
              <a:t>			         b=false;</a:t>
            </a:r>
            <a:endParaRPr lang="ru-RU" dirty="0"/>
          </a:p>
          <a:p>
            <a:r>
              <a:rPr lang="en-US" dirty="0"/>
              <a:t>			    }</a:t>
            </a:r>
            <a:endParaRPr lang="ru-RU" dirty="0"/>
          </a:p>
          <a:p>
            <a:r>
              <a:rPr lang="en-US" dirty="0"/>
              <a:t>			}               </a:t>
            </a:r>
            <a:endParaRPr lang="ru-RU" dirty="0"/>
          </a:p>
          <a:p>
            <a:r>
              <a:rPr lang="en-US" dirty="0"/>
              <a:t>	</a:t>
            </a:r>
            <a:r>
              <a:rPr lang="en-US" dirty="0" smtClean="0"/>
              <a:t>	}</a:t>
            </a:r>
            <a:endParaRPr lang="ru-RU" dirty="0"/>
          </a:p>
          <a:p>
            <a:r>
              <a:rPr lang="en-US" dirty="0"/>
              <a:t>  }    </a:t>
            </a:r>
            <a:endParaRPr lang="ru-RU" dirty="0"/>
          </a:p>
          <a:p>
            <a:endParaRPr lang="en-US" sz="2400" dirty="0" smtClean="0"/>
          </a:p>
          <a:p>
            <a:r>
              <a:rPr lang="en-US" sz="2400" dirty="0" smtClean="0"/>
              <a:t>}</a:t>
            </a:r>
            <a:endParaRPr lang="ru-RU" sz="2400" dirty="0"/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697438" y="8227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4" name="Стрелка вниз 3"/>
          <p:cNvSpPr/>
          <p:nvPr/>
        </p:nvSpPr>
        <p:spPr>
          <a:xfrm>
            <a:off x="10333650" y="674419"/>
            <a:ext cx="324213" cy="351577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485424" y="170301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 err="1" smtClean="0"/>
              <a:t>nt</a:t>
            </a:r>
            <a:r>
              <a:rPr lang="en-US" sz="2400" b="1" dirty="0" smtClean="0"/>
              <a:t> x=</a:t>
            </a:r>
            <a:endParaRPr lang="ru-R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110343" y="1945045"/>
            <a:ext cx="106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t</a:t>
            </a:r>
            <a:r>
              <a:rPr lang="en-US" b="1" i="1" dirty="0" err="1" smtClean="0"/>
              <a:t>ree_top</a:t>
            </a:r>
            <a:endParaRPr lang="ru-RU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940119" y="145192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8323597" y="1931780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76601" y="122029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b</a:t>
            </a:r>
            <a:r>
              <a:rPr lang="en-US" sz="2400" b="1" dirty="0" err="1" smtClean="0"/>
              <a:t>ool</a:t>
            </a:r>
            <a:r>
              <a:rPr lang="en-US" sz="2400" b="1" dirty="0" smtClean="0"/>
              <a:t> b</a:t>
            </a:r>
            <a:endParaRPr lang="ru-RU" sz="2400" b="1" dirty="0"/>
          </a:p>
        </p:txBody>
      </p: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183379"/>
              </p:ext>
            </p:extLst>
          </p:nvPr>
        </p:nvGraphicFramePr>
        <p:xfrm>
          <a:off x="7310172" y="2260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118407"/>
              </p:ext>
            </p:extLst>
          </p:nvPr>
        </p:nvGraphicFramePr>
        <p:xfrm>
          <a:off x="7300936" y="2726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34515"/>
              </p:ext>
            </p:extLst>
          </p:nvPr>
        </p:nvGraphicFramePr>
        <p:xfrm>
          <a:off x="7919773" y="2726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Стрелка влево 22"/>
          <p:cNvSpPr/>
          <p:nvPr/>
        </p:nvSpPr>
        <p:spPr>
          <a:xfrm>
            <a:off x="5169265" y="3244475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761053" y="2214822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7</a:t>
            </a:r>
            <a:endParaRPr lang="ru-R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271656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NULL</a:t>
            </a:r>
            <a:endParaRPr lang="ru-RU" sz="16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85460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248614" y="140765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3073" y="170301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true</a:t>
            </a:r>
            <a:endParaRPr lang="ru-RU" sz="2000" b="1" dirty="0"/>
          </a:p>
        </p:txBody>
      </p:sp>
      <p:graphicFrame>
        <p:nvGraphicFramePr>
          <p:cNvPr id="34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122769"/>
              </p:ext>
            </p:extLst>
          </p:nvPr>
        </p:nvGraphicFramePr>
        <p:xfrm>
          <a:off x="6453893" y="3724996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40518"/>
              </p:ext>
            </p:extLst>
          </p:nvPr>
        </p:nvGraphicFramePr>
        <p:xfrm>
          <a:off x="6444657" y="4190601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019582"/>
              </p:ext>
            </p:extLst>
          </p:nvPr>
        </p:nvGraphicFramePr>
        <p:xfrm>
          <a:off x="7063494" y="4190600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37804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029181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78960" y="3649608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ru-RU" sz="2400" b="1" dirty="0"/>
          </a:p>
        </p:txBody>
      </p:sp>
      <p:sp>
        <p:nvSpPr>
          <p:cNvPr id="39" name="Стрелка влево 38"/>
          <p:cNvSpPr/>
          <p:nvPr/>
        </p:nvSpPr>
        <p:spPr>
          <a:xfrm>
            <a:off x="5042368" y="4041440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Стрелка влево 39"/>
          <p:cNvSpPr/>
          <p:nvPr/>
        </p:nvSpPr>
        <p:spPr>
          <a:xfrm>
            <a:off x="4512797" y="437927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Стрелка влево 40"/>
          <p:cNvSpPr/>
          <p:nvPr/>
        </p:nvSpPr>
        <p:spPr>
          <a:xfrm>
            <a:off x="4783839" y="4694651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Прямая со стрелкой 41"/>
          <p:cNvCxnSpPr/>
          <p:nvPr/>
        </p:nvCxnSpPr>
        <p:spPr>
          <a:xfrm flipH="1">
            <a:off x="7166175" y="2883265"/>
            <a:ext cx="441659" cy="748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Стрелка влево 42"/>
          <p:cNvSpPr/>
          <p:nvPr/>
        </p:nvSpPr>
        <p:spPr>
          <a:xfrm>
            <a:off x="4461097" y="5145137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7314456" y="153399"/>
            <a:ext cx="893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false</a:t>
            </a:r>
            <a:endParaRPr lang="ru-RU" sz="2000" b="1" dirty="0"/>
          </a:p>
        </p:txBody>
      </p:sp>
      <p:sp>
        <p:nvSpPr>
          <p:cNvPr id="45" name="Стрелка влево 44"/>
          <p:cNvSpPr/>
          <p:nvPr/>
        </p:nvSpPr>
        <p:spPr>
          <a:xfrm>
            <a:off x="4128432" y="5443215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Стрелка влево 45"/>
          <p:cNvSpPr/>
          <p:nvPr/>
        </p:nvSpPr>
        <p:spPr>
          <a:xfrm>
            <a:off x="2064105" y="1636592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6255873" y="5219181"/>
            <a:ext cx="4451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Выходим из функции </a:t>
            </a:r>
            <a:r>
              <a:rPr lang="en-US" dirty="0" err="1" smtClean="0"/>
              <a:t>push_tree</a:t>
            </a:r>
            <a:r>
              <a:rPr lang="ru-RU" dirty="0" smtClean="0"/>
              <a:t>, снова заходим в цикл в </a:t>
            </a:r>
            <a:r>
              <a:rPr lang="en-US" dirty="0" err="1" smtClean="0"/>
              <a:t>create_tree</a:t>
            </a:r>
            <a:r>
              <a:rPr lang="en-US" dirty="0" smtClean="0"/>
              <a:t>,</a:t>
            </a:r>
            <a:r>
              <a:rPr lang="ru-RU" dirty="0" smtClean="0"/>
              <a:t> беря следующее число из файла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607" y="12202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9</a:t>
            </a:r>
            <a:endParaRPr lang="ru-RU" sz="24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860605" y="4594371"/>
            <a:ext cx="3639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Заходим в </a:t>
            </a:r>
            <a:r>
              <a:rPr lang="en-US" sz="2400" dirty="0" err="1" smtClean="0"/>
              <a:t>push_tree</a:t>
            </a:r>
            <a:r>
              <a:rPr lang="en-US" sz="2400" dirty="0" smtClean="0"/>
              <a:t> </a:t>
            </a:r>
            <a:r>
              <a:rPr lang="ru-RU" sz="2400" dirty="0" smtClean="0"/>
              <a:t>с Х=</a:t>
            </a:r>
            <a:r>
              <a:rPr lang="en-US" sz="2400" dirty="0" smtClean="0"/>
              <a:t>9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1727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911 0.12523 " pathEditMode="relative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2222E-6 L 0.03242 0.27408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5" y="1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81481E-6 L -0.04987 0.04953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2477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7.40741E-7 L 0.01693 0.04607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6" y="2292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-0.02409 0.07315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1" y="3657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4.81481E-6 L -0.03477 0.04769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5" y="2384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33333E-6 L -0.17044 -0.55879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29" y="-2794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7.40741E-7 L -0.11172 0.71296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86" y="35648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254 L 0.0483 -2.59259E-6 " pathEditMode="relative" ptsTypes="AA">
                                      <p:cBhvr>
                                        <p:cTn id="15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4" grpId="1"/>
      <p:bldP spid="5" grpId="0"/>
      <p:bldP spid="23" grpId="0" animBg="1"/>
      <p:bldP spid="23" grpId="1" animBg="1"/>
      <p:bldP spid="10" grpId="0" build="allAtOnce"/>
      <p:bldP spid="12" grpId="0"/>
      <p:bldP spid="12" grpId="1"/>
      <p:bldP spid="12" grpId="2"/>
      <p:bldP spid="25" grpId="0"/>
      <p:bldP spid="37" grpId="0"/>
      <p:bldP spid="38" grpId="0"/>
      <p:bldP spid="6" grpId="0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3" grpId="0" animBg="1"/>
      <p:bldP spid="43" grpId="1" animBg="1"/>
      <p:bldP spid="43" grpId="2" animBg="1"/>
      <p:bldP spid="44" grpId="0"/>
      <p:bldP spid="44" grpId="1"/>
      <p:bldP spid="45" grpId="0" animBg="1"/>
      <p:bldP spid="45" grpId="1" animBg="1"/>
      <p:bldP spid="45" grpId="2" animBg="1"/>
      <p:bldP spid="46" grpId="0" animBg="1"/>
      <p:bldP spid="46" grpId="1" animBg="1"/>
      <p:bldP spid="47" grpId="0"/>
      <p:bldP spid="47" grpId="1"/>
      <p:bldP spid="18" grpId="0"/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92" y="-101600"/>
            <a:ext cx="6396303" cy="12280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push_tree</a:t>
            </a:r>
            <a:r>
              <a:rPr lang="en-US" dirty="0"/>
              <a:t>(</a:t>
            </a:r>
            <a:r>
              <a:rPr lang="en-US" dirty="0" err="1"/>
              <a:t>treeNode</a:t>
            </a:r>
            <a:r>
              <a:rPr lang="en-US" dirty="0"/>
              <a:t>* &amp;</a:t>
            </a:r>
            <a:r>
              <a:rPr lang="en-US" dirty="0" err="1"/>
              <a:t>tree_top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x)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treeNode</a:t>
            </a:r>
            <a:r>
              <a:rPr lang="en-US" dirty="0"/>
              <a:t> *p,*m;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bool</a:t>
            </a:r>
            <a:r>
              <a:rPr lang="en-US" dirty="0"/>
              <a:t> b;</a:t>
            </a:r>
            <a:endParaRPr lang="ru-RU" dirty="0"/>
          </a:p>
          <a:p>
            <a:r>
              <a:rPr lang="en-US" dirty="0"/>
              <a:t>    if(</a:t>
            </a:r>
            <a:r>
              <a:rPr lang="en-US" dirty="0" err="1"/>
              <a:t>tree_top</a:t>
            </a:r>
            <a:r>
              <a:rPr lang="en-US" dirty="0"/>
              <a:t>==NULL)</a:t>
            </a:r>
            <a:endParaRPr lang="ru-RU" dirty="0"/>
          </a:p>
          <a:p>
            <a:r>
              <a:rPr lang="en-US" dirty="0"/>
              <a:t>	  {	</a:t>
            </a:r>
            <a:endParaRPr lang="ru-RU" dirty="0"/>
          </a:p>
          <a:p>
            <a:r>
              <a:rPr lang="en-US" dirty="0" smtClean="0"/>
              <a:t>	……</a:t>
            </a:r>
            <a:r>
              <a:rPr lang="en-US" dirty="0"/>
              <a:t>		  </a:t>
            </a:r>
            <a:endParaRPr lang="ru-RU" dirty="0"/>
          </a:p>
          <a:p>
            <a:r>
              <a:rPr lang="en-US" dirty="0"/>
              <a:t>	  }</a:t>
            </a:r>
            <a:endParaRPr lang="ru-RU" dirty="0"/>
          </a:p>
          <a:p>
            <a:r>
              <a:rPr lang="en-US" dirty="0"/>
              <a:t>      else	</a:t>
            </a:r>
            <a:r>
              <a:rPr lang="en-US" sz="2400" dirty="0"/>
              <a:t>	  </a:t>
            </a:r>
            <a:endParaRPr lang="ru-RU" sz="2400" dirty="0"/>
          </a:p>
          <a:p>
            <a:r>
              <a:rPr lang="en-US" dirty="0"/>
              <a:t>	{</a:t>
            </a:r>
            <a:endParaRPr lang="ru-RU" dirty="0"/>
          </a:p>
          <a:p>
            <a:r>
              <a:rPr lang="en-US" dirty="0"/>
              <a:t>	     m=</a:t>
            </a:r>
            <a:r>
              <a:rPr lang="en-US" dirty="0" err="1"/>
              <a:t>tree_top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     b=true;</a:t>
            </a:r>
            <a:endParaRPr lang="ru-RU" dirty="0"/>
          </a:p>
          <a:p>
            <a:r>
              <a:rPr lang="en-US" dirty="0"/>
              <a:t>	   while(b</a:t>
            </a:r>
            <a:r>
              <a:rPr lang="en-US" dirty="0" smtClean="0"/>
              <a:t>)</a:t>
            </a:r>
            <a:endParaRPr lang="ru-RU" dirty="0"/>
          </a:p>
          <a:p>
            <a:r>
              <a:rPr lang="en-US" dirty="0"/>
              <a:t>		 if (x&gt;=m-&gt;data)</a:t>
            </a:r>
            <a:endParaRPr lang="ru-RU" dirty="0"/>
          </a:p>
          <a:p>
            <a:r>
              <a:rPr lang="en-US" dirty="0"/>
              <a:t>			</a:t>
            </a:r>
            <a:r>
              <a:rPr lang="en-US" dirty="0" smtClean="0"/>
              <a:t>{ </a:t>
            </a:r>
          </a:p>
          <a:p>
            <a:r>
              <a:rPr lang="en-US" dirty="0"/>
              <a:t>	</a:t>
            </a:r>
            <a:r>
              <a:rPr lang="en-US" dirty="0" smtClean="0"/>
              <a:t>		   if(m-&gt;right) m-&gt;right;</a:t>
            </a:r>
          </a:p>
          <a:p>
            <a:r>
              <a:rPr lang="en-US" dirty="0"/>
              <a:t>	</a:t>
            </a:r>
            <a:r>
              <a:rPr lang="en-US" dirty="0" smtClean="0"/>
              <a:t>		   else</a:t>
            </a:r>
          </a:p>
          <a:p>
            <a:r>
              <a:rPr lang="en-US" dirty="0"/>
              <a:t>		</a:t>
            </a:r>
            <a:r>
              <a:rPr lang="en-US" dirty="0" smtClean="0"/>
              <a:t>	      {  p= new </a:t>
            </a:r>
            <a:r>
              <a:rPr lang="en-US" dirty="0" err="1" smtClean="0"/>
              <a:t>treeNode</a:t>
            </a:r>
            <a:r>
              <a:rPr lang="en-US" dirty="0" smtClean="0"/>
              <a:t>;</a:t>
            </a:r>
          </a:p>
          <a:p>
            <a:r>
              <a:rPr lang="en-US" dirty="0"/>
              <a:t>	 </a:t>
            </a:r>
            <a:r>
              <a:rPr lang="en-US" dirty="0" smtClean="0"/>
              <a:t>                             	          p-&gt;data=x; </a:t>
            </a:r>
          </a:p>
          <a:p>
            <a:r>
              <a:rPr lang="en-US" dirty="0"/>
              <a:t>	</a:t>
            </a:r>
            <a:r>
              <a:rPr lang="en-US" dirty="0" smtClean="0"/>
              <a:t>		           p-&gt;left=NULL; p-&gt;right=NULL;</a:t>
            </a:r>
          </a:p>
          <a:p>
            <a:r>
              <a:rPr lang="en-US" dirty="0"/>
              <a:t>	</a:t>
            </a:r>
            <a:r>
              <a:rPr lang="en-US" dirty="0" smtClean="0"/>
              <a:t>	                              m-&gt;right=p;  </a:t>
            </a:r>
          </a:p>
          <a:p>
            <a:r>
              <a:rPr lang="en-US" dirty="0"/>
              <a:t>	</a:t>
            </a:r>
            <a:r>
              <a:rPr lang="en-US" dirty="0" smtClean="0"/>
              <a:t>	                              b=false;</a:t>
            </a:r>
          </a:p>
          <a:p>
            <a:r>
              <a:rPr lang="en-US" dirty="0"/>
              <a:t>	</a:t>
            </a:r>
            <a:r>
              <a:rPr lang="en-US" dirty="0" smtClean="0"/>
              <a:t>		} </a:t>
            </a:r>
            <a:endParaRPr lang="ru-RU" dirty="0"/>
          </a:p>
          <a:p>
            <a:r>
              <a:rPr lang="en-US" dirty="0"/>
              <a:t>		</a:t>
            </a:r>
            <a:r>
              <a:rPr lang="en-US" dirty="0" smtClean="0"/>
              <a:t>else   …… </a:t>
            </a:r>
          </a:p>
          <a:p>
            <a:r>
              <a:rPr lang="en-US" dirty="0" smtClean="0"/>
              <a:t>}</a:t>
            </a:r>
          </a:p>
          <a:p>
            <a:endParaRPr lang="ru-RU" dirty="0"/>
          </a:p>
          <a:p>
            <a:r>
              <a:rPr lang="en-US" dirty="0"/>
              <a:t>			</a:t>
            </a:r>
            <a:endParaRPr lang="ru-RU" dirty="0"/>
          </a:p>
          <a:p>
            <a:r>
              <a:rPr lang="en-US" dirty="0"/>
              <a:t>			   if(m-&gt;left) m=m-&gt;left;</a:t>
            </a:r>
            <a:endParaRPr lang="ru-RU" dirty="0"/>
          </a:p>
          <a:p>
            <a:r>
              <a:rPr lang="en-US" dirty="0"/>
              <a:t>			       else</a:t>
            </a:r>
            <a:endParaRPr lang="ru-RU" dirty="0"/>
          </a:p>
          <a:p>
            <a:r>
              <a:rPr lang="en-US" dirty="0"/>
              <a:t>			 </a:t>
            </a:r>
            <a:r>
              <a:rPr lang="en-US" dirty="0" smtClean="0"/>
              <a:t>      {</a:t>
            </a:r>
            <a:endParaRPr lang="ru-RU" dirty="0" smtClean="0"/>
          </a:p>
          <a:p>
            <a:r>
              <a:rPr lang="en-US" dirty="0"/>
              <a:t>	</a:t>
            </a:r>
            <a:r>
              <a:rPr lang="en-US" dirty="0" smtClean="0"/>
              <a:t>		         </a:t>
            </a:r>
            <a:r>
              <a:rPr lang="en-US" dirty="0"/>
              <a:t>p=new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		          p-&gt;data=x;</a:t>
            </a:r>
            <a:endParaRPr lang="ru-RU" dirty="0"/>
          </a:p>
          <a:p>
            <a:r>
              <a:rPr lang="en-US" dirty="0"/>
              <a:t>			          p-&gt;left=NULL;</a:t>
            </a:r>
            <a:endParaRPr lang="ru-RU" dirty="0"/>
          </a:p>
          <a:p>
            <a:r>
              <a:rPr lang="en-US" dirty="0"/>
              <a:t>                    </a:t>
            </a:r>
            <a:r>
              <a:rPr lang="en-US" dirty="0" smtClean="0"/>
              <a:t>	                              </a:t>
            </a:r>
            <a:r>
              <a:rPr lang="en-US" dirty="0"/>
              <a:t>p-&gt;right=NULL;</a:t>
            </a:r>
            <a:endParaRPr lang="ru-RU" dirty="0"/>
          </a:p>
          <a:p>
            <a:r>
              <a:rPr lang="en-US" dirty="0"/>
              <a:t>			         m-&gt;left=p;</a:t>
            </a:r>
            <a:endParaRPr lang="ru-RU" dirty="0"/>
          </a:p>
          <a:p>
            <a:r>
              <a:rPr lang="en-US" dirty="0"/>
              <a:t>			         b=false;</a:t>
            </a:r>
            <a:endParaRPr lang="ru-RU" dirty="0"/>
          </a:p>
          <a:p>
            <a:r>
              <a:rPr lang="en-US" dirty="0"/>
              <a:t>			    }</a:t>
            </a:r>
            <a:endParaRPr lang="ru-RU" dirty="0"/>
          </a:p>
          <a:p>
            <a:r>
              <a:rPr lang="en-US" dirty="0"/>
              <a:t>			}               </a:t>
            </a:r>
            <a:endParaRPr lang="ru-RU" dirty="0"/>
          </a:p>
          <a:p>
            <a:r>
              <a:rPr lang="en-US" dirty="0"/>
              <a:t>	</a:t>
            </a:r>
            <a:r>
              <a:rPr lang="en-US" dirty="0" smtClean="0"/>
              <a:t>	}</a:t>
            </a:r>
            <a:endParaRPr lang="ru-RU" dirty="0"/>
          </a:p>
          <a:p>
            <a:r>
              <a:rPr lang="en-US" dirty="0"/>
              <a:t>  }    </a:t>
            </a:r>
            <a:endParaRPr lang="ru-RU" dirty="0"/>
          </a:p>
          <a:p>
            <a:endParaRPr lang="en-US" sz="2400" dirty="0" smtClean="0"/>
          </a:p>
          <a:p>
            <a:r>
              <a:rPr lang="en-US" sz="2400" dirty="0" smtClean="0"/>
              <a:t>}</a:t>
            </a:r>
            <a:endParaRPr lang="ru-RU" sz="2400" dirty="0"/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697438" y="8227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4" name="Стрелка вниз 3"/>
          <p:cNvSpPr/>
          <p:nvPr/>
        </p:nvSpPr>
        <p:spPr>
          <a:xfrm>
            <a:off x="10943247" y="674419"/>
            <a:ext cx="324213" cy="351577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485424" y="170301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 err="1" smtClean="0"/>
              <a:t>nt</a:t>
            </a:r>
            <a:r>
              <a:rPr lang="en-US" sz="2400" b="1" dirty="0" smtClean="0"/>
              <a:t> x=</a:t>
            </a:r>
            <a:endParaRPr lang="ru-R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110343" y="1945045"/>
            <a:ext cx="106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t</a:t>
            </a:r>
            <a:r>
              <a:rPr lang="en-US" b="1" i="1" dirty="0" err="1" smtClean="0"/>
              <a:t>ree_top</a:t>
            </a:r>
            <a:endParaRPr lang="ru-RU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940119" y="145192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389553" y="1464098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76601" y="122029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b</a:t>
            </a:r>
            <a:r>
              <a:rPr lang="en-US" sz="2400" b="1" dirty="0" err="1" smtClean="0"/>
              <a:t>ool</a:t>
            </a:r>
            <a:r>
              <a:rPr lang="en-US" sz="2400" b="1" dirty="0" smtClean="0"/>
              <a:t> b</a:t>
            </a:r>
            <a:endParaRPr lang="ru-RU" sz="2400" b="1" dirty="0"/>
          </a:p>
        </p:txBody>
      </p: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183379"/>
              </p:ext>
            </p:extLst>
          </p:nvPr>
        </p:nvGraphicFramePr>
        <p:xfrm>
          <a:off x="7310172" y="2260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118407"/>
              </p:ext>
            </p:extLst>
          </p:nvPr>
        </p:nvGraphicFramePr>
        <p:xfrm>
          <a:off x="7300936" y="2726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34515"/>
              </p:ext>
            </p:extLst>
          </p:nvPr>
        </p:nvGraphicFramePr>
        <p:xfrm>
          <a:off x="7919773" y="2726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61053" y="2214822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7</a:t>
            </a:r>
            <a:endParaRPr lang="ru-RU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885460" y="2720723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27" name="Стрелка влево 26"/>
          <p:cNvSpPr/>
          <p:nvPr/>
        </p:nvSpPr>
        <p:spPr>
          <a:xfrm>
            <a:off x="1208611" y="77619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7313073" y="170301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true</a:t>
            </a:r>
            <a:endParaRPr lang="ru-RU" sz="2000" b="1" dirty="0"/>
          </a:p>
        </p:txBody>
      </p:sp>
      <p:graphicFrame>
        <p:nvGraphicFramePr>
          <p:cNvPr id="34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122769"/>
              </p:ext>
            </p:extLst>
          </p:nvPr>
        </p:nvGraphicFramePr>
        <p:xfrm>
          <a:off x="6453893" y="3724996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40518"/>
              </p:ext>
            </p:extLst>
          </p:nvPr>
        </p:nvGraphicFramePr>
        <p:xfrm>
          <a:off x="6444657" y="4190601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019582"/>
              </p:ext>
            </p:extLst>
          </p:nvPr>
        </p:nvGraphicFramePr>
        <p:xfrm>
          <a:off x="7063494" y="4190600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37804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029181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78960" y="3649608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ru-RU" sz="2400" b="1" dirty="0"/>
          </a:p>
        </p:txBody>
      </p:sp>
      <p:cxnSp>
        <p:nvCxnSpPr>
          <p:cNvPr id="42" name="Прямая со стрелкой 41"/>
          <p:cNvCxnSpPr/>
          <p:nvPr/>
        </p:nvCxnSpPr>
        <p:spPr>
          <a:xfrm flipH="1">
            <a:off x="7166175" y="2883265"/>
            <a:ext cx="441659" cy="748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14456" y="152806"/>
            <a:ext cx="893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false</a:t>
            </a:r>
            <a:endParaRPr lang="ru-RU" sz="2000" b="1" dirty="0"/>
          </a:p>
        </p:txBody>
      </p:sp>
      <p:sp>
        <p:nvSpPr>
          <p:cNvPr id="46" name="Стрелка влево 45"/>
          <p:cNvSpPr/>
          <p:nvPr/>
        </p:nvSpPr>
        <p:spPr>
          <a:xfrm>
            <a:off x="2045633" y="530665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6255873" y="5219181"/>
            <a:ext cx="4451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Выходим из функции </a:t>
            </a:r>
            <a:r>
              <a:rPr lang="en-US" dirty="0" err="1" smtClean="0"/>
              <a:t>push_tree</a:t>
            </a:r>
            <a:r>
              <a:rPr lang="ru-RU" dirty="0" smtClean="0"/>
              <a:t>, снова заходим в цикл в </a:t>
            </a:r>
            <a:r>
              <a:rPr lang="en-US" dirty="0" err="1" smtClean="0"/>
              <a:t>create_tree</a:t>
            </a:r>
            <a:r>
              <a:rPr lang="en-US" dirty="0" smtClean="0"/>
              <a:t>,</a:t>
            </a:r>
            <a:r>
              <a:rPr lang="ru-RU" dirty="0" smtClean="0"/>
              <a:t> беря следующее число из файла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607" y="12202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9</a:t>
            </a:r>
            <a:endParaRPr lang="ru-RU" sz="24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860605" y="4594371"/>
            <a:ext cx="3773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Заходим в </a:t>
            </a:r>
            <a:r>
              <a:rPr lang="en-US" sz="2400" dirty="0" err="1" smtClean="0"/>
              <a:t>push_tree</a:t>
            </a:r>
            <a:r>
              <a:rPr lang="en-US" sz="2400" dirty="0" smtClean="0"/>
              <a:t> </a:t>
            </a:r>
            <a:r>
              <a:rPr lang="ru-RU" sz="2400" dirty="0" smtClean="0"/>
              <a:t>с Х=</a:t>
            </a:r>
            <a:r>
              <a:rPr lang="en-US" sz="2400" dirty="0" smtClean="0"/>
              <a:t>10</a:t>
            </a:r>
            <a:endParaRPr lang="ru-RU" sz="2400" dirty="0"/>
          </a:p>
        </p:txBody>
      </p:sp>
      <p:sp>
        <p:nvSpPr>
          <p:cNvPr id="50" name="Стрелка влево 49"/>
          <p:cNvSpPr/>
          <p:nvPr/>
        </p:nvSpPr>
        <p:spPr>
          <a:xfrm>
            <a:off x="2293724" y="1063701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Стрелка влево 50"/>
          <p:cNvSpPr/>
          <p:nvPr/>
        </p:nvSpPr>
        <p:spPr>
          <a:xfrm>
            <a:off x="2473833" y="2774469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Стрелка влево 51"/>
          <p:cNvSpPr/>
          <p:nvPr/>
        </p:nvSpPr>
        <p:spPr>
          <a:xfrm>
            <a:off x="2045633" y="307505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Стрелка влево 52"/>
          <p:cNvSpPr/>
          <p:nvPr/>
        </p:nvSpPr>
        <p:spPr>
          <a:xfrm>
            <a:off x="2013424" y="330647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406155" y="2184044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9&gt;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54" name="Стрелка влево 53"/>
          <p:cNvSpPr/>
          <p:nvPr/>
        </p:nvSpPr>
        <p:spPr>
          <a:xfrm>
            <a:off x="3555547" y="358960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Стрелка влево 55"/>
          <p:cNvSpPr/>
          <p:nvPr/>
        </p:nvSpPr>
        <p:spPr>
          <a:xfrm>
            <a:off x="5056456" y="4161652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8208308"/>
              </p:ext>
            </p:extLst>
          </p:nvPr>
        </p:nvGraphicFramePr>
        <p:xfrm>
          <a:off x="8633417" y="3683391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488146"/>
              </p:ext>
            </p:extLst>
          </p:nvPr>
        </p:nvGraphicFramePr>
        <p:xfrm>
          <a:off x="8624181" y="4148996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Таблица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267937"/>
              </p:ext>
            </p:extLst>
          </p:nvPr>
        </p:nvGraphicFramePr>
        <p:xfrm>
          <a:off x="9243018" y="4148995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8617328" y="4168391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9208705" y="4168391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9058484" y="36080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9</a:t>
            </a:r>
            <a:endParaRPr lang="ru-RU" sz="2400" b="1" dirty="0"/>
          </a:p>
        </p:txBody>
      </p:sp>
      <p:sp>
        <p:nvSpPr>
          <p:cNvPr id="63" name="Стрелка влево 62"/>
          <p:cNvSpPr/>
          <p:nvPr/>
        </p:nvSpPr>
        <p:spPr>
          <a:xfrm>
            <a:off x="5064059" y="4681449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Стрелка влево 63"/>
          <p:cNvSpPr/>
          <p:nvPr/>
        </p:nvSpPr>
        <p:spPr>
          <a:xfrm>
            <a:off x="4453266" y="496895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Стрелка влево 65"/>
          <p:cNvSpPr/>
          <p:nvPr/>
        </p:nvSpPr>
        <p:spPr>
          <a:xfrm>
            <a:off x="6388250" y="5219181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7" name="Прямая со стрелкой 66"/>
          <p:cNvCxnSpPr/>
          <p:nvPr/>
        </p:nvCxnSpPr>
        <p:spPr>
          <a:xfrm>
            <a:off x="8241756" y="2910929"/>
            <a:ext cx="620560" cy="6970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Стрелка влево 67"/>
          <p:cNvSpPr/>
          <p:nvPr/>
        </p:nvSpPr>
        <p:spPr>
          <a:xfrm>
            <a:off x="4478121" y="5543970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Стрелка влево 68"/>
          <p:cNvSpPr/>
          <p:nvPr/>
        </p:nvSpPr>
        <p:spPr>
          <a:xfrm>
            <a:off x="4155379" y="5831477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Стрелка влево 69"/>
          <p:cNvSpPr/>
          <p:nvPr/>
        </p:nvSpPr>
        <p:spPr>
          <a:xfrm>
            <a:off x="2753356" y="332049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9244607" y="16574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10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76281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7578 0.03773 " pathEditMode="relative" ptsTypes="AA">
                                      <p:cBhvr>
                                        <p:cTn id="1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69 L 0.09271 0.04097 " pathEditMode="relative" ptsTypes="AA">
                                      <p:cBhvr>
                                        <p:cTn id="3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69 L 0.01719 0.25509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0" y="1270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612 0.06597 " pathEditMode="relative" ptsTypes="AA">
                                      <p:cBhvr>
                                        <p:cTn id="5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7 L -0.03815 0.04769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" y="2338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7 L -0.00312 0.0331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" y="162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69 L 0.12669 0.04514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2" y="2222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7 L 0.12721 0.08704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4306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69 L 0.00208 0.07662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3796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0599 0.26944 " pathEditMode="relative" ptsTypes="AA">
                                      <p:cBhvr>
                                        <p:cTn id="16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7 L -0.04935 0.04537 " pathEditMode="relative" rAng="0" ptsTypes="AA">
                                      <p:cBhvr>
                                        <p:cTn id="166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30" y="2222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69 L 0.15377 0.03727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26" y="182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7 L -0.15338 0.0426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9" y="2083"/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3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69 L -0.02852 0.04213 " pathEditMode="relative" rAng="0" ptsTypes="AA">
                                      <p:cBhvr>
                                        <p:cTn id="217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9" y="2060"/>
                                    </p:animMotion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6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6" presetClass="emph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5 0.0007 L -0.11341 -0.36597 " pathEditMode="relative" rAng="0" ptsTypes="AA">
                                      <p:cBhvr>
                                        <p:cTn id="247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33" y="-18333"/>
                                    </p:animMotion>
                                  </p:childTnLst>
                                </p:cTn>
                              </p:par>
                              <p:par>
                                <p:cTn id="24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6 0.0007 L -0.18138 0.47269 " pathEditMode="relative" rAng="0" ptsTypes="AA">
                                      <p:cBhvr>
                                        <p:cTn id="261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32" y="23588"/>
                                    </p:animMotion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054 -0.00115 " pathEditMode="relative" ptsTypes="AA">
                                      <p:cBhvr>
                                        <p:cTn id="27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6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4" grpId="1"/>
      <p:bldP spid="14" grpId="2"/>
      <p:bldP spid="14" grpId="3"/>
      <p:bldP spid="17" grpId="0" build="allAtOnce"/>
      <p:bldP spid="5" grpId="0"/>
      <p:bldP spid="5" grpId="1"/>
      <p:bldP spid="7" grpId="0"/>
      <p:bldP spid="7" grpId="1"/>
      <p:bldP spid="8" grpId="0"/>
      <p:bldP spid="8" grpId="1"/>
      <p:bldP spid="8" grpId="2"/>
      <p:bldP spid="8" grpId="3"/>
      <p:bldP spid="8" grpId="4"/>
      <p:bldP spid="26" grpId="1" build="allAtOnce"/>
      <p:bldP spid="27" grpId="0" animBg="1"/>
      <p:bldP spid="27" grpId="1" animBg="1"/>
      <p:bldP spid="27" grpId="2" animBg="1"/>
      <p:bldP spid="25" grpId="0"/>
      <p:bldP spid="25" grpId="1"/>
      <p:bldP spid="44" grpId="0"/>
      <p:bldP spid="44" grpId="1"/>
      <p:bldP spid="46" grpId="0" animBg="1"/>
      <p:bldP spid="46" grpId="1" animBg="1"/>
      <p:bldP spid="46" grpId="2" animBg="1"/>
      <p:bldP spid="47" grpId="0"/>
      <p:bldP spid="47" grpId="1"/>
      <p:bldP spid="18" grpId="0"/>
      <p:bldP spid="18" grpId="1"/>
      <p:bldP spid="18" grpId="2"/>
      <p:bldP spid="48" grpId="0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1" grpId="3" animBg="1"/>
      <p:bldP spid="52" grpId="0" animBg="1"/>
      <p:bldP spid="52" grpId="1" animBg="1"/>
      <p:bldP spid="52" grpId="2" animBg="1"/>
      <p:bldP spid="53" grpId="0" animBg="1"/>
      <p:bldP spid="53" grpId="1" animBg="1"/>
      <p:bldP spid="53" grpId="2" animBg="1"/>
      <p:bldP spid="11" grpId="0"/>
      <p:bldP spid="11" grpId="1"/>
      <p:bldP spid="54" grpId="0" animBg="1"/>
      <p:bldP spid="54" grpId="1" animBg="1"/>
      <p:bldP spid="54" grpId="2" animBg="1"/>
      <p:bldP spid="56" grpId="0" animBg="1"/>
      <p:bldP spid="56" grpId="1" animBg="1"/>
      <p:bldP spid="56" grpId="2" animBg="1"/>
      <p:bldP spid="60" grpId="0"/>
      <p:bldP spid="61" grpId="0"/>
      <p:bldP spid="62" grpId="0"/>
      <p:bldP spid="63" grpId="0" animBg="1"/>
      <p:bldP spid="63" grpId="1" animBg="1"/>
      <p:bldP spid="63" grpId="2" animBg="1"/>
      <p:bldP spid="64" grpId="0" animBg="1"/>
      <p:bldP spid="64" grpId="1" animBg="1"/>
      <p:bldP spid="64" grpId="2" animBg="1"/>
      <p:bldP spid="66" grpId="0" animBg="1"/>
      <p:bldP spid="66" grpId="1" animBg="1"/>
      <p:bldP spid="66" grpId="2" animBg="1"/>
      <p:bldP spid="68" grpId="0" animBg="1"/>
      <p:bldP spid="68" grpId="1" animBg="1"/>
      <p:bldP spid="68" grpId="2" animBg="1"/>
      <p:bldP spid="69" grpId="0" animBg="1"/>
      <p:bldP spid="69" grpId="1" animBg="1"/>
      <p:bldP spid="69" grpId="2" animBg="1"/>
      <p:bldP spid="70" grpId="0" animBg="1"/>
      <p:bldP spid="70" grpId="1" animBg="1"/>
      <p:bldP spid="7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92" y="-101600"/>
            <a:ext cx="6396303" cy="125572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push_tree</a:t>
            </a:r>
            <a:r>
              <a:rPr lang="en-US" dirty="0"/>
              <a:t>(</a:t>
            </a:r>
            <a:r>
              <a:rPr lang="en-US" dirty="0" err="1"/>
              <a:t>treeNode</a:t>
            </a:r>
            <a:r>
              <a:rPr lang="en-US" dirty="0"/>
              <a:t>* &amp;</a:t>
            </a:r>
            <a:r>
              <a:rPr lang="en-US" dirty="0" err="1"/>
              <a:t>tree_top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x)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treeNode</a:t>
            </a:r>
            <a:r>
              <a:rPr lang="en-US" dirty="0"/>
              <a:t> *p,*m;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bool</a:t>
            </a:r>
            <a:r>
              <a:rPr lang="en-US" dirty="0"/>
              <a:t> b;</a:t>
            </a:r>
            <a:endParaRPr lang="ru-RU" dirty="0"/>
          </a:p>
          <a:p>
            <a:r>
              <a:rPr lang="en-US" dirty="0"/>
              <a:t>    if(</a:t>
            </a:r>
            <a:r>
              <a:rPr lang="en-US" dirty="0" err="1"/>
              <a:t>tree_top</a:t>
            </a:r>
            <a:r>
              <a:rPr lang="en-US" dirty="0"/>
              <a:t>==NULL)</a:t>
            </a:r>
            <a:endParaRPr lang="ru-RU" dirty="0"/>
          </a:p>
          <a:p>
            <a:r>
              <a:rPr lang="en-US" dirty="0"/>
              <a:t>	  {	</a:t>
            </a:r>
            <a:endParaRPr lang="ru-RU" dirty="0"/>
          </a:p>
          <a:p>
            <a:r>
              <a:rPr lang="en-US" dirty="0" smtClean="0"/>
              <a:t>	……</a:t>
            </a:r>
            <a:r>
              <a:rPr lang="en-US" dirty="0"/>
              <a:t>		  </a:t>
            </a:r>
            <a:endParaRPr lang="ru-RU" dirty="0"/>
          </a:p>
          <a:p>
            <a:r>
              <a:rPr lang="en-US" dirty="0"/>
              <a:t>	  }</a:t>
            </a:r>
            <a:endParaRPr lang="ru-RU" dirty="0"/>
          </a:p>
          <a:p>
            <a:r>
              <a:rPr lang="en-US" dirty="0"/>
              <a:t>      else	</a:t>
            </a:r>
            <a:r>
              <a:rPr lang="en-US" sz="2400" dirty="0"/>
              <a:t>	  </a:t>
            </a:r>
            <a:endParaRPr lang="ru-RU" sz="2400" dirty="0"/>
          </a:p>
          <a:p>
            <a:r>
              <a:rPr lang="en-US" dirty="0"/>
              <a:t>	{</a:t>
            </a:r>
            <a:endParaRPr lang="ru-RU" dirty="0"/>
          </a:p>
          <a:p>
            <a:r>
              <a:rPr lang="en-US" dirty="0"/>
              <a:t>	     m=</a:t>
            </a:r>
            <a:r>
              <a:rPr lang="en-US" dirty="0" err="1"/>
              <a:t>tree_top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     b=true;</a:t>
            </a:r>
            <a:endParaRPr lang="ru-RU" dirty="0"/>
          </a:p>
          <a:p>
            <a:r>
              <a:rPr lang="en-US" dirty="0"/>
              <a:t>	   while(b</a:t>
            </a:r>
            <a:r>
              <a:rPr lang="en-US" dirty="0" smtClean="0"/>
              <a:t>)</a:t>
            </a:r>
            <a:endParaRPr lang="ru-RU" dirty="0"/>
          </a:p>
          <a:p>
            <a:r>
              <a:rPr lang="en-US" dirty="0"/>
              <a:t>		 if (x&gt;=m-&gt;data)</a:t>
            </a:r>
            <a:endParaRPr lang="ru-RU" dirty="0"/>
          </a:p>
          <a:p>
            <a:r>
              <a:rPr lang="en-US" dirty="0"/>
              <a:t>			</a:t>
            </a:r>
            <a:r>
              <a:rPr lang="en-US" dirty="0" smtClean="0"/>
              <a:t>{ </a:t>
            </a:r>
          </a:p>
          <a:p>
            <a:r>
              <a:rPr lang="en-US" dirty="0"/>
              <a:t>	</a:t>
            </a:r>
            <a:r>
              <a:rPr lang="en-US" dirty="0" smtClean="0"/>
              <a:t>		   if(m-&gt;right) </a:t>
            </a:r>
            <a:r>
              <a:rPr lang="en-US" dirty="0" smtClean="0"/>
              <a:t>m</a:t>
            </a:r>
            <a:r>
              <a:rPr lang="ru-RU" dirty="0" smtClean="0"/>
              <a:t>=</a:t>
            </a:r>
            <a:r>
              <a:rPr lang="en-US" smtClean="0"/>
              <a:t>m-&gt;</a:t>
            </a:r>
            <a:r>
              <a:rPr lang="en-US" dirty="0" smtClean="0"/>
              <a:t>right;</a:t>
            </a:r>
          </a:p>
          <a:p>
            <a:r>
              <a:rPr lang="en-US" dirty="0"/>
              <a:t>	</a:t>
            </a:r>
            <a:r>
              <a:rPr lang="en-US" dirty="0" smtClean="0"/>
              <a:t>		   else</a:t>
            </a:r>
          </a:p>
          <a:p>
            <a:r>
              <a:rPr lang="en-US" dirty="0"/>
              <a:t>		</a:t>
            </a:r>
            <a:r>
              <a:rPr lang="en-US" dirty="0" smtClean="0"/>
              <a:t>	      {  p= new </a:t>
            </a:r>
            <a:r>
              <a:rPr lang="en-US" dirty="0" err="1" smtClean="0"/>
              <a:t>treeNode</a:t>
            </a:r>
            <a:r>
              <a:rPr lang="en-US" dirty="0" smtClean="0"/>
              <a:t>;</a:t>
            </a:r>
          </a:p>
          <a:p>
            <a:r>
              <a:rPr lang="en-US" dirty="0"/>
              <a:t>	 </a:t>
            </a:r>
            <a:r>
              <a:rPr lang="en-US" dirty="0" smtClean="0"/>
              <a:t>                             	          p-&gt;data=x; </a:t>
            </a:r>
          </a:p>
          <a:p>
            <a:r>
              <a:rPr lang="en-US" dirty="0"/>
              <a:t>	</a:t>
            </a:r>
            <a:r>
              <a:rPr lang="en-US" dirty="0" smtClean="0"/>
              <a:t>		           p-&gt;left=NULL; p-&gt;right=NULL;</a:t>
            </a:r>
          </a:p>
          <a:p>
            <a:r>
              <a:rPr lang="en-US" dirty="0"/>
              <a:t>	</a:t>
            </a:r>
            <a:r>
              <a:rPr lang="en-US" dirty="0" smtClean="0"/>
              <a:t>	                              m-&gt;right=p;  </a:t>
            </a:r>
          </a:p>
          <a:p>
            <a:r>
              <a:rPr lang="en-US" dirty="0"/>
              <a:t>	</a:t>
            </a:r>
            <a:r>
              <a:rPr lang="en-US" dirty="0" smtClean="0"/>
              <a:t>	                              b=false; }</a:t>
            </a:r>
          </a:p>
          <a:p>
            <a:r>
              <a:rPr lang="en-US" dirty="0"/>
              <a:t>	</a:t>
            </a:r>
            <a:r>
              <a:rPr lang="en-US" dirty="0" smtClean="0"/>
              <a:t>		} </a:t>
            </a:r>
            <a:endParaRPr lang="ru-RU" dirty="0"/>
          </a:p>
          <a:p>
            <a:r>
              <a:rPr lang="en-US" dirty="0"/>
              <a:t>		</a:t>
            </a:r>
            <a:r>
              <a:rPr lang="en-US" dirty="0" smtClean="0"/>
              <a:t>else   …… </a:t>
            </a:r>
          </a:p>
          <a:p>
            <a:r>
              <a:rPr lang="en-US" dirty="0" smtClean="0"/>
              <a:t>}</a:t>
            </a:r>
          </a:p>
          <a:p>
            <a:endParaRPr lang="ru-RU" dirty="0"/>
          </a:p>
          <a:p>
            <a:r>
              <a:rPr lang="en-US" dirty="0"/>
              <a:t>			</a:t>
            </a:r>
            <a:endParaRPr lang="ru-RU" dirty="0"/>
          </a:p>
          <a:p>
            <a:r>
              <a:rPr lang="en-US" dirty="0"/>
              <a:t>			   if(m-&gt;left) m=m-&gt;left;</a:t>
            </a:r>
            <a:endParaRPr lang="ru-RU" dirty="0"/>
          </a:p>
          <a:p>
            <a:r>
              <a:rPr lang="en-US" dirty="0"/>
              <a:t>			       else</a:t>
            </a:r>
            <a:endParaRPr lang="ru-RU" dirty="0"/>
          </a:p>
          <a:p>
            <a:r>
              <a:rPr lang="en-US" dirty="0"/>
              <a:t>			 </a:t>
            </a:r>
            <a:r>
              <a:rPr lang="en-US" dirty="0" smtClean="0"/>
              <a:t>      {</a:t>
            </a:r>
            <a:endParaRPr lang="ru-RU" dirty="0" smtClean="0"/>
          </a:p>
          <a:p>
            <a:r>
              <a:rPr lang="en-US" dirty="0"/>
              <a:t>	</a:t>
            </a:r>
            <a:r>
              <a:rPr lang="en-US" dirty="0" smtClean="0"/>
              <a:t>		         </a:t>
            </a:r>
            <a:r>
              <a:rPr lang="en-US" dirty="0"/>
              <a:t>p=new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		          p-&gt;data=x;</a:t>
            </a:r>
            <a:endParaRPr lang="ru-RU" dirty="0"/>
          </a:p>
          <a:p>
            <a:r>
              <a:rPr lang="en-US" dirty="0"/>
              <a:t>			          p-&gt;left=NULL;</a:t>
            </a:r>
            <a:endParaRPr lang="ru-RU" dirty="0"/>
          </a:p>
          <a:p>
            <a:r>
              <a:rPr lang="en-US" dirty="0"/>
              <a:t>                    </a:t>
            </a:r>
            <a:r>
              <a:rPr lang="en-US" dirty="0" smtClean="0"/>
              <a:t>	                              </a:t>
            </a:r>
            <a:r>
              <a:rPr lang="en-US" dirty="0"/>
              <a:t>p-&gt;right=NULL;</a:t>
            </a:r>
            <a:endParaRPr lang="ru-RU" dirty="0"/>
          </a:p>
          <a:p>
            <a:r>
              <a:rPr lang="en-US" dirty="0"/>
              <a:t>			         m-&gt;left=p;</a:t>
            </a:r>
            <a:endParaRPr lang="ru-RU" dirty="0"/>
          </a:p>
          <a:p>
            <a:r>
              <a:rPr lang="en-US" dirty="0"/>
              <a:t>			         b=false;</a:t>
            </a:r>
            <a:endParaRPr lang="ru-RU" dirty="0"/>
          </a:p>
          <a:p>
            <a:r>
              <a:rPr lang="en-US" dirty="0"/>
              <a:t>			    }</a:t>
            </a:r>
            <a:endParaRPr lang="ru-RU" dirty="0"/>
          </a:p>
          <a:p>
            <a:r>
              <a:rPr lang="en-US" dirty="0"/>
              <a:t>			}               </a:t>
            </a:r>
            <a:endParaRPr lang="ru-RU" dirty="0"/>
          </a:p>
          <a:p>
            <a:r>
              <a:rPr lang="en-US" dirty="0"/>
              <a:t>	</a:t>
            </a:r>
            <a:r>
              <a:rPr lang="en-US" dirty="0" smtClean="0"/>
              <a:t>	}</a:t>
            </a:r>
            <a:endParaRPr lang="ru-RU" dirty="0"/>
          </a:p>
          <a:p>
            <a:r>
              <a:rPr lang="en-US" dirty="0"/>
              <a:t>  }    </a:t>
            </a:r>
            <a:endParaRPr lang="ru-RU" dirty="0"/>
          </a:p>
          <a:p>
            <a:endParaRPr lang="en-US" sz="2400" dirty="0" smtClean="0"/>
          </a:p>
          <a:p>
            <a:r>
              <a:rPr lang="en-US" sz="2400" dirty="0" smtClean="0"/>
              <a:t>}</a:t>
            </a:r>
            <a:endParaRPr lang="ru-RU" sz="2400" dirty="0"/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697438" y="8227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4" name="Стрелка вниз 3"/>
          <p:cNvSpPr/>
          <p:nvPr/>
        </p:nvSpPr>
        <p:spPr>
          <a:xfrm>
            <a:off x="11635966" y="674419"/>
            <a:ext cx="324213" cy="351577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485424" y="170301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 err="1" smtClean="0"/>
              <a:t>nt</a:t>
            </a:r>
            <a:r>
              <a:rPr lang="en-US" sz="2400" b="1" dirty="0" smtClean="0"/>
              <a:t> x=</a:t>
            </a:r>
            <a:endParaRPr lang="ru-R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110343" y="1945045"/>
            <a:ext cx="106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t</a:t>
            </a:r>
            <a:r>
              <a:rPr lang="en-US" b="1" i="1" dirty="0" err="1" smtClean="0"/>
              <a:t>ree_top</a:t>
            </a:r>
            <a:endParaRPr lang="ru-RU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940119" y="145192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</a:t>
            </a:r>
            <a:endParaRPr lang="ru-R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389553" y="1464098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76601" y="122029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b</a:t>
            </a:r>
            <a:r>
              <a:rPr lang="en-US" sz="2400" b="1" dirty="0" err="1" smtClean="0"/>
              <a:t>ool</a:t>
            </a:r>
            <a:r>
              <a:rPr lang="en-US" sz="2400" b="1" dirty="0" smtClean="0"/>
              <a:t> b</a:t>
            </a:r>
            <a:endParaRPr lang="ru-RU" sz="2400" b="1" dirty="0"/>
          </a:p>
        </p:txBody>
      </p:sp>
      <p:graphicFrame>
        <p:nvGraphicFramePr>
          <p:cNvPr id="20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183379"/>
              </p:ext>
            </p:extLst>
          </p:nvPr>
        </p:nvGraphicFramePr>
        <p:xfrm>
          <a:off x="7310172" y="2260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118407"/>
              </p:ext>
            </p:extLst>
          </p:nvPr>
        </p:nvGraphicFramePr>
        <p:xfrm>
          <a:off x="7300936" y="2726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34515"/>
              </p:ext>
            </p:extLst>
          </p:nvPr>
        </p:nvGraphicFramePr>
        <p:xfrm>
          <a:off x="7919773" y="2726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61053" y="2214822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7</a:t>
            </a:r>
            <a:endParaRPr lang="ru-RU" sz="2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313073" y="170301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true</a:t>
            </a:r>
            <a:endParaRPr lang="ru-RU" sz="2000" b="1" dirty="0"/>
          </a:p>
        </p:txBody>
      </p:sp>
      <p:graphicFrame>
        <p:nvGraphicFramePr>
          <p:cNvPr id="34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122769"/>
              </p:ext>
            </p:extLst>
          </p:nvPr>
        </p:nvGraphicFramePr>
        <p:xfrm>
          <a:off x="6453893" y="3724996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40518"/>
              </p:ext>
            </p:extLst>
          </p:nvPr>
        </p:nvGraphicFramePr>
        <p:xfrm>
          <a:off x="6444657" y="4190601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019582"/>
              </p:ext>
            </p:extLst>
          </p:nvPr>
        </p:nvGraphicFramePr>
        <p:xfrm>
          <a:off x="7063494" y="4190600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37804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029181" y="4209996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78960" y="3649608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ru-RU" sz="2400" b="1" dirty="0"/>
          </a:p>
        </p:txBody>
      </p:sp>
      <p:cxnSp>
        <p:nvCxnSpPr>
          <p:cNvPr id="42" name="Прямая со стрелкой 41"/>
          <p:cNvCxnSpPr/>
          <p:nvPr/>
        </p:nvCxnSpPr>
        <p:spPr>
          <a:xfrm flipH="1">
            <a:off x="7166175" y="2883265"/>
            <a:ext cx="441659" cy="748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02704" y="163490"/>
            <a:ext cx="893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= false</a:t>
            </a:r>
            <a:endParaRPr lang="ru-RU" sz="2000" b="1" dirty="0"/>
          </a:p>
        </p:txBody>
      </p:sp>
      <p:sp>
        <p:nvSpPr>
          <p:cNvPr id="46" name="Стрелка влево 45"/>
          <p:cNvSpPr/>
          <p:nvPr/>
        </p:nvSpPr>
        <p:spPr>
          <a:xfrm>
            <a:off x="2045633" y="530665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258351" y="2212634"/>
            <a:ext cx="657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10&gt;</a:t>
            </a:r>
            <a:endParaRPr lang="ru-RU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57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8208308"/>
              </p:ext>
            </p:extLst>
          </p:nvPr>
        </p:nvGraphicFramePr>
        <p:xfrm>
          <a:off x="8633417" y="3683391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488146"/>
              </p:ext>
            </p:extLst>
          </p:nvPr>
        </p:nvGraphicFramePr>
        <p:xfrm>
          <a:off x="8624181" y="4148996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Таблица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267937"/>
              </p:ext>
            </p:extLst>
          </p:nvPr>
        </p:nvGraphicFramePr>
        <p:xfrm>
          <a:off x="9243018" y="4148995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8617328" y="4168391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9208705" y="4168391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9058484" y="36080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9</a:t>
            </a:r>
            <a:endParaRPr lang="ru-RU" sz="2400" b="1" dirty="0"/>
          </a:p>
        </p:txBody>
      </p:sp>
      <p:cxnSp>
        <p:nvCxnSpPr>
          <p:cNvPr id="67" name="Прямая со стрелкой 66"/>
          <p:cNvCxnSpPr/>
          <p:nvPr/>
        </p:nvCxnSpPr>
        <p:spPr>
          <a:xfrm>
            <a:off x="8241756" y="2910929"/>
            <a:ext cx="620560" cy="6970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310495" y="15583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10</a:t>
            </a:r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8561612" y="3657758"/>
            <a:ext cx="657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10&gt;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65" name="Стрелка влево 64"/>
          <p:cNvSpPr/>
          <p:nvPr/>
        </p:nvSpPr>
        <p:spPr>
          <a:xfrm>
            <a:off x="981222" y="80351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Стрелка влево 71"/>
          <p:cNvSpPr/>
          <p:nvPr/>
        </p:nvSpPr>
        <p:spPr>
          <a:xfrm>
            <a:off x="2307666" y="103636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Стрелка влево 72"/>
          <p:cNvSpPr/>
          <p:nvPr/>
        </p:nvSpPr>
        <p:spPr>
          <a:xfrm>
            <a:off x="2559473" y="2767175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Стрелка влево 73"/>
          <p:cNvSpPr/>
          <p:nvPr/>
        </p:nvSpPr>
        <p:spPr>
          <a:xfrm>
            <a:off x="2086108" y="3054682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Стрелка влево 74"/>
          <p:cNvSpPr/>
          <p:nvPr/>
        </p:nvSpPr>
        <p:spPr>
          <a:xfrm>
            <a:off x="2015102" y="3319121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Стрелка влево 75"/>
          <p:cNvSpPr/>
          <p:nvPr/>
        </p:nvSpPr>
        <p:spPr>
          <a:xfrm>
            <a:off x="3437930" y="359293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TextBox 76"/>
          <p:cNvSpPr txBox="1"/>
          <p:nvPr/>
        </p:nvSpPr>
        <p:spPr>
          <a:xfrm>
            <a:off x="8241756" y="1881501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</a:t>
            </a:r>
            <a:endParaRPr lang="ru-RU" sz="2000" dirty="0"/>
          </a:p>
        </p:txBody>
      </p:sp>
      <p:sp>
        <p:nvSpPr>
          <p:cNvPr id="80" name="Стрелка влево 79"/>
          <p:cNvSpPr/>
          <p:nvPr/>
        </p:nvSpPr>
        <p:spPr>
          <a:xfrm>
            <a:off x="5173891" y="419391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Стрелка влево 80"/>
          <p:cNvSpPr/>
          <p:nvPr/>
        </p:nvSpPr>
        <p:spPr>
          <a:xfrm>
            <a:off x="3044909" y="603328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Стрелка влево 81"/>
          <p:cNvSpPr/>
          <p:nvPr/>
        </p:nvSpPr>
        <p:spPr>
          <a:xfrm>
            <a:off x="2654805" y="3305426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Стрелка влево 82"/>
          <p:cNvSpPr/>
          <p:nvPr/>
        </p:nvSpPr>
        <p:spPr>
          <a:xfrm>
            <a:off x="3980320" y="3588261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Стрелка влево 84"/>
          <p:cNvSpPr/>
          <p:nvPr/>
        </p:nvSpPr>
        <p:spPr>
          <a:xfrm>
            <a:off x="5320810" y="4193913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6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7051366"/>
              </p:ext>
            </p:extLst>
          </p:nvPr>
        </p:nvGraphicFramePr>
        <p:xfrm>
          <a:off x="9924024" y="504066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" name="Таблица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581371"/>
              </p:ext>
            </p:extLst>
          </p:nvPr>
        </p:nvGraphicFramePr>
        <p:xfrm>
          <a:off x="9914788" y="550627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" name="Таблица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68842"/>
              </p:ext>
            </p:extLst>
          </p:nvPr>
        </p:nvGraphicFramePr>
        <p:xfrm>
          <a:off x="10533625" y="550626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9907935" y="5525665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90" name="TextBox 89"/>
          <p:cNvSpPr txBox="1"/>
          <p:nvPr/>
        </p:nvSpPr>
        <p:spPr>
          <a:xfrm>
            <a:off x="10499312" y="5525665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NULL</a:t>
            </a:r>
            <a:endParaRPr lang="ru-RU" sz="1600" b="1" dirty="0"/>
          </a:p>
        </p:txBody>
      </p:sp>
      <p:sp>
        <p:nvSpPr>
          <p:cNvPr id="91" name="TextBox 90"/>
          <p:cNvSpPr txBox="1"/>
          <p:nvPr/>
        </p:nvSpPr>
        <p:spPr>
          <a:xfrm>
            <a:off x="10349091" y="496527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10</a:t>
            </a:r>
            <a:endParaRPr lang="ru-RU" sz="2400" b="1" dirty="0"/>
          </a:p>
        </p:txBody>
      </p:sp>
      <p:sp>
        <p:nvSpPr>
          <p:cNvPr id="92" name="Стрелка влево 91"/>
          <p:cNvSpPr/>
          <p:nvPr/>
        </p:nvSpPr>
        <p:spPr>
          <a:xfrm>
            <a:off x="4998068" y="4677770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Стрелка влево 92"/>
          <p:cNvSpPr/>
          <p:nvPr/>
        </p:nvSpPr>
        <p:spPr>
          <a:xfrm>
            <a:off x="4500832" y="5017872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4" name="Стрелка влево 93"/>
          <p:cNvSpPr/>
          <p:nvPr/>
        </p:nvSpPr>
        <p:spPr>
          <a:xfrm>
            <a:off x="6335422" y="5236657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5" name="Прямая со стрелкой 94"/>
          <p:cNvCxnSpPr/>
          <p:nvPr/>
        </p:nvCxnSpPr>
        <p:spPr>
          <a:xfrm>
            <a:off x="9587048" y="4371174"/>
            <a:ext cx="723866" cy="594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6" name="Стрелка влево 95"/>
          <p:cNvSpPr/>
          <p:nvPr/>
        </p:nvSpPr>
        <p:spPr>
          <a:xfrm>
            <a:off x="4528408" y="5551188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Стрелка влево 97"/>
          <p:cNvSpPr/>
          <p:nvPr/>
        </p:nvSpPr>
        <p:spPr>
          <a:xfrm>
            <a:off x="4242697" y="5807547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9" name="Стрелка влево 98"/>
          <p:cNvSpPr/>
          <p:nvPr/>
        </p:nvSpPr>
        <p:spPr>
          <a:xfrm>
            <a:off x="6012680" y="5877914"/>
            <a:ext cx="645483" cy="287507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6405595" y="4965277"/>
            <a:ext cx="33681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Выходим из функции </a:t>
            </a:r>
            <a:r>
              <a:rPr lang="en-US" dirty="0" err="1" smtClean="0"/>
              <a:t>push_tree</a:t>
            </a:r>
            <a:r>
              <a:rPr lang="en-US" dirty="0" smtClean="0"/>
              <a:t>, </a:t>
            </a:r>
            <a:r>
              <a:rPr lang="ru-RU" dirty="0" smtClean="0"/>
              <a:t>но из-за того, что в файле не осталось чисел, мы не заходим в цикл в функции </a:t>
            </a:r>
            <a:r>
              <a:rPr lang="en-US" dirty="0" err="1" smtClean="0"/>
              <a:t>create_tree</a:t>
            </a:r>
            <a:r>
              <a:rPr lang="en-US" dirty="0" smtClean="0"/>
              <a:t> </a:t>
            </a:r>
            <a:r>
              <a:rPr lang="ru-RU" dirty="0" smtClean="0"/>
              <a:t>и выходим из нее.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798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8789 0.03634 " pathEditMode="relative" ptsTypes="AA">
                                      <p:cBhvr>
                                        <p:cTn id="1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8 L 0.10443 0.03704 " pathEditMode="relative" ptsTypes="AA">
                                      <p:cBhvr>
                                        <p:cTn id="32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0.01835 0.25255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" y="12454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99 0.06713 " pathEditMode="relative" ptsTypes="AA">
                                      <p:cBhvr>
                                        <p:cTn id="5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-0.04245 0.04699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40" y="2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8 L -0.00821 0.04028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" y="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0.12578 0.03264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2" y="1458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00347 L 0.12396 0.08564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81" y="4097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7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00625 L 0.10846 0.21227 " pathEditMode="relative" ptsTypes="AA">
                                      <p:cBhvr>
                                        <p:cTn id="123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-0.17044 0.27801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33" y="13727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00348 L -0.03229 -0.39699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2" y="-20023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0.10964 0.04143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5" y="1898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00347 L 0.10013 0.09189 " pathEditMode="relative" rAng="0" ptsTypes="AA">
                                      <p:cBhvr>
                                        <p:cTn id="17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4144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-0.01966 0.07592 " pathEditMode="relative" rAng="0" ptsTypes="AA">
                                      <p:cBhvr>
                                        <p:cTn id="191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4" y="3611"/>
                                    </p:animMotion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069 0.45926 " pathEditMode="relative" ptsTypes="AA">
                                      <p:cBhvr>
                                        <p:cTn id="20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-0.04623 0.04861 " pathEditMode="relative" rAng="0" ptsTypes="AA">
                                      <p:cBhvr>
                                        <p:cTn id="212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22" y="2245"/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00347 L 0.14831 0.02939 " pathEditMode="relative" rAng="0" ptsTypes="AA">
                                      <p:cBhvr>
                                        <p:cTn id="233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05" y="1296"/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0.00347 L -0.15065 0.04537 " pathEditMode="relative" rAng="0" ptsTypes="AA">
                                      <p:cBhvr>
                                        <p:cTn id="257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43" y="2083"/>
                                    </p:animMotion>
                                  </p:childTnLst>
                                </p:cTn>
                              </p:par>
                              <p:par>
                                <p:cTn id="25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8 L -0.02878 0.03843 " pathEditMode="relative" rAng="0" ptsTypes="AA">
                                      <p:cBhvr>
                                        <p:cTn id="275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9" y="1736"/>
                                    </p:animMotion>
                                  </p:childTnLst>
                                </p:cTn>
                              </p:par>
                              <p:par>
                                <p:cTn id="27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6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0347 L -0.12812 -0.36135 " pathEditMode="relative" rAng="0" ptsTypes="AA">
                                      <p:cBhvr>
                                        <p:cTn id="296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32" y="-18218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6" presetClass="emph" presetSubtype="0" fill="hold" grpId="4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578 -0.37431 L -0.47422 0.10555 " pathEditMode="relative" rAng="0" ptsTypes="AA">
                                      <p:cBhvr>
                                        <p:cTn id="314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44" y="23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5" grpId="0"/>
      <p:bldP spid="5" grpId="1"/>
      <p:bldP spid="7" grpId="0"/>
      <p:bldP spid="7" grpId="1"/>
      <p:bldP spid="7" grpId="2"/>
      <p:bldP spid="8" grpId="0"/>
      <p:bldP spid="8" grpId="1"/>
      <p:bldP spid="8" grpId="2"/>
      <p:bldP spid="8" grpId="3"/>
      <p:bldP spid="8" grpId="4"/>
      <p:bldP spid="25" grpId="0"/>
      <p:bldP spid="25" grpId="1"/>
      <p:bldP spid="25" grpId="2"/>
      <p:bldP spid="44" grpId="0"/>
      <p:bldP spid="44" grpId="1"/>
      <p:bldP spid="46" grpId="0" animBg="1"/>
      <p:bldP spid="46" grpId="1" animBg="1"/>
      <p:bldP spid="46" grpId="2" animBg="1"/>
      <p:bldP spid="11" grpId="0"/>
      <p:bldP spid="11" grpId="1"/>
      <p:bldP spid="61" grpId="0"/>
      <p:bldP spid="61" grpId="1"/>
      <p:bldP spid="71" grpId="0"/>
      <p:bldP spid="71" grpId="1"/>
      <p:bldP spid="55" grpId="0"/>
      <p:bldP spid="55" grpId="1"/>
      <p:bldP spid="65" grpId="0" animBg="1"/>
      <p:bldP spid="65" grpId="1" animBg="1"/>
      <p:bldP spid="65" grpId="2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5" grpId="2" animBg="1"/>
      <p:bldP spid="76" grpId="0" animBg="1"/>
      <p:bldP spid="76" grpId="1" animBg="1"/>
      <p:bldP spid="76" grpId="2" animBg="1"/>
      <p:bldP spid="77" grpId="0"/>
      <p:bldP spid="77" grpId="1"/>
      <p:bldP spid="80" grpId="0" animBg="1"/>
      <p:bldP spid="80" grpId="1" animBg="1"/>
      <p:bldP spid="80" grpId="2" animBg="1"/>
      <p:bldP spid="81" grpId="0" animBg="1"/>
      <p:bldP spid="81" grpId="1" animBg="1"/>
      <p:bldP spid="81" grpId="2" animBg="1"/>
      <p:bldP spid="82" grpId="0" animBg="1"/>
      <p:bldP spid="82" grpId="1" animBg="1"/>
      <p:bldP spid="82" grpId="2" animBg="1"/>
      <p:bldP spid="83" grpId="0" animBg="1"/>
      <p:bldP spid="83" grpId="1" animBg="1"/>
      <p:bldP spid="83" grpId="2" animBg="1"/>
      <p:bldP spid="85" grpId="0" animBg="1"/>
      <p:bldP spid="85" grpId="1" animBg="1"/>
      <p:bldP spid="85" grpId="2" animBg="1"/>
      <p:bldP spid="89" grpId="0"/>
      <p:bldP spid="90" grpId="0"/>
      <p:bldP spid="91" grpId="0"/>
      <p:bldP spid="92" grpId="0" animBg="1"/>
      <p:bldP spid="92" grpId="1" animBg="1"/>
      <p:bldP spid="92" grpId="2" animBg="1"/>
      <p:bldP spid="93" grpId="0" animBg="1"/>
      <p:bldP spid="93" grpId="1" animBg="1"/>
      <p:bldP spid="93" grpId="2" animBg="1"/>
      <p:bldP spid="94" grpId="0" animBg="1"/>
      <p:bldP spid="94" grpId="1" animBg="1"/>
      <p:bldP spid="94" grpId="2" animBg="1"/>
      <p:bldP spid="96" grpId="0" animBg="1"/>
      <p:bldP spid="96" grpId="1" animBg="1"/>
      <p:bldP spid="96" grpId="2" animBg="1"/>
      <p:bldP spid="98" grpId="0" animBg="1"/>
      <p:bldP spid="98" grpId="1" animBg="1"/>
      <p:bldP spid="99" grpId="0" animBg="1"/>
      <p:bldP spid="99" grpId="1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6328" y="406400"/>
            <a:ext cx="7605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Мы создали бинарное дерево поиска из текстового файла </a:t>
            </a:r>
            <a:r>
              <a:rPr lang="en-US" sz="2000" dirty="0" smtClean="0"/>
              <a:t>“arb.txt”</a:t>
            </a:r>
            <a:endParaRPr lang="ru-RU" sz="2000" dirty="0"/>
          </a:p>
        </p:txBody>
      </p:sp>
      <p:graphicFrame>
        <p:nvGraphicFramePr>
          <p:cNvPr id="3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947574"/>
              </p:ext>
            </p:extLst>
          </p:nvPr>
        </p:nvGraphicFramePr>
        <p:xfrm>
          <a:off x="7985760" y="1179871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7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948608"/>
              </p:ext>
            </p:extLst>
          </p:nvPr>
        </p:nvGraphicFramePr>
        <p:xfrm>
          <a:off x="7985760" y="1719367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726415"/>
              </p:ext>
            </p:extLst>
          </p:nvPr>
        </p:nvGraphicFramePr>
        <p:xfrm>
          <a:off x="8945880" y="1719367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6" name="Прямая со стрелкой 5"/>
          <p:cNvCxnSpPr>
            <a:cxnSpLocks/>
          </p:cNvCxnSpPr>
          <p:nvPr/>
        </p:nvCxnSpPr>
        <p:spPr>
          <a:xfrm flipH="1">
            <a:off x="7857721" y="1971779"/>
            <a:ext cx="701978" cy="768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9326880" y="1987019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1162433"/>
              </p:ext>
            </p:extLst>
          </p:nvPr>
        </p:nvGraphicFramePr>
        <p:xfrm>
          <a:off x="6769608" y="2813599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179287"/>
              </p:ext>
            </p:extLst>
          </p:nvPr>
        </p:nvGraphicFramePr>
        <p:xfrm>
          <a:off x="6769608" y="3353095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r>
                        <a:rPr lang="en-US" b="1" dirty="0" smtClean="0"/>
                        <a:t>NULL</a:t>
                      </a:r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636870"/>
              </p:ext>
            </p:extLst>
          </p:nvPr>
        </p:nvGraphicFramePr>
        <p:xfrm>
          <a:off x="7729728" y="3353095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2642777"/>
              </p:ext>
            </p:extLst>
          </p:nvPr>
        </p:nvGraphicFramePr>
        <p:xfrm>
          <a:off x="9079992" y="2810551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9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78709"/>
              </p:ext>
            </p:extLst>
          </p:nvPr>
        </p:nvGraphicFramePr>
        <p:xfrm>
          <a:off x="9079992" y="3350047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821943"/>
              </p:ext>
            </p:extLst>
          </p:nvPr>
        </p:nvGraphicFramePr>
        <p:xfrm>
          <a:off x="10040112" y="3350047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0526970"/>
              </p:ext>
            </p:extLst>
          </p:nvPr>
        </p:nvGraphicFramePr>
        <p:xfrm>
          <a:off x="9843516" y="4538195"/>
          <a:ext cx="1929384" cy="539496"/>
        </p:xfrm>
        <a:graphic>
          <a:graphicData uri="http://schemas.openxmlformats.org/drawingml/2006/table">
            <a:tbl>
              <a:tblPr/>
              <a:tblGrid>
                <a:gridCol w="192938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10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648319"/>
              </p:ext>
            </p:extLst>
          </p:nvPr>
        </p:nvGraphicFramePr>
        <p:xfrm>
          <a:off x="9843516" y="5077691"/>
          <a:ext cx="960120" cy="521208"/>
        </p:xfrm>
        <a:graphic>
          <a:graphicData uri="http://schemas.openxmlformats.org/drawingml/2006/table">
            <a:tbl>
              <a:tblPr/>
              <a:tblGrid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68523"/>
              </p:ext>
            </p:extLst>
          </p:nvPr>
        </p:nvGraphicFramePr>
        <p:xfrm>
          <a:off x="10803636" y="5077691"/>
          <a:ext cx="969264" cy="521208"/>
        </p:xfrm>
        <a:graphic>
          <a:graphicData uri="http://schemas.openxmlformats.org/drawingml/2006/table">
            <a:tbl>
              <a:tblPr/>
              <a:tblGrid>
                <a:gridCol w="969264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NULL</a:t>
                      </a:r>
                      <a:endParaRPr lang="ru-RU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7" name="Прямая со стрелкой 16"/>
          <p:cNvCxnSpPr/>
          <p:nvPr/>
        </p:nvCxnSpPr>
        <p:spPr>
          <a:xfrm>
            <a:off x="10541462" y="3681892"/>
            <a:ext cx="679704" cy="752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691983" y="2651576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</a:t>
            </a:r>
            <a:r>
              <a:rPr lang="en-US" sz="2400" dirty="0" smtClean="0">
                <a:latin typeface="Arial Black" panose="020B0A04020102020204" pitchFamily="34" charset="0"/>
              </a:rPr>
              <a:t>10</a:t>
            </a:r>
            <a:r>
              <a:rPr lang="ru-RU" sz="2400" dirty="0" smtClean="0"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564" y="2282244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“arb.txt”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764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 animBg="1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72734" y="4911294"/>
            <a:ext cx="69192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 smtClean="0"/>
              <a:t>Презентацию выполнил </a:t>
            </a:r>
            <a:r>
              <a:rPr lang="ru-RU" sz="2800" dirty="0" err="1" smtClean="0"/>
              <a:t>Фаляхов</a:t>
            </a:r>
            <a:r>
              <a:rPr lang="ru-RU" sz="2800" dirty="0" smtClean="0"/>
              <a:t> Искандер</a:t>
            </a:r>
          </a:p>
          <a:p>
            <a:pPr algn="r"/>
            <a:r>
              <a:rPr lang="ru-RU" sz="2800" dirty="0" smtClean="0"/>
              <a:t>Группа 09-405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870036" y="1948873"/>
            <a:ext cx="4081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 smtClean="0"/>
              <a:t>Спасибо за внимание!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220405" y="6488668"/>
            <a:ext cx="138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Казань 2015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33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8709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Используя это свойство мы с вами построим бинарное дерево поиска. Для начала, давайте разберем функции, которые нам понадобятся.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8531" y="794331"/>
            <a:ext cx="810067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1) </a:t>
            </a:r>
            <a:r>
              <a:rPr lang="en-US" sz="2800" dirty="0"/>
              <a:t>void </a:t>
            </a:r>
            <a:r>
              <a:rPr lang="en-US" sz="2800" dirty="0" err="1"/>
              <a:t>create_tree</a:t>
            </a:r>
            <a:r>
              <a:rPr lang="en-US" sz="2800" dirty="0"/>
              <a:t>(</a:t>
            </a:r>
            <a:r>
              <a:rPr lang="en-US" sz="2800" dirty="0" err="1"/>
              <a:t>ifstream</a:t>
            </a:r>
            <a:r>
              <a:rPr lang="en-US" sz="2800" dirty="0"/>
              <a:t> &amp;</a:t>
            </a:r>
            <a:r>
              <a:rPr lang="en-US" sz="2800" dirty="0" err="1"/>
              <a:t>f,treeNode</a:t>
            </a:r>
            <a:r>
              <a:rPr lang="en-US" sz="2800" dirty="0"/>
              <a:t>* &amp;</a:t>
            </a:r>
            <a:r>
              <a:rPr lang="en-US" sz="2800" dirty="0" err="1"/>
              <a:t>tree_top</a:t>
            </a:r>
            <a:r>
              <a:rPr lang="en-US" sz="2800" dirty="0"/>
              <a:t>)</a:t>
            </a:r>
            <a:endParaRPr lang="ru-RU" sz="2800" dirty="0"/>
          </a:p>
          <a:p>
            <a:r>
              <a:rPr lang="en-US" sz="2800" dirty="0"/>
              <a:t> {</a:t>
            </a:r>
            <a:endParaRPr lang="ru-RU" sz="2800" dirty="0"/>
          </a:p>
          <a:p>
            <a:r>
              <a:rPr lang="en-US" sz="2800" dirty="0"/>
              <a:t>   </a:t>
            </a:r>
            <a:r>
              <a:rPr lang="en-US" sz="2800" dirty="0" err="1"/>
              <a:t>tree_top</a:t>
            </a:r>
            <a:r>
              <a:rPr lang="en-US" sz="2800" dirty="0"/>
              <a:t>=NULL;</a:t>
            </a:r>
            <a:endParaRPr lang="ru-RU" sz="2800" dirty="0"/>
          </a:p>
          <a:p>
            <a:r>
              <a:rPr lang="en-US" sz="2800" dirty="0"/>
              <a:t>    </a:t>
            </a:r>
            <a:r>
              <a:rPr lang="en-US" sz="2800" dirty="0" err="1"/>
              <a:t>int</a:t>
            </a:r>
            <a:r>
              <a:rPr lang="en-US" sz="2800" dirty="0"/>
              <a:t> x;</a:t>
            </a:r>
            <a:endParaRPr lang="ru-RU" sz="2800" dirty="0"/>
          </a:p>
          <a:p>
            <a:r>
              <a:rPr lang="en-US" sz="2800" dirty="0"/>
              <a:t>          while(f&gt;&gt;x)</a:t>
            </a:r>
            <a:endParaRPr lang="ru-RU" sz="2800" dirty="0"/>
          </a:p>
          <a:p>
            <a:r>
              <a:rPr lang="en-US" sz="2800" dirty="0"/>
              <a:t>		 {</a:t>
            </a:r>
            <a:endParaRPr lang="ru-RU" sz="2800" dirty="0"/>
          </a:p>
          <a:p>
            <a:r>
              <a:rPr lang="en-US" sz="2800" dirty="0"/>
              <a:t>		     </a:t>
            </a:r>
            <a:r>
              <a:rPr lang="en-US" sz="2800" dirty="0" err="1"/>
              <a:t>push_tree</a:t>
            </a:r>
            <a:r>
              <a:rPr lang="en-US" sz="2800" dirty="0"/>
              <a:t>(</a:t>
            </a:r>
            <a:r>
              <a:rPr lang="en-US" sz="2800" dirty="0" err="1"/>
              <a:t>tree_top,x</a:t>
            </a:r>
            <a:r>
              <a:rPr lang="en-US" sz="2800" dirty="0"/>
              <a:t>);</a:t>
            </a:r>
            <a:endParaRPr lang="ru-RU" sz="2800" dirty="0"/>
          </a:p>
          <a:p>
            <a:r>
              <a:rPr lang="en-US" sz="2800" dirty="0"/>
              <a:t>		  }</a:t>
            </a:r>
            <a:endParaRPr lang="ru-RU" sz="2800" dirty="0"/>
          </a:p>
          <a:p>
            <a:r>
              <a:rPr lang="en-US" sz="2800" dirty="0"/>
              <a:t>}</a:t>
            </a:r>
            <a:endParaRPr lang="ru-RU" sz="2800" dirty="0"/>
          </a:p>
          <a:p>
            <a:endParaRPr lang="ru-RU" dirty="0"/>
          </a:p>
        </p:txBody>
      </p:sp>
      <p:sp>
        <p:nvSpPr>
          <p:cNvPr id="6" name="Стрелка влево 5"/>
          <p:cNvSpPr/>
          <p:nvPr/>
        </p:nvSpPr>
        <p:spPr>
          <a:xfrm>
            <a:off x="8114259" y="960369"/>
            <a:ext cx="701963" cy="267855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6184047" y="1376224"/>
            <a:ext cx="60079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Функция </a:t>
            </a:r>
            <a:r>
              <a:rPr lang="en-US" sz="2000" dirty="0" err="1" smtClean="0"/>
              <a:t>create_tree</a:t>
            </a:r>
            <a:r>
              <a:rPr lang="en-US" sz="2000" dirty="0" smtClean="0"/>
              <a:t> (</a:t>
            </a:r>
            <a:r>
              <a:rPr lang="ru-RU" sz="2000" dirty="0" smtClean="0"/>
              <a:t>функция создания дерева) принимает в параметры входной текстовый файл, откуда мы будем брать числа и адрес корня дерева, который мы  создали до этого, но не дали ему никакого значения.</a:t>
            </a:r>
            <a:endParaRPr lang="ru-R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4320072" y="1714777"/>
            <a:ext cx="6774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Даем адресу корня значение </a:t>
            </a:r>
            <a:r>
              <a:rPr lang="en-US" dirty="0" smtClean="0"/>
              <a:t>NULL,</a:t>
            </a:r>
            <a:r>
              <a:rPr lang="ru-RU" dirty="0" smtClean="0"/>
              <a:t> так мы только начинаем создавать дерево.</a:t>
            </a:r>
            <a:endParaRPr lang="ru-RU" dirty="0"/>
          </a:p>
        </p:txBody>
      </p:sp>
      <p:sp>
        <p:nvSpPr>
          <p:cNvPr id="11" name="Стрелка влево 10"/>
          <p:cNvSpPr/>
          <p:nvPr/>
        </p:nvSpPr>
        <p:spPr>
          <a:xfrm>
            <a:off x="2948178" y="1770087"/>
            <a:ext cx="701963" cy="267855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2552969" y="2148670"/>
            <a:ext cx="6263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Создаем переменную </a:t>
            </a:r>
            <a:r>
              <a:rPr lang="en-US" dirty="0"/>
              <a:t>X</a:t>
            </a:r>
            <a:r>
              <a:rPr lang="en-US" dirty="0" smtClean="0"/>
              <a:t> </a:t>
            </a:r>
            <a:r>
              <a:rPr lang="ru-RU" dirty="0" smtClean="0"/>
              <a:t>типа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ru-RU" dirty="0" smtClean="0"/>
              <a:t>, чтобы брать из файла числа</a:t>
            </a:r>
            <a:endParaRPr lang="ru-RU" dirty="0"/>
          </a:p>
        </p:txBody>
      </p:sp>
      <p:sp>
        <p:nvSpPr>
          <p:cNvPr id="13" name="Стрелка влево 12"/>
          <p:cNvSpPr/>
          <p:nvPr/>
        </p:nvSpPr>
        <p:spPr>
          <a:xfrm>
            <a:off x="1435185" y="2199408"/>
            <a:ext cx="701963" cy="267855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3650141" y="2524780"/>
            <a:ext cx="6263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Пока в файле еще есть значения целых чисел, берем от туда число в переменную </a:t>
            </a:r>
            <a:r>
              <a:rPr lang="en-US" dirty="0" smtClean="0"/>
              <a:t>X </a:t>
            </a:r>
            <a:r>
              <a:rPr lang="ru-RU" dirty="0" smtClean="0"/>
              <a:t>и заходим в цикл.</a:t>
            </a:r>
            <a:endParaRPr lang="ru-RU" dirty="0"/>
          </a:p>
        </p:txBody>
      </p:sp>
      <p:sp>
        <p:nvSpPr>
          <p:cNvPr id="15" name="Стрелка влево 14"/>
          <p:cNvSpPr/>
          <p:nvPr/>
        </p:nvSpPr>
        <p:spPr>
          <a:xfrm>
            <a:off x="2692147" y="2628730"/>
            <a:ext cx="701963" cy="267855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6781853" y="3589333"/>
            <a:ext cx="4870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Заходим в функцию</a:t>
            </a:r>
            <a:r>
              <a:rPr lang="en-US" dirty="0"/>
              <a:t> </a:t>
            </a:r>
            <a:r>
              <a:rPr lang="en-US" dirty="0" err="1" smtClean="0"/>
              <a:t>push_tree</a:t>
            </a:r>
            <a:r>
              <a:rPr lang="ru-RU" dirty="0" smtClean="0"/>
              <a:t> (функция вставки элемента в дерево), отправляя туда в качестве параметров адрес корня и значение числа, которое мы хотим добавить в дерево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199004" y="5284419"/>
            <a:ext cx="6390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Теперь, давайте разберем функцию </a:t>
            </a:r>
            <a:r>
              <a:rPr lang="en-US" sz="2400" dirty="0" err="1" smtClean="0"/>
              <a:t>push_tree</a:t>
            </a:r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3292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1484 0.11829 L -0.41484 0.11829 " pathEditMode="relative" ptsTypes="AAA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2318 0.06527 L -0.12318 0.06527 " pathEditMode="relative" ptsTypes="AAA">
                                      <p:cBhvr>
                                        <p:cTn id="5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726 0.06273 L 0.09726 0.06273 " pathEditMode="relative" ptsTypes="AAA">
                                      <p:cBhvr>
                                        <p:cTn id="7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492 0.13333 " pathEditMode="relative" ptsTypes="AA">
                                      <p:cBhvr>
                                        <p:cTn id="9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6" grpId="1" uiExpand="1" animBg="1"/>
      <p:bldP spid="6" grpId="2" animBg="1"/>
      <p:bldP spid="7" grpId="0"/>
      <p:bldP spid="7" grpId="1"/>
      <p:bldP spid="10" grpId="0"/>
      <p:bldP spid="10" grpId="1"/>
      <p:bldP spid="11" grpId="0" animBg="1"/>
      <p:bldP spid="11" grpId="1" animBg="1"/>
      <p:bldP spid="11" grpId="2" animBg="1"/>
      <p:bldP spid="12" grpId="0"/>
      <p:bldP spid="12" grpId="1"/>
      <p:bldP spid="13" grpId="0" animBg="1"/>
      <p:bldP spid="13" grpId="1" animBg="1"/>
      <p:bldP spid="13" grpId="2" animBg="1"/>
      <p:bldP spid="14" grpId="0"/>
      <p:bldP spid="14" grpId="1"/>
      <p:bldP spid="15" grpId="0" animBg="1"/>
      <p:bldP spid="15" grpId="1" animBg="1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265" y="233265"/>
            <a:ext cx="11653935" cy="1144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push_tree</a:t>
            </a:r>
            <a:r>
              <a:rPr lang="en-US" dirty="0"/>
              <a:t>(</a:t>
            </a:r>
            <a:r>
              <a:rPr lang="en-US" dirty="0" err="1"/>
              <a:t>treeNode</a:t>
            </a:r>
            <a:r>
              <a:rPr lang="en-US" dirty="0"/>
              <a:t>* &amp;</a:t>
            </a:r>
            <a:r>
              <a:rPr lang="en-US" dirty="0" err="1"/>
              <a:t>tree_top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x)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treeNode</a:t>
            </a:r>
            <a:r>
              <a:rPr lang="en-US" dirty="0"/>
              <a:t> *p,*m;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bool</a:t>
            </a:r>
            <a:r>
              <a:rPr lang="en-US" dirty="0"/>
              <a:t> b;</a:t>
            </a:r>
            <a:endParaRPr lang="ru-RU" dirty="0"/>
          </a:p>
          <a:p>
            <a:r>
              <a:rPr lang="en-US" dirty="0"/>
              <a:t>    if(</a:t>
            </a:r>
            <a:r>
              <a:rPr lang="en-US" dirty="0" err="1"/>
              <a:t>tree_top</a:t>
            </a:r>
            <a:r>
              <a:rPr lang="en-US" dirty="0"/>
              <a:t>==NULL)</a:t>
            </a:r>
            <a:endParaRPr lang="ru-RU" dirty="0"/>
          </a:p>
          <a:p>
            <a:r>
              <a:rPr lang="en-US" dirty="0"/>
              <a:t>	  {	</a:t>
            </a:r>
            <a:endParaRPr lang="ru-RU" dirty="0"/>
          </a:p>
          <a:p>
            <a:r>
              <a:rPr lang="en-US" dirty="0"/>
              <a:t>              m=new </a:t>
            </a:r>
            <a:r>
              <a:rPr lang="en-US" dirty="0" err="1" smtClean="0"/>
              <a:t>treeNode</a:t>
            </a:r>
            <a:r>
              <a:rPr lang="en-US" dirty="0" smtClean="0"/>
              <a:t>; m-&gt;data=x; m-</a:t>
            </a:r>
            <a:r>
              <a:rPr lang="en-US" dirty="0"/>
              <a:t>&gt;left=NULL</a:t>
            </a:r>
            <a:r>
              <a:rPr lang="en-US" dirty="0" smtClean="0"/>
              <a:t>;</a:t>
            </a:r>
            <a:r>
              <a:rPr lang="ru-RU" dirty="0" smtClean="0"/>
              <a:t> </a:t>
            </a:r>
            <a:r>
              <a:rPr lang="en-US" dirty="0" smtClean="0"/>
              <a:t>m-</a:t>
            </a:r>
            <a:r>
              <a:rPr lang="en-US" dirty="0"/>
              <a:t>&gt;right=NULL;</a:t>
            </a:r>
            <a:endParaRPr lang="ru-RU" dirty="0"/>
          </a:p>
          <a:p>
            <a:r>
              <a:rPr lang="en-US" dirty="0"/>
              <a:t>              </a:t>
            </a:r>
            <a:r>
              <a:rPr lang="en-US" dirty="0" err="1"/>
              <a:t>tree_top</a:t>
            </a:r>
            <a:r>
              <a:rPr lang="en-US" dirty="0"/>
              <a:t>=m;		  </a:t>
            </a:r>
            <a:endParaRPr lang="ru-RU" dirty="0"/>
          </a:p>
          <a:p>
            <a:r>
              <a:rPr lang="en-US" dirty="0"/>
              <a:t>	  }</a:t>
            </a:r>
            <a:endParaRPr lang="ru-RU" dirty="0"/>
          </a:p>
          <a:p>
            <a:r>
              <a:rPr lang="en-US" dirty="0"/>
              <a:t>      else		  </a:t>
            </a:r>
            <a:endParaRPr lang="ru-RU" dirty="0"/>
          </a:p>
          <a:p>
            <a:r>
              <a:rPr lang="en-US" dirty="0"/>
              <a:t>	 {</a:t>
            </a:r>
            <a:endParaRPr lang="ru-RU" dirty="0"/>
          </a:p>
          <a:p>
            <a:r>
              <a:rPr lang="en-US" dirty="0"/>
              <a:t>	     </a:t>
            </a:r>
            <a:r>
              <a:rPr lang="en-US" dirty="0" smtClean="0"/>
              <a:t>m=</a:t>
            </a:r>
            <a:r>
              <a:rPr lang="en-US" dirty="0" err="1" smtClean="0"/>
              <a:t>tree_top</a:t>
            </a:r>
            <a:r>
              <a:rPr lang="en-US" dirty="0" smtClean="0"/>
              <a:t>;</a:t>
            </a:r>
            <a:r>
              <a:rPr lang="en-US" dirty="0"/>
              <a:t> </a:t>
            </a:r>
            <a:r>
              <a:rPr lang="en-US" dirty="0" smtClean="0"/>
              <a:t>b=true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   while(b)</a:t>
            </a:r>
            <a:endParaRPr lang="ru-RU" dirty="0"/>
          </a:p>
          <a:p>
            <a:r>
              <a:rPr lang="en-US" dirty="0"/>
              <a:t>		{</a:t>
            </a:r>
            <a:endParaRPr lang="ru-RU" dirty="0"/>
          </a:p>
          <a:p>
            <a:r>
              <a:rPr lang="en-US" dirty="0"/>
              <a:t>		 if (x&gt;=m-&gt;data)</a:t>
            </a:r>
            <a:endParaRPr lang="ru-RU" dirty="0"/>
          </a:p>
          <a:p>
            <a:r>
              <a:rPr lang="en-US" dirty="0"/>
              <a:t>		  {</a:t>
            </a:r>
            <a:endParaRPr lang="ru-RU" dirty="0"/>
          </a:p>
          <a:p>
            <a:r>
              <a:rPr lang="en-US" dirty="0"/>
              <a:t>		    if(m-&gt;</a:t>
            </a:r>
            <a:r>
              <a:rPr lang="en-US" dirty="0" smtClean="0"/>
              <a:t>right)</a:t>
            </a:r>
            <a:r>
              <a:rPr lang="en-US" dirty="0"/>
              <a:t> </a:t>
            </a:r>
            <a:r>
              <a:rPr lang="en-US" dirty="0" smtClean="0"/>
              <a:t>m=m-</a:t>
            </a:r>
            <a:r>
              <a:rPr lang="en-US" dirty="0"/>
              <a:t>&gt;right;</a:t>
            </a:r>
            <a:endParaRPr lang="ru-RU" dirty="0"/>
          </a:p>
          <a:p>
            <a:r>
              <a:rPr lang="en-US" dirty="0"/>
              <a:t>		    else</a:t>
            </a:r>
            <a:endParaRPr lang="ru-RU" dirty="0"/>
          </a:p>
          <a:p>
            <a:r>
              <a:rPr lang="en-US" dirty="0"/>
              <a:t>			{  </a:t>
            </a:r>
            <a:endParaRPr lang="ru-RU" dirty="0"/>
          </a:p>
          <a:p>
            <a:r>
              <a:rPr lang="en-US" dirty="0"/>
              <a:t>			   p=new </a:t>
            </a:r>
            <a:r>
              <a:rPr lang="en-US" dirty="0" err="1" smtClean="0"/>
              <a:t>treeNode</a:t>
            </a:r>
            <a:r>
              <a:rPr lang="en-US" dirty="0" smtClean="0"/>
              <a:t>;</a:t>
            </a:r>
            <a:r>
              <a:rPr lang="en-US" dirty="0"/>
              <a:t> </a:t>
            </a:r>
            <a:r>
              <a:rPr lang="en-US" dirty="0" smtClean="0"/>
              <a:t>p-</a:t>
            </a:r>
            <a:r>
              <a:rPr lang="en-US" dirty="0"/>
              <a:t>&gt;</a:t>
            </a:r>
            <a:r>
              <a:rPr lang="en-US" dirty="0" smtClean="0"/>
              <a:t>data=x;</a:t>
            </a:r>
            <a:r>
              <a:rPr lang="en-US" dirty="0"/>
              <a:t> </a:t>
            </a:r>
            <a:r>
              <a:rPr lang="en-US" dirty="0" smtClean="0"/>
              <a:t>p-</a:t>
            </a:r>
            <a:r>
              <a:rPr lang="en-US" dirty="0"/>
              <a:t>&gt;</a:t>
            </a:r>
            <a:r>
              <a:rPr lang="en-US" dirty="0" smtClean="0"/>
              <a:t>left=NULL;</a:t>
            </a:r>
            <a:r>
              <a:rPr lang="en-US" dirty="0"/>
              <a:t> </a:t>
            </a:r>
            <a:r>
              <a:rPr lang="en-US" dirty="0" smtClean="0"/>
              <a:t>p-</a:t>
            </a:r>
            <a:r>
              <a:rPr lang="en-US" dirty="0"/>
              <a:t>&gt;right=NULL;</a:t>
            </a:r>
            <a:endParaRPr lang="ru-RU" dirty="0"/>
          </a:p>
          <a:p>
            <a:r>
              <a:rPr lang="en-US" dirty="0"/>
              <a:t>			  m-&gt;right=p;</a:t>
            </a:r>
            <a:endParaRPr lang="ru-RU" dirty="0"/>
          </a:p>
          <a:p>
            <a:r>
              <a:rPr lang="en-US" dirty="0"/>
              <a:t>			  b=false;</a:t>
            </a:r>
            <a:endParaRPr lang="ru-RU" dirty="0"/>
          </a:p>
          <a:p>
            <a:r>
              <a:rPr lang="en-US" dirty="0"/>
              <a:t>			 }</a:t>
            </a:r>
            <a:endParaRPr lang="ru-RU" dirty="0"/>
          </a:p>
          <a:p>
            <a:r>
              <a:rPr lang="en-US" dirty="0"/>
              <a:t>		  }</a:t>
            </a:r>
            <a:endParaRPr lang="ru-RU" dirty="0"/>
          </a:p>
          <a:p>
            <a:r>
              <a:rPr lang="en-US" dirty="0"/>
              <a:t>		else</a:t>
            </a:r>
            <a:endParaRPr lang="ru-RU" dirty="0"/>
          </a:p>
          <a:p>
            <a:r>
              <a:rPr lang="en-US" dirty="0"/>
              <a:t>			{ </a:t>
            </a:r>
            <a:endParaRPr lang="ru-RU" dirty="0"/>
          </a:p>
          <a:p>
            <a:r>
              <a:rPr lang="en-US" dirty="0"/>
              <a:t>			   if(m-&gt;left) m=m-&gt;left;</a:t>
            </a:r>
            <a:endParaRPr lang="ru-RU" dirty="0"/>
          </a:p>
          <a:p>
            <a:r>
              <a:rPr lang="en-US" dirty="0"/>
              <a:t>			       else</a:t>
            </a:r>
            <a:endParaRPr lang="ru-RU" dirty="0"/>
          </a:p>
          <a:p>
            <a:r>
              <a:rPr lang="en-US" dirty="0"/>
              <a:t>			       {</a:t>
            </a:r>
            <a:endParaRPr lang="ru-RU" dirty="0"/>
          </a:p>
          <a:p>
            <a:r>
              <a:rPr lang="en-US" dirty="0"/>
              <a:t>			          p=new </a:t>
            </a:r>
            <a:r>
              <a:rPr lang="en-US" dirty="0" err="1"/>
              <a:t>treeNode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			          p-&gt;data=x;</a:t>
            </a:r>
            <a:endParaRPr lang="ru-RU" dirty="0"/>
          </a:p>
          <a:p>
            <a:r>
              <a:rPr lang="en-US" dirty="0"/>
              <a:t>			          p-&gt;left=NULL;</a:t>
            </a:r>
            <a:endParaRPr lang="ru-RU" dirty="0"/>
          </a:p>
          <a:p>
            <a:r>
              <a:rPr lang="en-US" dirty="0"/>
              <a:t>                                    p-&gt;right=NULL;</a:t>
            </a:r>
            <a:endParaRPr lang="ru-RU" dirty="0"/>
          </a:p>
          <a:p>
            <a:r>
              <a:rPr lang="en-US" dirty="0"/>
              <a:t>			         m-&gt;left=p;</a:t>
            </a:r>
            <a:endParaRPr lang="ru-RU" dirty="0"/>
          </a:p>
          <a:p>
            <a:r>
              <a:rPr lang="en-US" dirty="0"/>
              <a:t>			         b=false;</a:t>
            </a:r>
            <a:endParaRPr lang="ru-RU" dirty="0"/>
          </a:p>
          <a:p>
            <a:r>
              <a:rPr lang="en-US" dirty="0"/>
              <a:t>			    }</a:t>
            </a:r>
            <a:endParaRPr lang="ru-RU" dirty="0"/>
          </a:p>
          <a:p>
            <a:r>
              <a:rPr lang="en-US" dirty="0"/>
              <a:t>			}               </a:t>
            </a:r>
            <a:endParaRPr lang="ru-RU" dirty="0"/>
          </a:p>
          <a:p>
            <a:r>
              <a:rPr lang="en-US" dirty="0"/>
              <a:t>	}</a:t>
            </a:r>
            <a:endParaRPr lang="ru-RU" dirty="0"/>
          </a:p>
          <a:p>
            <a:r>
              <a:rPr lang="en-US" dirty="0"/>
              <a:t>  }    </a:t>
            </a:r>
            <a:endParaRPr lang="ru-RU" dirty="0"/>
          </a:p>
          <a:p>
            <a:r>
              <a:rPr lang="en-US" dirty="0"/>
              <a:t> </a:t>
            </a:r>
            <a:endParaRPr lang="ru-RU" dirty="0"/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89444" y="582633"/>
            <a:ext cx="2441448" cy="8138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400" dirty="0" smtClean="0">
                <a:latin typeface="Arial Black" panose="020B0A04020102020204" pitchFamily="34" charset="0"/>
              </a:rPr>
              <a:t>7    4    9     8 </a:t>
            </a:r>
          </a:p>
        </p:txBody>
      </p:sp>
      <p:sp>
        <p:nvSpPr>
          <p:cNvPr id="5" name="Стрелка вниз 4"/>
          <p:cNvSpPr/>
          <p:nvPr/>
        </p:nvSpPr>
        <p:spPr>
          <a:xfrm>
            <a:off x="9216056" y="434276"/>
            <a:ext cx="324213" cy="351577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011110"/>
              </p:ext>
            </p:extLst>
          </p:nvPr>
        </p:nvGraphicFramePr>
        <p:xfrm>
          <a:off x="9411854" y="1752525"/>
          <a:ext cx="1232961" cy="457200"/>
        </p:xfrm>
        <a:graphic>
          <a:graphicData uri="http://schemas.openxmlformats.org/drawingml/2006/table">
            <a:tbl>
              <a:tblPr/>
              <a:tblGrid>
                <a:gridCol w="1232961"/>
              </a:tblGrid>
              <a:tr h="371839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12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235995"/>
              </p:ext>
            </p:extLst>
          </p:nvPr>
        </p:nvGraphicFramePr>
        <p:xfrm>
          <a:off x="9402618" y="2218130"/>
          <a:ext cx="617711" cy="365760"/>
        </p:xfrm>
        <a:graphic>
          <a:graphicData uri="http://schemas.openxmlformats.org/drawingml/2006/table">
            <a:tbl>
              <a:tblPr/>
              <a:tblGrid>
                <a:gridCol w="617711"/>
              </a:tblGrid>
              <a:tr h="35881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533786"/>
              </p:ext>
            </p:extLst>
          </p:nvPr>
        </p:nvGraphicFramePr>
        <p:xfrm>
          <a:off x="10021455" y="2218129"/>
          <a:ext cx="623361" cy="365760"/>
        </p:xfrm>
        <a:graphic>
          <a:graphicData uri="http://schemas.openxmlformats.org/drawingml/2006/table">
            <a:tbl>
              <a:tblPr/>
              <a:tblGrid>
                <a:gridCol w="623361"/>
              </a:tblGrid>
              <a:tr h="22027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95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лубина">
  <a:themeElements>
    <a:clrScheme name="Глубина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Глубина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919</TotalTime>
  <Words>1685</Words>
  <Application>Microsoft Office PowerPoint</Application>
  <PresentationFormat>Произвольный</PresentationFormat>
  <Paragraphs>517</Paragraphs>
  <Slides>19</Slides>
  <Notes>3</Notes>
  <HiddenSlides>3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Глубина</vt:lpstr>
      <vt:lpstr>Деревья</vt:lpstr>
      <vt:lpstr>Определение дерева</vt:lpstr>
      <vt:lpstr>Презентация PowerPoint</vt:lpstr>
      <vt:lpstr>Элемент дерева</vt:lpstr>
      <vt:lpstr>Презентация PowerPoint</vt:lpstr>
      <vt:lpstr>Закрепление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Iskander Falyakhov</dc:creator>
  <cp:lastModifiedBy>Administrator</cp:lastModifiedBy>
  <cp:revision>90</cp:revision>
  <dcterms:created xsi:type="dcterms:W3CDTF">2015-11-22T12:50:33Z</dcterms:created>
  <dcterms:modified xsi:type="dcterms:W3CDTF">2017-04-24T13:05:07Z</dcterms:modified>
</cp:coreProperties>
</file>