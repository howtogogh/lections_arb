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73" r:id="rId10"/>
    <p:sldId id="274" r:id="rId11"/>
    <p:sldId id="264" r:id="rId12"/>
    <p:sldId id="265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99005" y="258562"/>
            <a:ext cx="9813702" cy="1425185"/>
          </a:xfrm>
        </p:spPr>
        <p:txBody>
          <a:bodyPr/>
          <a:lstStyle/>
          <a:p>
            <a:r>
              <a:rPr lang="ru-RU" sz="5600" b="1" dirty="0" smtClean="0">
                <a:solidFill>
                  <a:schemeClr val="accent2">
                    <a:lumMod val="50000"/>
                  </a:schemeClr>
                </a:solidFill>
              </a:rPr>
              <a:t>Моделирование машины Тьюринга</a:t>
            </a:r>
            <a:endParaRPr lang="ru-RU" sz="5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1683747"/>
            <a:ext cx="7766936" cy="109689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Выполнила: студентка 1 курса </a:t>
            </a:r>
            <a:r>
              <a:rPr lang="ru-RU" dirty="0" err="1" smtClean="0">
                <a:solidFill>
                  <a:schemeClr val="tx1"/>
                </a:solidFill>
              </a:rPr>
              <a:t>ИВМиИТ</a:t>
            </a:r>
            <a:r>
              <a:rPr lang="ru-RU" dirty="0" smtClean="0">
                <a:solidFill>
                  <a:schemeClr val="tx1"/>
                </a:solidFill>
              </a:rPr>
              <a:t>, </a:t>
            </a:r>
            <a:r>
              <a:rPr lang="ru-RU" dirty="0" err="1" smtClean="0">
                <a:solidFill>
                  <a:schemeClr val="tx1"/>
                </a:solidFill>
              </a:rPr>
              <a:t>Боровилова</a:t>
            </a:r>
            <a:r>
              <a:rPr lang="ru-RU" dirty="0" smtClean="0">
                <a:solidFill>
                  <a:schemeClr val="tx1"/>
                </a:solidFill>
              </a:rPr>
              <a:t> Диана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535" y="2368690"/>
            <a:ext cx="4381500" cy="16478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26" y="3192603"/>
            <a:ext cx="4932609" cy="33788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628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Grp="1" noChangeArrowheads="1"/>
          </p:cNvSpPr>
          <p:nvPr>
            <p:ph idx="1"/>
          </p:nvPr>
        </p:nvSpPr>
        <p:spPr bwMode="auto">
          <a:xfrm>
            <a:off x="243626" y="770855"/>
            <a:ext cx="7097332" cy="179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2"/>
              </a:buClr>
            </a:pPr>
            <a:r>
              <a:rPr lang="ru-RU" altLang="ru-RU" sz="2800" dirty="0"/>
              <a:t>	</a:t>
            </a:r>
            <a:r>
              <a:rPr lang="ru-RU" altLang="ru-RU" sz="2400" b="1" dirty="0">
                <a:cs typeface="Arial" panose="020B0604020202020204" pitchFamily="34" charset="0"/>
              </a:rPr>
              <a:t>Машина Тьюринга </a:t>
            </a:r>
            <a:r>
              <a:rPr lang="ru-RU" altLang="ru-RU" sz="2000" dirty="0">
                <a:solidFill>
                  <a:srgbClr val="000000"/>
                </a:solidFill>
                <a:cs typeface="Arial" panose="020B0604020202020204" pitchFamily="34" charset="0"/>
              </a:rPr>
              <a:t>– это строгое математическое построение, математический аппарат, созданный для решения определённых задач</a:t>
            </a:r>
            <a:r>
              <a:rPr lang="ru-RU" altLang="ru-RU" sz="2000" dirty="0" smtClean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</a:pPr>
            <a:endParaRPr lang="ru-RU" altLang="ru-RU" sz="2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98172" y="2773229"/>
            <a:ext cx="7200363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b="1" dirty="0"/>
              <a:t>Машина Тьюринга </a:t>
            </a:r>
            <a:r>
              <a:rPr lang="ru-RU" altLang="ru-RU" sz="2000" dirty="0"/>
              <a:t>– абстрактный исполнитель, осуществляющий алгоритмический процесс, созданный для уточнения понятия алгоритма.</a:t>
            </a:r>
          </a:p>
          <a:p>
            <a:pPr eaLnBrk="1" hangingPunct="1"/>
            <a:endParaRPr lang="ru-RU" altLang="ru-RU" sz="2000" dirty="0"/>
          </a:p>
          <a:p>
            <a:pPr eaLnBrk="1" hangingPunct="1"/>
            <a:r>
              <a:rPr lang="ru-RU" altLang="ru-RU" sz="2000" dirty="0"/>
              <a:t>Это </a:t>
            </a:r>
            <a:r>
              <a:rPr lang="ru-RU" altLang="ru-RU" sz="2000" u="sng" dirty="0"/>
              <a:t>математический объект</a:t>
            </a:r>
            <a:r>
              <a:rPr lang="ru-RU" altLang="ru-RU" sz="2000" dirty="0"/>
              <a:t>, а не физическая машина.</a:t>
            </a:r>
          </a:p>
          <a:p>
            <a:pPr eaLnBrk="1" hangingPunct="1"/>
            <a:endParaRPr lang="ru-RU" altLang="ru-RU" sz="2000" dirty="0"/>
          </a:p>
          <a:p>
            <a:pPr eaLnBrk="1" hangingPunct="1"/>
            <a:r>
              <a:rPr lang="ru-RU" altLang="ru-RU" sz="2000" dirty="0"/>
              <a:t>Предложена Аланом Тьюрингом в 1936 году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35" y="770855"/>
            <a:ext cx="4155583" cy="5129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601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0059" y="352022"/>
            <a:ext cx="9471218" cy="1320800"/>
          </a:xfrm>
        </p:spPr>
        <p:txBody>
          <a:bodyPr>
            <a:normAutofit/>
          </a:bodyPr>
          <a:lstStyle/>
          <a:p>
            <a:r>
              <a:rPr lang="ru-RU" altLang="ru-RU" sz="4000" b="1" dirty="0">
                <a:solidFill>
                  <a:schemeClr val="accent2">
                    <a:lumMod val="50000"/>
                  </a:schemeClr>
                </a:solidFill>
              </a:rPr>
              <a:t>Структура и описание машины Тьюринга</a:t>
            </a:r>
            <a:endParaRPr lang="ru-RU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824" y="1890132"/>
            <a:ext cx="8596668" cy="1999287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kumimoji="1" lang="ru-RU" sz="20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	 </a:t>
            </a:r>
            <a:r>
              <a:rPr kumimoji="1" lang="ru-RU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Машина Тьюринга состоит из: </a:t>
            </a:r>
          </a:p>
          <a:p>
            <a:pPr>
              <a:buFont typeface="Wingdings" pitchFamily="2" charset="2"/>
              <a:buChar char="Ø"/>
              <a:defRPr/>
            </a:pPr>
            <a:r>
              <a:rPr kumimoji="1"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 бесконечной ленты, </a:t>
            </a:r>
            <a:r>
              <a:rPr kumimoji="1"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разделённой </a:t>
            </a:r>
            <a:r>
              <a:rPr kumimoji="1"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на ячейки;</a:t>
            </a:r>
          </a:p>
          <a:p>
            <a:pPr>
              <a:buFont typeface="Wingdings" pitchFamily="2" charset="2"/>
              <a:buChar char="Ø"/>
              <a:defRPr/>
            </a:pPr>
            <a:r>
              <a:rPr kumimoji="1"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 каретки (читающей и записывающей головки);</a:t>
            </a:r>
          </a:p>
          <a:p>
            <a:pPr>
              <a:buFont typeface="Wingdings" pitchFamily="2" charset="2"/>
              <a:buChar char="Ø"/>
              <a:defRPr/>
            </a:pPr>
            <a:r>
              <a:rPr kumimoji="1"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 программируемого автомата (программа в виде таблицы).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925" y="3657600"/>
            <a:ext cx="7388318" cy="29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5063" y="1400736"/>
            <a:ext cx="8596668" cy="38807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800" b="1" dirty="0">
                <a:latin typeface="Arial" charset="0"/>
              </a:rPr>
              <a:t>1) Внешний алфавит</a:t>
            </a:r>
          </a:p>
          <a:p>
            <a:pPr>
              <a:defRPr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i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8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	</a:t>
            </a:r>
            <a:r>
              <a:rPr lang="ru-RU" sz="2800" dirty="0">
                <a:solidFill>
                  <a:schemeClr val="accent5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Элемент </a:t>
            </a: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chemeClr val="accent5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называется </a:t>
            </a:r>
            <a:r>
              <a:rPr lang="ru-RU" sz="2800" b="1" dirty="0">
                <a:solidFill>
                  <a:schemeClr val="accent5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пустой символ </a:t>
            </a:r>
            <a:r>
              <a:rPr lang="ru-RU" sz="2800" dirty="0">
                <a:solidFill>
                  <a:schemeClr val="accent5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ru-RU" sz="2800" b="1" dirty="0">
                <a:solidFill>
                  <a:schemeClr val="accent5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пустая буква</a:t>
            </a:r>
            <a:r>
              <a:rPr lang="ru-RU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(признак того, что ячейка пуста).</a:t>
            </a:r>
          </a:p>
          <a:p>
            <a:pPr>
              <a:defRPr/>
            </a:pPr>
            <a:endParaRPr lang="ru-RU" sz="2800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  <a:p>
            <a:pPr>
              <a:defRPr/>
            </a:pP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В этом алфавите в виде слова кодируется исходный набор данных и результат работы алгоритма</a:t>
            </a:r>
            <a:r>
              <a:rPr lang="ru-RU" sz="2000" dirty="0" smtClean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.</a:t>
            </a:r>
            <a:endParaRPr lang="ru-RU" sz="2000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7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2184" y="988611"/>
            <a:ext cx="8479546" cy="4884155"/>
          </a:xfrm>
        </p:spPr>
        <p:txBody>
          <a:bodyPr/>
          <a:lstStyle/>
          <a:p>
            <a:pPr>
              <a:defRPr/>
            </a:pPr>
            <a:r>
              <a:rPr lang="ru-RU" sz="2400" b="1" dirty="0">
                <a:latin typeface="Arial" charset="0"/>
              </a:rPr>
              <a:t>2) Внутренний алфавит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}, {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П, Л, Н!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sz="2400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  <a:p>
            <a:pPr>
              <a:defRPr/>
            </a:pP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В любой момент времени машина Тьюринга находится в одном из состояний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i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endParaRPr lang="ru-RU" sz="2000" b="1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  <a:p>
            <a:pPr>
              <a:defRPr/>
            </a:pPr>
            <a:endParaRPr lang="ru-RU" sz="2400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  <a:p>
            <a:pPr>
              <a:defRPr/>
            </a:pP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При этом: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0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- начальное состояние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</a:rPr>
              <a:t>(машина начинает работу)</a:t>
            </a:r>
            <a:endParaRPr lang="ru-RU" sz="2000" b="1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  <a:p>
            <a:pPr>
              <a:defRPr/>
            </a:pP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		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- </a:t>
            </a:r>
            <a:r>
              <a:rPr lang="ru-RU" sz="2000" b="1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заключительное состояние </a:t>
            </a:r>
            <a:r>
              <a:rPr lang="ru-RU" sz="2000" b="1" dirty="0">
                <a:solidFill>
                  <a:srgbClr val="000000"/>
                </a:solidFill>
                <a:latin typeface="Times New Roman" pitchFamily="18" charset="0"/>
              </a:rPr>
              <a:t>(машина закончила работу)</a:t>
            </a:r>
            <a:endParaRPr lang="ru-RU" sz="2000" b="1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  <a:p>
            <a:pPr>
              <a:defRPr/>
            </a:pP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Символы 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П, Л, Н!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000" b="1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– </a:t>
            </a:r>
            <a:r>
              <a:rPr lang="ru-RU" sz="2000" b="1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символы сдвига </a:t>
            </a:r>
            <a:r>
              <a:rPr lang="ru-RU" sz="20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(вправо, влево, на месте)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79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58393" y="318655"/>
            <a:ext cx="5575085" cy="4407637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2800" dirty="0"/>
              <a:t>Машина  предназначена  для  переработки   информации  в  ячейке.  Переработка  совершается  тактами,  номер   такта  обозначается   буквой  </a:t>
            </a:r>
            <a:r>
              <a:rPr lang="en-US" sz="2800" i="1" dirty="0"/>
              <a:t>t</a:t>
            </a:r>
            <a:r>
              <a:rPr lang="ru-RU" sz="2800" i="1" dirty="0"/>
              <a:t>  </a:t>
            </a:r>
            <a:r>
              <a:rPr lang="ru-RU" sz="2800" dirty="0"/>
              <a:t> (</a:t>
            </a:r>
            <a:r>
              <a:rPr lang="en-US" sz="2800" i="1" dirty="0"/>
              <a:t>t</a:t>
            </a:r>
            <a:r>
              <a:rPr lang="ru-RU" sz="2800" dirty="0"/>
              <a:t> = 1,2,3, …). Перед первым тактом устройство устанавливается в состояние </a:t>
            </a:r>
            <a:r>
              <a:rPr lang="en-US" sz="2800" i="1" dirty="0"/>
              <a:t>q</a:t>
            </a:r>
            <a:r>
              <a:rPr lang="ru-RU" sz="2800" baseline="-25000" dirty="0"/>
              <a:t>1</a:t>
            </a:r>
            <a:r>
              <a:rPr lang="ru-RU" sz="2800" dirty="0"/>
              <a:t> на обозревание разряда </a:t>
            </a:r>
            <a:r>
              <a:rPr lang="en-US" sz="2800" i="1" dirty="0"/>
              <a:t>x</a:t>
            </a:r>
            <a:r>
              <a:rPr lang="ru-RU" sz="2800" baseline="-25000" dirty="0"/>
              <a:t>0</a:t>
            </a:r>
            <a:r>
              <a:rPr lang="ru-RU" sz="2800" dirty="0"/>
              <a:t>, а начальная информация записывается в ячейку так, что в разрядах  </a:t>
            </a:r>
            <a:r>
              <a:rPr lang="en-US" sz="2800" i="1" dirty="0"/>
              <a:t>x</a:t>
            </a:r>
            <a:r>
              <a:rPr lang="ru-RU" sz="2800" baseline="-25000" dirty="0"/>
              <a:t>0</a:t>
            </a:r>
            <a:r>
              <a:rPr lang="ru-RU" sz="2800" dirty="0"/>
              <a:t>, </a:t>
            </a:r>
            <a:r>
              <a:rPr lang="en-US" sz="2800" i="1" dirty="0"/>
              <a:t>x</a:t>
            </a:r>
            <a:r>
              <a:rPr lang="ru-RU" sz="2800" baseline="-25000" dirty="0"/>
              <a:t>1</a:t>
            </a:r>
            <a:r>
              <a:rPr lang="ru-RU" sz="2800" dirty="0"/>
              <a:t>, … ,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k</a:t>
            </a:r>
            <a:r>
              <a:rPr lang="ru-RU" sz="2800" dirty="0"/>
              <a:t> – не пустые символы, в остальных разрядах – пустой символ   </a:t>
            </a:r>
            <a:r>
              <a:rPr lang="en-US" sz="2800" i="1" dirty="0"/>
              <a:t>a</a:t>
            </a:r>
            <a:r>
              <a:rPr lang="ru-RU" sz="2800" baseline="-25000" dirty="0"/>
              <a:t>0</a:t>
            </a:r>
            <a:r>
              <a:rPr lang="ru-RU" sz="2800" dirty="0"/>
              <a:t>.</a:t>
            </a:r>
            <a:endParaRPr lang="ru-RU" sz="2000" dirty="0">
              <a:solidFill>
                <a:schemeClr val="accent5">
                  <a:lumMod val="10000"/>
                </a:schemeClr>
              </a:solidFill>
              <a:latin typeface="Arial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478" y="318655"/>
            <a:ext cx="6158522" cy="572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4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68313" y="319087"/>
            <a:ext cx="7993062" cy="5953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altLang="ru-RU" b="1" dirty="0" smtClean="0">
                <a:solidFill>
                  <a:schemeClr val="accent2">
                    <a:lumMod val="50000"/>
                  </a:schemeClr>
                </a:solidFill>
              </a:rPr>
              <a:t>Виды команд машины Тьюринга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289306" y="1030132"/>
            <a:ext cx="7526337" cy="1292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AutoNum type="arabicPeriod"/>
            </a:pPr>
            <a: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Написать новую букву в обозреваемую ячейку</a:t>
            </a:r>
            <a:endParaRPr lang="en-US" alt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AutoNum type="arabicPeriod"/>
            </a:pPr>
            <a: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Выполнить сдвиг по ленте на одну ячейку </a:t>
            </a:r>
            <a:b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вправо/влево или остаться на месте (П, Л, Н)</a:t>
            </a:r>
          </a:p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AutoNum type="arabicPeriod"/>
            </a:pPr>
            <a:r>
              <a:rPr lang="ru-RU" alt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Перейти в новое состояние.</a:t>
            </a:r>
          </a:p>
        </p:txBody>
      </p:sp>
      <p:graphicFrame>
        <p:nvGraphicFramePr>
          <p:cNvPr id="6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360405"/>
              </p:ext>
            </p:extLst>
          </p:nvPr>
        </p:nvGraphicFramePr>
        <p:xfrm>
          <a:off x="1804193" y="2466975"/>
          <a:ext cx="7302500" cy="4064001"/>
        </p:xfrm>
        <a:graphic>
          <a:graphicData uri="http://schemas.openxmlformats.org/drawingml/2006/table">
            <a:tbl>
              <a:tblPr/>
              <a:tblGrid>
                <a:gridCol w="87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а</a:t>
                      </a:r>
                      <a:r>
                        <a:rPr kumimoji="0" lang="ru-RU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а</a:t>
                      </a:r>
                      <a:r>
                        <a:rPr kumimoji="0" lang="ru-RU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а</a:t>
                      </a:r>
                      <a:r>
                        <a:rPr kumimoji="0" 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а</a:t>
                      </a:r>
                      <a:r>
                        <a:rPr kumimoji="0" 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ru-RU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0" lang="en-US" sz="28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8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  <a:r>
                        <a:rPr kumimoji="0" lang="ru-R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ЛПН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} </a:t>
                      </a:r>
                      <a:endParaRPr kumimoji="0" lang="ru-RU" sz="2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sz="28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endParaRPr kumimoji="0" lang="ru-RU" sz="28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Group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09659"/>
              </p:ext>
            </p:extLst>
          </p:nvPr>
        </p:nvGraphicFramePr>
        <p:xfrm>
          <a:off x="7918450" y="1308100"/>
          <a:ext cx="2376487" cy="396875"/>
        </p:xfrm>
        <a:graphic>
          <a:graphicData uri="http://schemas.openxmlformats.org/drawingml/2006/table">
            <a:tbl>
              <a:tblPr/>
              <a:tblGrid>
                <a:gridCol w="296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AutoShape 95"/>
          <p:cNvSpPr>
            <a:spLocks/>
          </p:cNvSpPr>
          <p:nvPr/>
        </p:nvSpPr>
        <p:spPr bwMode="auto">
          <a:xfrm>
            <a:off x="2871787" y="3298400"/>
            <a:ext cx="1927225" cy="617537"/>
          </a:xfrm>
          <a:prstGeom prst="borderCallout1">
            <a:avLst>
              <a:gd name="adj1" fmla="val 18509"/>
              <a:gd name="adj2" fmla="val 103954"/>
              <a:gd name="adj3" fmla="val 163241"/>
              <a:gd name="adj4" fmla="val 13072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Указание о смене символа</a:t>
            </a:r>
          </a:p>
        </p:txBody>
      </p:sp>
      <p:sp>
        <p:nvSpPr>
          <p:cNvPr id="9" name="AutoShape 96"/>
          <p:cNvSpPr>
            <a:spLocks/>
          </p:cNvSpPr>
          <p:nvPr/>
        </p:nvSpPr>
        <p:spPr bwMode="auto">
          <a:xfrm>
            <a:off x="8367712" y="3607168"/>
            <a:ext cx="1927225" cy="617537"/>
          </a:xfrm>
          <a:prstGeom prst="borderCallout1">
            <a:avLst>
              <a:gd name="adj1" fmla="val 68562"/>
              <a:gd name="adj2" fmla="val -2968"/>
              <a:gd name="adj3" fmla="val 129807"/>
              <a:gd name="adj4" fmla="val -598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dirty="0"/>
              <a:t>Указание о сдвиге каретки</a:t>
            </a:r>
          </a:p>
        </p:txBody>
      </p:sp>
      <p:sp>
        <p:nvSpPr>
          <p:cNvPr id="10" name="AutoShape 97"/>
          <p:cNvSpPr>
            <a:spLocks/>
          </p:cNvSpPr>
          <p:nvPr/>
        </p:nvSpPr>
        <p:spPr bwMode="auto">
          <a:xfrm>
            <a:off x="6158650" y="5516563"/>
            <a:ext cx="1927225" cy="1149350"/>
          </a:xfrm>
          <a:prstGeom prst="borderCallout1">
            <a:avLst>
              <a:gd name="adj1" fmla="val 12222"/>
              <a:gd name="adj2" fmla="val -3954"/>
              <a:gd name="adj3" fmla="val -65875"/>
              <a:gd name="adj4" fmla="val -13343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Указание о смене внутреннего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343775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16362" y="1591548"/>
            <a:ext cx="8858250" cy="48577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02112" y="386635"/>
            <a:ext cx="81438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Описание работы машины Тьюринга</a:t>
            </a:r>
          </a:p>
        </p:txBody>
      </p:sp>
      <p:pic>
        <p:nvPicPr>
          <p:cNvPr id="6" name="Рисунок 3" descr="knigi-130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675" y="1805860"/>
            <a:ext cx="5238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87862" y="1777285"/>
            <a:ext cx="7858125" cy="1446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В соответствии с командой </a:t>
            </a:r>
            <a:r>
              <a:rPr lang="en-US" sz="28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800" b="1" i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b="1" i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Х</a:t>
            </a:r>
            <a:r>
              <a:rPr lang="ru-RU" sz="2800" dirty="0">
                <a:solidFill>
                  <a:schemeClr val="accent5">
                    <a:lumMod val="10000"/>
                  </a:schemeClr>
                </a:solidFill>
                <a:latin typeface="Arial" charset="0"/>
              </a:rPr>
              <a:t> выполняются следующие действия:</a:t>
            </a:r>
          </a:p>
          <a:p>
            <a:pPr>
              <a:defRPr/>
            </a:pPr>
            <a:endParaRPr lang="ru-RU" sz="3200" dirty="0">
              <a:latin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9300" y="2805985"/>
            <a:ext cx="7572375" cy="12001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400" dirty="0"/>
              <a:t>1) Содержимое обозреваемой ячейки </a:t>
            </a:r>
            <a:r>
              <a:rPr lang="en-US" sz="2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400" b="1" i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/>
              <a:t>стирается и в нее записывается символ </a:t>
            </a:r>
            <a:r>
              <a:rPr lang="en-US" sz="2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ru-RU" sz="2400" dirty="0"/>
              <a:t> (который может совпадать с </a:t>
            </a:r>
            <a:r>
              <a:rPr lang="en-US" sz="2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4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300" y="4163298"/>
            <a:ext cx="7572375" cy="8302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400" dirty="0"/>
              <a:t>2) Машина переходит в новое состояние </a:t>
            </a:r>
            <a:r>
              <a:rPr lang="en-US" sz="2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dirty="0"/>
              <a:t> (оно может совпадать с состоянием </a:t>
            </a:r>
            <a:r>
              <a:rPr lang="en-US" sz="2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9300" y="5163423"/>
            <a:ext cx="7572375" cy="8302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400" dirty="0"/>
              <a:t>3) Каретка перемещается в соответствии с управляемым символом </a:t>
            </a:r>
            <a:r>
              <a:rPr lang="ru-RU" sz="2400" b="1" dirty="0">
                <a:solidFill>
                  <a:srgbClr val="002060"/>
                </a:solidFill>
              </a:rPr>
              <a:t>Х </a:t>
            </a:r>
            <a:r>
              <a:rPr lang="ru-RU" sz="2400" b="1" dirty="0">
                <a:solidFill>
                  <a:srgbClr val="002060"/>
                </a:solidFill>
                <a:sym typeface="Symbol"/>
              </a:rPr>
              <a:t></a:t>
            </a:r>
            <a:r>
              <a:rPr lang="ru-RU" sz="2400" dirty="0">
                <a:sym typeface="Symbol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П, Л, Н!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8398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11702" y="1420759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32919" y="1420760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396570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90485" y="1420760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675353" y="1420760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186569" y="4405334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560238" y="5232515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-</a:t>
            </a:r>
            <a:endParaRPr lang="ru-RU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2571960"/>
              </p:ext>
            </p:extLst>
          </p:nvPr>
        </p:nvGraphicFramePr>
        <p:xfrm>
          <a:off x="6825510" y="2722646"/>
          <a:ext cx="1342429" cy="182957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01663">
                  <a:extLst>
                    <a:ext uri="{9D8B030D-6E8A-4147-A177-3AD203B41FA5}">
                      <a16:colId xmlns:a16="http://schemas.microsoft.com/office/drawing/2014/main" val="4183860268"/>
                    </a:ext>
                  </a:extLst>
                </a:gridCol>
                <a:gridCol w="840766">
                  <a:extLst>
                    <a:ext uri="{9D8B030D-6E8A-4147-A177-3AD203B41FA5}">
                      <a16:colId xmlns:a16="http://schemas.microsoft.com/office/drawing/2014/main" val="612043689"/>
                    </a:ext>
                  </a:extLst>
                </a:gridCol>
              </a:tblGrid>
              <a:tr h="46259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788034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sym typeface="Symbol" panose="05050102010706020507" pitchFamily="18" charset="2"/>
                        </a:rPr>
                        <a:t>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1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4747991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_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!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49101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34559" y="4418139"/>
            <a:ext cx="1231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q = 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13631" y="5278169"/>
            <a:ext cx="2198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Сдвиг</a:t>
            </a:r>
            <a:r>
              <a:rPr lang="en-US" sz="2400" b="1" dirty="0" smtClean="0"/>
              <a:t> =</a:t>
            </a:r>
            <a:endParaRPr lang="ru-RU" sz="2400" b="1" dirty="0"/>
          </a:p>
        </p:txBody>
      </p:sp>
      <p:sp>
        <p:nvSpPr>
          <p:cNvPr id="16" name="Стрелка вниз 15"/>
          <p:cNvSpPr/>
          <p:nvPr/>
        </p:nvSpPr>
        <p:spPr>
          <a:xfrm rot="10800000">
            <a:off x="1676367" y="2149438"/>
            <a:ext cx="391886" cy="533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758806" y="3638281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4559" y="3690966"/>
            <a:ext cx="695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dirty="0" smtClean="0"/>
              <a:t> = </a:t>
            </a:r>
            <a:endParaRPr lang="ru-RU" sz="2400" b="1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7337836" y="3188669"/>
            <a:ext cx="830103" cy="635805"/>
          </a:xfrm>
          <a:prstGeom prst="rect">
            <a:avLst/>
          </a:prstGeom>
          <a:noFill/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ru-RU">
              <a:ln w="76200">
                <a:solidFill>
                  <a:srgbClr val="C00000"/>
                </a:solidFill>
              </a:ln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46757" y="4308494"/>
            <a:ext cx="2204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chemeClr val="accent5"/>
                </a:solidFill>
              </a:rPr>
              <a:t>СТОП</a:t>
            </a:r>
            <a:r>
              <a:rPr lang="ru-RU" sz="3200" b="1" dirty="0" smtClean="0"/>
              <a:t>!</a:t>
            </a:r>
            <a:endParaRPr lang="ru-RU" sz="3200" b="1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2954136" y="1420759"/>
            <a:ext cx="721217" cy="57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5839004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5117787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6560221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1" name="Заголовок 1"/>
          <p:cNvSpPr>
            <a:spLocks noGrp="1"/>
          </p:cNvSpPr>
          <p:nvPr>
            <p:ph type="title"/>
          </p:nvPr>
        </p:nvSpPr>
        <p:spPr>
          <a:xfrm>
            <a:off x="440321" y="159687"/>
            <a:ext cx="7943825" cy="903392"/>
          </a:xfrm>
        </p:spPr>
        <p:txBody>
          <a:bodyPr>
            <a:normAutofit fontScale="90000"/>
          </a:bodyPr>
          <a:lstStyle/>
          <a:p>
            <a:r>
              <a:rPr lang="ru-RU" sz="4000" b="1" dirty="0" smtClean="0">
                <a:solidFill>
                  <a:schemeClr val="accent2">
                    <a:lumMod val="50000"/>
                  </a:schemeClr>
                </a:solidFill>
              </a:rPr>
              <a:t>Реализуем функцию: </a:t>
            </a: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F(x) = x+1</a:t>
            </a:r>
            <a:endParaRPr lang="ru-RU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1758806" y="3638281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2560237" y="5232515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3675352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96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81481E-6 L 0.05651 -0.00347 " pathEditMode="fixed" rAng="0" ptsTypes="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51 -0.00347 L 0.12395 -0.00347 " pathEditMode="fixed" rAng="0" ptsTypes="AA">
                                      <p:cBhvr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96 -0.00348 L 0.17539 -0.00347 " pathEditMode="fixed" rAng="0" ptsTypes="AA">
                                      <p:cBhvr>
                                        <p:cTn id="6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2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-0.00261 0.10371 " pathEditMode="fixed" rAng="0" ptsTypes="AA">
                                      <p:cBhvr>
                                        <p:cTn id="6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6" grpId="0" animBg="1"/>
      <p:bldP spid="16" grpId="1" animBg="1"/>
      <p:bldP spid="16" grpId="2" animBg="1"/>
      <p:bldP spid="37" grpId="0" animBg="1"/>
      <p:bldP spid="37" grpId="1" animBg="1"/>
      <p:bldP spid="37" grpId="2" animBg="1"/>
      <p:bldP spid="37" grpId="3" animBg="1"/>
      <p:bldP spid="45" grpId="0"/>
      <p:bldP spid="53" grpId="0" animBg="1"/>
      <p:bldP spid="53" grpId="1" animBg="1"/>
      <p:bldP spid="53" grpId="2" animBg="1"/>
      <p:bldP spid="53" grpId="3" animBg="1"/>
      <p:bldP spid="54" grpId="0" animBg="1"/>
      <p:bldP spid="54" grpId="1" animBg="1"/>
      <p:bldP spid="54" grpId="2" animBg="1"/>
      <p:bldP spid="55" grpId="0" animBg="1"/>
      <p:bldP spid="5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11702" y="1420759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32919" y="1420760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396570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90485" y="1420760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675353" y="1420760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186569" y="4405334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560238" y="5232515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-</a:t>
            </a:r>
            <a:endParaRPr lang="ru-RU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1007654"/>
              </p:ext>
            </p:extLst>
          </p:nvPr>
        </p:nvGraphicFramePr>
        <p:xfrm>
          <a:off x="4396570" y="3393708"/>
          <a:ext cx="5301222" cy="182957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01663">
                  <a:extLst>
                    <a:ext uri="{9D8B030D-6E8A-4147-A177-3AD203B41FA5}">
                      <a16:colId xmlns:a16="http://schemas.microsoft.com/office/drawing/2014/main" val="4183860268"/>
                    </a:ext>
                  </a:extLst>
                </a:gridCol>
                <a:gridCol w="840766">
                  <a:extLst>
                    <a:ext uri="{9D8B030D-6E8A-4147-A177-3AD203B41FA5}">
                      <a16:colId xmlns:a16="http://schemas.microsoft.com/office/drawing/2014/main" val="612043689"/>
                    </a:ext>
                  </a:extLst>
                </a:gridCol>
                <a:gridCol w="840766">
                  <a:extLst>
                    <a:ext uri="{9D8B030D-6E8A-4147-A177-3AD203B41FA5}">
                      <a16:colId xmlns:a16="http://schemas.microsoft.com/office/drawing/2014/main" val="1210768898"/>
                    </a:ext>
                  </a:extLst>
                </a:gridCol>
                <a:gridCol w="825587">
                  <a:extLst>
                    <a:ext uri="{9D8B030D-6E8A-4147-A177-3AD203B41FA5}">
                      <a16:colId xmlns:a16="http://schemas.microsoft.com/office/drawing/2014/main" val="3766019343"/>
                    </a:ext>
                  </a:extLst>
                </a:gridCol>
                <a:gridCol w="785612">
                  <a:extLst>
                    <a:ext uri="{9D8B030D-6E8A-4147-A177-3AD203B41FA5}">
                      <a16:colId xmlns:a16="http://schemas.microsoft.com/office/drawing/2014/main" val="1053762070"/>
                    </a:ext>
                  </a:extLst>
                </a:gridCol>
                <a:gridCol w="785611">
                  <a:extLst>
                    <a:ext uri="{9D8B030D-6E8A-4147-A177-3AD203B41FA5}">
                      <a16:colId xmlns:a16="http://schemas.microsoft.com/office/drawing/2014/main" val="1858329368"/>
                    </a:ext>
                  </a:extLst>
                </a:gridCol>
                <a:gridCol w="721217">
                  <a:extLst>
                    <a:ext uri="{9D8B030D-6E8A-4147-A177-3AD203B41FA5}">
                      <a16:colId xmlns:a16="http://schemas.microsoft.com/office/drawing/2014/main" val="1853845234"/>
                    </a:ext>
                  </a:extLst>
                </a:gridCol>
              </a:tblGrid>
              <a:tr h="32065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6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1600" b="1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1600" b="1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 smtClea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1600" b="1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788034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sym typeface="Symbol" panose="05050102010706020507" pitchFamily="18" charset="2"/>
                        </a:rPr>
                        <a:t>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_2R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2R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3R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15L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15L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16L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4747991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_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!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_3R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14R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14H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_6L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_1R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49101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34559" y="4418139"/>
            <a:ext cx="1231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q = 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13631" y="5278169"/>
            <a:ext cx="1566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Сдвиг</a:t>
            </a:r>
            <a:r>
              <a:rPr lang="en-US" sz="2400" b="1" dirty="0" smtClean="0"/>
              <a:t> =</a:t>
            </a:r>
            <a:endParaRPr lang="ru-RU" sz="2400" b="1" dirty="0"/>
          </a:p>
        </p:txBody>
      </p:sp>
      <p:sp>
        <p:nvSpPr>
          <p:cNvPr id="16" name="Стрелка вниз 15"/>
          <p:cNvSpPr/>
          <p:nvPr/>
        </p:nvSpPr>
        <p:spPr>
          <a:xfrm rot="10800000">
            <a:off x="1630018" y="2159578"/>
            <a:ext cx="427382" cy="6374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758806" y="3638281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4559" y="3690966"/>
            <a:ext cx="695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en-US" sz="2400" b="1" dirty="0" smtClean="0"/>
              <a:t> = </a:t>
            </a:r>
            <a:endParaRPr lang="ru-RU" sz="2400" b="1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4904474" y="3887717"/>
            <a:ext cx="783771" cy="621195"/>
          </a:xfrm>
          <a:prstGeom prst="rect">
            <a:avLst/>
          </a:prstGeom>
          <a:noFill/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ru-RU">
              <a:ln w="76200">
                <a:solidFill>
                  <a:srgbClr val="C00000"/>
                </a:solidFill>
              </a:ln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35961" y="5593809"/>
            <a:ext cx="2641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accent5"/>
                </a:solidFill>
              </a:rPr>
              <a:t>СТОП</a:t>
            </a:r>
            <a:r>
              <a:rPr lang="ru-RU" sz="4000" b="1" dirty="0" smtClean="0"/>
              <a:t>!</a:t>
            </a:r>
            <a:endParaRPr lang="ru-RU" sz="4000" b="1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2954136" y="1420759"/>
            <a:ext cx="721217" cy="57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5839004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5117787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6560221" y="1420759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1" name="Заголовок 1"/>
          <p:cNvSpPr>
            <a:spLocks noGrp="1"/>
          </p:cNvSpPr>
          <p:nvPr>
            <p:ph type="title"/>
          </p:nvPr>
        </p:nvSpPr>
        <p:spPr>
          <a:xfrm>
            <a:off x="378432" y="68300"/>
            <a:ext cx="7289465" cy="903392"/>
          </a:xfrm>
        </p:spPr>
        <p:txBody>
          <a:bodyPr>
            <a:normAutofit fontScale="90000"/>
          </a:bodyPr>
          <a:lstStyle/>
          <a:p>
            <a:r>
              <a:rPr lang="ru-RU" sz="4000" b="1" dirty="0" smtClean="0">
                <a:solidFill>
                  <a:schemeClr val="accent2">
                    <a:lumMod val="50000"/>
                  </a:schemeClr>
                </a:solidFill>
              </a:rPr>
              <a:t>Реализуем функцию: </a:t>
            </a: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F(x) = x*2</a:t>
            </a:r>
            <a:endParaRPr lang="ru-RU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1753081" y="3654735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_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547177" y="5232515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2186568" y="442178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2177546" y="442178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3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2182143" y="4413561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3675353" y="1420759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2538154" y="5240742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H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4396570" y="1420758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2154165" y="4418139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2542751" y="5245320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L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1511702" y="1425253"/>
            <a:ext cx="721217" cy="564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_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1758806" y="3662962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1758806" y="3671189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_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1747356" y="3662962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1758806" y="367118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_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2163187" y="442178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1758806" y="3657024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1758806" y="3640671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_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2161344" y="442178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2551494" y="5230727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2161181" y="4420000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2211254" y="1426341"/>
            <a:ext cx="742882" cy="564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2161018" y="4409912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3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1758806" y="3644720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2174677" y="442457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4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5117787" y="1420757"/>
            <a:ext cx="721217" cy="56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2546898" y="5243532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H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2174351" y="4411700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5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2545780" y="5243532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59" name="Прямоугольник 58"/>
          <p:cNvSpPr/>
          <p:nvPr/>
        </p:nvSpPr>
        <p:spPr>
          <a:xfrm>
            <a:off x="5839004" y="1420757"/>
            <a:ext cx="721217" cy="57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1758806" y="3641071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_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2" name="Прямоугольник 61"/>
          <p:cNvSpPr/>
          <p:nvPr/>
        </p:nvSpPr>
        <p:spPr>
          <a:xfrm>
            <a:off x="2175078" y="4424577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6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Прямоугольник 62"/>
          <p:cNvSpPr/>
          <p:nvPr/>
        </p:nvSpPr>
        <p:spPr>
          <a:xfrm>
            <a:off x="2161018" y="4424576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2540863" y="5243532"/>
            <a:ext cx="721217" cy="56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2555866" y="5254578"/>
            <a:ext cx="721217" cy="56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-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66" name="Прямоугольник 65"/>
          <p:cNvSpPr/>
          <p:nvPr/>
        </p:nvSpPr>
        <p:spPr>
          <a:xfrm>
            <a:off x="2165323" y="4416167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!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74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0.05886 -0.00324 " pathEditMode="fixed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3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45833E-6 1.85185E-6 L 0.07383 -0.08495 " pathEditMode="fixed" rAng="0" ptsTypes="AA">
                                      <p:cBhvr>
                                        <p:cTn id="3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5" y="-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83 -0.08496 L 0.06914 0.0032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86 -0.00324 L 0.11797 -0.00324 " pathEditMode="fixed" rAng="0" ptsTypes="AA">
                                      <p:cBhvr>
                                        <p:cTn id="6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914 0.00324 L 0.07383 0.09537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" y="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83 0.09537 L 0.14271 -0.0849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-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97 -0.00324 L 0.1819 -0.00509 " pathEditMode="fixed" rAng="0" ptsTypes="AA">
                                      <p:cBhvr>
                                        <p:cTn id="9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8 -0.08287 L 0.13672 0.09953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672 0.09953 L 0.20534 -0.08148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4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1 -0.00509 L 0.23815 -0.00324 " pathEditMode="fixed" rAng="0" ptsTypes="AA">
                                      <p:cBhvr>
                                        <p:cTn id="1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34 -0.08148 L 0.20639 0.09953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39 0.09953 L 0.20534 -0.08148 " pathEditMode="fixed" rAng="0" ptsTypes="AA">
                                      <p:cBhvr>
                                        <p:cTn id="15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34 -0.08148 L 0.20534 0.0041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34 0.00417 L 0.26928 -0.08148 " pathEditMode="relative" rAng="0" ptsTypes="AA">
                                      <p:cBhvr>
                                        <p:cTn id="17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-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15 -0.00324 L 0.1819 -0.00509 " pathEditMode="fixed" rAng="0" ptsTypes="AA">
                                      <p:cBhvr>
                                        <p:cTn id="17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78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28 -0.08148 L 0.26928 0.00301 " pathEditMode="relative" rAng="0" ptsTypes="AA">
                                      <p:cBhvr>
                                        <p:cTn id="18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6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1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 -0.00509 L 0.11797 -0.00324 " pathEditMode="fixed" rAng="0" ptsTypes="AA">
                                      <p:cBhvr>
                                        <p:cTn id="20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27 0.00301 L 0.26823 0.09953 " pathEditMode="relative" rAng="0" ptsTypes="AA">
                                      <p:cBhvr>
                                        <p:cTn id="20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9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23 0.09953 L 0.33152 -0.08148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97 -0.00324 L 0.05885 -0.00324 " pathEditMode="fixed" rAng="0" ptsTypes="AA">
                                      <p:cBhvr>
                                        <p:cTn id="2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52 -0.08148 L 0.33152 0.00301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1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86 -0.00324 L -3.54167E-6 2.59259E-6 " pathEditMode="fixed" rAng="0" ptsTypes="AA">
                                      <p:cBhvr>
                                        <p:cTn id="25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52 0.00301 L 0.33152 0.09953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52 0.09953 L 0.00014 -0.08148 " pathEditMode="relative" rAng="0" ptsTypes="AA">
                                      <p:cBhvr>
                                        <p:cTn id="27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76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0.05885 -0.00324 " pathEditMode="fixed" rAng="0" ptsTypes="AA">
                                      <p:cBhvr>
                                        <p:cTn id="27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64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4 -0.08148 L 4.79167E-6 3.7037E-6 " pathEditMode="relative" rAng="0" ptsTypes="AA">
                                      <p:cBhvr>
                                        <p:cTn id="28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6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6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2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7383 -0.08495 " pathEditMode="relative" rAng="0" ptsTypes="AA">
                                      <p:cBhvr>
                                        <p:cTn id="30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5" y="-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85 -0.00324 L 0.11797 -0.00324 " pathEditMode="fixed" rAng="0" ptsTypes="AA">
                                      <p:cBhvr>
                                        <p:cTn id="30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42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83 -0.08496 L 0.07383 0.09537 " pathEditMode="relative" rAng="0" ptsTypes="AA">
                                      <p:cBhvr>
                                        <p:cTn id="31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8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8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42" presetClass="path" presetSubtype="0" accel="50000" decel="5000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83 0.09537 L 0.1418 -0.08287 " pathEditMode="relative" rAng="0" ptsTypes="AA">
                                      <p:cBhvr>
                                        <p:cTn id="33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 -0.00509 L 0.11797 -0.00324 " pathEditMode="fixed" rAng="0" ptsTypes="AA">
                                      <p:cBhvr>
                                        <p:cTn id="336" dur="20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42" presetClass="path" presetSubtype="0" accel="50000" decel="50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271 -0.08496 L 0.14024 0.00301 " pathEditMode="relative" rAng="0" ptsTypes="AA">
                                      <p:cBhvr>
                                        <p:cTn id="34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0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5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 -0.00509 L 0.23815 -0.00324 " pathEditMode="fixed" rAng="0" ptsTypes="AA">
                                      <p:cBhvr>
                                        <p:cTn id="35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5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26" presetClass="emph" presetSubtype="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9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6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4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15 -0.00324 L 0.29557 -0.00509 " pathEditMode="fixed" rAng="0" ptsTypes="AA">
                                      <p:cBhvr>
                                        <p:cTn id="37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42" presetClass="path" presetSubtype="0" accel="50000" decel="5000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024 0.00301 L 0.13672 0.09953 " pathEditMode="relative" rAng="0" ptsTypes="AA">
                                      <p:cBhvr>
                                        <p:cTn id="38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7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6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7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42" presetClass="path" presetSubtype="0" accel="50000" decel="5000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672 0.09953 L 0.20534 -0.08148 " pathEditMode="relative" rAng="0" ptsTypes="AA">
                                      <p:cBhvr>
                                        <p:cTn id="40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07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557 -0.0051 L 0.35508 -0.00416 " pathEditMode="fixed" rAng="0" ptsTypes="AA">
                                      <p:cBhvr>
                                        <p:cTn id="4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9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42" presetClass="path" presetSubtype="0" accel="50000" decel="5000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34 -0.08148 L 0.20639 0.09953 " pathEditMode="relative" rAng="0" ptsTypes="AA">
                                      <p:cBhvr>
                                        <p:cTn id="4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9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3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4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42" presetClass="path" presetSubtype="0" accel="50000" decel="5000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38 0.09953 L 0.20534 0.00416 " pathEditMode="relative" rAng="0" ptsTypes="AA">
                                      <p:cBhvr>
                                        <p:cTn id="43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4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3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42" presetClass="path" presetSubtype="0" accel="50000" decel="5000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34 0.00417 L 0.26928 -0.08148 " pathEditMode="relative" rAng="0" ptsTypes="AA">
                                      <p:cBhvr>
                                        <p:cTn id="45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-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08 -0.00417 L 0.29557 -0.00509 " pathEditMode="fixed" rAng="0" ptsTypes="AA">
                                      <p:cBhvr>
                                        <p:cTn id="46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42" presetClass="path" presetSubtype="0" accel="50000" decel="5000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27 -0.08148 L 0.26928 0.00301 " pathEditMode="relative" rAng="0" ptsTypes="AA">
                                      <p:cBhvr>
                                        <p:cTn id="46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26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0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5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0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42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557 -0.00509 L 0.23815 -0.00324 " pathEditMode="fixed" rAng="0" ptsTypes="AA">
                                      <p:cBhvr>
                                        <p:cTn id="48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26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8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9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4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9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15 -0.00324 L 0.1819 -0.00509 " pathEditMode="fixed" rAng="0" ptsTypes="AA">
                                      <p:cBhvr>
                                        <p:cTn id="50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26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7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8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8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 -0.00509 L 0.11797 -0.00324 " pathEditMode="fixed" rAng="0" ptsTypes="AA">
                                      <p:cBhvr>
                                        <p:cTn id="5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42" presetClass="path" presetSubtype="0" accel="50000" decel="5000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28 0.00301 L 0.26823 0.09953 " pathEditMode="relative" rAng="0" ptsTypes="AA">
                                      <p:cBhvr>
                                        <p:cTn id="52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26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0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1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42" presetClass="path" presetSubtype="0" accel="50000" decel="5000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23 0.09953 L 0.33152 -0.08148 " pathEditMode="relative" rAng="0" ptsTypes="AA">
                                      <p:cBhvr>
                                        <p:cTn id="54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8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42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797 -0.00324 L 0.05886 -0.00324 " pathEditMode="fixed" rAng="0" ptsTypes="AA">
                                      <p:cBhvr>
                                        <p:cTn id="54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4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42" presetClass="path" presetSubtype="0" accel="50000" decel="5000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52 -0.08148 L 0.33152 0.09953 " pathEditMode="relative" rAng="0" ptsTypes="AA">
                                      <p:cBhvr>
                                        <p:cTn id="55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8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42" presetClass="path" presetSubtype="0" accel="50000" decel="5000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52 0.09953 L 0.00014 -0.08148 " pathEditMode="relative" rAng="0" ptsTypes="AA">
                                      <p:cBhvr>
                                        <p:cTn id="57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76" y="-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42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86 -0.00324 L 0.11797 -0.00324 " pathEditMode="relative" rAng="0" ptsTypes="AA">
                                      <p:cBhvr>
                                        <p:cTn id="57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42" presetClass="path" presetSubtype="0" accel="50000" decel="50000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4 -0.08148 L 0.00235 0.09953 " pathEditMode="relative" rAng="0" ptsTypes="AA">
                                      <p:cBhvr>
                                        <p:cTn id="58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16" grpId="8" animBg="1"/>
      <p:bldP spid="16" grpId="9" animBg="1"/>
      <p:bldP spid="16" grpId="10" animBg="1"/>
      <p:bldP spid="16" grpId="11" animBg="1"/>
      <p:bldP spid="16" grpId="12" animBg="1"/>
      <p:bldP spid="16" grpId="13" animBg="1"/>
      <p:bldP spid="16" grpId="14" animBg="1"/>
      <p:bldP spid="16" grpId="15" animBg="1"/>
      <p:bldP spid="16" grpId="16" animBg="1"/>
      <p:bldP spid="16" grpId="17" animBg="1"/>
      <p:bldP spid="16" grpId="18" animBg="1"/>
      <p:bldP spid="16" grpId="19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7" grpId="20" animBg="1"/>
      <p:bldP spid="37" grpId="21" animBg="1"/>
      <p:bldP spid="37" grpId="22" animBg="1"/>
      <p:bldP spid="37" grpId="23" animBg="1"/>
      <p:bldP spid="37" grpId="24" animBg="1"/>
      <p:bldP spid="37" grpId="25" animBg="1"/>
      <p:bldP spid="37" grpId="26" animBg="1"/>
      <p:bldP spid="37" grpId="27" animBg="1"/>
      <p:bldP spid="37" grpId="28" animBg="1"/>
      <p:bldP spid="37" grpId="29" animBg="1"/>
      <p:bldP spid="37" grpId="30" animBg="1"/>
      <p:bldP spid="37" grpId="31" animBg="1"/>
      <p:bldP spid="37" grpId="32" animBg="1"/>
      <p:bldP spid="37" grpId="33" animBg="1"/>
      <p:bldP spid="45" grpId="0"/>
      <p:bldP spid="22" grpId="0" animBg="1"/>
      <p:bldP spid="22" grpId="1" animBg="1"/>
      <p:bldP spid="23" grpId="0" animBg="1"/>
      <p:bldP spid="23" grpId="1" animBg="1"/>
      <p:bldP spid="23" grpId="2" animBg="1"/>
      <p:bldP spid="23" grpId="3" animBg="1"/>
      <p:bldP spid="24" grpId="1" animBg="1"/>
      <p:bldP spid="24" grpId="2" animBg="1"/>
      <p:bldP spid="26" grpId="0" animBg="1"/>
      <p:bldP spid="28" grpId="0" animBg="1"/>
      <p:bldP spid="28" grpId="1" animBg="1"/>
      <p:bldP spid="29" grpId="0" animBg="1"/>
      <p:bldP spid="30" grpId="0" animBg="1"/>
      <p:bldP spid="31" grpId="0" animBg="1"/>
      <p:bldP spid="32" grpId="0" animBg="1"/>
      <p:bldP spid="32" grpId="1" animBg="1"/>
      <p:bldP spid="34" grpId="0" animBg="1"/>
      <p:bldP spid="34" grpId="1" animBg="1"/>
      <p:bldP spid="34" grpId="2" animBg="1"/>
      <p:bldP spid="34" grpId="3" animBg="1"/>
      <p:bldP spid="35" grpId="0" animBg="1"/>
      <p:bldP spid="36" grpId="0" animBg="1"/>
      <p:bldP spid="25" grpId="0" animBg="1"/>
      <p:bldP spid="27" grpId="0" animBg="1"/>
      <p:bldP spid="27" grpId="1" animBg="1"/>
      <p:bldP spid="27" grpId="2" animBg="1"/>
      <p:bldP spid="27" grpId="3" animBg="1"/>
      <p:bldP spid="38" grpId="0" animBg="1"/>
      <p:bldP spid="40" grpId="0" animBg="1"/>
      <p:bldP spid="40" grpId="1" animBg="1"/>
      <p:bldP spid="41" grpId="0" animBg="1"/>
      <p:bldP spid="42" grpId="0" animBg="1"/>
      <p:bldP spid="42" grpId="1" animBg="1"/>
      <p:bldP spid="42" grpId="2" animBg="1"/>
      <p:bldP spid="43" grpId="0" animBg="1"/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6" grpId="0" animBg="1"/>
      <p:bldP spid="49" grpId="1" animBg="1"/>
      <p:bldP spid="52" grpId="0" animBg="1"/>
      <p:bldP spid="52" grpId="1" animBg="1"/>
      <p:bldP spid="52" grpId="2" animBg="1"/>
      <p:bldP spid="53" grpId="0" animBg="1"/>
      <p:bldP spid="53" grpId="1" animBg="1"/>
      <p:bldP spid="53" grpId="2" animBg="1"/>
      <p:bldP spid="53" grpId="3" animBg="1"/>
      <p:bldP spid="53" grpId="4" animBg="1"/>
      <p:bldP spid="53" grpId="5" animBg="1"/>
      <p:bldP spid="53" grpId="6" animBg="1"/>
      <p:bldP spid="54" grpId="0" animBg="1"/>
      <p:bldP spid="54" grpId="1" animBg="1"/>
      <p:bldP spid="55" grpId="0" animBg="1"/>
      <p:bldP spid="56" grpId="0" animBg="1"/>
      <p:bldP spid="57" grpId="0" animBg="1"/>
      <p:bldP spid="57" grpId="1" animBg="1"/>
      <p:bldP spid="57" grpId="2" animBg="1"/>
      <p:bldP spid="57" grpId="3" animBg="1"/>
      <p:bldP spid="58" grpId="0" animBg="1"/>
      <p:bldP spid="58" grpId="1" animBg="1"/>
      <p:bldP spid="58" grpId="2" animBg="1"/>
      <p:bldP spid="58" grpId="3" animBg="1"/>
      <p:bldP spid="59" grpId="0" animBg="1"/>
      <p:bldP spid="61" grpId="0" animBg="1"/>
      <p:bldP spid="61" grpId="1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0968" y="236113"/>
            <a:ext cx="8596668" cy="1026017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</a:rPr>
              <a:t>Смоделируем работу машины Тьюринга на следующем алгоритме</a:t>
            </a:r>
            <a:endParaRPr lang="ru-RU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456455"/>
              </p:ext>
            </p:extLst>
          </p:nvPr>
        </p:nvGraphicFramePr>
        <p:xfrm>
          <a:off x="2490424" y="2859108"/>
          <a:ext cx="2894868" cy="302903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723717">
                  <a:extLst>
                    <a:ext uri="{9D8B030D-6E8A-4147-A177-3AD203B41FA5}">
                      <a16:colId xmlns:a16="http://schemas.microsoft.com/office/drawing/2014/main" val="4183860268"/>
                    </a:ext>
                  </a:extLst>
                </a:gridCol>
                <a:gridCol w="723717">
                  <a:extLst>
                    <a:ext uri="{9D8B030D-6E8A-4147-A177-3AD203B41FA5}">
                      <a16:colId xmlns:a16="http://schemas.microsoft.com/office/drawing/2014/main" val="612043689"/>
                    </a:ext>
                  </a:extLst>
                </a:gridCol>
                <a:gridCol w="723717">
                  <a:extLst>
                    <a:ext uri="{9D8B030D-6E8A-4147-A177-3AD203B41FA5}">
                      <a16:colId xmlns:a16="http://schemas.microsoft.com/office/drawing/2014/main" val="1210768898"/>
                    </a:ext>
                  </a:extLst>
                </a:gridCol>
                <a:gridCol w="723717">
                  <a:extLst>
                    <a:ext uri="{9D8B030D-6E8A-4147-A177-3AD203B41FA5}">
                      <a16:colId xmlns:a16="http://schemas.microsoft.com/office/drawing/2014/main" val="3766019343"/>
                    </a:ext>
                  </a:extLst>
                </a:gridCol>
              </a:tblGrid>
              <a:tr h="32065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788034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sym typeface="Symbol" panose="05050102010706020507" pitchFamily="18" charset="2"/>
                        </a:rPr>
                        <a:t>_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ru-RU" sz="1800" baseline="-25000" dirty="0">
                          <a:effectLst/>
                        </a:rPr>
                        <a:t>1</a:t>
                      </a:r>
                      <a:r>
                        <a:rPr lang="ru-RU" sz="1800" dirty="0">
                          <a:effectLst/>
                        </a:rPr>
                        <a:t>П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ru-RU" sz="1800" baseline="-25000" dirty="0">
                          <a:effectLst/>
                        </a:rPr>
                        <a:t>1</a:t>
                      </a:r>
                      <a:r>
                        <a:rPr lang="ru-RU" sz="1800" dirty="0">
                          <a:effectLst/>
                        </a:rPr>
                        <a:t>П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</a:t>
                      </a:r>
                      <a:r>
                        <a:rPr lang="en-US" sz="1800">
                          <a:effectLst/>
                        </a:rPr>
                        <a:t>q</a:t>
                      </a:r>
                      <a:r>
                        <a:rPr lang="ru-RU" sz="1800" baseline="-25000">
                          <a:effectLst/>
                        </a:rPr>
                        <a:t>2</a:t>
                      </a:r>
                      <a:r>
                        <a:rPr lang="ru-RU" sz="1800">
                          <a:effectLst/>
                        </a:rPr>
                        <a:t>Н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4747991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0q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ru-RU" sz="1800">
                          <a:effectLst/>
                        </a:rPr>
                        <a:t>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2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en-US" sz="1800" baseline="-25000" dirty="0" smtClean="0">
                          <a:effectLst/>
                        </a:rPr>
                        <a:t>3</a:t>
                      </a:r>
                      <a:r>
                        <a:rPr lang="ru-RU" sz="1800" dirty="0">
                          <a:effectLst/>
                        </a:rPr>
                        <a:t>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en-US" sz="1800" baseline="-25000" dirty="0" smtClean="0">
                          <a:effectLst/>
                        </a:rPr>
                        <a:t>2</a:t>
                      </a:r>
                      <a:r>
                        <a:rPr lang="ru-RU" sz="1800" dirty="0">
                          <a:effectLst/>
                        </a:rPr>
                        <a:t>Н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8399892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en-US" sz="1800" baseline="-25000" dirty="0" smtClean="0">
                          <a:effectLst/>
                        </a:rPr>
                        <a:t>3</a:t>
                      </a:r>
                      <a:r>
                        <a:rPr lang="ru-RU" sz="1800" dirty="0">
                          <a:effectLst/>
                        </a:rPr>
                        <a:t>П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1q</a:t>
                      </a:r>
                      <a:r>
                        <a:rPr lang="en-US" sz="1800" baseline="-25000" dirty="0">
                          <a:effectLst/>
                        </a:rPr>
                        <a:t>2</a:t>
                      </a:r>
                      <a:r>
                        <a:rPr lang="ru-RU" sz="1800" dirty="0">
                          <a:effectLst/>
                        </a:rPr>
                        <a:t>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1q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r>
                        <a:rPr lang="ru-RU" sz="1800">
                          <a:effectLst/>
                        </a:rPr>
                        <a:t>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491010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ru-RU" sz="1800" dirty="0" smtClean="0">
                          <a:effectLst/>
                        </a:rPr>
                        <a:t>!</a:t>
                      </a:r>
                      <a:r>
                        <a:rPr lang="ru-RU" sz="1800" dirty="0">
                          <a:effectLst/>
                        </a:rPr>
                        <a:t>Н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2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ru-RU" sz="1800" baseline="-25000" dirty="0">
                          <a:effectLst/>
                        </a:rPr>
                        <a:t>2</a:t>
                      </a:r>
                      <a:r>
                        <a:rPr lang="ru-RU" sz="1800" dirty="0">
                          <a:effectLst/>
                        </a:rPr>
                        <a:t>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2</a:t>
                      </a:r>
                      <a:r>
                        <a:rPr lang="en-US" sz="1800" dirty="0" smtClean="0">
                          <a:effectLst/>
                        </a:rPr>
                        <a:t>q</a:t>
                      </a:r>
                      <a:r>
                        <a:rPr lang="ru-RU" sz="1800" baseline="-25000" dirty="0">
                          <a:effectLst/>
                        </a:rPr>
                        <a:t>3</a:t>
                      </a:r>
                      <a:r>
                        <a:rPr lang="ru-RU" sz="1800" dirty="0">
                          <a:effectLst/>
                        </a:rPr>
                        <a:t>П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08719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0968" y="1262130"/>
            <a:ext cx="123061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Машина Тьюринга М (всюду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ru-RU" altLang="ru-RU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и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ru-RU" altLang="ru-RU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!):</a:t>
            </a:r>
            <a:endParaRPr kumimoji="0" lang="ru-RU" altLang="ru-RU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{_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0, 1, 2}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		     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{!,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0" lang="ru-RU" altLang="ru-RU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0" lang="ru-RU" altLang="ru-RU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0" lang="ru-RU" altLang="ru-RU" sz="1800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936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6573" y="215879"/>
            <a:ext cx="8596668" cy="6545529"/>
          </a:xfrm>
        </p:spPr>
        <p:txBody>
          <a:bodyPr>
            <a:norm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iostream</a:t>
            </a:r>
            <a:r>
              <a:rPr lang="en-US" dirty="0"/>
              <a:t>&gt;</a:t>
            </a:r>
            <a:endParaRPr lang="ru-RU" dirty="0"/>
          </a:p>
          <a:p>
            <a:r>
              <a:rPr lang="en-US" dirty="0"/>
              <a:t>#include&lt;</a:t>
            </a:r>
            <a:r>
              <a:rPr lang="en-US" dirty="0" err="1"/>
              <a:t>fstream</a:t>
            </a:r>
            <a:r>
              <a:rPr lang="en-US" dirty="0"/>
              <a:t>&gt;</a:t>
            </a:r>
            <a:endParaRPr lang="ru-RU" dirty="0"/>
          </a:p>
          <a:p>
            <a:r>
              <a:rPr lang="en-US" dirty="0"/>
              <a:t>#include&lt;</a:t>
            </a:r>
            <a:r>
              <a:rPr lang="en-US" dirty="0" err="1"/>
              <a:t>cmath</a:t>
            </a:r>
            <a:r>
              <a:rPr lang="en-US" dirty="0"/>
              <a:t>&gt;</a:t>
            </a:r>
            <a:endParaRPr lang="ru-RU" dirty="0"/>
          </a:p>
          <a:p>
            <a:r>
              <a:rPr lang="en-US" dirty="0"/>
              <a:t>#include&lt;</a:t>
            </a:r>
            <a:r>
              <a:rPr lang="en-US" dirty="0" err="1"/>
              <a:t>iomanip</a:t>
            </a:r>
            <a:r>
              <a:rPr lang="en-US" dirty="0"/>
              <a:t>&gt;</a:t>
            </a:r>
            <a:endParaRPr lang="ru-RU" dirty="0"/>
          </a:p>
          <a:p>
            <a:r>
              <a:rPr lang="en-US" dirty="0" smtClean="0"/>
              <a:t>using </a:t>
            </a:r>
            <a:r>
              <a:rPr lang="en-US" dirty="0"/>
              <a:t>namespace </a:t>
            </a:r>
            <a:r>
              <a:rPr lang="en-US" dirty="0" err="1"/>
              <a:t>std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void main()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n=100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err="1" smtClean="0"/>
              <a:t>kol_sost</a:t>
            </a:r>
            <a:r>
              <a:rPr lang="en-US" dirty="0" smtClean="0"/>
              <a:t>=4</a:t>
            </a:r>
            <a:r>
              <a:rPr lang="en-US" dirty="0"/>
              <a:t>; //q0=0;q1=1;q2=2;q3=3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number_comand</a:t>
            </a:r>
            <a:r>
              <a:rPr lang="en-US" dirty="0"/>
              <a:t>=12;</a:t>
            </a:r>
            <a:endParaRPr lang="ru-RU" dirty="0"/>
          </a:p>
          <a:p>
            <a:r>
              <a:rPr lang="en-US" dirty="0"/>
              <a:t>    char a[n];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smtClean="0"/>
              <a:t>zap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</a:t>
            </a:r>
            <a:r>
              <a:rPr lang="en-US" dirty="0" smtClean="0"/>
              <a:t>{</a:t>
            </a:r>
            <a:endParaRPr lang="ru-RU" dirty="0"/>
          </a:p>
          <a:p>
            <a:r>
              <a:rPr lang="en-US" dirty="0"/>
              <a:t>		char </a:t>
            </a:r>
            <a:r>
              <a:rPr lang="en-US" dirty="0" err="1"/>
              <a:t>sym</a:t>
            </a:r>
            <a:r>
              <a:rPr lang="en-US" dirty="0"/>
              <a:t>; 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sost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char move</a:t>
            </a:r>
            <a:r>
              <a:rPr lang="en-US" dirty="0" smtClean="0"/>
              <a:t>;</a:t>
            </a:r>
            <a:r>
              <a:rPr lang="ru-RU" dirty="0" smtClean="0"/>
              <a:t>    </a:t>
            </a:r>
            <a:r>
              <a:rPr lang="en-US" dirty="0" smtClean="0"/>
              <a:t>// </a:t>
            </a:r>
            <a:r>
              <a:rPr lang="en-US" dirty="0"/>
              <a:t>R-right L-left H-halt</a:t>
            </a:r>
            <a:endParaRPr lang="ru-RU" dirty="0"/>
          </a:p>
          <a:p>
            <a:r>
              <a:rPr lang="en-US" dirty="0"/>
              <a:t>	</a:t>
            </a:r>
            <a:r>
              <a:rPr lang="ru-RU" dirty="0" smtClean="0"/>
              <a:t>   </a:t>
            </a:r>
            <a:r>
              <a:rPr lang="en-US" dirty="0" smtClean="0"/>
              <a:t>};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254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6573" y="421941"/>
            <a:ext cx="4950734" cy="6751591"/>
          </a:xfrm>
        </p:spPr>
        <p:txBody>
          <a:bodyPr>
            <a:normAutofit/>
          </a:bodyPr>
          <a:lstStyle/>
          <a:p>
            <a:r>
              <a:rPr lang="en-US" dirty="0"/>
              <a:t>zap 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kol_sost</a:t>
            </a:r>
            <a:r>
              <a:rPr lang="en-US" dirty="0"/>
              <a:t>][100</a:t>
            </a:r>
            <a:r>
              <a:rPr lang="en-US" dirty="0" smtClean="0"/>
              <a:t>];</a:t>
            </a:r>
            <a:endParaRPr lang="ru-RU" dirty="0"/>
          </a:p>
          <a:p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i,p</a:t>
            </a:r>
            <a:r>
              <a:rPr lang="en-US" dirty="0" smtClean="0"/>
              <a:t>;</a:t>
            </a:r>
            <a:endParaRPr lang="ru-RU" dirty="0"/>
          </a:p>
          <a:p>
            <a:r>
              <a:rPr lang="en-US" dirty="0"/>
              <a:t>     char y1,y2</a:t>
            </a:r>
            <a:r>
              <a:rPr lang="en-US" dirty="0" smtClean="0"/>
              <a:t>;</a:t>
            </a:r>
            <a:endParaRPr lang="ru-RU" dirty="0"/>
          </a:p>
          <a:p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sost</a:t>
            </a:r>
            <a:r>
              <a:rPr lang="en-US" dirty="0"/>
              <a:t>=1</a:t>
            </a:r>
            <a:r>
              <a:rPr lang="en-US" dirty="0" smtClean="0"/>
              <a:t>;</a:t>
            </a:r>
            <a:endParaRPr lang="ru-RU" dirty="0"/>
          </a:p>
          <a:p>
            <a:r>
              <a:rPr lang="en-US" dirty="0"/>
              <a:t>for( 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</a:t>
            </a:r>
            <a:endParaRPr lang="ru-RU" dirty="0"/>
          </a:p>
          <a:p>
            <a:r>
              <a:rPr lang="en-US" dirty="0"/>
              <a:t>	a[</a:t>
            </a:r>
            <a:r>
              <a:rPr lang="en-US" dirty="0" err="1"/>
              <a:t>i</a:t>
            </a:r>
            <a:r>
              <a:rPr lang="en-US" dirty="0" smtClean="0"/>
              <a:t>]='_';</a:t>
            </a:r>
            <a:endParaRPr lang="ru-RU" dirty="0"/>
          </a:p>
          <a:p>
            <a:r>
              <a:rPr lang="en-US" dirty="0" err="1"/>
              <a:t>ifstream</a:t>
            </a:r>
            <a:r>
              <a:rPr lang="en-US" dirty="0"/>
              <a:t> in("turing.txt");</a:t>
            </a:r>
            <a:endParaRPr lang="ru-RU" dirty="0"/>
          </a:p>
          <a:p>
            <a:r>
              <a:rPr lang="en-US" dirty="0" err="1"/>
              <a:t>ofstream</a:t>
            </a:r>
            <a:r>
              <a:rPr lang="en-US" dirty="0"/>
              <a:t> out("out.txt");</a:t>
            </a:r>
            <a:endParaRPr lang="ru-RU" dirty="0"/>
          </a:p>
          <a:p>
            <a:r>
              <a:rPr lang="en-US" dirty="0"/>
              <a:t>char </a:t>
            </a:r>
            <a:r>
              <a:rPr lang="en-US" dirty="0" err="1"/>
              <a:t>sym_in,sym_out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sost_in,sost_out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char mv;</a:t>
            </a:r>
            <a:endParaRPr lang="ru-RU" dirty="0"/>
          </a:p>
          <a:p>
            <a:r>
              <a:rPr lang="en-US" dirty="0"/>
              <a:t>   </a:t>
            </a:r>
            <a:r>
              <a:rPr lang="en-US" dirty="0" smtClean="0"/>
              <a:t>if </a:t>
            </a:r>
            <a:r>
              <a:rPr lang="en-US" dirty="0"/>
              <a:t>(!in)</a:t>
            </a:r>
            <a:endParaRPr lang="ru-RU" dirty="0"/>
          </a:p>
          <a:p>
            <a:r>
              <a:rPr lang="en-US" dirty="0"/>
              <a:t>	 {</a:t>
            </a:r>
            <a:endParaRPr lang="ru-RU" dirty="0"/>
          </a:p>
          <a:p>
            <a:r>
              <a:rPr lang="en-US" dirty="0"/>
              <a:t>         </a:t>
            </a:r>
            <a:r>
              <a:rPr lang="en-US" dirty="0" smtClean="0"/>
              <a:t> </a:t>
            </a:r>
            <a:r>
              <a:rPr lang="en-US" dirty="0" err="1"/>
              <a:t>cout</a:t>
            </a:r>
            <a:r>
              <a:rPr lang="en-US" dirty="0"/>
              <a:t>&lt;&lt;"Can't open file ";</a:t>
            </a:r>
            <a:endParaRPr lang="ru-RU" dirty="0"/>
          </a:p>
          <a:p>
            <a:r>
              <a:rPr lang="en-US" dirty="0"/>
              <a:t>	    </a:t>
            </a:r>
            <a:r>
              <a:rPr lang="ru-RU" dirty="0" smtClean="0"/>
              <a:t>   </a:t>
            </a:r>
            <a:r>
              <a:rPr lang="en-US" dirty="0" smtClean="0"/>
              <a:t>exit</a:t>
            </a:r>
            <a:r>
              <a:rPr lang="en-US" dirty="0"/>
              <a:t>(-1);</a:t>
            </a:r>
            <a:endParaRPr lang="ru-RU" dirty="0"/>
          </a:p>
          <a:p>
            <a:r>
              <a:rPr lang="en-US" dirty="0"/>
              <a:t>	 </a:t>
            </a:r>
            <a:r>
              <a:rPr lang="ru-RU" dirty="0" smtClean="0"/>
              <a:t> </a:t>
            </a:r>
            <a:r>
              <a:rPr lang="en-US" dirty="0" smtClean="0"/>
              <a:t>}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940935" y="589366"/>
            <a:ext cx="6452316" cy="675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number_comand;i</a:t>
            </a:r>
            <a:r>
              <a:rPr lang="en-US" dirty="0"/>
              <a:t>++)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   in&gt;&gt;</a:t>
            </a:r>
            <a:r>
              <a:rPr lang="en-US" dirty="0" err="1"/>
              <a:t>sym_in</a:t>
            </a:r>
            <a:r>
              <a:rPr lang="en-US" dirty="0"/>
              <a:t>&gt;&gt;</a:t>
            </a:r>
            <a:r>
              <a:rPr lang="en-US" dirty="0" err="1"/>
              <a:t>sym_out</a:t>
            </a:r>
            <a:r>
              <a:rPr lang="en-US" dirty="0"/>
              <a:t>&gt;&gt;mv&gt;&gt;</a:t>
            </a:r>
            <a:r>
              <a:rPr lang="en-US" dirty="0" err="1"/>
              <a:t>sost_in</a:t>
            </a:r>
            <a:r>
              <a:rPr lang="en-US" dirty="0"/>
              <a:t>&gt;&gt;</a:t>
            </a:r>
            <a:r>
              <a:rPr lang="en-US" dirty="0" err="1" smtClean="0"/>
              <a:t>sost_out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       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</a:t>
            </a:r>
            <a:r>
              <a:rPr lang="en-US" dirty="0" err="1"/>
              <a:t>sym_in</a:t>
            </a:r>
            <a:r>
              <a:rPr lang="en-US" dirty="0"/>
              <a:t>].</a:t>
            </a:r>
            <a:r>
              <a:rPr lang="en-US" dirty="0" err="1"/>
              <a:t>sost</a:t>
            </a:r>
            <a:r>
              <a:rPr lang="en-US" dirty="0"/>
              <a:t>=</a:t>
            </a:r>
            <a:r>
              <a:rPr lang="en-US" dirty="0" err="1"/>
              <a:t>sost_out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       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</a:t>
            </a:r>
            <a:r>
              <a:rPr lang="en-US" dirty="0" err="1"/>
              <a:t>sym_in</a:t>
            </a:r>
            <a:r>
              <a:rPr lang="en-US" dirty="0"/>
              <a:t>].</a:t>
            </a:r>
            <a:r>
              <a:rPr lang="en-US" dirty="0" err="1"/>
              <a:t>sym</a:t>
            </a:r>
            <a:r>
              <a:rPr lang="en-US" dirty="0"/>
              <a:t>=</a:t>
            </a:r>
            <a:r>
              <a:rPr lang="en-US" dirty="0" err="1"/>
              <a:t>sym_out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       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</a:t>
            </a:r>
            <a:r>
              <a:rPr lang="en-US" dirty="0" err="1"/>
              <a:t>sym_in</a:t>
            </a:r>
            <a:r>
              <a:rPr lang="en-US" dirty="0"/>
              <a:t>].move=mv;</a:t>
            </a:r>
            <a:endParaRPr lang="ru-RU" dirty="0"/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 err="1"/>
              <a:t>in.close</a:t>
            </a:r>
            <a:r>
              <a:rPr lang="en-US" dirty="0"/>
              <a:t>();</a:t>
            </a:r>
            <a:endParaRPr lang="ru-RU" dirty="0"/>
          </a:p>
          <a:p>
            <a:r>
              <a:rPr lang="en-US" dirty="0"/>
              <a:t>out&lt;&lt;"   TURING MACHINES  (ALAN TURING 1937</a:t>
            </a:r>
            <a:r>
              <a:rPr lang="en-US" dirty="0" smtClean="0"/>
              <a:t>)"&lt;&lt;</a:t>
            </a:r>
            <a:r>
              <a:rPr lang="en-US" dirty="0" err="1"/>
              <a:t>endl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/>
              <a:t>out&lt;&lt;</a:t>
            </a:r>
            <a:r>
              <a:rPr lang="en-US" dirty="0" err="1"/>
              <a:t>setw</a:t>
            </a:r>
            <a:r>
              <a:rPr lang="en-US" dirty="0"/>
              <a:t>(7)&lt;&lt;1&lt;&lt;</a:t>
            </a:r>
            <a:r>
              <a:rPr lang="en-US" dirty="0" err="1"/>
              <a:t>setw</a:t>
            </a:r>
            <a:r>
              <a:rPr lang="en-US" dirty="0"/>
              <a:t>(5)&lt;&lt;2&lt;&lt;</a:t>
            </a:r>
            <a:r>
              <a:rPr lang="en-US" dirty="0" err="1"/>
              <a:t>setw</a:t>
            </a:r>
            <a:r>
              <a:rPr lang="en-US" dirty="0"/>
              <a:t>(5)&lt;&lt;3&lt;&lt;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out&lt;&lt;'_';</a:t>
            </a:r>
            <a:endParaRPr lang="ru-RU" dirty="0"/>
          </a:p>
          <a:p>
            <a:r>
              <a:rPr lang="en-US" dirty="0"/>
              <a:t>for (</a:t>
            </a:r>
            <a:r>
              <a:rPr lang="en-US" dirty="0" err="1"/>
              <a:t>sost_in</a:t>
            </a:r>
            <a:r>
              <a:rPr lang="en-US" dirty="0"/>
              <a:t>=1; </a:t>
            </a:r>
            <a:r>
              <a:rPr lang="en-US" dirty="0" err="1"/>
              <a:t>sost_in</a:t>
            </a:r>
            <a:r>
              <a:rPr lang="en-US" dirty="0"/>
              <a:t>&lt;</a:t>
            </a:r>
            <a:r>
              <a:rPr lang="en-US" dirty="0" err="1"/>
              <a:t>kol_sost;sost_in</a:t>
            </a:r>
            <a:r>
              <a:rPr lang="en-US" dirty="0"/>
              <a:t>++)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 smtClean="0"/>
              <a:t>out</a:t>
            </a:r>
            <a:r>
              <a:rPr lang="en-US" dirty="0"/>
              <a:t>&lt;&lt;</a:t>
            </a:r>
            <a:r>
              <a:rPr lang="en-US" dirty="0" err="1"/>
              <a:t>setw</a:t>
            </a:r>
            <a:r>
              <a:rPr lang="en-US" dirty="0"/>
              <a:t>(4)&lt;&lt;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]['_'].</a:t>
            </a:r>
            <a:r>
              <a:rPr lang="en-US" dirty="0" err="1"/>
              <a:t>sym</a:t>
            </a:r>
            <a:r>
              <a:rPr lang="en-US" dirty="0"/>
              <a:t>&lt;&lt;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]['_'].</a:t>
            </a:r>
            <a:r>
              <a:rPr lang="en-US" dirty="0" err="1" smtClean="0"/>
              <a:t>sost</a:t>
            </a:r>
            <a:r>
              <a:rPr lang="en-US" dirty="0" smtClean="0"/>
              <a:t>&lt;&lt;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]['_'].move;</a:t>
            </a:r>
            <a:endParaRPr lang="ru-RU" dirty="0"/>
          </a:p>
          <a:p>
            <a:r>
              <a:rPr lang="en-US" dirty="0"/>
              <a:t>    out&lt;&lt;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71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3846" y="312471"/>
            <a:ext cx="10462891" cy="65455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(  </a:t>
            </a:r>
            <a:r>
              <a:rPr lang="en-US" dirty="0" err="1"/>
              <a:t>sym_in</a:t>
            </a:r>
            <a:r>
              <a:rPr lang="en-US" dirty="0"/>
              <a:t>='0';sym_in&lt;='2';sym_in++)</a:t>
            </a:r>
            <a:endParaRPr lang="ru-RU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   </a:t>
            </a:r>
            <a:r>
              <a:rPr lang="ru-RU" dirty="0"/>
              <a:t> </a:t>
            </a:r>
            <a:r>
              <a:rPr lang="ru-RU" dirty="0" smtClean="0"/>
              <a:t>      </a:t>
            </a:r>
            <a:r>
              <a:rPr lang="en-US" dirty="0" smtClean="0"/>
              <a:t>out</a:t>
            </a:r>
            <a:r>
              <a:rPr lang="en-US" dirty="0"/>
              <a:t>&lt;&lt;</a:t>
            </a:r>
            <a:r>
              <a:rPr lang="en-US" dirty="0" err="1"/>
              <a:t>sym_in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          for (</a:t>
            </a:r>
            <a:r>
              <a:rPr lang="en-US" dirty="0" err="1"/>
              <a:t>sost_in</a:t>
            </a:r>
            <a:r>
              <a:rPr lang="en-US" dirty="0"/>
              <a:t>=1; </a:t>
            </a:r>
            <a:r>
              <a:rPr lang="en-US" dirty="0" err="1"/>
              <a:t>sost_in</a:t>
            </a:r>
            <a:r>
              <a:rPr lang="en-US" dirty="0"/>
              <a:t>&lt;</a:t>
            </a:r>
            <a:r>
              <a:rPr lang="en-US" dirty="0" err="1"/>
              <a:t>kol_sost;sost_in</a:t>
            </a:r>
            <a:r>
              <a:rPr lang="en-US" dirty="0" smtClean="0"/>
              <a:t>++)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</a:t>
            </a:r>
            <a:r>
              <a:rPr lang="en-US" dirty="0" smtClean="0"/>
              <a:t>out</a:t>
            </a:r>
            <a:r>
              <a:rPr lang="en-US" dirty="0"/>
              <a:t>&lt;&lt;</a:t>
            </a:r>
            <a:r>
              <a:rPr lang="en-US" dirty="0" err="1"/>
              <a:t>setw</a:t>
            </a:r>
            <a:r>
              <a:rPr lang="en-US" dirty="0"/>
              <a:t>(4)&lt;&lt;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</a:t>
            </a:r>
            <a:r>
              <a:rPr lang="en-US" dirty="0" err="1"/>
              <a:t>sym_in</a:t>
            </a:r>
            <a:r>
              <a:rPr lang="en-US" dirty="0"/>
              <a:t>].</a:t>
            </a:r>
            <a:r>
              <a:rPr lang="en-US" dirty="0" err="1" smtClean="0"/>
              <a:t>sym</a:t>
            </a:r>
            <a:r>
              <a:rPr lang="en-US" dirty="0" smtClean="0"/>
              <a:t>&lt;&lt;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</a:t>
            </a:r>
            <a:r>
              <a:rPr lang="en-US" dirty="0" err="1"/>
              <a:t>sym_in</a:t>
            </a:r>
            <a:r>
              <a:rPr lang="en-US" dirty="0"/>
              <a:t>].</a:t>
            </a:r>
            <a:r>
              <a:rPr lang="en-US" dirty="0" err="1"/>
              <a:t>sost</a:t>
            </a:r>
            <a:r>
              <a:rPr lang="en-US" dirty="0"/>
              <a:t>&lt;&lt;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sost_in</a:t>
            </a:r>
            <a:r>
              <a:rPr lang="en-US" dirty="0"/>
              <a:t>][</a:t>
            </a:r>
            <a:r>
              <a:rPr lang="en-US" dirty="0" err="1"/>
              <a:t>sym_in</a:t>
            </a:r>
            <a:r>
              <a:rPr lang="en-US" dirty="0"/>
              <a:t>].move</a:t>
            </a:r>
            <a:r>
              <a:rPr lang="en-US" dirty="0" smtClean="0"/>
              <a:t>;</a:t>
            </a:r>
            <a:endParaRPr lang="ru-RU" dirty="0"/>
          </a:p>
          <a:p>
            <a:r>
              <a:rPr lang="en-US" dirty="0"/>
              <a:t>   </a:t>
            </a:r>
            <a:r>
              <a:rPr lang="ru-RU" dirty="0" smtClean="0"/>
              <a:t>      </a:t>
            </a:r>
            <a:r>
              <a:rPr lang="en-US" dirty="0" smtClean="0"/>
              <a:t> </a:t>
            </a:r>
            <a:r>
              <a:rPr lang="en-US" dirty="0"/>
              <a:t>out&lt;&lt;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 smtClean="0"/>
              <a:t>   </a:t>
            </a:r>
            <a:r>
              <a:rPr lang="en-US" dirty="0" smtClean="0"/>
              <a:t>}</a:t>
            </a:r>
            <a:endParaRPr lang="ru-RU" dirty="0"/>
          </a:p>
          <a:p>
            <a:r>
              <a:rPr lang="en-US" dirty="0"/>
              <a:t>   </a:t>
            </a:r>
            <a:r>
              <a:rPr lang="en-US" dirty="0" err="1"/>
              <a:t>in.close</a:t>
            </a:r>
            <a:r>
              <a:rPr lang="en-US" dirty="0" smtClean="0"/>
              <a:t>();</a:t>
            </a:r>
            <a:endParaRPr lang="ru-RU" dirty="0"/>
          </a:p>
          <a:p>
            <a:r>
              <a:rPr lang="en-US" dirty="0"/>
              <a:t> 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&lt;&lt;"enter input word; number of symbols &lt;=20;  symbol '_' is a last symbol  "&lt;&lt;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 smtClean="0"/>
              <a:t> </a:t>
            </a:r>
            <a:r>
              <a:rPr lang="en-US" dirty="0" err="1" smtClean="0"/>
              <a:t>cout</a:t>
            </a:r>
            <a:r>
              <a:rPr lang="en-US" dirty="0"/>
              <a:t>&lt;&lt;"</a:t>
            </a:r>
            <a:r>
              <a:rPr lang="en-US" dirty="0" err="1"/>
              <a:t>alfabet</a:t>
            </a:r>
            <a:r>
              <a:rPr lang="en-US" dirty="0"/>
              <a:t>  ['_','0','1','2'] "&lt;&lt;</a:t>
            </a:r>
            <a:r>
              <a:rPr lang="en-US" dirty="0" err="1" smtClean="0"/>
              <a:t>endl</a:t>
            </a:r>
            <a:r>
              <a:rPr lang="en-US" dirty="0" smtClean="0"/>
              <a:t>&lt;&lt;"</a:t>
            </a:r>
            <a:r>
              <a:rPr lang="en-US" dirty="0"/>
              <a:t>input word "&lt;&lt;</a:t>
            </a:r>
            <a:r>
              <a:rPr lang="en-US" dirty="0" err="1"/>
              <a:t>endl</a:t>
            </a:r>
            <a:r>
              <a:rPr lang="en-US" dirty="0"/>
              <a:t>; </a:t>
            </a:r>
            <a:endParaRPr lang="ru-RU" dirty="0"/>
          </a:p>
          <a:p>
            <a:r>
              <a:rPr lang="en-US" dirty="0"/>
              <a:t>for( </a:t>
            </a:r>
            <a:r>
              <a:rPr lang="en-US" dirty="0" err="1"/>
              <a:t>i</a:t>
            </a:r>
            <a:r>
              <a:rPr lang="en-US" dirty="0"/>
              <a:t>=50;i&lt;</a:t>
            </a:r>
            <a:r>
              <a:rPr lang="en-US" dirty="0" err="1"/>
              <a:t>n;i</a:t>
            </a:r>
            <a:r>
              <a:rPr lang="en-US" dirty="0"/>
              <a:t>++)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err="1"/>
              <a:t>cin</a:t>
            </a:r>
            <a:r>
              <a:rPr lang="en-US" dirty="0"/>
              <a:t>&gt;&gt;a[</a:t>
            </a:r>
            <a:r>
              <a:rPr lang="en-US" dirty="0" err="1"/>
              <a:t>i</a:t>
            </a:r>
            <a:r>
              <a:rPr lang="en-US" dirty="0"/>
              <a:t>];</a:t>
            </a:r>
            <a:endParaRPr lang="ru-RU" dirty="0"/>
          </a:p>
          <a:p>
            <a:r>
              <a:rPr lang="en-US" dirty="0"/>
              <a:t>       if (a[</a:t>
            </a:r>
            <a:r>
              <a:rPr lang="en-US" dirty="0" err="1"/>
              <a:t>i</a:t>
            </a:r>
            <a:r>
              <a:rPr lang="en-US" dirty="0"/>
              <a:t>]=='_') break;</a:t>
            </a:r>
            <a:endParaRPr lang="ru-RU" dirty="0"/>
          </a:p>
          <a:p>
            <a:r>
              <a:rPr lang="en-US" dirty="0" smtClean="0"/>
              <a:t>}</a:t>
            </a:r>
            <a:endParaRPr lang="ru-RU" dirty="0"/>
          </a:p>
          <a:p>
            <a:r>
              <a:rPr lang="en-US" dirty="0"/>
              <a:t>out&lt;&lt;"input word"&lt;&lt;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 out&lt;&lt;a[</a:t>
            </a:r>
            <a:r>
              <a:rPr lang="en-US" dirty="0" err="1"/>
              <a:t>i</a:t>
            </a:r>
            <a:r>
              <a:rPr lang="en-US" dirty="0"/>
              <a:t>];</a:t>
            </a:r>
            <a:endParaRPr lang="ru-RU" dirty="0"/>
          </a:p>
          <a:p>
            <a:r>
              <a:rPr lang="en-US" dirty="0"/>
              <a:t>out&lt;&lt;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859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6573" y="215879"/>
            <a:ext cx="4074971" cy="6545529"/>
          </a:xfrm>
        </p:spPr>
        <p:txBody>
          <a:bodyPr>
            <a:normAutofit/>
          </a:bodyPr>
          <a:lstStyle/>
          <a:p>
            <a:r>
              <a:rPr lang="en-US" dirty="0" err="1"/>
              <a:t>i</a:t>
            </a:r>
            <a:r>
              <a:rPr lang="en-US" dirty="0"/>
              <a:t>=50; </a:t>
            </a:r>
            <a:r>
              <a:rPr lang="en-US" dirty="0" err="1"/>
              <a:t>int</a:t>
            </a:r>
            <a:r>
              <a:rPr lang="en-US" dirty="0"/>
              <a:t> t=0;</a:t>
            </a:r>
            <a:endParaRPr lang="ru-RU" dirty="0"/>
          </a:p>
          <a:p>
            <a:r>
              <a:rPr lang="en-US" dirty="0"/>
              <a:t> </a:t>
            </a:r>
            <a:r>
              <a:rPr lang="en-US" dirty="0" smtClean="0"/>
              <a:t>while(</a:t>
            </a:r>
            <a:r>
              <a:rPr lang="en-US" dirty="0" err="1" smtClean="0"/>
              <a:t>sost</a:t>
            </a:r>
            <a:r>
              <a:rPr lang="ru-RU" dirty="0" smtClean="0"/>
              <a:t> </a:t>
            </a:r>
            <a:r>
              <a:rPr lang="en-US" dirty="0" smtClean="0"/>
              <a:t>&amp;&amp; </a:t>
            </a:r>
            <a:r>
              <a:rPr lang="en-US" dirty="0"/>
              <a:t>(t&lt;50))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	</a:t>
            </a:r>
            <a:r>
              <a:rPr lang="ru-RU" dirty="0" smtClean="0"/>
              <a:t>      </a:t>
            </a:r>
            <a:r>
              <a:rPr lang="en-US" dirty="0" smtClean="0"/>
              <a:t>char </a:t>
            </a:r>
            <a:r>
              <a:rPr lang="en-US" dirty="0"/>
              <a:t>r=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</a:t>
            </a:r>
            <a:r>
              <a:rPr lang="en-US" dirty="0"/>
              <a:t>][a[</a:t>
            </a:r>
            <a:r>
              <a:rPr lang="en-US" dirty="0" err="1"/>
              <a:t>i</a:t>
            </a:r>
            <a:r>
              <a:rPr lang="en-US" dirty="0"/>
              <a:t>]].</a:t>
            </a:r>
            <a:r>
              <a:rPr lang="en-US" dirty="0" err="1"/>
              <a:t>sym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      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 s=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</a:t>
            </a:r>
            <a:r>
              <a:rPr lang="en-US" dirty="0"/>
              <a:t>][a[</a:t>
            </a:r>
            <a:r>
              <a:rPr lang="en-US" dirty="0" err="1"/>
              <a:t>i</a:t>
            </a:r>
            <a:r>
              <a:rPr lang="en-US" dirty="0"/>
              <a:t>]].</a:t>
            </a:r>
            <a:r>
              <a:rPr lang="en-US" dirty="0" err="1"/>
              <a:t>sost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        mv=</a:t>
            </a:r>
            <a:r>
              <a:rPr lang="en-US" dirty="0" err="1"/>
              <a:t>tabl</a:t>
            </a:r>
            <a:r>
              <a:rPr lang="en-US" dirty="0"/>
              <a:t>[</a:t>
            </a:r>
            <a:r>
              <a:rPr lang="en-US" dirty="0" err="1"/>
              <a:t>sost</a:t>
            </a:r>
            <a:r>
              <a:rPr lang="en-US" dirty="0"/>
              <a:t>][a[</a:t>
            </a:r>
            <a:r>
              <a:rPr lang="en-US" dirty="0" err="1"/>
              <a:t>i</a:t>
            </a:r>
            <a:r>
              <a:rPr lang="en-US" dirty="0"/>
              <a:t>]].move;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err="1"/>
              <a:t>sost</a:t>
            </a:r>
            <a:r>
              <a:rPr lang="en-US" dirty="0"/>
              <a:t>=s;</a:t>
            </a:r>
            <a:endParaRPr lang="ru-RU" dirty="0"/>
          </a:p>
          <a:p>
            <a:r>
              <a:rPr lang="en-US" dirty="0"/>
              <a:t>		a[</a:t>
            </a:r>
            <a:r>
              <a:rPr lang="en-US" dirty="0" err="1"/>
              <a:t>i</a:t>
            </a:r>
            <a:r>
              <a:rPr lang="en-US" dirty="0"/>
              <a:t>]=r;</a:t>
            </a:r>
            <a:endParaRPr lang="ru-RU" dirty="0"/>
          </a:p>
          <a:p>
            <a:r>
              <a:rPr lang="en-US" dirty="0"/>
              <a:t>		if (mv=='R') </a:t>
            </a:r>
            <a:r>
              <a:rPr lang="en-US" dirty="0" err="1"/>
              <a:t>i</a:t>
            </a:r>
            <a:r>
              <a:rPr lang="en-US" dirty="0"/>
              <a:t>++;else </a:t>
            </a:r>
            <a:endParaRPr lang="ru-RU" dirty="0"/>
          </a:p>
          <a:p>
            <a:r>
              <a:rPr lang="en-US" dirty="0"/>
              <a:t>	</a:t>
            </a:r>
            <a:r>
              <a:rPr lang="ru-RU" dirty="0"/>
              <a:t> </a:t>
            </a:r>
            <a:r>
              <a:rPr lang="ru-RU" dirty="0" smtClean="0"/>
              <a:t>      </a:t>
            </a:r>
            <a:r>
              <a:rPr lang="en-US" dirty="0" smtClean="0"/>
              <a:t>if </a:t>
            </a:r>
            <a:r>
              <a:rPr lang="en-US" dirty="0"/>
              <a:t>(mv=='L') </a:t>
            </a:r>
            <a:r>
              <a:rPr lang="en-US" dirty="0" err="1"/>
              <a:t>i</a:t>
            </a:r>
            <a:r>
              <a:rPr lang="en-US" dirty="0"/>
              <a:t>--;</a:t>
            </a:r>
            <a:endParaRPr lang="ru-RU" dirty="0"/>
          </a:p>
          <a:p>
            <a:r>
              <a:rPr lang="en-US" dirty="0"/>
              <a:t>	       t</a:t>
            </a:r>
            <a:r>
              <a:rPr lang="en-US" dirty="0" smtClean="0"/>
              <a:t>++;</a:t>
            </a:r>
            <a:endParaRPr lang="ru-RU" dirty="0"/>
          </a:p>
          <a:p>
            <a:r>
              <a:rPr lang="en-US" dirty="0"/>
              <a:t>};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85645" y="1165538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023537" y="1165538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0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465971" y="1165538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164428" y="1165538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744754" y="1165538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325058" y="1168190"/>
            <a:ext cx="721217" cy="570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606862" y="1165538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906158" y="3394477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831874" y="4208369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-</a:t>
            </a:r>
            <a:endParaRPr lang="ru-RU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8773245"/>
              </p:ext>
            </p:extLst>
          </p:nvPr>
        </p:nvGraphicFramePr>
        <p:xfrm>
          <a:off x="8680360" y="3638281"/>
          <a:ext cx="3511640" cy="313596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877910">
                  <a:extLst>
                    <a:ext uri="{9D8B030D-6E8A-4147-A177-3AD203B41FA5}">
                      <a16:colId xmlns:a16="http://schemas.microsoft.com/office/drawing/2014/main" val="4183860268"/>
                    </a:ext>
                  </a:extLst>
                </a:gridCol>
                <a:gridCol w="877910">
                  <a:extLst>
                    <a:ext uri="{9D8B030D-6E8A-4147-A177-3AD203B41FA5}">
                      <a16:colId xmlns:a16="http://schemas.microsoft.com/office/drawing/2014/main" val="612043689"/>
                    </a:ext>
                  </a:extLst>
                </a:gridCol>
                <a:gridCol w="877910">
                  <a:extLst>
                    <a:ext uri="{9D8B030D-6E8A-4147-A177-3AD203B41FA5}">
                      <a16:colId xmlns:a16="http://schemas.microsoft.com/office/drawing/2014/main" val="1210768898"/>
                    </a:ext>
                  </a:extLst>
                </a:gridCol>
                <a:gridCol w="877910">
                  <a:extLst>
                    <a:ext uri="{9D8B030D-6E8A-4147-A177-3AD203B41FA5}">
                      <a16:colId xmlns:a16="http://schemas.microsoft.com/office/drawing/2014/main" val="3766019343"/>
                    </a:ext>
                  </a:extLst>
                </a:gridCol>
              </a:tblGrid>
              <a:tr h="32065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6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788034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12Н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4747991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ru-RU" sz="16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_2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Н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8399892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6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_3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491010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sym typeface="Symbol" panose="05050102010706020507" pitchFamily="18" charset="2"/>
                        </a:rPr>
                        <a:t>_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!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</a:rPr>
                        <a:t>Н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08719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54148" y="3407282"/>
            <a:ext cx="1231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 = q = 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633220" y="4267312"/>
            <a:ext cx="2198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Сдвиг</a:t>
            </a:r>
            <a:r>
              <a:rPr lang="en-US" sz="2400" b="1" dirty="0" smtClean="0"/>
              <a:t> = mv =</a:t>
            </a:r>
            <a:endParaRPr lang="ru-RU" sz="2400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831874" y="4201425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R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трелка вниз 15"/>
          <p:cNvSpPr/>
          <p:nvPr/>
        </p:nvSpPr>
        <p:spPr>
          <a:xfrm rot="10800000">
            <a:off x="6070824" y="1855940"/>
            <a:ext cx="391886" cy="533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5349607" y="2665342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4148" y="2680109"/>
            <a:ext cx="695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 = </a:t>
            </a:r>
            <a:endParaRPr lang="ru-RU" sz="2400" b="1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5350111" y="2665342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5341602" y="2666179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5906154" y="3407282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9546858" y="5425236"/>
            <a:ext cx="830103" cy="693941"/>
          </a:xfrm>
          <a:prstGeom prst="rect">
            <a:avLst/>
          </a:prstGeom>
          <a:noFill/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ru-RU">
              <a:ln w="76200">
                <a:solidFill>
                  <a:srgbClr val="C00000"/>
                </a:solidFill>
              </a:ln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5867459" y="1159098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5911988" y="3406255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5366411" y="2671744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5919219" y="3410868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6831874" y="4215313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8034906" y="1165538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5919219" y="3423526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6848092" y="4222257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R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5905991" y="3396745"/>
            <a:ext cx="721217" cy="5795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!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66346" y="3297637"/>
            <a:ext cx="1257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chemeClr val="accent5"/>
                </a:solidFill>
              </a:rPr>
              <a:t>СТОП</a:t>
            </a:r>
            <a:r>
              <a:rPr lang="ru-RU" sz="2400" b="1" dirty="0" smtClean="0"/>
              <a:t>!</a:t>
            </a:r>
            <a:endParaRPr lang="ru-RU" sz="2400" b="1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6848092" y="4208369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8744753" y="1159098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52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remove" nodeType="click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33333E-6 L 0.14583 -0.27755 " pathEditMode="fixed" rAng="0" ptsTypes="AA">
                                      <p:cBhvr>
                                        <p:cTn id="4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-1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07407E-6 L 0.0612 0.00208 " pathEditMode="fixed" rAng="0" ptsTypes="AA">
                                      <p:cBhvr>
                                        <p:cTn id="6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-0.27755 L 0.14909 0.09953 " pathEditMode="fixed" rAng="0" ptsTypes="AA">
                                      <p:cBhvr>
                                        <p:cTn id="7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1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2 0.00209 L 0.12031 0.00208 " pathEditMode="fixed" rAng="0" ptsTypes="AA">
                                      <p:cBhvr>
                                        <p:cTn id="10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6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32 0.00208 L 0.1724 0.00208 " pathEditMode="fixed" rAng="0" ptsTypes="AA">
                                      <p:cBhvr>
                                        <p:cTn id="1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09 0.09954 L 0.14661 -0.10023 " pathEditMode="fixed" rAng="0" ptsTypes="AA">
                                      <p:cBhvr>
                                        <p:cTn id="14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661 -0.10023 L 0.07161 -0.27755 " pathEditMode="fixed" rAng="0" ptsTypes="AA">
                                      <p:cBhvr>
                                        <p:cTn id="17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9" y="-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62 -0.27755 L 0.07265 -0.19723 " pathEditMode="fixed" rAng="0" ptsTypes="AA">
                                      <p:cBhvr>
                                        <p:cTn id="19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66 -0.19722 L 0.00117 -0.27755 " pathEditMode="fixed" rAng="0" ptsTypes="AA">
                                      <p:cBhvr>
                                        <p:cTn id="21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98" y="-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24 0.00209 L 0.23268 0.00208 " pathEditMode="relative" rAng="0" ptsTypes="AA">
                                      <p:cBhvr>
                                        <p:cTn id="2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-0.27755 L 0.00833 0.09977 " pathEditMode="relative" rAng="0" ptsTypes="AA">
                                      <p:cBhvr>
                                        <p:cTn id="23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1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6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6" grpId="1" animBg="1"/>
      <p:bldP spid="16" grpId="2" animBg="1"/>
      <p:bldP spid="16" grpId="3" animBg="1"/>
      <p:bldP spid="24" grpId="0" animBg="1"/>
      <p:bldP spid="33" grpId="0" animBg="1"/>
      <p:bldP spid="36" grpId="0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8" grpId="0" animBg="1"/>
      <p:bldP spid="34" grpId="1" animBg="1"/>
      <p:bldP spid="32" grpId="0" animBg="1"/>
      <p:bldP spid="31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99503" y="2417715"/>
            <a:ext cx="4407284" cy="2329098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Т.е. из слова:</a:t>
            </a:r>
          </a:p>
          <a:p>
            <a:endParaRPr lang="ru-RU" sz="2800" b="1" dirty="0"/>
          </a:p>
          <a:p>
            <a:r>
              <a:rPr lang="ru-RU" sz="2800" b="1" dirty="0" smtClean="0"/>
              <a:t>Мы получили слово:</a:t>
            </a:r>
            <a:endParaRPr lang="ru-RU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308330" y="3556263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06787" y="3556263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167417" y="3558915"/>
            <a:ext cx="721217" cy="570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49221" y="3556263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747722" y="3549822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877265" y="3556263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587112" y="3549823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08330" y="2424154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006787" y="2424154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_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167417" y="2426806"/>
            <a:ext cx="721217" cy="570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449221" y="2424154"/>
            <a:ext cx="721217" cy="573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747722" y="2417714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877265" y="2424154"/>
            <a:ext cx="721217" cy="573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0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587112" y="2417714"/>
            <a:ext cx="721217" cy="579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42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2914</TotalTime>
  <Words>712</Words>
  <Application>Microsoft Office PowerPoint</Application>
  <PresentationFormat>Широкоэкранный</PresentationFormat>
  <Paragraphs>321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Symbol</vt:lpstr>
      <vt:lpstr>Times New Roman</vt:lpstr>
      <vt:lpstr>Trebuchet MS</vt:lpstr>
      <vt:lpstr>Wingdings</vt:lpstr>
      <vt:lpstr>Wingdings 3</vt:lpstr>
      <vt:lpstr>Аспект</vt:lpstr>
      <vt:lpstr>Моделирование машины Тьюринга</vt:lpstr>
      <vt:lpstr>Презентация PowerPoint</vt:lpstr>
      <vt:lpstr>Структура и описание машины Тьюринга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Реализуем функцию: F(x) = x+1</vt:lpstr>
      <vt:lpstr>Реализуем функцию: F(x) = x*2</vt:lpstr>
      <vt:lpstr>Смоделируем работу машины Тьюринга на следующем алгоритме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Anaida</dc:creator>
  <cp:lastModifiedBy>User</cp:lastModifiedBy>
  <cp:revision>37</cp:revision>
  <dcterms:created xsi:type="dcterms:W3CDTF">2016-04-23T05:04:01Z</dcterms:created>
  <dcterms:modified xsi:type="dcterms:W3CDTF">2017-02-13T17:29:52Z</dcterms:modified>
</cp:coreProperties>
</file>