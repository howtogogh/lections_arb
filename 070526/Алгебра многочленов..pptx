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69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3" autoAdjust="0"/>
    <p:restoredTop sz="94660"/>
  </p:normalViewPr>
  <p:slideViewPr>
    <p:cSldViewPr snapToGrid="0">
      <p:cViewPr varScale="1">
        <p:scale>
          <a:sx n="74" d="100"/>
          <a:sy n="74" d="100"/>
        </p:scale>
        <p:origin x="414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12/23/2015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92102"/>
            <a:ext cx="7766936" cy="1646302"/>
          </a:xfrm>
        </p:spPr>
        <p:txBody>
          <a:bodyPr/>
          <a:lstStyle/>
          <a:p>
            <a:r>
              <a:rPr lang="ru-RU" sz="72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ПОЛИНОМЫ</a:t>
            </a:r>
            <a:r>
              <a:rPr lang="ru-RU" dirty="0" smtClean="0"/>
              <a:t>.</a:t>
            </a:r>
            <a:br>
              <a:rPr lang="ru-RU" dirty="0" smtClean="0"/>
            </a:br>
            <a:r>
              <a:rPr lang="ru-RU" sz="3600" dirty="0" smtClean="0"/>
              <a:t>(очередь)</a:t>
            </a:r>
            <a:endParaRPr lang="ru-RU" sz="3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1552" y="1938404"/>
            <a:ext cx="6017707" cy="45074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8677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070067" y="629923"/>
            <a:ext cx="359208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54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ПОЛИНОМ</a:t>
            </a:r>
            <a:endParaRPr lang="ru-RU" sz="5400" dirty="0"/>
          </a:p>
        </p:txBody>
      </p:sp>
      <p:sp>
        <p:nvSpPr>
          <p:cNvPr id="4" name="TextBox 3"/>
          <p:cNvSpPr txBox="1"/>
          <p:nvPr/>
        </p:nvSpPr>
        <p:spPr>
          <a:xfrm>
            <a:off x="952813" y="1945709"/>
            <a:ext cx="1777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n-1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05988" y="1945706"/>
            <a:ext cx="1776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n-2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n-1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144727" y="1945708"/>
            <a:ext cx="193410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n-3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n-2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97307" y="1945705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+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996885" y="1945704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897096" y="1945705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</a:t>
            </a:r>
            <a:r>
              <a:rPr lang="en-US" sz="3200" baseline="-25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x</a:t>
            </a:r>
            <a:r>
              <a:rPr lang="en-US" sz="3200" baseline="300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en-US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32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+</a:t>
            </a:r>
            <a:endParaRPr lang="ru-RU" sz="32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3584" y="3252049"/>
            <a:ext cx="5316092" cy="32002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59937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503" y="901521"/>
            <a:ext cx="8348624" cy="556574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1472554" y="190166"/>
            <a:ext cx="83197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i="1" u="sng" dirty="0" smtClean="0"/>
              <a:t>Представим полином в виде очереди.</a:t>
            </a:r>
            <a:endParaRPr lang="ru-RU" sz="2400" i="1" u="sng" dirty="0"/>
          </a:p>
        </p:txBody>
      </p:sp>
      <p:sp>
        <p:nvSpPr>
          <p:cNvPr id="3" name="TextBox 2"/>
          <p:cNvSpPr txBox="1"/>
          <p:nvPr/>
        </p:nvSpPr>
        <p:spPr>
          <a:xfrm>
            <a:off x="914176" y="1930421"/>
            <a:ext cx="15572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n-1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n-1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244312" y="2347653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n-2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4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6078" y="2003456"/>
            <a:ext cx="16254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n-3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3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…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83911" y="2256208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2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16524" y="2335479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1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30094" y="3563046"/>
            <a:ext cx="13651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</a:t>
            </a:r>
            <a:r>
              <a:rPr lang="en-US" sz="3200" b="1" baseline="-25000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</a:t>
            </a:r>
            <a:r>
              <a:rPr lang="en-US" sz="3200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x</a:t>
            </a:r>
            <a:r>
              <a:rPr lang="en-US" sz="3200" b="1" baseline="30000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0</a:t>
            </a:r>
            <a:endParaRPr lang="ru-RU" sz="32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03212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98073" y="829774"/>
            <a:ext cx="419328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struct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endParaRPr lang="en-US" sz="3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3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3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data;</a:t>
            </a:r>
          </a:p>
          <a:p>
            <a:r>
              <a:rPr lang="en-US" sz="3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3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3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power;</a:t>
            </a:r>
          </a:p>
          <a:p>
            <a:r>
              <a:rPr lang="en-US" sz="32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sz="3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*next</a:t>
            </a:r>
            <a:r>
              <a:rPr lang="en-US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3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};</a:t>
            </a:r>
            <a:endParaRPr lang="ru-RU" sz="3200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701860"/>
              </p:ext>
            </p:extLst>
          </p:nvPr>
        </p:nvGraphicFramePr>
        <p:xfrm>
          <a:off x="3472071" y="3717653"/>
          <a:ext cx="2845436" cy="26168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5436"/>
              </a:tblGrid>
              <a:tr h="835531"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</a:tr>
              <a:tr h="890678"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</a:tr>
              <a:tr h="890678">
                <a:tc>
                  <a:txBody>
                    <a:bodyPr/>
                    <a:lstStyle/>
                    <a:p>
                      <a:endParaRPr lang="ru-RU" sz="32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Стрелка влево 4"/>
          <p:cNvSpPr/>
          <p:nvPr/>
        </p:nvSpPr>
        <p:spPr>
          <a:xfrm>
            <a:off x="6402081" y="4032335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Стрелка влево 5"/>
          <p:cNvSpPr/>
          <p:nvPr/>
        </p:nvSpPr>
        <p:spPr>
          <a:xfrm>
            <a:off x="6402081" y="4856445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лево 6"/>
          <p:cNvSpPr/>
          <p:nvPr/>
        </p:nvSpPr>
        <p:spPr>
          <a:xfrm>
            <a:off x="6402081" y="5680380"/>
            <a:ext cx="715617" cy="3180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/>
        </p:nvSpPr>
        <p:spPr>
          <a:xfrm>
            <a:off x="7054584" y="3936699"/>
            <a:ext cx="26597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КОЭФИЦИЕНТ</a:t>
            </a:r>
            <a:r>
              <a:rPr lang="en-US" dirty="0" smtClean="0"/>
              <a:t> </a:t>
            </a:r>
            <a:r>
              <a:rPr lang="ru-RU" dirty="0" smtClean="0"/>
              <a:t>ПЕРЕД </a:t>
            </a:r>
            <a:r>
              <a:rPr lang="en-US" sz="2400" dirty="0" smtClean="0"/>
              <a:t>X</a:t>
            </a:r>
            <a:endParaRPr lang="ru-RU" sz="2400" dirty="0"/>
          </a:p>
        </p:txBody>
      </p:sp>
      <p:sp>
        <p:nvSpPr>
          <p:cNvPr id="9" name="TextBox 8"/>
          <p:cNvSpPr txBox="1"/>
          <p:nvPr/>
        </p:nvSpPr>
        <p:spPr>
          <a:xfrm>
            <a:off x="7117698" y="4761740"/>
            <a:ext cx="1452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СТЕПЕНЬ </a:t>
            </a:r>
            <a:r>
              <a:rPr lang="en-US" sz="2400" dirty="0"/>
              <a:t>X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7117699" y="5644513"/>
            <a:ext cx="19361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АДРЕС СЛЕДУЮЩЕГО ЭЛЕМЕНТА</a:t>
            </a:r>
            <a:endParaRPr lang="ru-RU" dirty="0"/>
          </a:p>
        </p:txBody>
      </p:sp>
      <p:cxnSp>
        <p:nvCxnSpPr>
          <p:cNvPr id="15" name="Прямая со стрелкой 14"/>
          <p:cNvCxnSpPr/>
          <p:nvPr/>
        </p:nvCxnSpPr>
        <p:spPr>
          <a:xfrm flipH="1">
            <a:off x="4059458" y="2833231"/>
            <a:ext cx="664476" cy="73409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91696" y="2151776"/>
            <a:ext cx="44689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Элемент очереди (структура).</a:t>
            </a:r>
            <a:endParaRPr lang="ru-R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3741313" y="3851225"/>
            <a:ext cx="13007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data</a:t>
            </a:r>
            <a:endParaRPr lang="ru-RU" sz="3200" dirty="0"/>
          </a:p>
        </p:txBody>
      </p:sp>
      <p:sp>
        <p:nvSpPr>
          <p:cNvPr id="19" name="TextBox 18"/>
          <p:cNvSpPr txBox="1"/>
          <p:nvPr/>
        </p:nvSpPr>
        <p:spPr>
          <a:xfrm>
            <a:off x="3660624" y="5507420"/>
            <a:ext cx="21266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next</a:t>
            </a:r>
            <a:endParaRPr lang="ru-RU" sz="3200" dirty="0"/>
          </a:p>
        </p:txBody>
      </p:sp>
      <p:sp>
        <p:nvSpPr>
          <p:cNvPr id="20" name="TextBox 19"/>
          <p:cNvSpPr txBox="1"/>
          <p:nvPr/>
        </p:nvSpPr>
        <p:spPr>
          <a:xfrm>
            <a:off x="3660624" y="4589722"/>
            <a:ext cx="171567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power</a:t>
            </a:r>
            <a:endParaRPr lang="ru-RU" sz="3200" dirty="0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092" y="4350387"/>
            <a:ext cx="2641994" cy="179127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TextBox 11"/>
          <p:cNvSpPr txBox="1"/>
          <p:nvPr/>
        </p:nvSpPr>
        <p:spPr>
          <a:xfrm>
            <a:off x="4748337" y="303465"/>
            <a:ext cx="41123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 smtClean="0"/>
              <a:t>Пусть элемент очереди – это структура.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659239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/>
      <p:bldP spid="17" grpId="0"/>
      <p:bldP spid="18" grpId="0"/>
      <p:bldP spid="19" grpId="0"/>
      <p:bldP spid="2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6255" y="1017201"/>
            <a:ext cx="2721411" cy="226533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203112" y="298412"/>
            <a:ext cx="7297830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Push(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2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sz="22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*q=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q-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&gt;data = </a:t>
            </a: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q-&gt;power =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endParaRPr lang="ru-RU" sz="2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q-&gt;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next = </a:t>
            </a:r>
            <a:r>
              <a:rPr lang="en-US" sz="22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(!</a:t>
            </a:r>
            <a:r>
              <a:rPr lang="en-US" sz="22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q;</a:t>
            </a:r>
          </a:p>
          <a:p>
            <a:r>
              <a:rPr lang="ru-RU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q;</a:t>
            </a: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2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sz="2200" dirty="0" smtClean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ru-RU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&gt;next = q;</a:t>
            </a:r>
          </a:p>
          <a:p>
            <a:r>
              <a:rPr lang="ru-RU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sz="22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q;</a:t>
            </a:r>
          </a:p>
          <a:p>
            <a:r>
              <a:rPr lang="ru-RU" sz="22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ru-RU" sz="22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2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200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8294782"/>
              </p:ext>
            </p:extLst>
          </p:nvPr>
        </p:nvGraphicFramePr>
        <p:xfrm>
          <a:off x="4116858" y="4193209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145214" y="742670"/>
            <a:ext cx="722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0066" y="3349181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605172" y="3433734"/>
            <a:ext cx="67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endParaRPr lang="ru-RU" dirty="0"/>
          </a:p>
        </p:txBody>
      </p:sp>
      <p:cxnSp>
        <p:nvCxnSpPr>
          <p:cNvPr id="20" name="Прямая со стрелкой 19"/>
          <p:cNvCxnSpPr/>
          <p:nvPr/>
        </p:nvCxnSpPr>
        <p:spPr>
          <a:xfrm>
            <a:off x="5837654" y="3780782"/>
            <a:ext cx="0" cy="3267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221234"/>
              </p:ext>
            </p:extLst>
          </p:nvPr>
        </p:nvGraphicFramePr>
        <p:xfrm>
          <a:off x="5697488" y="4211377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904736"/>
              </p:ext>
            </p:extLst>
          </p:nvPr>
        </p:nvGraphicFramePr>
        <p:xfrm>
          <a:off x="4251061" y="1181644"/>
          <a:ext cx="1230510" cy="22223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0510"/>
              </a:tblGrid>
              <a:tr h="7548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7548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712588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4384591" y="1306772"/>
            <a:ext cx="710292" cy="370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40510" y="2046782"/>
            <a:ext cx="710292" cy="3706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3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4384591" y="2792175"/>
            <a:ext cx="71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4251061" y="3718513"/>
            <a:ext cx="0" cy="3267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/>
          <p:nvPr/>
        </p:nvCxnSpPr>
        <p:spPr>
          <a:xfrm>
            <a:off x="5078186" y="6053834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57876" y="5869168"/>
            <a:ext cx="710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0" name="TextBox 9"/>
          <p:cNvSpPr txBox="1"/>
          <p:nvPr/>
        </p:nvSpPr>
        <p:spPr>
          <a:xfrm>
            <a:off x="4120066" y="6238500"/>
            <a:ext cx="115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8x^2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5637440" y="6296677"/>
            <a:ext cx="1151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r>
              <a:rPr lang="en-US" dirty="0" smtClean="0"/>
              <a:t>x</a:t>
            </a:r>
            <a:endParaRPr lang="ru-RU" dirty="0"/>
          </a:p>
        </p:txBody>
      </p:sp>
      <p:cxnSp>
        <p:nvCxnSpPr>
          <p:cNvPr id="28" name="Прямая со стрелкой 27"/>
          <p:cNvCxnSpPr/>
          <p:nvPr/>
        </p:nvCxnSpPr>
        <p:spPr>
          <a:xfrm>
            <a:off x="6588578" y="6053834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6" name="Рисунок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506470">
            <a:off x="2606116" y="2407784"/>
            <a:ext cx="1363973" cy="102298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7" name="TextBox 6"/>
          <p:cNvSpPr txBox="1"/>
          <p:nvPr/>
        </p:nvSpPr>
        <p:spPr>
          <a:xfrm>
            <a:off x="3115362" y="13944"/>
            <a:ext cx="6195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вставки элемента в очередь.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709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6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2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5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8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49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45833E-6 7.40741E-7 L 0.26015 0.44097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008" y="22037"/>
                                    </p:animMotion>
                                  </p:childTnLst>
                                </p:cTn>
                              </p:par>
                              <p:par>
                                <p:cTn id="130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2.59259E-6 L 0.24597 0.42547 " pathEditMode="relative" rAng="0" ptsTypes="AA">
                                      <p:cBhvr>
                                        <p:cTn id="131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92" y="21273"/>
                                    </p:animMotion>
                                  </p:childTnLst>
                                </p:cTn>
                              </p:par>
                              <p:par>
                                <p:cTn id="132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0.00139 L 0.24128 0.4257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70" y="21204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9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116 L 0.24597 0.44861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318" y="22477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4.81481E-6 L 0.26511 0.40694 " pathEditMode="relative" rAng="0" ptsTypes="AA">
                                      <p:cBhvr>
                                        <p:cTn id="13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255" y="2034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8" grpId="0"/>
      <p:bldP spid="19" grpId="0"/>
      <p:bldP spid="3" grpId="0"/>
      <p:bldP spid="3" grpId="1"/>
      <p:bldP spid="15" grpId="0"/>
      <p:bldP spid="15" grpId="1"/>
      <p:bldP spid="17" grpId="0"/>
      <p:bldP spid="17" grpId="1"/>
      <p:bldP spid="26" grpId="0"/>
      <p:bldP spid="26" grpId="1"/>
      <p:bldP spid="10" grpId="0"/>
      <p:bldP spid="2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016138" y="1356409"/>
            <a:ext cx="1105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8  2</a:t>
            </a:r>
            <a:endParaRPr lang="ru-RU" sz="2800" b="1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359735"/>
              </p:ext>
            </p:extLst>
          </p:nvPr>
        </p:nvGraphicFramePr>
        <p:xfrm>
          <a:off x="620392" y="4341063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10669"/>
              </p:ext>
            </p:extLst>
          </p:nvPr>
        </p:nvGraphicFramePr>
        <p:xfrm>
          <a:off x="2275020" y="4393315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4424590"/>
              </p:ext>
            </p:extLst>
          </p:nvPr>
        </p:nvGraphicFramePr>
        <p:xfrm>
          <a:off x="3851272" y="4402024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Прямая со стрелкой 8"/>
          <p:cNvCxnSpPr/>
          <p:nvPr/>
        </p:nvCxnSpPr>
        <p:spPr>
          <a:xfrm>
            <a:off x="1581720" y="6210398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3192805" y="6220483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7474" y="3614637"/>
            <a:ext cx="6531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089803" y="3614637"/>
            <a:ext cx="67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endParaRPr lang="ru-RU" dirty="0"/>
          </a:p>
        </p:txBody>
      </p:sp>
      <p:cxnSp>
        <p:nvCxnSpPr>
          <p:cNvPr id="13" name="Прямая со стрелкой 12"/>
          <p:cNvCxnSpPr/>
          <p:nvPr/>
        </p:nvCxnSpPr>
        <p:spPr>
          <a:xfrm>
            <a:off x="823897" y="3962097"/>
            <a:ext cx="0" cy="342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1333642" y="3962097"/>
            <a:ext cx="0" cy="34261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267520" y="1356409"/>
            <a:ext cx="13759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7  1</a:t>
            </a:r>
            <a:endParaRPr lang="ru-RU" sz="28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322771" y="1356409"/>
            <a:ext cx="1439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5  3 </a:t>
            </a:r>
            <a:endParaRPr lang="ru-RU" sz="2800" b="1" dirty="0"/>
          </a:p>
        </p:txBody>
      </p:sp>
      <p:sp>
        <p:nvSpPr>
          <p:cNvPr id="21" name="TextBox 20"/>
          <p:cNvSpPr txBox="1"/>
          <p:nvPr/>
        </p:nvSpPr>
        <p:spPr>
          <a:xfrm>
            <a:off x="2401532" y="5918728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754406" y="5886462"/>
            <a:ext cx="8273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1519" y="752315"/>
            <a:ext cx="747195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Create(</a:t>
            </a:r>
            <a:r>
              <a:rPr lang="en-US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ifstream</a:t>
            </a:r>
            <a:r>
              <a:rPr lang="en-US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</a:t>
            </a:r>
            <a:r>
              <a:rPr lang="en-US" sz="2000" dirty="0" err="1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sz="20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0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000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x, p;</a:t>
            </a:r>
          </a:p>
          <a:p>
            <a:r>
              <a:rPr lang="ru-RU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sz="20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&gt;&gt; x &gt;&gt; p)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{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en-US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Push(</a:t>
            </a:r>
            <a:r>
              <a:rPr lang="en-US" sz="20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20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x, p);</a:t>
            </a:r>
          </a:p>
          <a:p>
            <a:r>
              <a:rPr lang="ru-RU" sz="20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}</a:t>
            </a:r>
            <a:endParaRPr lang="ru-RU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2871" y="3252311"/>
            <a:ext cx="4105686" cy="307926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TextBox 17"/>
          <p:cNvSpPr txBox="1"/>
          <p:nvPr/>
        </p:nvSpPr>
        <p:spPr>
          <a:xfrm>
            <a:off x="2929832" y="198317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создания очереди.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1141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8" presetClass="entr" presetSubtype="0" accel="5000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36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37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8" presetClass="entr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43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44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8" presetClass="entr" presetSubtype="0" accel="5000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50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51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 tmFilter="0, 0; .2, .5; .8, .5; 1, 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9" dur="250" autoRev="1" fill="hold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0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 tmFilter="0, 0; .2, .5; .8, .5; 1, 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2" dur="250" autoRev="1" fill="hold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3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 tmFilter="0, 0; .2, .5; .8, .5; 1, 0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5" dur="250" autoRev="1" fill="hold"/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6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4.81481E-6 L 0.02539 -0.05255 C 0.0306 -0.06413 0.03867 -0.07038 0.047 -0.07038 C 0.05651 -0.07038 0.06419 -0.06413 0.0694 -0.05255 L 0.09505 4.81481E-6 " pathEditMode="relative" rAng="0" ptsTypes="AAAAA">
                                      <p:cBhvr>
                                        <p:cTn id="1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-3519"/>
                                    </p:animMotion>
                                  </p:childTnLst>
                                </p:cTn>
                              </p:par>
                              <p:par>
                                <p:cTn id="116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0.02546 L 0.02813 -0.05255 C 0.03386 -0.07037 0.04271 -0.0794 0.05196 -0.0794 C 0.06251 -0.0794 0.07084 -0.07037 0.0767 -0.05255 L 0.10495 0.02546 " pathEditMode="relative" rAng="0" ptsTypes="AAAAA">
                                      <p:cBhvr>
                                        <p:cTn id="11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47" y="-5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2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44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505 4.81481E-6 L 0.1289 -0.04584 C 0.13594 -0.05625 0.14648 -0.06158 0.15768 -0.06158 C 0.17031 -0.06158 0.18047 -0.05625 0.1875 -0.04584 L 0.22148 4.81481E-6 " pathEditMode="relative" rAng="0" ptsTypes="AAAAA">
                                      <p:cBhvr>
                                        <p:cTn id="133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15" y="-3079"/>
                                    </p:animMotion>
                                  </p:childTnLst>
                                </p:cTn>
                              </p:par>
                              <p:par>
                                <p:cTn id="134" presetID="4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0495 0.02546 L 0.13334 -0.01181 C 0.1392 -0.01991 0.14818 -0.02315 0.15756 -0.02315 C 0.1681 -0.02315 0.1767 -0.01991 0.18269 -0.01181 L 0.21146 0.02546 " pathEditMode="relative" rAng="0" ptsTypes="AAAAA">
                                      <p:cBhvr>
                                        <p:cTn id="13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26" y="-2431"/>
                                    </p:animMotion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11" grpId="0"/>
      <p:bldP spid="12" grpId="0"/>
      <p:bldP spid="12" grpId="1"/>
      <p:bldP spid="12" grpId="2"/>
      <p:bldP spid="19" grpId="0"/>
      <p:bldP spid="19" grpId="1"/>
      <p:bldP spid="20" grpId="0"/>
      <p:bldP spid="20" grpId="1"/>
      <p:bldP spid="21" grpId="0"/>
      <p:bldP spid="21" grpId="1"/>
      <p:bldP spid="23" grpId="0"/>
      <p:bldP spid="23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565" y="4112150"/>
            <a:ext cx="3807494" cy="2447675"/>
          </a:xfrm>
          <a:prstGeom prst="rect">
            <a:avLst/>
          </a:prstGeom>
        </p:spPr>
      </p:pic>
      <p:sp>
        <p:nvSpPr>
          <p:cNvPr id="5" name="Прямоугольник 4"/>
          <p:cNvSpPr/>
          <p:nvPr/>
        </p:nvSpPr>
        <p:spPr>
          <a:xfrm>
            <a:off x="9067" y="344758"/>
            <a:ext cx="626827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*Copy(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*top1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*end1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Push(top1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end1,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-&gt;data,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-&gt;power);</a:t>
            </a:r>
          </a:p>
          <a:p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top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-&gt;next;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5237145"/>
              </p:ext>
            </p:extLst>
          </p:nvPr>
        </p:nvGraphicFramePr>
        <p:xfrm>
          <a:off x="3053661" y="3042540"/>
          <a:ext cx="842484" cy="146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4"/>
              </a:tblGrid>
              <a:tr h="487732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073926"/>
              </p:ext>
            </p:extLst>
          </p:nvPr>
        </p:nvGraphicFramePr>
        <p:xfrm>
          <a:off x="4398759" y="3034750"/>
          <a:ext cx="862362" cy="14643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2362"/>
              </a:tblGrid>
              <a:tr h="488122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488122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48812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756889"/>
              </p:ext>
            </p:extLst>
          </p:nvPr>
        </p:nvGraphicFramePr>
        <p:xfrm>
          <a:off x="5770351" y="3021497"/>
          <a:ext cx="842484" cy="1470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4"/>
              </a:tblGrid>
              <a:tr h="495527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9" name="Прямая со стрелкой 8"/>
          <p:cNvCxnSpPr/>
          <p:nvPr/>
        </p:nvCxnSpPr>
        <p:spPr>
          <a:xfrm>
            <a:off x="3659825" y="4294943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5117565" y="4294943"/>
            <a:ext cx="669471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73368"/>
              </p:ext>
            </p:extLst>
          </p:nvPr>
        </p:nvGraphicFramePr>
        <p:xfrm>
          <a:off x="582125" y="5182770"/>
          <a:ext cx="842484" cy="146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4"/>
              </a:tblGrid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177065"/>
              </p:ext>
            </p:extLst>
          </p:nvPr>
        </p:nvGraphicFramePr>
        <p:xfrm>
          <a:off x="1913969" y="5176144"/>
          <a:ext cx="842484" cy="146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4"/>
              </a:tblGrid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3949835"/>
              </p:ext>
            </p:extLst>
          </p:nvPr>
        </p:nvGraphicFramePr>
        <p:xfrm>
          <a:off x="3357852" y="5182771"/>
          <a:ext cx="842484" cy="14631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2484"/>
              </a:tblGrid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87732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1920465" y="6188764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920465" y="5691805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2007729" y="5201476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7</a:t>
            </a:r>
            <a:endParaRPr lang="ru-RU" dirty="0"/>
          </a:p>
        </p:txBody>
      </p:sp>
      <p:sp>
        <p:nvSpPr>
          <p:cNvPr id="18" name="TextBox 17"/>
          <p:cNvSpPr txBox="1"/>
          <p:nvPr/>
        </p:nvSpPr>
        <p:spPr>
          <a:xfrm>
            <a:off x="655984" y="6188764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695740" y="5718312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sp>
        <p:nvSpPr>
          <p:cNvPr id="20" name="TextBox 19"/>
          <p:cNvSpPr txBox="1"/>
          <p:nvPr/>
        </p:nvSpPr>
        <p:spPr>
          <a:xfrm>
            <a:off x="695740" y="5201477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cxnSp>
        <p:nvCxnSpPr>
          <p:cNvPr id="21" name="Прямая со стрелкой 20"/>
          <p:cNvCxnSpPr/>
          <p:nvPr/>
        </p:nvCxnSpPr>
        <p:spPr>
          <a:xfrm>
            <a:off x="1298713" y="6374294"/>
            <a:ext cx="58087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/>
          <p:nvPr/>
        </p:nvCxnSpPr>
        <p:spPr>
          <a:xfrm>
            <a:off x="2695742" y="6347786"/>
            <a:ext cx="580871" cy="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55072" y="5691805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3374927" y="5196200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28" name="TextBox 27"/>
          <p:cNvSpPr txBox="1"/>
          <p:nvPr/>
        </p:nvSpPr>
        <p:spPr>
          <a:xfrm>
            <a:off x="3316499" y="6188764"/>
            <a:ext cx="768626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3037020" y="2239025"/>
            <a:ext cx="702365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cxnSp>
        <p:nvCxnSpPr>
          <p:cNvPr id="32" name="Прямая со стрелкой 31"/>
          <p:cNvCxnSpPr/>
          <p:nvPr/>
        </p:nvCxnSpPr>
        <p:spPr>
          <a:xfrm flipH="1">
            <a:off x="3388203" y="2573330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277345" y="2204703"/>
            <a:ext cx="702365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endParaRPr lang="ru-RU" dirty="0"/>
          </a:p>
        </p:txBody>
      </p:sp>
      <p:cxnSp>
        <p:nvCxnSpPr>
          <p:cNvPr id="37" name="Прямая со стрелкой 36"/>
          <p:cNvCxnSpPr/>
          <p:nvPr/>
        </p:nvCxnSpPr>
        <p:spPr>
          <a:xfrm flipH="1">
            <a:off x="6489044" y="2528165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377688" y="4389772"/>
            <a:ext cx="702365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top1</a:t>
            </a:r>
            <a:endParaRPr lang="ru-RU" dirty="0"/>
          </a:p>
        </p:txBody>
      </p:sp>
      <p:cxnSp>
        <p:nvCxnSpPr>
          <p:cNvPr id="39" name="Прямая со стрелкой 38"/>
          <p:cNvCxnSpPr/>
          <p:nvPr/>
        </p:nvCxnSpPr>
        <p:spPr>
          <a:xfrm flipH="1">
            <a:off x="655984" y="4727702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47530" y="4396399"/>
            <a:ext cx="702365" cy="371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end1</a:t>
            </a:r>
            <a:endParaRPr lang="ru-RU" dirty="0"/>
          </a:p>
        </p:txBody>
      </p:sp>
      <p:cxnSp>
        <p:nvCxnSpPr>
          <p:cNvPr id="41" name="Прямая со стрелкой 40"/>
          <p:cNvCxnSpPr/>
          <p:nvPr/>
        </p:nvCxnSpPr>
        <p:spPr>
          <a:xfrm flipH="1">
            <a:off x="1268022" y="4727702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3037020" y="-25856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копирования элементов очереди.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738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6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9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0" dur="500" tmFilter="0, 0; .2, .5; .8, .5; 1, 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1" dur="250" autoRev="1" fill="hold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3" dur="500" tmFilter="0, 0; .2, .5; .8, .5; 1, 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4" dur="250" autoRev="1" fill="hold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 tmFilter="0, 0; .2, .5; .8, .5; 1, 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7" dur="250" autoRev="1" fill="hold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9" dur="500" tmFilter="0, 0; .2, .5; .8, .5; 1, 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0" dur="250" autoRev="1" fill="hold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0.00185 L 0.11237 0.00533 " pathEditMode="relative" rAng="0" ptsTypes="AA">
                                      <p:cBhvr>
                                        <p:cTn id="11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12" y="162"/>
                                    </p:animMotion>
                                  </p:childTnLst>
                                </p:cTn>
                              </p:par>
                              <p:par>
                                <p:cTn id="11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33333E-6 L 0.11224 -0.00324 " pathEditMode="relative" rAng="0" ptsTypes="AA">
                                      <p:cBhvr>
                                        <p:cTn id="115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612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-3.7037E-6 L 0.0914 0.00047 " pathEditMode="relative" rAng="0" ptsTypes="AA">
                                      <p:cBhvr>
                                        <p:cTn id="14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70" y="23"/>
                                    </p:animMotion>
                                  </p:childTnLst>
                                </p:cTn>
                              </p:par>
                              <p:par>
                                <p:cTn id="141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7 4.44444E-6 L 0.08594 0.00046 " pathEditMode="relative" rAng="0" ptsTypes="AA">
                                      <p:cBhvr>
                                        <p:cTn id="142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9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37 0.00532 L 0.21237 0.00347 " pathEditMode="relative" rAng="0" ptsTypes="AA">
                                      <p:cBhvr>
                                        <p:cTn id="146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516" y="162"/>
                                    </p:animMotion>
                                  </p:childTnLst>
                                </p:cTn>
                              </p:par>
                              <p:par>
                                <p:cTn id="14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24 0.00116 L 0.21433 0.00186 " pathEditMode="relative" rAng="0" ptsTypes="AA">
                                      <p:cBhvr>
                                        <p:cTn id="148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04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594 0.00046 L 0.20977 -0.00024 " pathEditMode="relative" rAng="0" ptsTypes="AA">
                                      <p:cBhvr>
                                        <p:cTn id="175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133" y="1204"/>
                                    </p:animMotion>
                                  </p:childTnLst>
                                </p:cTn>
                              </p:par>
                              <p:par>
                                <p:cTn id="176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141 0.00046 L 0.2026 -3.7037E-6 " pathEditMode="relative" rAng="0" ptsTypes="AA">
                                      <p:cBhvr>
                                        <p:cTn id="177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8" y="5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5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89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7" grpId="0"/>
      <p:bldP spid="18" grpId="0"/>
      <p:bldP spid="18" grpId="1"/>
      <p:bldP spid="19" grpId="0"/>
      <p:bldP spid="20" grpId="0"/>
      <p:bldP spid="26" grpId="0"/>
      <p:bldP spid="27" grpId="0"/>
      <p:bldP spid="28" grpId="0"/>
      <p:bldP spid="29" grpId="0"/>
      <p:bldP spid="29" grpId="1"/>
      <p:bldP spid="29" grpId="2"/>
      <p:bldP spid="36" grpId="0"/>
      <p:bldP spid="38" grpId="0"/>
      <p:bldP spid="38" grpId="1"/>
      <p:bldP spid="40" grpId="0"/>
      <p:bldP spid="40" grpId="1"/>
      <p:bldP spid="40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55105" y="1131931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find_end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(p-&gt;next)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p-&gt;next;</a:t>
            </a: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p;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5445372"/>
              </p:ext>
            </p:extLst>
          </p:nvPr>
        </p:nvGraphicFramePr>
        <p:xfrm>
          <a:off x="4842699" y="4367754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996529"/>
              </p:ext>
            </p:extLst>
          </p:nvPr>
        </p:nvGraphicFramePr>
        <p:xfrm>
          <a:off x="1562786" y="4347880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11251983"/>
              </p:ext>
            </p:extLst>
          </p:nvPr>
        </p:nvGraphicFramePr>
        <p:xfrm>
          <a:off x="3172925" y="4354506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0569723"/>
              </p:ext>
            </p:extLst>
          </p:nvPr>
        </p:nvGraphicFramePr>
        <p:xfrm>
          <a:off x="6558853" y="4347883"/>
          <a:ext cx="1164866" cy="2230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4866"/>
              </a:tblGrid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743563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10749" y="3432313"/>
            <a:ext cx="68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2073966" y="3432313"/>
            <a:ext cx="689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 flipH="1">
            <a:off x="1778797" y="3799246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 flipH="1">
            <a:off x="2182090" y="3801644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>
            <a:off x="2604055" y="6186172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 стрелкой 12"/>
          <p:cNvCxnSpPr/>
          <p:nvPr/>
        </p:nvCxnSpPr>
        <p:spPr>
          <a:xfrm>
            <a:off x="4227446" y="6186172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/>
          <p:nvPr/>
        </p:nvCxnSpPr>
        <p:spPr>
          <a:xfrm>
            <a:off x="5956855" y="6186172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388087" y="3429914"/>
            <a:ext cx="768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endParaRPr lang="ru-RU" dirty="0"/>
          </a:p>
        </p:txBody>
      </p:sp>
      <p:cxnSp>
        <p:nvCxnSpPr>
          <p:cNvPr id="53" name="Прямая со стрелкой 52"/>
          <p:cNvCxnSpPr/>
          <p:nvPr/>
        </p:nvCxnSpPr>
        <p:spPr>
          <a:xfrm flipH="1">
            <a:off x="7555847" y="3799246"/>
            <a:ext cx="4521" cy="36972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2" name="Рисунок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7240" y="936981"/>
            <a:ext cx="3643907" cy="187434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Box 16"/>
          <p:cNvSpPr txBox="1"/>
          <p:nvPr/>
        </p:nvSpPr>
        <p:spPr>
          <a:xfrm>
            <a:off x="2418522" y="300841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поиска элемента в очереди.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0454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0833E-6 -4.81481E-6 L 0.12122 0.0002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55" y="0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0 L 0.12955 0.0004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71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122 0.00024 L 0.25 -4.81481E-6 " pathEditMode="relative" rAng="0" ptsTypes="AA">
                                      <p:cBhvr>
                                        <p:cTn id="70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432" y="-23"/>
                                    </p:animMotion>
                                  </p:childTnLst>
                                </p:cTn>
                              </p:par>
                              <p:par>
                                <p:cTn id="71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955 0.00046 L 0.25 0 " pathEditMode="relative" rAng="0" ptsTypes="AA">
                                      <p:cBhvr>
                                        <p:cTn id="7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16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-4.81481E-6 L 0.38099 0.00024 " pathEditMode="relative" rAng="0" ptsTypes="AA">
                                      <p:cBhvr>
                                        <p:cTn id="76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49" y="0"/>
                                    </p:animMotion>
                                  </p:childTnLst>
                                </p:cTn>
                              </p:par>
                              <p:par>
                                <p:cTn id="77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5 0 L 0.39375 -0.00139 " pathEditMode="relative" rAng="0" ptsTypes="AA">
                                      <p:cBhvr>
                                        <p:cTn id="78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187" y="-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Scale>
                                      <p:cBhvr>
                                        <p:cTn id="129" dur="2000" fill="hold"/>
                                        <p:tgtEl>
                                          <p:spTgt spid="5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1" dur="2000" fill="hold"/>
                                        <p:tgtEl>
                                          <p:spTgt spid="5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8" grpId="2"/>
      <p:bldP spid="8" grpId="3"/>
      <p:bldP spid="52" grpId="0"/>
      <p:bldP spid="52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3305" y="665504"/>
            <a:ext cx="4187687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*previous(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*q=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(q!=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&amp;&amp;q)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q-&gt;next;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q)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679565"/>
              </p:ext>
            </p:extLst>
          </p:nvPr>
        </p:nvGraphicFramePr>
        <p:xfrm>
          <a:off x="1356675" y="492067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949262"/>
              </p:ext>
            </p:extLst>
          </p:nvPr>
        </p:nvGraphicFramePr>
        <p:xfrm>
          <a:off x="2549371" y="4907421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142264"/>
              </p:ext>
            </p:extLst>
          </p:nvPr>
        </p:nvGraphicFramePr>
        <p:xfrm>
          <a:off x="3781823" y="4907421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" name="Прямая со стрелкой 5"/>
          <p:cNvCxnSpPr/>
          <p:nvPr/>
        </p:nvCxnSpPr>
        <p:spPr>
          <a:xfrm>
            <a:off x="1982879" y="615680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3208327" y="615680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458129"/>
              </p:ext>
            </p:extLst>
          </p:nvPr>
        </p:nvGraphicFramePr>
        <p:xfrm>
          <a:off x="5005383" y="4903065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0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>
            <a:off x="4410992" y="615680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235904" y="4541345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graphicFrame>
        <p:nvGraphicFramePr>
          <p:cNvPr id="13" name="Таблица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5109411"/>
              </p:ext>
            </p:extLst>
          </p:nvPr>
        </p:nvGraphicFramePr>
        <p:xfrm>
          <a:off x="4650538" y="163247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4654358" y="1244250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15" name="TextBox 14"/>
          <p:cNvSpPr txBox="1"/>
          <p:nvPr/>
        </p:nvSpPr>
        <p:spPr>
          <a:xfrm>
            <a:off x="1793847" y="4450084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endParaRPr lang="ru-RU" dirty="0"/>
          </a:p>
        </p:txBody>
      </p:sp>
      <p:sp>
        <p:nvSpPr>
          <p:cNvPr id="16" name="TextBox 15"/>
          <p:cNvSpPr txBox="1"/>
          <p:nvPr/>
        </p:nvSpPr>
        <p:spPr>
          <a:xfrm>
            <a:off x="1812371" y="4010923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pr</a:t>
            </a:r>
            <a:endParaRPr lang="ru-RU" dirty="0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1100723">
            <a:off x="6095900" y="2511163"/>
            <a:ext cx="3496788" cy="196694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7" name="TextBox 16"/>
          <p:cNvSpPr txBox="1"/>
          <p:nvPr/>
        </p:nvSpPr>
        <p:spPr>
          <a:xfrm>
            <a:off x="2317148" y="32812"/>
            <a:ext cx="6558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поиска адреса элемента, который находится перед ним.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701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 tmFilter="0, 0; .2, .5; .8, .5; 1, 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7" dur="250" autoRev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7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 tmFilter="0, 0; .2, .5; .8, .5; 1, 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0" dur="250" autoRev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4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 tmFilter="0, 0; .2, .5; .8, .5; 1, 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6" dur="250" autoRev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 tmFilter="0, 0; .2, .5; .8, .5; 1, 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9" dur="250" autoRev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0.00185 L 0.06745 -0.00069 " pathEditMode="relative" rAng="0" ptsTypes="AA">
                                      <p:cBhvr>
                                        <p:cTn id="9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72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3.125E-6 4.44444E-6 L 0.0681 -0.00232 " pathEditMode="relative" rAng="0" ptsTypes="AA">
                                      <p:cBhvr>
                                        <p:cTn id="10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9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745 -0.00069 L 0.17175 0.00301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08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 tmFilter="0, 0; .2, .5; .8, .5; 1, 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5" dur="250" autoRev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6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 tmFilter="0, 0; .2, .5; .8, .5; 1, 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8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28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13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  <p:bldP spid="15" grpId="1"/>
      <p:bldP spid="15" grpId="2"/>
      <p:bldP spid="16" grpId="0"/>
      <p:bldP spid="16" grpId="1"/>
      <p:bldP spid="16" grpId="2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9746" y="4142940"/>
            <a:ext cx="3173804" cy="183429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Прямоугольник 1"/>
          <p:cNvSpPr/>
          <p:nvPr/>
        </p:nvSpPr>
        <p:spPr>
          <a:xfrm>
            <a:off x="30051" y="326432"/>
            <a:ext cx="931571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*Union(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*top3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Copy(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*top4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Copy(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*end3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(top3);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*end4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(top4);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end3-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&gt;next = top4;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end3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end4;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69408"/>
              </p:ext>
            </p:extLst>
          </p:nvPr>
        </p:nvGraphicFramePr>
        <p:xfrm>
          <a:off x="1847607" y="5048517"/>
          <a:ext cx="765193" cy="149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193"/>
              </a:tblGrid>
              <a:tr h="497264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15931"/>
              </p:ext>
            </p:extLst>
          </p:nvPr>
        </p:nvGraphicFramePr>
        <p:xfrm>
          <a:off x="3146224" y="5022761"/>
          <a:ext cx="717435" cy="151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35"/>
              </a:tblGrid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2852924"/>
              </p:ext>
            </p:extLst>
          </p:nvPr>
        </p:nvGraphicFramePr>
        <p:xfrm>
          <a:off x="594069" y="5022760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363451"/>
              </p:ext>
            </p:extLst>
          </p:nvPr>
        </p:nvGraphicFramePr>
        <p:xfrm>
          <a:off x="4700787" y="5061397"/>
          <a:ext cx="715288" cy="145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288"/>
              </a:tblGrid>
              <a:tr h="484384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484384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4843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157190" y="6082366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cxnSp>
        <p:nvCxnSpPr>
          <p:cNvPr id="9" name="Прямая со стрелкой 8"/>
          <p:cNvCxnSpPr/>
          <p:nvPr/>
        </p:nvCxnSpPr>
        <p:spPr>
          <a:xfrm>
            <a:off x="1292836" y="6243043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 стрелкой 9"/>
          <p:cNvCxnSpPr/>
          <p:nvPr/>
        </p:nvCxnSpPr>
        <p:spPr>
          <a:xfrm>
            <a:off x="2553425" y="623868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>
            <a:stCxn id="8" idx="3"/>
          </p:cNvCxnSpPr>
          <p:nvPr/>
        </p:nvCxnSpPr>
        <p:spPr>
          <a:xfrm>
            <a:off x="3904165" y="6267032"/>
            <a:ext cx="78374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12" name="Таблица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389784"/>
              </p:ext>
            </p:extLst>
          </p:nvPr>
        </p:nvGraphicFramePr>
        <p:xfrm>
          <a:off x="5785644" y="5072130"/>
          <a:ext cx="717435" cy="151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35"/>
              </a:tblGrid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545861" y="4635022"/>
            <a:ext cx="103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top3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827105" y="4693663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top4</a:t>
            </a:r>
            <a:endParaRPr lang="ru-RU" dirty="0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065228"/>
              </p:ext>
            </p:extLst>
          </p:nvPr>
        </p:nvGraphicFramePr>
        <p:xfrm>
          <a:off x="2001032" y="2933028"/>
          <a:ext cx="742169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2169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367711"/>
              </p:ext>
            </p:extLst>
          </p:nvPr>
        </p:nvGraphicFramePr>
        <p:xfrm>
          <a:off x="3126572" y="2943760"/>
          <a:ext cx="711334" cy="149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334"/>
              </a:tblGrid>
              <a:tr h="497264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729649"/>
              </p:ext>
            </p:extLst>
          </p:nvPr>
        </p:nvGraphicFramePr>
        <p:xfrm>
          <a:off x="4211539" y="2931955"/>
          <a:ext cx="717435" cy="151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35"/>
              </a:tblGrid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Прямая со стрелкой 17"/>
          <p:cNvCxnSpPr/>
          <p:nvPr/>
        </p:nvCxnSpPr>
        <p:spPr>
          <a:xfrm>
            <a:off x="2565700" y="4154519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3633430" y="4151926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20" name="Таблица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6124930"/>
              </p:ext>
            </p:extLst>
          </p:nvPr>
        </p:nvGraphicFramePr>
        <p:xfrm>
          <a:off x="5569669" y="2509233"/>
          <a:ext cx="715288" cy="145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288"/>
              </a:tblGrid>
              <a:tr h="484384">
                <a:tc>
                  <a:txBody>
                    <a:bodyPr/>
                    <a:lstStyle/>
                    <a:p>
                      <a:r>
                        <a:rPr lang="ru-RU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484384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48438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Таблица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4213820"/>
              </p:ext>
            </p:extLst>
          </p:nvPr>
        </p:nvGraphicFramePr>
        <p:xfrm>
          <a:off x="6556232" y="2507088"/>
          <a:ext cx="717435" cy="14724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35"/>
              </a:tblGrid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462216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2" name="Прямая со стрелкой 21"/>
          <p:cNvCxnSpPr/>
          <p:nvPr/>
        </p:nvCxnSpPr>
        <p:spPr>
          <a:xfrm>
            <a:off x="6018401" y="3685767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57006" y="2167526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top2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1973269" y="253685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top1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209177" y="6245636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3104465" y="4682535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end3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5785644" y="4682535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end4</a:t>
            </a:r>
            <a:endParaRPr lang="ru-RU" dirty="0"/>
          </a:p>
        </p:txBody>
      </p:sp>
      <p:pic>
        <p:nvPicPr>
          <p:cNvPr id="26" name="Рисунок 2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7079" y="781930"/>
            <a:ext cx="1981200" cy="13144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0" name="TextBox 29"/>
          <p:cNvSpPr txBox="1"/>
          <p:nvPr/>
        </p:nvSpPr>
        <p:spPr>
          <a:xfrm>
            <a:off x="2720244" y="-20574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</a:t>
            </a:r>
            <a:r>
              <a:rPr lang="ru-RU" dirty="0" smtClean="0">
                <a:solidFill>
                  <a:srgbClr val="FF0000"/>
                </a:solidFill>
              </a:rPr>
              <a:t>объединения</a:t>
            </a:r>
            <a:r>
              <a:rPr lang="ru-RU" dirty="0" smtClean="0">
                <a:solidFill>
                  <a:srgbClr val="FF0000"/>
                </a:solidFill>
              </a:rPr>
              <a:t> очередей.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830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9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22222E-6 L 0.22356 0.00209 " pathEditMode="relative" rAng="0" ptsTypes="AA">
                                      <p:cBhvr>
                                        <p:cTn id="13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172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4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1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52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53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anim to="1.5" calcmode="lin" valueType="num">
                                      <p:cBhvr override="childStyle">
                                        <p:cTn id="154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style.fontSize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8" grpId="1"/>
      <p:bldP spid="13" grpId="0"/>
      <p:bldP spid="13" grpId="1" build="allAtOnce"/>
      <p:bldP spid="14" grpId="0"/>
      <p:bldP spid="23" grpId="0"/>
      <p:bldP spid="24" grpId="0"/>
      <p:bldP spid="28" grpId="0"/>
      <p:bldP spid="28" grpId="1"/>
      <p:bldP spid="29" grpId="0"/>
      <p:bldP spid="29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61779" y="482753"/>
            <a:ext cx="5842857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node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pod (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*&amp;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*q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(q)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q-&gt;next;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(p)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if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(q-&gt;power == p-&gt;power)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*r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previous(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p);</a:t>
            </a:r>
          </a:p>
          <a:p>
            <a:r>
              <a:rPr lang="it-IT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q-</a:t>
            </a:r>
            <a:r>
              <a:rPr lang="it-IT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&gt;data = q-&gt;data + p-&gt;data;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r-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&gt;next = p-&gt;next;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delete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r;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p-&gt;next;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q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q-&gt;next;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0359481"/>
              </p:ext>
            </p:extLst>
          </p:nvPr>
        </p:nvGraphicFramePr>
        <p:xfrm>
          <a:off x="6756793" y="4726599"/>
          <a:ext cx="765193" cy="149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193"/>
              </a:tblGrid>
              <a:tr h="497264">
                <a:tc>
                  <a:txBody>
                    <a:bodyPr/>
                    <a:lstStyle/>
                    <a:p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49726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0782131"/>
              </p:ext>
            </p:extLst>
          </p:nvPr>
        </p:nvGraphicFramePr>
        <p:xfrm>
          <a:off x="8055410" y="4700843"/>
          <a:ext cx="717435" cy="15154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7435"/>
              </a:tblGrid>
              <a:tr h="50513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5134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Таблица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920921"/>
              </p:ext>
            </p:extLst>
          </p:nvPr>
        </p:nvGraphicFramePr>
        <p:xfrm>
          <a:off x="5503255" y="4700842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4" name="Прямая со стрелкой 13"/>
          <p:cNvCxnSpPr/>
          <p:nvPr/>
        </p:nvCxnSpPr>
        <p:spPr>
          <a:xfrm>
            <a:off x="6202022" y="5921125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 стрелкой 14"/>
          <p:cNvCxnSpPr/>
          <p:nvPr/>
        </p:nvCxnSpPr>
        <p:spPr>
          <a:xfrm>
            <a:off x="7462611" y="5916763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55047" y="4313104"/>
            <a:ext cx="10311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top3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5455047" y="4001300"/>
            <a:ext cx="28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</a:t>
            </a:r>
            <a:endParaRPr lang="ru-RU" dirty="0"/>
          </a:p>
        </p:txBody>
      </p:sp>
      <p:sp>
        <p:nvSpPr>
          <p:cNvPr id="26" name="TextBox 25"/>
          <p:cNvSpPr txBox="1"/>
          <p:nvPr/>
        </p:nvSpPr>
        <p:spPr>
          <a:xfrm>
            <a:off x="5513940" y="4764191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ru-RU" dirty="0"/>
          </a:p>
        </p:txBody>
      </p:sp>
      <p:sp>
        <p:nvSpPr>
          <p:cNvPr id="27" name="TextBox 26"/>
          <p:cNvSpPr txBox="1"/>
          <p:nvPr/>
        </p:nvSpPr>
        <p:spPr>
          <a:xfrm>
            <a:off x="6903915" y="4281371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29" name="TextBox 28"/>
          <p:cNvSpPr txBox="1"/>
          <p:nvPr/>
        </p:nvSpPr>
        <p:spPr>
          <a:xfrm>
            <a:off x="8082198" y="4750939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0" name="TextBox 29"/>
          <p:cNvSpPr txBox="1"/>
          <p:nvPr/>
        </p:nvSpPr>
        <p:spPr>
          <a:xfrm>
            <a:off x="8082198" y="5235051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ru-RU" dirty="0"/>
          </a:p>
        </p:txBody>
      </p:sp>
      <p:sp>
        <p:nvSpPr>
          <p:cNvPr id="31" name="TextBox 30"/>
          <p:cNvSpPr txBox="1"/>
          <p:nvPr/>
        </p:nvSpPr>
        <p:spPr>
          <a:xfrm>
            <a:off x="6776706" y="5235051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3" name="TextBox 32"/>
          <p:cNvSpPr txBox="1"/>
          <p:nvPr/>
        </p:nvSpPr>
        <p:spPr>
          <a:xfrm>
            <a:off x="5546603" y="5235051"/>
            <a:ext cx="389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6789388" y="4786232"/>
            <a:ext cx="3849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5484687" y="3673061"/>
            <a:ext cx="485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r</a:t>
            </a:r>
            <a:endParaRPr lang="ru-RU" sz="2400" dirty="0"/>
          </a:p>
        </p:txBody>
      </p:sp>
      <p:sp>
        <p:nvSpPr>
          <p:cNvPr id="22" name="TextBox 21"/>
          <p:cNvSpPr txBox="1"/>
          <p:nvPr/>
        </p:nvSpPr>
        <p:spPr>
          <a:xfrm>
            <a:off x="5484687" y="4764191"/>
            <a:ext cx="433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12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6793498" y="4790695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ru-RU" dirty="0"/>
          </a:p>
        </p:txBody>
      </p:sp>
      <p:cxnSp>
        <p:nvCxnSpPr>
          <p:cNvPr id="23" name="Прямая со стрелкой 22"/>
          <p:cNvCxnSpPr/>
          <p:nvPr/>
        </p:nvCxnSpPr>
        <p:spPr>
          <a:xfrm>
            <a:off x="6202022" y="6104674"/>
            <a:ext cx="1854319" cy="1679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11828" y="4281371"/>
            <a:ext cx="291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8211828" y="4001300"/>
            <a:ext cx="28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q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5015" y="410257"/>
            <a:ext cx="5748746" cy="204843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25902" y="39760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приведения подобных членов.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9770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1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6" presetClass="emph" presetSubtype="0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9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4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1" dur="2000" fill="hold"/>
                                        <p:tgtEl>
                                          <p:spTgt spid="3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6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3" dur="2000" fill="hold"/>
                                        <p:tgtEl>
                                          <p:spTgt spid="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5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0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3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6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1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>
                      <p:stCondLst>
                        <p:cond delay="indefinite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4" dur="500"/>
                                        <p:tgtEl>
                                          <p:spTgt spid="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7" dur="500"/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8" dur="500"/>
                                        <p:tgtEl>
                                          <p:spTgt spid="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1" dur="500"/>
                                        <p:tgtEl>
                                          <p:spTgt spid="2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24" grpId="0"/>
      <p:bldP spid="24" grpId="1"/>
      <p:bldP spid="26" grpId="0"/>
      <p:bldP spid="26" grpId="1"/>
      <p:bldP spid="26" grpId="2"/>
      <p:bldP spid="27" grpId="0"/>
      <p:bldP spid="27" grpId="1"/>
      <p:bldP spid="29" grpId="0"/>
      <p:bldP spid="30" grpId="0"/>
      <p:bldP spid="31" grpId="0"/>
      <p:bldP spid="31" grpId="1"/>
      <p:bldP spid="31" grpId="2"/>
      <p:bldP spid="33" grpId="0"/>
      <p:bldP spid="33" grpId="1"/>
      <p:bldP spid="35" grpId="0"/>
      <p:bldP spid="35" grpId="1"/>
      <p:bldP spid="35" grpId="2"/>
      <p:bldP spid="35" grpId="3"/>
      <p:bldP spid="36" grpId="0"/>
      <p:bldP spid="22" grpId="0"/>
      <p:bldP spid="21" grpId="0"/>
      <p:bldP spid="21" grpId="1"/>
      <p:bldP spid="28" grpId="0"/>
      <p:bldP spid="3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841" y="582680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 </a:t>
            </a:r>
            <a:r>
              <a:rPr lang="en-US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Mult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*p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*end1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while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Push(p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end1, 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-&gt;data)*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-&gt;power);</a:t>
            </a:r>
          </a:p>
          <a:p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top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-&gt;next;</a:t>
            </a:r>
          </a:p>
          <a:p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183744"/>
              </p:ext>
            </p:extLst>
          </p:nvPr>
        </p:nvGraphicFramePr>
        <p:xfrm>
          <a:off x="754398" y="5117795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16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58173" y="470306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1256948" y="470306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end1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 rot="931003">
            <a:off x="7051306" y="1164977"/>
            <a:ext cx="14581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X=2</a:t>
            </a:r>
            <a:endParaRPr lang="ru-RU" sz="3600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graphicFrame>
        <p:nvGraphicFramePr>
          <p:cNvPr id="49" name="Таблица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318030"/>
              </p:ext>
            </p:extLst>
          </p:nvPr>
        </p:nvGraphicFramePr>
        <p:xfrm>
          <a:off x="4848016" y="3586172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0" name="Таблица 4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153538"/>
              </p:ext>
            </p:extLst>
          </p:nvPr>
        </p:nvGraphicFramePr>
        <p:xfrm>
          <a:off x="6040712" y="3572920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7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1" name="Таблица 5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397425"/>
              </p:ext>
            </p:extLst>
          </p:nvPr>
        </p:nvGraphicFramePr>
        <p:xfrm>
          <a:off x="7273164" y="3572920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52" name="Прямая со стрелкой 51"/>
          <p:cNvCxnSpPr/>
          <p:nvPr/>
        </p:nvCxnSpPr>
        <p:spPr>
          <a:xfrm>
            <a:off x="5474220" y="4822300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>
            <a:off x="6699668" y="4822300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4841660" y="3164422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7821999" y="3157793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endParaRPr lang="ru-RU" dirty="0"/>
          </a:p>
        </p:txBody>
      </p:sp>
      <p:graphicFrame>
        <p:nvGraphicFramePr>
          <p:cNvPr id="59" name="Таблица 5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3249038"/>
              </p:ext>
            </p:extLst>
          </p:nvPr>
        </p:nvGraphicFramePr>
        <p:xfrm>
          <a:off x="1900705" y="5150927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14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1" name="Таблица 6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829990"/>
              </p:ext>
            </p:extLst>
          </p:nvPr>
        </p:nvGraphicFramePr>
        <p:xfrm>
          <a:off x="3133163" y="5190684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10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62" name="Прямая со стрелкой 61"/>
          <p:cNvCxnSpPr/>
          <p:nvPr/>
        </p:nvCxnSpPr>
        <p:spPr>
          <a:xfrm>
            <a:off x="1379061" y="6409664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3" name="Прямая со стрелкой 62"/>
          <p:cNvCxnSpPr/>
          <p:nvPr/>
        </p:nvCxnSpPr>
        <p:spPr>
          <a:xfrm>
            <a:off x="2525374" y="6409664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3101841" y="622499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67" name="TextBox 66"/>
          <p:cNvSpPr txBox="1"/>
          <p:nvPr/>
        </p:nvSpPr>
        <p:spPr>
          <a:xfrm>
            <a:off x="1881701" y="622499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68" name="TextBox 67"/>
          <p:cNvSpPr txBox="1"/>
          <p:nvPr/>
        </p:nvSpPr>
        <p:spPr>
          <a:xfrm>
            <a:off x="790168" y="6127845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8676" y="2830374"/>
            <a:ext cx="2143125" cy="21431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2" name="TextBox 21"/>
          <p:cNvSpPr txBox="1"/>
          <p:nvPr/>
        </p:nvSpPr>
        <p:spPr>
          <a:xfrm>
            <a:off x="2929832" y="198317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умножения полинома на число.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442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 tmFilter="0, 0; .2, .5; .8, .5; 1, 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8" dur="250" autoRev="1" fill="hold"/>
                                        <p:tgtEl>
                                          <p:spTgt spid="5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4.44444E-6 L 0.08334 -0.00046 " pathEditMode="relative" rAng="0" ptsTypes="AA">
                                      <p:cBhvr>
                                        <p:cTn id="9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67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97" dur="500" tmFilter="0, 0; .2, .5; .8, .5; 1, 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8" dur="250" autoRev="1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99" presetID="2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0" dur="500" tmFilter="0, 0; .2, .5; .8, .5; 1, 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1" dur="250" autoRev="1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3" dur="500" tmFilter="0, 0; .2, .5; .8, .5; 1, 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4" dur="250" autoRev="1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5" presetID="2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6" dur="500" tmFilter="0, 0; .2, .5; .8, .5; 1, 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7" dur="250" autoRev="1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08" presetID="26" presetClass="emph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09" dur="500" tmFilter="0, 0; .2, .5; .8, .5; 1, 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0" dur="250" autoRev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95833E-6 -1.48148E-6 L 0.06524 0.00023 " pathEditMode="relative" rAng="0" ptsTypes="AA">
                                      <p:cBhvr>
                                        <p:cTn id="129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5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334 -0.00046 L 0.19401 -0.00046 " pathEditMode="relative" rAng="0" ptsTypes="AA">
                                      <p:cBhvr>
                                        <p:cTn id="133" dur="2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3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524 0.00023 L 0.15651 0.00023 " pathEditMode="relative" rAng="0" ptsTypes="AA">
                                      <p:cBhvr>
                                        <p:cTn id="152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57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6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4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5" grpId="2"/>
      <p:bldP spid="48" grpId="0"/>
      <p:bldP spid="56" grpId="0"/>
      <p:bldP spid="56" grpId="1"/>
      <p:bldP spid="56" grpId="2"/>
      <p:bldP spid="56" grpId="3"/>
      <p:bldP spid="57" grpId="0"/>
      <p:bldP spid="66" grpId="0"/>
      <p:bldP spid="67" grpId="0"/>
      <p:bldP spid="67" grpId="1"/>
      <p:bldP spid="68" grpId="0"/>
      <p:bldP spid="6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16363" y="900805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Raz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*top3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err="1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x = -1;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*end1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*end2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find_end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Mult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end2, x);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Union(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end1, </a:t>
            </a:r>
            <a:r>
              <a:rPr lang="en-US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end2);</a:t>
            </a:r>
          </a:p>
          <a:p>
            <a:r>
              <a:rPr lang="ru-RU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Sum(top3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top3;</a:t>
            </a:r>
          </a:p>
          <a:p>
            <a:r>
              <a:rPr lang="ru-RU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dirty="0"/>
          </a:p>
        </p:txBody>
      </p:sp>
      <p:graphicFrame>
        <p:nvGraphicFramePr>
          <p:cNvPr id="8" name="Таблица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0551201"/>
              </p:ext>
            </p:extLst>
          </p:nvPr>
        </p:nvGraphicFramePr>
        <p:xfrm>
          <a:off x="1740009" y="4803912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072889"/>
              </p:ext>
            </p:extLst>
          </p:nvPr>
        </p:nvGraphicFramePr>
        <p:xfrm>
          <a:off x="2932705" y="4790660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Таблица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8313248"/>
              </p:ext>
            </p:extLst>
          </p:nvPr>
        </p:nvGraphicFramePr>
        <p:xfrm>
          <a:off x="4165157" y="4790660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1" name="Прямая со стрелкой 10"/>
          <p:cNvCxnSpPr/>
          <p:nvPr/>
        </p:nvCxnSpPr>
        <p:spPr>
          <a:xfrm>
            <a:off x="2366213" y="6040040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 стрелкой 11"/>
          <p:cNvCxnSpPr/>
          <p:nvPr/>
        </p:nvCxnSpPr>
        <p:spPr>
          <a:xfrm>
            <a:off x="3591661" y="6040040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733653" y="4382162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r>
              <a:rPr lang="ru-RU" dirty="0" smtClean="0"/>
              <a:t>1</a:t>
            </a:r>
            <a:endParaRPr lang="ru-RU" dirty="0"/>
          </a:p>
        </p:txBody>
      </p:sp>
      <p:sp>
        <p:nvSpPr>
          <p:cNvPr id="14" name="TextBox 13"/>
          <p:cNvSpPr txBox="1"/>
          <p:nvPr/>
        </p:nvSpPr>
        <p:spPr>
          <a:xfrm>
            <a:off x="4340504" y="4382162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r>
              <a:rPr lang="ru-RU" dirty="0" smtClean="0"/>
              <a:t>1</a:t>
            </a:r>
            <a:endParaRPr lang="ru-RU" dirty="0"/>
          </a:p>
        </p:txBody>
      </p:sp>
      <p:graphicFrame>
        <p:nvGraphicFramePr>
          <p:cNvPr id="15" name="Таблица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4207876"/>
              </p:ext>
            </p:extLst>
          </p:nvPr>
        </p:nvGraphicFramePr>
        <p:xfrm>
          <a:off x="5497926" y="4782046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</a:t>
                      </a:r>
                      <a:r>
                        <a:rPr lang="en-US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4293707"/>
              </p:ext>
            </p:extLst>
          </p:nvPr>
        </p:nvGraphicFramePr>
        <p:xfrm>
          <a:off x="6690622" y="4768794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</a:t>
                      </a:r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Таблица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4930664"/>
              </p:ext>
            </p:extLst>
          </p:nvPr>
        </p:nvGraphicFramePr>
        <p:xfrm>
          <a:off x="7923074" y="4768794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</a:t>
                      </a:r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  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8" name="Прямая со стрелкой 17"/>
          <p:cNvCxnSpPr/>
          <p:nvPr/>
        </p:nvCxnSpPr>
        <p:spPr>
          <a:xfrm>
            <a:off x="6124130" y="6018174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/>
          <p:nvPr/>
        </p:nvCxnSpPr>
        <p:spPr>
          <a:xfrm>
            <a:off x="7349578" y="6018174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91570" y="4360296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7951802" y="4383647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</a:t>
            </a:r>
            <a:r>
              <a:rPr lang="ru-RU" dirty="0" smtClean="0"/>
              <a:t>2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5491570" y="4789482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6676751" y="4776331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7926045" y="4766498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-</a:t>
            </a:r>
            <a:endParaRPr lang="ru-RU" dirty="0"/>
          </a:p>
        </p:txBody>
      </p:sp>
      <p:sp>
        <p:nvSpPr>
          <p:cNvPr id="25" name="TextBox 24"/>
          <p:cNvSpPr txBox="1"/>
          <p:nvPr/>
        </p:nvSpPr>
        <p:spPr>
          <a:xfrm>
            <a:off x="871549" y="4399462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</a:t>
            </a:r>
            <a:r>
              <a:rPr lang="ru-RU" dirty="0"/>
              <a:t>3</a:t>
            </a:r>
          </a:p>
        </p:txBody>
      </p:sp>
      <p:cxnSp>
        <p:nvCxnSpPr>
          <p:cNvPr id="30" name="Прямая со стрелкой 29"/>
          <p:cNvCxnSpPr/>
          <p:nvPr/>
        </p:nvCxnSpPr>
        <p:spPr>
          <a:xfrm>
            <a:off x="4934939" y="601558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4168128" y="5855374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NULL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1733653" y="4841769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  <p:sp>
        <p:nvSpPr>
          <p:cNvPr id="35" name="TextBox 34"/>
          <p:cNvSpPr txBox="1"/>
          <p:nvPr/>
        </p:nvSpPr>
        <p:spPr>
          <a:xfrm>
            <a:off x="2918834" y="4825985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ru-RU" dirty="0"/>
          </a:p>
        </p:txBody>
      </p:sp>
      <p:sp>
        <p:nvSpPr>
          <p:cNvPr id="36" name="TextBox 35"/>
          <p:cNvSpPr txBox="1"/>
          <p:nvPr/>
        </p:nvSpPr>
        <p:spPr>
          <a:xfrm>
            <a:off x="4168128" y="4825985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2920575" y="4841769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8" name="TextBox 37"/>
          <p:cNvSpPr txBox="1"/>
          <p:nvPr/>
        </p:nvSpPr>
        <p:spPr>
          <a:xfrm>
            <a:off x="1702328" y="4841769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4174459" y="4825985"/>
            <a:ext cx="279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326678">
            <a:off x="5566839" y="725932"/>
            <a:ext cx="3380509" cy="253211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2" name="TextBox 31"/>
          <p:cNvSpPr txBox="1"/>
          <p:nvPr/>
        </p:nvSpPr>
        <p:spPr>
          <a:xfrm>
            <a:off x="2523667" y="27129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разности многочленов.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5325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0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56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-3.33333E-6 2.96296E-6 L 0.07253 -0.0588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20" y="-2940"/>
                                    </p:animMotion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4" fill="hold">
                      <p:stCondLst>
                        <p:cond delay="indefinite"/>
                      </p:stCondLst>
                      <p:childTnLst>
                        <p:par>
                          <p:cTn id="185" fill="hold">
                            <p:stCondLst>
                              <p:cond delay="0"/>
                            </p:stCondLst>
                            <p:childTnLst>
                              <p:par>
                                <p:cTn id="18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1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4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6" presetClass="emph" presetSubtype="0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20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1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5" grpId="2"/>
      <p:bldP spid="31" grpId="0"/>
      <p:bldP spid="31" grpId="1"/>
      <p:bldP spid="31" grpId="2"/>
      <p:bldP spid="34" grpId="0"/>
      <p:bldP spid="34" grpId="1"/>
      <p:bldP spid="35" grpId="0"/>
      <p:bldP spid="35" grpId="1"/>
      <p:bldP spid="36" grpId="0"/>
      <p:bldP spid="36" grpId="1"/>
      <p:bldP spid="37" grpId="0"/>
      <p:bldP spid="38" grpId="0"/>
      <p:bldP spid="3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14647" y="498207"/>
            <a:ext cx="7461161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Mult_Pol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 smtClean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, </a:t>
            </a:r>
            <a:r>
              <a:rPr lang="en-US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ru-RU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*top3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16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*end3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1600" dirty="0">
                <a:solidFill>
                  <a:srgbClr val="6F008A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NULL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*p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top1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(p)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{</a:t>
            </a: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node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*q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</a:t>
            </a:r>
            <a:r>
              <a:rPr lang="en-US" sz="1600" dirty="0">
                <a:solidFill>
                  <a:srgbClr val="80808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ru-RU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(q)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{</a:t>
            </a: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Push(top3,end3,p-&gt;data*q-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&gt;data,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p-&gt;</a:t>
            </a:r>
            <a:r>
              <a:rPr lang="en-US" sz="1600" dirty="0" err="1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power+q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-&gt;power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q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q-&gt;next;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}</a:t>
            </a: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= p-&gt;next;</a:t>
            </a: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}</a:t>
            </a:r>
            <a:endParaRPr lang="ru-RU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ru-RU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Sum(top3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);</a:t>
            </a:r>
          </a:p>
          <a:p>
            <a:r>
              <a:rPr lang="en-US" sz="1600" dirty="0" smtClean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1600" dirty="0" smtClean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top3;</a:t>
            </a:r>
          </a:p>
          <a:p>
            <a:r>
              <a:rPr lang="ru-RU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ru-RU" sz="16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311172"/>
              </p:ext>
            </p:extLst>
          </p:nvPr>
        </p:nvGraphicFramePr>
        <p:xfrm>
          <a:off x="5325750" y="86222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2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Таблица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2291176"/>
              </p:ext>
            </p:extLst>
          </p:nvPr>
        </p:nvGraphicFramePr>
        <p:xfrm>
          <a:off x="6571092" y="86149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0" name="Прямая со стрелкой 9"/>
          <p:cNvCxnSpPr/>
          <p:nvPr/>
        </p:nvCxnSpPr>
        <p:spPr>
          <a:xfrm>
            <a:off x="5951954" y="209835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319394" y="440473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top1</a:t>
            </a:r>
            <a:endParaRPr lang="ru-RU" dirty="0"/>
          </a:p>
        </p:txBody>
      </p:sp>
      <p:graphicFrame>
        <p:nvGraphicFramePr>
          <p:cNvPr id="14" name="Таблица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519619"/>
              </p:ext>
            </p:extLst>
          </p:nvPr>
        </p:nvGraphicFramePr>
        <p:xfrm>
          <a:off x="7713682" y="289051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Таблица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4679948"/>
              </p:ext>
            </p:extLst>
          </p:nvPr>
        </p:nvGraphicFramePr>
        <p:xfrm>
          <a:off x="8948780" y="2890217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ru-RU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17" name="Прямая со стрелкой 16"/>
          <p:cNvCxnSpPr/>
          <p:nvPr/>
        </p:nvCxnSpPr>
        <p:spPr>
          <a:xfrm>
            <a:off x="8339886" y="412664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07326" y="2468763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top2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791371" y="486494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top3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346187" y="4864948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end3</a:t>
            </a:r>
            <a:endParaRPr lang="ru-RU" dirty="0"/>
          </a:p>
        </p:txBody>
      </p:sp>
      <p:sp>
        <p:nvSpPr>
          <p:cNvPr id="23" name="TextBox 22"/>
          <p:cNvSpPr txBox="1"/>
          <p:nvPr/>
        </p:nvSpPr>
        <p:spPr>
          <a:xfrm>
            <a:off x="5319394" y="90034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</a:t>
            </a:r>
            <a:endParaRPr lang="ru-RU" dirty="0"/>
          </a:p>
        </p:txBody>
      </p:sp>
      <p:sp>
        <p:nvSpPr>
          <p:cNvPr id="24" name="TextBox 23"/>
          <p:cNvSpPr txBox="1"/>
          <p:nvPr/>
        </p:nvSpPr>
        <p:spPr>
          <a:xfrm>
            <a:off x="7677835" y="2099431"/>
            <a:ext cx="746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  <a:endParaRPr lang="ru-RU" dirty="0"/>
          </a:p>
        </p:txBody>
      </p:sp>
      <p:graphicFrame>
        <p:nvGraphicFramePr>
          <p:cNvPr id="25" name="Таблица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7823442"/>
              </p:ext>
            </p:extLst>
          </p:nvPr>
        </p:nvGraphicFramePr>
        <p:xfrm>
          <a:off x="890491" y="5344743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24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3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6" name="Таблица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7556588"/>
              </p:ext>
            </p:extLst>
          </p:nvPr>
        </p:nvGraphicFramePr>
        <p:xfrm>
          <a:off x="2083187" y="5331491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48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7" name="Таблица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1346884"/>
              </p:ext>
            </p:extLst>
          </p:nvPr>
        </p:nvGraphicFramePr>
        <p:xfrm>
          <a:off x="4565771" y="5318238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30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6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NULL</a:t>
                      </a:r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28" name="Прямая со стрелкой 27"/>
          <p:cNvCxnSpPr/>
          <p:nvPr/>
        </p:nvCxnSpPr>
        <p:spPr>
          <a:xfrm>
            <a:off x="1516695" y="658087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/>
          <p:nvPr/>
        </p:nvCxnSpPr>
        <p:spPr>
          <a:xfrm>
            <a:off x="2742143" y="6580871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30" name="Таблица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703916"/>
              </p:ext>
            </p:extLst>
          </p:nvPr>
        </p:nvGraphicFramePr>
        <p:xfrm>
          <a:off x="3318610" y="5318239"/>
          <a:ext cx="791900" cy="15132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00"/>
              </a:tblGrid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15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r>
                        <a:rPr lang="en-US" dirty="0" smtClean="0"/>
                        <a:t>4</a:t>
                      </a:r>
                      <a:endParaRPr lang="ru-RU" dirty="0"/>
                    </a:p>
                  </a:txBody>
                  <a:tcPr/>
                </a:tc>
              </a:tr>
              <a:tr h="504419">
                <a:tc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33" name="Прямая со стрелкой 32"/>
          <p:cNvCxnSpPr/>
          <p:nvPr/>
        </p:nvCxnSpPr>
        <p:spPr>
          <a:xfrm>
            <a:off x="3967591" y="6578278"/>
            <a:ext cx="576467" cy="259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" name="Рисунок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9993375">
            <a:off x="5347993" y="3765182"/>
            <a:ext cx="2360857" cy="24574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31" name="TextBox 30"/>
          <p:cNvSpPr txBox="1"/>
          <p:nvPr/>
        </p:nvSpPr>
        <p:spPr>
          <a:xfrm>
            <a:off x="39247" y="-7713"/>
            <a:ext cx="6558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solidFill>
                  <a:srgbClr val="FF0000"/>
                </a:solidFill>
              </a:rPr>
              <a:t>Функция умножения полинома на полином.</a:t>
            </a:r>
            <a:endParaRPr lang="ru-R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28067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4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3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6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9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7 L 0.11041 -0.00046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52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 tmFilter="0, 0; .2, .5; .8, .5; 1, 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1" dur="250" autoRev="1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2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 tmFilter="0, 0; .2, .5; .8, .5; 1, 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4" dur="250" autoRev="1" fill="hold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5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 tmFilter="0, 0; .2, .5; .8, .5; 1, 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7" dur="250" autoRev="1" fill="hold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 tmFilter="0, 0; .2, .5; .8, .5; 1, 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0" dur="250" autoRev="1" fill="hold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21" presetID="2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 tmFilter="0, 0; .2, .5; .8, .5; 1, 0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3" dur="250" autoRev="1" fill="hold"/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1.48148E-6 L 0.06302 -0.00023 " pathEditMode="relative" rAng="0" ptsTypes="AA">
                                      <p:cBhvr>
                                        <p:cTn id="13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5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0" dur="500"/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3" dur="500"/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63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3.7037E-6 L 0.11888 0.00046 " pathEditMode="relative" rAng="0" ptsTypes="AA">
                                      <p:cBhvr>
                                        <p:cTn id="147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3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35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041 -0.00046 L 8.33333E-7 7.40741E-7 " pathEditMode="relative" rAng="0" ptsTypes="AA">
                                      <p:cBhvr>
                                        <p:cTn id="151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43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63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02 -0.00023 L 0.16302 -0.00023 " pathEditMode="relative" rAng="0" ptsTypes="AA">
                                      <p:cBhvr>
                                        <p:cTn id="163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63" presetClass="path" presetSubtype="0" accel="50000" decel="5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3.7037E-7 L 0.11042 -0.00046 " pathEditMode="relative" rAng="0" ptsTypes="AA">
                                      <p:cBhvr>
                                        <p:cTn id="167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250" y="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8" presetID="63" presetClass="path" presetSubtype="0" accel="50000" decel="5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6302 -0.00023 L 0.26628 -0.00023 " pathEditMode="relative" rAng="0" ptsTypes="AA">
                                      <p:cBhvr>
                                        <p:cTn id="179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56" y="9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0" fill="hold">
                      <p:stCondLst>
                        <p:cond delay="indefinite"/>
                      </p:stCondLst>
                      <p:childTnLst>
                        <p:par>
                          <p:cTn id="181" fill="hold">
                            <p:stCondLst>
                              <p:cond delay="0"/>
                            </p:stCondLst>
                            <p:childTnLst>
                              <p:par>
                                <p:cTn id="18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4" dur="500"/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7" dur="500"/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0" dur="500"/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6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9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FF0000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9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9" grpId="0"/>
      <p:bldP spid="21" grpId="0"/>
      <p:bldP spid="21" grpId="1"/>
      <p:bldP spid="22" grpId="0"/>
      <p:bldP spid="22" grpId="1"/>
      <p:bldP spid="22" grpId="2"/>
      <p:bldP spid="22" grpId="3"/>
      <p:bldP spid="23" grpId="0"/>
      <p:bldP spid="23" grpId="1"/>
      <p:bldP spid="24" grpId="0"/>
      <p:bldP spid="24" grpId="1"/>
      <p:bldP spid="24" grpId="2"/>
      <p:bldP spid="24" grpId="3"/>
    </p:bldLst>
  </p:timing>
</p:sld>
</file>

<file path=ppt/theme/theme1.xml><?xml version="1.0" encoding="utf-8"?>
<a:theme xmlns:a="http://schemas.openxmlformats.org/drawingml/2006/main" name="Грань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1088</TotalTime>
  <Words>958</Words>
  <Application>Microsoft Office PowerPoint</Application>
  <PresentationFormat>Широкоэкранный</PresentationFormat>
  <Paragraphs>359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Consolas</vt:lpstr>
      <vt:lpstr>Trebuchet MS</vt:lpstr>
      <vt:lpstr>Wingdings 3</vt:lpstr>
      <vt:lpstr>Грань</vt:lpstr>
      <vt:lpstr>ПОЛИНОМЫ. (очередь)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ПОЛИНОМЫ.</dc:title>
  <dc:creator>DASHA</dc:creator>
  <cp:lastModifiedBy>DASHA</cp:lastModifiedBy>
  <cp:revision>110</cp:revision>
  <dcterms:created xsi:type="dcterms:W3CDTF">2015-10-04T15:57:10Z</dcterms:created>
  <dcterms:modified xsi:type="dcterms:W3CDTF">2015-12-23T19:24:37Z</dcterms:modified>
</cp:coreProperties>
</file>