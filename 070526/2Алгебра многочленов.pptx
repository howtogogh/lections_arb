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2" r:id="rId1"/>
  </p:sldMasterIdLst>
  <p:handoutMasterIdLst>
    <p:handoutMasterId r:id="rId19"/>
  </p:handoutMasterIdLst>
  <p:sldIdLst>
    <p:sldId id="256" r:id="rId2"/>
    <p:sldId id="259" r:id="rId3"/>
    <p:sldId id="273" r:id="rId4"/>
    <p:sldId id="258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3B08AF70-58A4-41CB-A35B-016BAFD69E36}">
          <p14:sldIdLst>
            <p14:sldId id="256"/>
            <p14:sldId id="259"/>
            <p14:sldId id="273"/>
            <p14:sldId id="258"/>
            <p14:sldId id="261"/>
            <p14:sldId id="260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3B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08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F80666-93DB-4977-9AD5-B695B5C839CE}" type="datetimeFigureOut">
              <a:rPr lang="ru-RU" smtClean="0"/>
              <a:t>09.02.2016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13932A-961A-47B8-9590-CDC04862D4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17634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905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742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676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238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593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2/9/2016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318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2/9/2016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53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2/9/2016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776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944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617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363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18176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45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2/9/2016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1925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2/9/2016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2311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0084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338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3226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Алгебра многочленов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Реализация очереди.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8494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Общий вид полинома.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90154" y="2343955"/>
            <a:ext cx="1256548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r>
              <a:rPr lang="en-US" sz="4000" baseline="-25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4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</a:t>
            </a:r>
            <a:r>
              <a:rPr lang="en-US" sz="4000" baseline="30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+ a</a:t>
            </a:r>
            <a:r>
              <a:rPr lang="en-US" sz="4000" baseline="-25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ru-RU" sz="4000" baseline="-25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-1</a:t>
            </a:r>
            <a:r>
              <a:rPr lang="en-US" sz="4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</a:t>
            </a:r>
            <a:r>
              <a:rPr lang="en-US" sz="4000" baseline="30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ru-RU" sz="4000" baseline="30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-1</a:t>
            </a:r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+ a</a:t>
            </a:r>
            <a:r>
              <a:rPr lang="en-US" sz="4000" baseline="-25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n-2</a:t>
            </a:r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</a:t>
            </a:r>
            <a:r>
              <a:rPr lang="en-US" sz="4000" baseline="30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n-</a:t>
            </a:r>
            <a:r>
              <a:rPr lang="ru-RU" sz="4000" baseline="30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+a</a:t>
            </a:r>
            <a:r>
              <a:rPr lang="en-US" sz="4000" baseline="-25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n-3</a:t>
            </a:r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</a:t>
            </a:r>
            <a:r>
              <a:rPr lang="en-US" sz="4000" baseline="30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n-</a:t>
            </a:r>
            <a:r>
              <a:rPr lang="ru-RU" sz="4000" baseline="30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…</a:t>
            </a:r>
            <a:r>
              <a:rPr lang="ru-RU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r>
              <a:rPr lang="en-US" sz="4000" baseline="-25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</a:t>
            </a:r>
            <a:r>
              <a:rPr lang="en-US" sz="4000" baseline="30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+</a:t>
            </a:r>
            <a:r>
              <a:rPr lang="ru-RU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r>
              <a:rPr lang="en-US" sz="4000" baseline="-25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</a:t>
            </a:r>
            <a:r>
              <a:rPr lang="en-US" sz="4000" baseline="30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+</a:t>
            </a:r>
            <a:r>
              <a:rPr lang="ru-RU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r>
              <a:rPr lang="en-US" sz="4000" baseline="-25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</a:t>
            </a:r>
            <a:r>
              <a:rPr lang="en-US" sz="4000" baseline="30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ru-RU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9467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Представим полином в виде очереди.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0209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789" y="206062"/>
            <a:ext cx="9195515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Каждый элемент полинома вида </a:t>
            </a:r>
            <a:r>
              <a:rPr lang="en-US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r>
              <a:rPr lang="en-US" sz="2400" baseline="-25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  <a:r>
              <a:rPr lang="en-US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</a:t>
            </a:r>
            <a:r>
              <a:rPr lang="en-US" sz="2400" baseline="30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  <a:r>
              <a:rPr lang="ru-RU" sz="2400" dirty="0" smtClean="0"/>
              <a:t> , где </a:t>
            </a:r>
            <a:r>
              <a:rPr lang="en-US" sz="2400" dirty="0" smtClean="0"/>
              <a:t>k</a:t>
            </a:r>
            <a:r>
              <a:rPr lang="ru-RU" sz="2400" dirty="0" smtClean="0"/>
              <a:t>=0…</a:t>
            </a:r>
            <a:r>
              <a:rPr lang="en-US" sz="2400" dirty="0" smtClean="0"/>
              <a:t>n </a:t>
            </a:r>
            <a:r>
              <a:rPr lang="ru-RU" sz="2400" dirty="0" smtClean="0"/>
              <a:t>представим в виде следующей структуры</a:t>
            </a:r>
            <a:r>
              <a:rPr lang="en-US" sz="2400" dirty="0" smtClean="0"/>
              <a:t>: </a:t>
            </a:r>
          </a:p>
          <a:p>
            <a:endParaRPr lang="en-US" sz="2400" dirty="0" smtClean="0"/>
          </a:p>
          <a:p>
            <a:r>
              <a:rPr lang="en-US" sz="3200" b="1" dirty="0" err="1"/>
              <a:t>struct</a:t>
            </a:r>
            <a:r>
              <a:rPr lang="en-US" sz="3200" b="1" dirty="0"/>
              <a:t> node{     </a:t>
            </a:r>
            <a:r>
              <a:rPr lang="en-US" sz="3200" b="1" dirty="0" err="1"/>
              <a:t>int</a:t>
            </a:r>
            <a:r>
              <a:rPr lang="en-US" sz="3200" b="1" dirty="0"/>
              <a:t> </a:t>
            </a:r>
            <a:r>
              <a:rPr lang="en-US" sz="3200" b="1" dirty="0" err="1"/>
              <a:t>koef</a:t>
            </a:r>
            <a:r>
              <a:rPr lang="en-US" sz="3200" b="1" dirty="0"/>
              <a:t>;</a:t>
            </a:r>
            <a:endParaRPr lang="ru-RU" sz="3200" b="1" dirty="0"/>
          </a:p>
          <a:p>
            <a:r>
              <a:rPr lang="en-US" sz="3200" b="1" dirty="0"/>
              <a:t>                          </a:t>
            </a:r>
            <a:r>
              <a:rPr lang="en-US" sz="3200" b="1" dirty="0" err="1" smtClean="0"/>
              <a:t>int</a:t>
            </a:r>
            <a:r>
              <a:rPr lang="en-US" sz="3200" b="1" dirty="0" smtClean="0"/>
              <a:t> </a:t>
            </a:r>
            <a:r>
              <a:rPr lang="en-US" sz="3200" b="1" dirty="0"/>
              <a:t>power;</a:t>
            </a:r>
            <a:endParaRPr lang="ru-RU" sz="3200" b="1" dirty="0"/>
          </a:p>
          <a:p>
            <a:r>
              <a:rPr lang="en-US" sz="3200" b="1" dirty="0"/>
              <a:t>                          </a:t>
            </a:r>
            <a:r>
              <a:rPr lang="en-US" sz="3200" b="1" dirty="0" smtClean="0"/>
              <a:t>node*next</a:t>
            </a:r>
            <a:r>
              <a:rPr lang="en-US" sz="3200" b="1" dirty="0"/>
              <a:t>;</a:t>
            </a:r>
            <a:endParaRPr lang="ru-RU" sz="3200" b="1" dirty="0"/>
          </a:p>
          <a:p>
            <a:r>
              <a:rPr lang="en-US" sz="3200" b="1" dirty="0"/>
              <a:t>                      </a:t>
            </a:r>
            <a:r>
              <a:rPr lang="en-US" sz="3200" b="1" dirty="0" smtClean="0"/>
              <a:t> </a:t>
            </a:r>
            <a:r>
              <a:rPr lang="en-US" sz="3200" b="1" dirty="0"/>
              <a:t>};</a:t>
            </a:r>
            <a:endParaRPr lang="ru-RU" sz="3200" b="1" dirty="0"/>
          </a:p>
          <a:p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87255"/>
              </p:ext>
            </p:extLst>
          </p:nvPr>
        </p:nvGraphicFramePr>
        <p:xfrm>
          <a:off x="1076601" y="3709115"/>
          <a:ext cx="2864334" cy="2651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334"/>
              </a:tblGrid>
              <a:tr h="846481">
                <a:tc>
                  <a:txBody>
                    <a:bodyPr/>
                    <a:lstStyle/>
                    <a:p>
                      <a:r>
                        <a:rPr lang="en-US" sz="3200" dirty="0" err="1" smtClean="0"/>
                        <a:t>koef</a:t>
                      </a:r>
                      <a:endParaRPr lang="ru-RU" sz="3200" dirty="0"/>
                    </a:p>
                  </a:txBody>
                  <a:tcPr/>
                </a:tc>
              </a:tr>
              <a:tr h="902351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power</a:t>
                      </a:r>
                      <a:endParaRPr lang="ru-RU" sz="3200" dirty="0"/>
                    </a:p>
                  </a:txBody>
                  <a:tcPr/>
                </a:tc>
              </a:tr>
              <a:tr h="902351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next</a:t>
                      </a:r>
                      <a:endParaRPr lang="ru-RU" sz="3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Стрелка влево 3"/>
          <p:cNvSpPr/>
          <p:nvPr/>
        </p:nvSpPr>
        <p:spPr>
          <a:xfrm>
            <a:off x="4109641" y="3967941"/>
            <a:ext cx="715617" cy="31805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трелка влево 4"/>
          <p:cNvSpPr/>
          <p:nvPr/>
        </p:nvSpPr>
        <p:spPr>
          <a:xfrm>
            <a:off x="4109640" y="4857242"/>
            <a:ext cx="715617" cy="31805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трелка влево 5"/>
          <p:cNvSpPr/>
          <p:nvPr/>
        </p:nvSpPr>
        <p:spPr>
          <a:xfrm>
            <a:off x="4109640" y="5746543"/>
            <a:ext cx="715617" cy="31805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5035639" y="3879120"/>
            <a:ext cx="3026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КОЭФИЦИЕНТ</a:t>
            </a:r>
            <a:r>
              <a:rPr lang="en-US" dirty="0" smtClean="0"/>
              <a:t> </a:t>
            </a:r>
            <a:r>
              <a:rPr lang="ru-RU" dirty="0" smtClean="0"/>
              <a:t>ПЕРЕД </a:t>
            </a:r>
            <a:r>
              <a:rPr lang="en-US" sz="2400" dirty="0" smtClean="0"/>
              <a:t>X</a:t>
            </a:r>
            <a:endParaRPr lang="ru-R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5035639" y="4713629"/>
            <a:ext cx="17558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СТЕПЕНЬ </a:t>
            </a:r>
            <a:r>
              <a:rPr lang="en-US" sz="2400" dirty="0"/>
              <a:t>X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5035639" y="5602930"/>
            <a:ext cx="3992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АДРЕС СЛЕДУЮЩЕГО ЭЛЕМЕНТА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079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8990" y="1933788"/>
            <a:ext cx="10828965" cy="3217761"/>
          </a:xfrm>
        </p:spPr>
        <p:txBody>
          <a:bodyPr/>
          <a:lstStyle/>
          <a:p>
            <a:pPr algn="ctr"/>
            <a:r>
              <a:rPr lang="ru-RU" sz="5400" b="1" dirty="0" smtClean="0">
                <a:solidFill>
                  <a:schemeClr val="tx1"/>
                </a:solidFill>
              </a:rPr>
              <a:t>Функции для реализации полинома с помощью списка(очереди).</a:t>
            </a:r>
            <a:endParaRPr lang="ru-RU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8914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88890" y="916994"/>
            <a:ext cx="6096000" cy="302544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bool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emptyPolinom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(node*top)</a:t>
            </a:r>
            <a:endParaRPr lang="ru-RU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ru-RU" sz="36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3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3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ru-RU" sz="3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(top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==NULL</a:t>
            </a:r>
            <a:r>
              <a:rPr lang="en-US" sz="3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r>
              <a:rPr lang="ru-RU" sz="3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8890" y="92747"/>
            <a:ext cx="9199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1.</a:t>
            </a:r>
            <a:r>
              <a:rPr lang="ru-RU" dirty="0" smtClean="0"/>
              <a:t> </a:t>
            </a:r>
            <a:r>
              <a:rPr lang="ru-RU" i="1" u="sng" dirty="0"/>
              <a:t>Функция, проверяющая список на наличие элементов</a:t>
            </a:r>
            <a:r>
              <a:rPr lang="ru-RU" dirty="0"/>
              <a:t> </a:t>
            </a:r>
            <a:r>
              <a:rPr lang="ru-RU" i="1" dirty="0" smtClean="0"/>
              <a:t>(есть элемент-</a:t>
            </a:r>
            <a:r>
              <a:rPr lang="en-US" i="1" dirty="0" smtClean="0"/>
              <a:t>FALSE</a:t>
            </a:r>
            <a:r>
              <a:rPr lang="ru-RU" i="1" dirty="0" smtClean="0"/>
              <a:t> или список пуст</a:t>
            </a:r>
            <a:r>
              <a:rPr lang="en-US" i="1" dirty="0" smtClean="0"/>
              <a:t>-TRUE</a:t>
            </a:r>
            <a:r>
              <a:rPr lang="ru-RU" i="1" dirty="0" smtClean="0"/>
              <a:t>).</a:t>
            </a:r>
            <a:r>
              <a:rPr lang="en-US" i="1" dirty="0" smtClean="0"/>
              <a:t> </a:t>
            </a:r>
            <a:r>
              <a:rPr lang="ru-RU" i="1" dirty="0" smtClean="0"/>
              <a:t>Проверяем </a:t>
            </a:r>
            <a:r>
              <a:rPr lang="en-US" i="1" dirty="0" smtClean="0"/>
              <a:t>top - </a:t>
            </a:r>
            <a:r>
              <a:rPr lang="ru-RU" i="1" dirty="0" smtClean="0"/>
              <a:t>ссылку на начало списка</a:t>
            </a:r>
            <a:r>
              <a:rPr lang="en-US" i="1" dirty="0" smtClean="0"/>
              <a:t>.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3719488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4547" y="180305"/>
            <a:ext cx="9826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u="sng" dirty="0" smtClean="0"/>
              <a:t>2</a:t>
            </a:r>
            <a:r>
              <a:rPr lang="ru-RU" u="sng" dirty="0" smtClean="0"/>
              <a:t>.</a:t>
            </a:r>
            <a:r>
              <a:rPr lang="ru-RU" i="1" u="sng" dirty="0" smtClean="0"/>
              <a:t>Функция взятия элемента из очереди</a:t>
            </a:r>
            <a:r>
              <a:rPr lang="ru-RU" i="1" dirty="0" smtClean="0"/>
              <a:t>. То есть мы считываем значения и удаляем тот элемент, который забрали</a:t>
            </a:r>
            <a:r>
              <a:rPr lang="en-US" i="1" dirty="0" smtClean="0"/>
              <a:t>(</a:t>
            </a:r>
            <a:r>
              <a:rPr lang="ru-RU" i="1" dirty="0" smtClean="0"/>
              <a:t>берем первый элемент очереди).</a:t>
            </a:r>
            <a:endParaRPr lang="ru-RU" i="1" dirty="0"/>
          </a:p>
        </p:txBody>
      </p:sp>
      <p:sp>
        <p:nvSpPr>
          <p:cNvPr id="3" name="TextBox 2"/>
          <p:cNvSpPr txBox="1"/>
          <p:nvPr/>
        </p:nvSpPr>
        <p:spPr>
          <a:xfrm>
            <a:off x="154547" y="933634"/>
            <a:ext cx="748262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void </a:t>
            </a:r>
            <a:r>
              <a:rPr lang="en-US" sz="2000" b="1" dirty="0" err="1" smtClean="0"/>
              <a:t>popPolinom</a:t>
            </a:r>
            <a:r>
              <a:rPr lang="ru-RU" sz="2000" b="1" dirty="0" smtClean="0"/>
              <a:t> </a:t>
            </a:r>
            <a:r>
              <a:rPr lang="en-US" sz="2000" b="1" dirty="0" smtClean="0"/>
              <a:t>(</a:t>
            </a:r>
            <a:r>
              <a:rPr lang="en-US" sz="2000" b="1" dirty="0"/>
              <a:t>node*&amp;top, </a:t>
            </a:r>
            <a:r>
              <a:rPr lang="ru-RU" sz="2000" b="1" dirty="0" smtClean="0"/>
              <a:t> </a:t>
            </a:r>
            <a:r>
              <a:rPr lang="en-US" sz="2000" b="1" dirty="0" err="1" smtClean="0"/>
              <a:t>int&amp;koef</a:t>
            </a:r>
            <a:r>
              <a:rPr lang="en-US" sz="2000" b="1" dirty="0" smtClean="0"/>
              <a:t>,</a:t>
            </a:r>
            <a:r>
              <a:rPr lang="ru-RU" sz="2000" b="1" dirty="0" smtClean="0"/>
              <a:t>  </a:t>
            </a:r>
            <a:r>
              <a:rPr lang="en-US" sz="2000" b="1" dirty="0" err="1" smtClean="0"/>
              <a:t>int&amp;power</a:t>
            </a:r>
            <a:r>
              <a:rPr lang="en-US" sz="2000" b="1" dirty="0"/>
              <a:t>)</a:t>
            </a:r>
            <a:endParaRPr lang="ru-RU" sz="2000" b="1" dirty="0"/>
          </a:p>
          <a:p>
            <a:r>
              <a:rPr lang="en-US" sz="2000" b="1" dirty="0"/>
              <a:t>{  </a:t>
            </a:r>
            <a:endParaRPr lang="ru-RU" sz="2000" b="1" dirty="0" smtClean="0"/>
          </a:p>
          <a:p>
            <a:r>
              <a:rPr lang="ru-RU" sz="2000" b="1" dirty="0"/>
              <a:t> </a:t>
            </a:r>
            <a:r>
              <a:rPr lang="ru-RU" sz="2000" b="1" dirty="0" smtClean="0"/>
              <a:t>    </a:t>
            </a:r>
            <a:r>
              <a:rPr lang="en-US" sz="2000" b="1" dirty="0" smtClean="0"/>
              <a:t>node*p;</a:t>
            </a:r>
            <a:endParaRPr lang="ru-RU" sz="2000" b="1" dirty="0" smtClean="0"/>
          </a:p>
          <a:p>
            <a:r>
              <a:rPr lang="ru-RU" sz="2000" b="1" dirty="0" smtClean="0"/>
              <a:t>    </a:t>
            </a:r>
            <a:r>
              <a:rPr lang="en-US" sz="2000" b="1" dirty="0" smtClean="0"/>
              <a:t> if</a:t>
            </a:r>
            <a:r>
              <a:rPr lang="ru-RU" sz="2000" b="1" dirty="0" smtClean="0"/>
              <a:t> </a:t>
            </a:r>
            <a:r>
              <a:rPr lang="en-US" sz="2000" b="1" dirty="0" smtClean="0"/>
              <a:t>(</a:t>
            </a:r>
            <a:r>
              <a:rPr lang="ru-RU" sz="2000" b="1" dirty="0" smtClean="0"/>
              <a:t> </a:t>
            </a:r>
            <a:r>
              <a:rPr lang="en-US" sz="2000" b="1" dirty="0" smtClean="0"/>
              <a:t>!</a:t>
            </a:r>
            <a:r>
              <a:rPr lang="en-US" sz="2000" b="1" dirty="0" err="1" smtClean="0"/>
              <a:t>emptyPolinom</a:t>
            </a:r>
            <a:r>
              <a:rPr lang="en-US" sz="2000" b="1" dirty="0" smtClean="0"/>
              <a:t>(top)</a:t>
            </a:r>
            <a:r>
              <a:rPr lang="ru-RU" sz="2000" b="1" dirty="0" smtClean="0"/>
              <a:t> </a:t>
            </a:r>
            <a:r>
              <a:rPr lang="en-US" sz="2000" b="1" dirty="0" smtClean="0"/>
              <a:t>)</a:t>
            </a:r>
            <a:endParaRPr lang="ru-RU" sz="2000" b="1" dirty="0" smtClean="0"/>
          </a:p>
          <a:p>
            <a:r>
              <a:rPr lang="ru-RU" sz="2000" b="1" dirty="0"/>
              <a:t> </a:t>
            </a:r>
            <a:r>
              <a:rPr lang="ru-RU" sz="2000" b="1" dirty="0" smtClean="0"/>
              <a:t>           </a:t>
            </a:r>
            <a:r>
              <a:rPr lang="en-US" sz="2000" b="1" dirty="0" smtClean="0"/>
              <a:t>{</a:t>
            </a:r>
            <a:endParaRPr lang="ru-RU" sz="2000" b="1" dirty="0"/>
          </a:p>
          <a:p>
            <a:r>
              <a:rPr lang="en-US" sz="2000" b="1" dirty="0"/>
              <a:t>                  </a:t>
            </a:r>
            <a:r>
              <a:rPr lang="en-US" sz="2000" b="1" dirty="0" err="1"/>
              <a:t>koef</a:t>
            </a:r>
            <a:r>
              <a:rPr lang="en-US" sz="2000" b="1" dirty="0"/>
              <a:t>=top-&gt;</a:t>
            </a:r>
            <a:r>
              <a:rPr lang="en-US" sz="2000" b="1" dirty="0" err="1"/>
              <a:t>koef</a:t>
            </a:r>
            <a:r>
              <a:rPr lang="en-US" sz="2000" b="1" dirty="0"/>
              <a:t>;</a:t>
            </a:r>
            <a:endParaRPr lang="ru-RU" sz="2000" b="1" dirty="0"/>
          </a:p>
          <a:p>
            <a:r>
              <a:rPr lang="en-US" sz="2000" b="1" dirty="0" smtClean="0"/>
              <a:t>                  power=top-&gt;power;</a:t>
            </a:r>
            <a:endParaRPr lang="ru-RU" sz="2000" b="1" dirty="0"/>
          </a:p>
          <a:p>
            <a:r>
              <a:rPr lang="en-US" sz="2000" b="1" dirty="0"/>
              <a:t>                  </a:t>
            </a:r>
            <a:r>
              <a:rPr lang="en-US" sz="2000" b="1" dirty="0" smtClean="0"/>
              <a:t>p=top-</a:t>
            </a:r>
            <a:r>
              <a:rPr lang="en-US" sz="2000" b="1" dirty="0"/>
              <a:t>&gt;next;</a:t>
            </a:r>
            <a:endParaRPr lang="ru-RU" sz="2000" b="1" dirty="0"/>
          </a:p>
          <a:p>
            <a:r>
              <a:rPr lang="en-US" sz="2000" b="1" dirty="0"/>
              <a:t>                </a:t>
            </a:r>
            <a:r>
              <a:rPr lang="ru-RU" sz="2000" b="1" dirty="0" smtClean="0"/>
              <a:t> </a:t>
            </a:r>
            <a:r>
              <a:rPr lang="en-US" sz="2000" b="1" dirty="0" smtClean="0"/>
              <a:t> </a:t>
            </a:r>
            <a:r>
              <a:rPr lang="en-US" sz="2000" b="1" dirty="0"/>
              <a:t>delete top;</a:t>
            </a:r>
            <a:endParaRPr lang="ru-RU" sz="2000" b="1" dirty="0"/>
          </a:p>
          <a:p>
            <a:r>
              <a:rPr lang="en-US" sz="2000" b="1" dirty="0"/>
              <a:t>                 </a:t>
            </a:r>
            <a:r>
              <a:rPr lang="ru-RU" sz="2000" b="1" dirty="0" smtClean="0"/>
              <a:t> </a:t>
            </a:r>
            <a:r>
              <a:rPr lang="en-US" sz="2000" b="1" dirty="0" smtClean="0"/>
              <a:t>top=p;</a:t>
            </a:r>
            <a:endParaRPr lang="ru-RU" sz="2000" b="1" dirty="0" smtClean="0"/>
          </a:p>
          <a:p>
            <a:r>
              <a:rPr lang="ru-RU" sz="2000" b="1" dirty="0"/>
              <a:t> </a:t>
            </a:r>
            <a:r>
              <a:rPr lang="ru-RU" sz="2000" b="1" dirty="0" smtClean="0"/>
              <a:t>            </a:t>
            </a:r>
            <a:r>
              <a:rPr lang="en-US" sz="2000" b="1" dirty="0" smtClean="0"/>
              <a:t>}</a:t>
            </a:r>
            <a:endParaRPr lang="ru-RU" sz="2000" b="1" dirty="0"/>
          </a:p>
          <a:p>
            <a:r>
              <a:rPr lang="en-US" sz="2000" b="1" dirty="0" smtClean="0"/>
              <a:t>}</a:t>
            </a:r>
            <a:endParaRPr lang="ru-RU" sz="2000" b="1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189772"/>
              </p:ext>
            </p:extLst>
          </p:nvPr>
        </p:nvGraphicFramePr>
        <p:xfrm>
          <a:off x="3895859" y="4741078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271096"/>
              </p:ext>
            </p:extLst>
          </p:nvPr>
        </p:nvGraphicFramePr>
        <p:xfrm>
          <a:off x="5419953" y="4741078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r>
                        <a:rPr lang="ru-RU" dirty="0" smtClean="0"/>
                        <a:t>6</a:t>
                      </a:r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62938"/>
              </p:ext>
            </p:extLst>
          </p:nvPr>
        </p:nvGraphicFramePr>
        <p:xfrm>
          <a:off x="6953003" y="4741078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r>
                        <a:rPr lang="ru-RU" dirty="0" smtClean="0"/>
                        <a:t>7</a:t>
                      </a:r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04584"/>
              </p:ext>
            </p:extLst>
          </p:nvPr>
        </p:nvGraphicFramePr>
        <p:xfrm>
          <a:off x="8458904" y="4738690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Стрелка вправо 8"/>
          <p:cNvSpPr/>
          <p:nvPr/>
        </p:nvSpPr>
        <p:spPr>
          <a:xfrm>
            <a:off x="4843360" y="6058632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 вправо 9"/>
          <p:cNvSpPr/>
          <p:nvPr/>
        </p:nvSpPr>
        <p:spPr>
          <a:xfrm>
            <a:off x="6346082" y="6091761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 вправо 10"/>
          <p:cNvSpPr/>
          <p:nvPr/>
        </p:nvSpPr>
        <p:spPr>
          <a:xfrm>
            <a:off x="7921689" y="6058631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3895859" y="4227443"/>
            <a:ext cx="63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top</a:t>
            </a:r>
            <a:endParaRPr lang="ru-RU" sz="20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7637172" y="1407862"/>
            <a:ext cx="439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p</a:t>
            </a:r>
            <a:endParaRPr lang="ru-RU" sz="2000" b="1" dirty="0"/>
          </a:p>
        </p:txBody>
      </p:sp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999694"/>
              </p:ext>
            </p:extLst>
          </p:nvPr>
        </p:nvGraphicFramePr>
        <p:xfrm>
          <a:off x="9637042" y="2924738"/>
          <a:ext cx="9497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738"/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9623791" y="2546276"/>
            <a:ext cx="985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power</a:t>
            </a:r>
            <a:endParaRPr lang="ru-RU" sz="2000" b="1" dirty="0"/>
          </a:p>
        </p:txBody>
      </p:sp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319223"/>
              </p:ext>
            </p:extLst>
          </p:nvPr>
        </p:nvGraphicFramePr>
        <p:xfrm>
          <a:off x="9637042" y="1986379"/>
          <a:ext cx="9497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738"/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9623791" y="1607917"/>
            <a:ext cx="985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/>
              <a:t>koef</a:t>
            </a:r>
            <a:endParaRPr lang="ru-RU" sz="20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9623791" y="2008027"/>
            <a:ext cx="75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8</a:t>
            </a:r>
            <a:endParaRPr lang="ru-RU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9623791" y="2902004"/>
            <a:ext cx="75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</a:t>
            </a:r>
            <a:endParaRPr lang="ru-RU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3895860" y="4738690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8</a:t>
            </a:r>
            <a:endParaRPr lang="ru-RU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3895858" y="5359813"/>
            <a:ext cx="75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graphicFrame>
        <p:nvGraphicFramePr>
          <p:cNvPr id="22" name="Таблица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972466"/>
              </p:ext>
            </p:extLst>
          </p:nvPr>
        </p:nvGraphicFramePr>
        <p:xfrm>
          <a:off x="7693995" y="1822607"/>
          <a:ext cx="9497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738"/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4061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5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7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7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3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4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8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8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9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0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3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6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8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9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0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1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2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3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4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5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6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07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8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9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10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1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34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2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2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2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2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2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34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4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4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4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4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4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5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7.40741E-7 L -0.18138 0.41088 " pathEditMode="relative" rAng="0" ptsTypes="AA">
                                      <p:cBhvr>
                                        <p:cTn id="26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76" y="20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8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9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9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1.85185E-6 L 0.15769 0.00857 " pathEditMode="relative" rAng="0" ptsTypes="AA">
                                      <p:cBhvr>
                                        <p:cTn id="301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78" y="417"/>
                                    </p:animMotion>
                                  </p:childTnLst>
                                </p:cTn>
                              </p:par>
                              <p:par>
                                <p:cTn id="30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  <p:bldP spid="9" grpId="1" animBg="1"/>
      <p:bldP spid="9" grpId="2" animBg="1"/>
      <p:bldP spid="10" grpId="0" animBg="1"/>
      <p:bldP spid="10" grpId="1" animBg="1"/>
      <p:bldP spid="11" grpId="0" animBg="1"/>
      <p:bldP spid="11" grpId="1" animBg="1"/>
      <p:bldP spid="12" grpId="0"/>
      <p:bldP spid="12" grpId="1"/>
      <p:bldP spid="12" grpId="2"/>
      <p:bldP spid="13" grpId="0"/>
      <p:bldP spid="13" grpId="1"/>
      <p:bldP spid="15" grpId="0"/>
      <p:bldP spid="17" grpId="0"/>
      <p:bldP spid="18" grpId="0"/>
      <p:bldP spid="19" grpId="1"/>
      <p:bldP spid="20" grpId="0"/>
      <p:bldP spid="20" grpId="1"/>
      <p:bldP spid="20" grpId="2"/>
      <p:bldP spid="20" grpId="3"/>
      <p:bldP spid="21" grpId="0"/>
      <p:bldP spid="21" grpId="1"/>
      <p:bldP spid="21" grpId="2"/>
      <p:bldP spid="21" grpId="3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065" y="819542"/>
            <a:ext cx="717353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void </a:t>
            </a:r>
            <a:r>
              <a:rPr lang="en-US" b="1" dirty="0" err="1" smtClean="0"/>
              <a:t>pushPolinom</a:t>
            </a:r>
            <a:r>
              <a:rPr lang="ru-RU" b="1" dirty="0" smtClean="0"/>
              <a:t> </a:t>
            </a:r>
            <a:r>
              <a:rPr lang="en-US" b="1" dirty="0" smtClean="0"/>
              <a:t>(</a:t>
            </a:r>
            <a:r>
              <a:rPr lang="ru-RU" b="1" dirty="0" smtClean="0"/>
              <a:t> </a:t>
            </a:r>
            <a:r>
              <a:rPr lang="en-US" b="1" dirty="0" smtClean="0"/>
              <a:t>node</a:t>
            </a:r>
            <a:r>
              <a:rPr lang="en-US" b="1" dirty="0"/>
              <a:t>*&amp;top</a:t>
            </a:r>
            <a:r>
              <a:rPr lang="en-US" b="1" dirty="0" smtClean="0"/>
              <a:t>,</a:t>
            </a:r>
            <a:r>
              <a:rPr lang="ru-RU" b="1" dirty="0" smtClean="0"/>
              <a:t> </a:t>
            </a:r>
            <a:r>
              <a:rPr lang="en-US" b="1" dirty="0" smtClean="0"/>
              <a:t>node</a:t>
            </a:r>
            <a:r>
              <a:rPr lang="en-US" b="1" dirty="0"/>
              <a:t>*&amp;end, 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koef,int</a:t>
            </a:r>
            <a:r>
              <a:rPr lang="en-US" b="1" dirty="0"/>
              <a:t> power)</a:t>
            </a:r>
            <a:endParaRPr lang="ru-RU" b="1" dirty="0"/>
          </a:p>
          <a:p>
            <a:r>
              <a:rPr lang="en-US" b="1" dirty="0" smtClean="0"/>
              <a:t>{</a:t>
            </a:r>
            <a:endParaRPr lang="ru-RU" b="1" dirty="0" smtClean="0"/>
          </a:p>
          <a:p>
            <a:r>
              <a:rPr lang="ru-RU" b="1" dirty="0"/>
              <a:t> </a:t>
            </a:r>
            <a:r>
              <a:rPr lang="ru-RU" b="1" dirty="0" smtClean="0"/>
              <a:t>   </a:t>
            </a:r>
            <a:r>
              <a:rPr lang="en-US" b="1" dirty="0" smtClean="0"/>
              <a:t> node*p</a:t>
            </a:r>
            <a:r>
              <a:rPr lang="en-US" b="1" dirty="0"/>
              <a:t>;</a:t>
            </a:r>
            <a:endParaRPr lang="ru-RU" b="1" dirty="0"/>
          </a:p>
          <a:p>
            <a:r>
              <a:rPr lang="en-US" b="1" dirty="0"/>
              <a:t>  </a:t>
            </a:r>
            <a:r>
              <a:rPr lang="ru-RU" b="1" dirty="0" smtClean="0"/>
              <a:t>   </a:t>
            </a:r>
            <a:r>
              <a:rPr lang="en-US" b="1" dirty="0" smtClean="0"/>
              <a:t>p=new node;</a:t>
            </a:r>
            <a:endParaRPr lang="ru-RU" b="1" dirty="0"/>
          </a:p>
          <a:p>
            <a:r>
              <a:rPr lang="en-US" b="1" dirty="0"/>
              <a:t>  </a:t>
            </a:r>
            <a:r>
              <a:rPr lang="ru-RU" b="1" dirty="0" smtClean="0"/>
              <a:t>   </a:t>
            </a:r>
            <a:r>
              <a:rPr lang="en-US" b="1" dirty="0" smtClean="0"/>
              <a:t>p-</a:t>
            </a:r>
            <a:r>
              <a:rPr lang="en-US" b="1" dirty="0"/>
              <a:t>&gt;</a:t>
            </a:r>
            <a:r>
              <a:rPr lang="en-US" b="1" dirty="0" err="1" smtClean="0"/>
              <a:t>koef</a:t>
            </a:r>
            <a:r>
              <a:rPr lang="en-US" b="1" dirty="0" smtClean="0"/>
              <a:t>=</a:t>
            </a:r>
            <a:r>
              <a:rPr lang="en-US" b="1" dirty="0" err="1" smtClean="0"/>
              <a:t>koef</a:t>
            </a:r>
            <a:r>
              <a:rPr lang="en-US" b="1" dirty="0" smtClean="0"/>
              <a:t>;</a:t>
            </a:r>
            <a:endParaRPr lang="ru-RU" b="1" dirty="0"/>
          </a:p>
          <a:p>
            <a:r>
              <a:rPr lang="en-US" b="1" dirty="0"/>
              <a:t>  </a:t>
            </a:r>
            <a:r>
              <a:rPr lang="ru-RU" b="1" dirty="0" smtClean="0"/>
              <a:t>   </a:t>
            </a:r>
            <a:r>
              <a:rPr lang="en-US" b="1" dirty="0" smtClean="0"/>
              <a:t>p-</a:t>
            </a:r>
            <a:r>
              <a:rPr lang="en-US" b="1" dirty="0"/>
              <a:t>&gt;</a:t>
            </a:r>
            <a:r>
              <a:rPr lang="en-US" b="1" dirty="0" smtClean="0"/>
              <a:t>power=power;</a:t>
            </a:r>
            <a:endParaRPr lang="ru-RU" b="1" dirty="0"/>
          </a:p>
          <a:p>
            <a:r>
              <a:rPr lang="en-US" b="1" dirty="0"/>
              <a:t>  </a:t>
            </a:r>
            <a:r>
              <a:rPr lang="ru-RU" b="1" dirty="0" smtClean="0"/>
              <a:t>   </a:t>
            </a:r>
            <a:r>
              <a:rPr lang="en-US" b="1" dirty="0" smtClean="0"/>
              <a:t>p-</a:t>
            </a:r>
            <a:r>
              <a:rPr lang="en-US" b="1" dirty="0"/>
              <a:t>&gt;next=NULL;</a:t>
            </a:r>
            <a:endParaRPr lang="ru-RU" b="1" dirty="0"/>
          </a:p>
          <a:p>
            <a:r>
              <a:rPr lang="en-US" b="1" dirty="0"/>
              <a:t>  </a:t>
            </a:r>
            <a:r>
              <a:rPr lang="ru-RU" b="1" dirty="0" smtClean="0"/>
              <a:t>   </a:t>
            </a:r>
            <a:r>
              <a:rPr lang="en-US" b="1" dirty="0" smtClean="0"/>
              <a:t>if</a:t>
            </a:r>
            <a:r>
              <a:rPr lang="ru-RU" b="1" dirty="0" smtClean="0"/>
              <a:t> </a:t>
            </a:r>
            <a:r>
              <a:rPr lang="en-US" b="1" dirty="0" smtClean="0"/>
              <a:t>(</a:t>
            </a:r>
            <a:r>
              <a:rPr lang="ru-RU" b="1" dirty="0" smtClean="0"/>
              <a:t> </a:t>
            </a:r>
            <a:r>
              <a:rPr lang="en-US" b="1" dirty="0" err="1" smtClean="0"/>
              <a:t>emptyPolinom</a:t>
            </a:r>
            <a:r>
              <a:rPr lang="en-US" b="1" dirty="0" smtClean="0"/>
              <a:t>(top)</a:t>
            </a:r>
            <a:r>
              <a:rPr lang="ru-RU" b="1" dirty="0" smtClean="0"/>
              <a:t> </a:t>
            </a:r>
            <a:r>
              <a:rPr lang="en-US" b="1" dirty="0" smtClean="0"/>
              <a:t>)</a:t>
            </a:r>
            <a:endParaRPr lang="ru-RU" b="1" dirty="0" smtClean="0"/>
          </a:p>
          <a:p>
            <a:r>
              <a:rPr lang="ru-RU" b="1" dirty="0"/>
              <a:t> </a:t>
            </a:r>
            <a:r>
              <a:rPr lang="ru-RU" b="1" dirty="0" smtClean="0"/>
              <a:t>         </a:t>
            </a:r>
            <a:r>
              <a:rPr lang="en-US" b="1" dirty="0" smtClean="0"/>
              <a:t> </a:t>
            </a:r>
            <a:r>
              <a:rPr lang="en-US" b="1" dirty="0"/>
              <a:t>{ </a:t>
            </a:r>
            <a:endParaRPr lang="ru-RU" b="1" dirty="0" smtClean="0"/>
          </a:p>
          <a:p>
            <a:r>
              <a:rPr lang="ru-RU" b="1" dirty="0"/>
              <a:t> </a:t>
            </a:r>
            <a:r>
              <a:rPr lang="ru-RU" b="1" dirty="0" smtClean="0"/>
              <a:t>              </a:t>
            </a:r>
            <a:r>
              <a:rPr lang="en-US" b="1" dirty="0" smtClean="0"/>
              <a:t>top=p</a:t>
            </a:r>
            <a:r>
              <a:rPr lang="en-US" b="1" dirty="0"/>
              <a:t>;</a:t>
            </a:r>
            <a:endParaRPr lang="ru-RU" b="1" dirty="0"/>
          </a:p>
          <a:p>
            <a:r>
              <a:rPr lang="en-US" b="1" dirty="0"/>
              <a:t>               </a:t>
            </a:r>
            <a:r>
              <a:rPr lang="en-US" b="1" dirty="0" smtClean="0"/>
              <a:t>end=top</a:t>
            </a:r>
            <a:r>
              <a:rPr lang="en-US" b="1" dirty="0"/>
              <a:t>;</a:t>
            </a:r>
            <a:endParaRPr lang="ru-RU" b="1" dirty="0"/>
          </a:p>
          <a:p>
            <a:r>
              <a:rPr lang="en-US" b="1" dirty="0"/>
              <a:t>          </a:t>
            </a:r>
            <a:r>
              <a:rPr lang="en-US" b="1" dirty="0" smtClean="0"/>
              <a:t>   </a:t>
            </a:r>
            <a:r>
              <a:rPr lang="en-US" b="1" dirty="0"/>
              <a:t>}</a:t>
            </a:r>
            <a:endParaRPr lang="ru-RU" b="1" dirty="0"/>
          </a:p>
          <a:p>
            <a:r>
              <a:rPr lang="en-US" b="1" dirty="0"/>
              <a:t>   </a:t>
            </a:r>
            <a:r>
              <a:rPr lang="ru-RU" b="1" dirty="0" smtClean="0"/>
              <a:t> </a:t>
            </a:r>
            <a:r>
              <a:rPr lang="en-US" b="1" dirty="0" smtClean="0"/>
              <a:t> </a:t>
            </a:r>
            <a:r>
              <a:rPr lang="en-US" b="1" dirty="0"/>
              <a:t>else </a:t>
            </a:r>
            <a:endParaRPr lang="ru-RU" b="1" dirty="0" smtClean="0"/>
          </a:p>
          <a:p>
            <a:r>
              <a:rPr lang="ru-RU" b="1" dirty="0"/>
              <a:t> </a:t>
            </a:r>
            <a:r>
              <a:rPr lang="ru-RU" b="1" dirty="0" smtClean="0"/>
              <a:t>          </a:t>
            </a:r>
            <a:r>
              <a:rPr lang="en-US" b="1" dirty="0" smtClean="0"/>
              <a:t>{</a:t>
            </a:r>
            <a:endParaRPr lang="ru-RU" b="1" dirty="0" smtClean="0"/>
          </a:p>
          <a:p>
            <a:r>
              <a:rPr lang="ru-RU" b="1" dirty="0"/>
              <a:t> </a:t>
            </a:r>
            <a:r>
              <a:rPr lang="ru-RU" b="1" dirty="0" smtClean="0"/>
              <a:t>             </a:t>
            </a:r>
            <a:r>
              <a:rPr lang="en-US" b="1" dirty="0" smtClean="0"/>
              <a:t> </a:t>
            </a:r>
            <a:r>
              <a:rPr lang="en-US" b="1" dirty="0"/>
              <a:t>end-&gt;next=p;</a:t>
            </a:r>
            <a:endParaRPr lang="ru-RU" b="1" dirty="0"/>
          </a:p>
          <a:p>
            <a:r>
              <a:rPr lang="en-US" b="1" dirty="0"/>
              <a:t>           </a:t>
            </a:r>
            <a:r>
              <a:rPr lang="ru-RU" b="1" dirty="0" smtClean="0"/>
              <a:t>    </a:t>
            </a:r>
            <a:r>
              <a:rPr lang="en-US" b="1" dirty="0" smtClean="0"/>
              <a:t>end=p</a:t>
            </a:r>
            <a:r>
              <a:rPr lang="en-US" b="1" dirty="0"/>
              <a:t>;</a:t>
            </a:r>
            <a:endParaRPr lang="ru-RU" b="1" dirty="0"/>
          </a:p>
          <a:p>
            <a:r>
              <a:rPr lang="en-US" b="1" dirty="0"/>
              <a:t>         </a:t>
            </a:r>
            <a:r>
              <a:rPr lang="ru-RU" b="1" dirty="0" smtClean="0"/>
              <a:t>  </a:t>
            </a:r>
            <a:r>
              <a:rPr lang="en-US" b="1" dirty="0" smtClean="0"/>
              <a:t>}</a:t>
            </a:r>
            <a:endParaRPr lang="ru-RU" b="1" dirty="0"/>
          </a:p>
          <a:p>
            <a:r>
              <a:rPr lang="en-US" b="1" dirty="0"/>
              <a:t>}</a:t>
            </a:r>
            <a:endParaRPr lang="ru-RU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64065" y="173211"/>
            <a:ext cx="98909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3. </a:t>
            </a:r>
            <a:r>
              <a:rPr lang="ru-RU" i="1" u="sng" dirty="0" smtClean="0"/>
              <a:t>Функция добавления элемента в список</a:t>
            </a:r>
            <a:r>
              <a:rPr lang="en-US" i="1" u="sng" dirty="0" smtClean="0"/>
              <a:t>(</a:t>
            </a:r>
            <a:r>
              <a:rPr lang="ru-RU" i="1" u="sng" dirty="0" smtClean="0"/>
              <a:t>очередь).</a:t>
            </a:r>
            <a:r>
              <a:rPr lang="ru-RU" i="1" dirty="0" smtClean="0"/>
              <a:t> Если список пуст, то добавляемый элемент сам становится списком.</a:t>
            </a:r>
            <a:r>
              <a:rPr lang="ru-RU" i="1" u="sng" dirty="0" smtClean="0"/>
              <a:t> </a:t>
            </a:r>
            <a:endParaRPr lang="ru-RU" i="1" u="sng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540110"/>
              </p:ext>
            </p:extLst>
          </p:nvPr>
        </p:nvGraphicFramePr>
        <p:xfrm>
          <a:off x="3895859" y="4741078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75620"/>
              </p:ext>
            </p:extLst>
          </p:nvPr>
        </p:nvGraphicFramePr>
        <p:xfrm>
          <a:off x="5419953" y="4741078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r>
                        <a:rPr lang="ru-RU" dirty="0" smtClean="0"/>
                        <a:t>6</a:t>
                      </a:r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234584"/>
              </p:ext>
            </p:extLst>
          </p:nvPr>
        </p:nvGraphicFramePr>
        <p:xfrm>
          <a:off x="6953003" y="4741078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r>
                        <a:rPr lang="ru-RU" dirty="0" smtClean="0"/>
                        <a:t>7</a:t>
                      </a:r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627002"/>
              </p:ext>
            </p:extLst>
          </p:nvPr>
        </p:nvGraphicFramePr>
        <p:xfrm>
          <a:off x="8458904" y="4738690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Стрелка вправо 7"/>
          <p:cNvSpPr/>
          <p:nvPr/>
        </p:nvSpPr>
        <p:spPr>
          <a:xfrm>
            <a:off x="4843360" y="6058632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трелка вправо 8"/>
          <p:cNvSpPr/>
          <p:nvPr/>
        </p:nvSpPr>
        <p:spPr>
          <a:xfrm>
            <a:off x="6346082" y="6091761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 вправо 9"/>
          <p:cNvSpPr/>
          <p:nvPr/>
        </p:nvSpPr>
        <p:spPr>
          <a:xfrm>
            <a:off x="7921689" y="6058631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3895858" y="4227443"/>
            <a:ext cx="63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top</a:t>
            </a:r>
            <a:endParaRPr lang="ru-RU" sz="20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3895860" y="4738690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8</a:t>
            </a:r>
            <a:endParaRPr lang="ru-RU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3895858" y="5359813"/>
            <a:ext cx="75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64583"/>
              </p:ext>
            </p:extLst>
          </p:nvPr>
        </p:nvGraphicFramePr>
        <p:xfrm>
          <a:off x="7909059" y="1723820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8438524" y="4227443"/>
            <a:ext cx="6922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end</a:t>
            </a:r>
            <a:endParaRPr lang="ru-RU" sz="20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7898062" y="1172816"/>
            <a:ext cx="63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p</a:t>
            </a:r>
            <a:endParaRPr lang="ru-RU" sz="2000" b="1" dirty="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054350"/>
              </p:ext>
            </p:extLst>
          </p:nvPr>
        </p:nvGraphicFramePr>
        <p:xfrm>
          <a:off x="9637042" y="2924738"/>
          <a:ext cx="9497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738"/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623791" y="2546276"/>
            <a:ext cx="985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power</a:t>
            </a:r>
            <a:endParaRPr lang="ru-RU" sz="2000" b="1" dirty="0"/>
          </a:p>
        </p:txBody>
      </p:sp>
      <p:graphicFrame>
        <p:nvGraphicFramePr>
          <p:cNvPr id="19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547502"/>
              </p:ext>
            </p:extLst>
          </p:nvPr>
        </p:nvGraphicFramePr>
        <p:xfrm>
          <a:off x="9637042" y="1986379"/>
          <a:ext cx="9497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738"/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9623791" y="1607917"/>
            <a:ext cx="985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/>
              <a:t>koef</a:t>
            </a:r>
            <a:endParaRPr lang="ru-RU" sz="20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9623791" y="2008027"/>
            <a:ext cx="75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5</a:t>
            </a:r>
            <a:endParaRPr lang="ru-RU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9623791" y="2905011"/>
            <a:ext cx="75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1689" y="1799925"/>
            <a:ext cx="75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5</a:t>
            </a:r>
            <a:endParaRPr lang="ru-RU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8020079" y="2368643"/>
            <a:ext cx="75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7870" y="2911739"/>
            <a:ext cx="921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</a:rPr>
              <a:t>NULL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503104" y="5897855"/>
            <a:ext cx="921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</a:rPr>
              <a:t>NULL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27" name="Стрелка вправо 26"/>
          <p:cNvSpPr/>
          <p:nvPr/>
        </p:nvSpPr>
        <p:spPr>
          <a:xfrm>
            <a:off x="9424411" y="6058631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131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5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0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3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4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5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5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5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5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5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7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7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7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7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7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8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9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1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6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8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9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2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4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5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6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8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9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0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1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22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4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25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6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7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2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0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31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2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3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37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8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9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41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2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3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47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8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9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>
                      <p:stCondLst>
                        <p:cond delay="indefinite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49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1.48148E-6 L 0.18489 0.46065 " pathEditMode="relative" rAng="0" ptsTypes="AA">
                                      <p:cBhvr>
                                        <p:cTn id="35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245" y="23032"/>
                                    </p:animMotion>
                                  </p:childTnLst>
                                </p:cTn>
                              </p:par>
                              <p:par>
                                <p:cTn id="354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2.96296E-6 L 0.16771 0.44005 " pathEditMode="relative" rAng="0" ptsTypes="AA">
                                      <p:cBhvr>
                                        <p:cTn id="35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85" y="21991"/>
                                    </p:animMotion>
                                  </p:childTnLst>
                                </p:cTn>
                              </p:par>
                              <p:par>
                                <p:cTn id="356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1.85185E-6 L 0.17044 0.42755 " pathEditMode="relative" rAng="0" ptsTypes="AA">
                                      <p:cBhvr>
                                        <p:cTn id="35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16" y="21366"/>
                                    </p:animMotion>
                                  </p:childTnLst>
                                </p:cTn>
                              </p:par>
                              <p:par>
                                <p:cTn id="358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2.22222E-6 L 0.16237 0.42755 " pathEditMode="relative" rAng="0" ptsTypes="AA">
                                      <p:cBhvr>
                                        <p:cTn id="35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12" y="21366"/>
                                    </p:animMotion>
                                  </p:childTnLst>
                                </p:cTn>
                              </p:par>
                              <p:par>
                                <p:cTn id="360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3.7037E-6 L 0.15898 0.43449 " pathEditMode="relative" rAng="0" ptsTypes="AA">
                                      <p:cBhvr>
                                        <p:cTn id="36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43" y="21713"/>
                                    </p:animMotion>
                                  </p:childTnLst>
                                </p:cTn>
                              </p:par>
                              <p:par>
                                <p:cTn id="3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7" presetID="42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9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0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>
                      <p:stCondLst>
                        <p:cond delay="indefinite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75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6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7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79" dur="50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0" dur="50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1" dur="50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83" dur="500" fill="hold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4" dur="500" fill="hold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5" dur="500" fill="hold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6" fill="hold">
                      <p:stCondLst>
                        <p:cond delay="indefinite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1.85185E-6 L 0.09479 0.00602 " pathEditMode="relative" rAng="0" ptsTypes="AA">
                                      <p:cBhvr>
                                        <p:cTn id="38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40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/>
      <p:bldP spid="12" grpId="0"/>
      <p:bldP spid="12" grpId="1"/>
      <p:bldP spid="13" grpId="0"/>
      <p:bldP spid="13" grpId="1"/>
      <p:bldP spid="15" grpId="0"/>
      <p:bldP spid="15" grpId="1"/>
      <p:bldP spid="16" grpId="0"/>
      <p:bldP spid="16" grpId="1"/>
      <p:bldP spid="18" grpId="0"/>
      <p:bldP spid="20" grpId="0"/>
      <p:bldP spid="21" grpId="0"/>
      <p:bldP spid="21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26" grpId="0"/>
      <p:bldP spid="26" grpId="1"/>
      <p:bldP spid="26" grpId="2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6571" y="253470"/>
            <a:ext cx="10156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4</a:t>
            </a:r>
            <a:r>
              <a:rPr lang="ru-RU" i="1" u="sng" dirty="0" smtClean="0"/>
              <a:t>. Функция создания списка. </a:t>
            </a:r>
            <a:r>
              <a:rPr lang="ru-RU" i="1" dirty="0" smtClean="0"/>
              <a:t>У нас уже есть функция для добавления элемента</a:t>
            </a:r>
            <a:r>
              <a:rPr lang="ru-RU" i="1" dirty="0"/>
              <a:t>.</a:t>
            </a:r>
            <a:r>
              <a:rPr lang="ru-RU" i="1" dirty="0" smtClean="0"/>
              <a:t> Используя ее, напишем функцию для создания списка</a:t>
            </a:r>
            <a:r>
              <a:rPr lang="ru-RU" dirty="0" smtClean="0"/>
              <a:t>.</a:t>
            </a:r>
            <a:r>
              <a:rPr lang="en-US" dirty="0" smtClean="0"/>
              <a:t> </a:t>
            </a:r>
            <a:r>
              <a:rPr lang="ru-RU" dirty="0" smtClean="0"/>
              <a:t>Параметр </a:t>
            </a:r>
            <a:r>
              <a:rPr lang="en-US" dirty="0" smtClean="0"/>
              <a:t>“n”</a:t>
            </a:r>
            <a:r>
              <a:rPr lang="ru-RU" dirty="0" smtClean="0"/>
              <a:t> определяет количество элементов в списке(в нашем случае </a:t>
            </a:r>
            <a:r>
              <a:rPr lang="en-US" dirty="0" smtClean="0"/>
              <a:t>n=3)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76572" y="1176800"/>
            <a:ext cx="636537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</a:t>
            </a:r>
            <a:r>
              <a:rPr lang="en-US" b="1" dirty="0" smtClean="0"/>
              <a:t>oid</a:t>
            </a:r>
            <a:r>
              <a:rPr lang="ru-RU" b="1" dirty="0" smtClean="0"/>
              <a:t> </a:t>
            </a:r>
            <a:r>
              <a:rPr lang="en-US" b="1" dirty="0" err="1" smtClean="0"/>
              <a:t>createPolinomPush</a:t>
            </a:r>
            <a:r>
              <a:rPr lang="ru-RU" b="1" dirty="0" smtClean="0"/>
              <a:t> </a:t>
            </a:r>
            <a:r>
              <a:rPr lang="en-US" b="1" dirty="0" smtClean="0"/>
              <a:t>(</a:t>
            </a:r>
            <a:r>
              <a:rPr lang="ru-RU" b="1" dirty="0" smtClean="0"/>
              <a:t> </a:t>
            </a:r>
            <a:r>
              <a:rPr lang="en-US" b="1" dirty="0" smtClean="0"/>
              <a:t>node</a:t>
            </a:r>
            <a:r>
              <a:rPr lang="en-US" b="1" dirty="0"/>
              <a:t>*&amp;top</a:t>
            </a:r>
            <a:r>
              <a:rPr lang="en-US" b="1" dirty="0" smtClean="0"/>
              <a:t>,</a:t>
            </a:r>
            <a:r>
              <a:rPr lang="ru-RU" b="1" dirty="0" smtClean="0"/>
              <a:t> </a:t>
            </a:r>
            <a:r>
              <a:rPr lang="en-US" b="1" dirty="0" smtClean="0"/>
              <a:t>node</a:t>
            </a:r>
            <a:r>
              <a:rPr lang="en-US" b="1" dirty="0"/>
              <a:t>*&amp;end, </a:t>
            </a:r>
            <a:r>
              <a:rPr lang="en-US" b="1" dirty="0" err="1"/>
              <a:t>int</a:t>
            </a:r>
            <a:r>
              <a:rPr lang="en-US" b="1" dirty="0"/>
              <a:t> n)</a:t>
            </a:r>
            <a:endParaRPr lang="ru-RU" b="1" dirty="0"/>
          </a:p>
          <a:p>
            <a:r>
              <a:rPr lang="en-US" b="1" dirty="0" smtClean="0"/>
              <a:t>{</a:t>
            </a:r>
            <a:r>
              <a:rPr lang="ru-RU" b="1" dirty="0" smtClean="0"/>
              <a:t> </a:t>
            </a:r>
          </a:p>
          <a:p>
            <a:r>
              <a:rPr lang="ru-RU" b="1" dirty="0" smtClean="0"/>
              <a:t>    </a:t>
            </a:r>
            <a:r>
              <a:rPr lang="en-US" b="1" dirty="0" err="1" smtClean="0"/>
              <a:t>int</a:t>
            </a:r>
            <a:r>
              <a:rPr lang="en-US" b="1" dirty="0" smtClean="0"/>
              <a:t> </a:t>
            </a:r>
            <a:r>
              <a:rPr lang="ru-RU" b="1" dirty="0" smtClean="0"/>
              <a:t> </a:t>
            </a:r>
            <a:r>
              <a:rPr lang="en-US" b="1" dirty="0" err="1" smtClean="0"/>
              <a:t>koef</a:t>
            </a:r>
            <a:r>
              <a:rPr lang="en-US" b="1" dirty="0"/>
              <a:t>, power;</a:t>
            </a:r>
            <a:endParaRPr lang="ru-RU" b="1" dirty="0"/>
          </a:p>
          <a:p>
            <a:r>
              <a:rPr lang="ru-RU" b="1" dirty="0" smtClean="0"/>
              <a:t>   </a:t>
            </a:r>
            <a:r>
              <a:rPr lang="en-US" b="1" dirty="0" smtClean="0"/>
              <a:t>top=NULL</a:t>
            </a:r>
            <a:r>
              <a:rPr lang="en-US" b="1" dirty="0"/>
              <a:t>;</a:t>
            </a:r>
            <a:endParaRPr lang="ru-RU" b="1" dirty="0"/>
          </a:p>
          <a:p>
            <a:r>
              <a:rPr lang="ru-RU" b="1" dirty="0" smtClean="0"/>
              <a:t>   </a:t>
            </a:r>
            <a:r>
              <a:rPr lang="en-US" b="1" dirty="0" smtClean="0"/>
              <a:t>end=NULL</a:t>
            </a:r>
            <a:r>
              <a:rPr lang="en-US" b="1" dirty="0"/>
              <a:t>;</a:t>
            </a:r>
            <a:endParaRPr lang="ru-RU" b="1" dirty="0"/>
          </a:p>
          <a:p>
            <a:r>
              <a:rPr lang="ru-RU" b="1" dirty="0" smtClean="0"/>
              <a:t>   </a:t>
            </a:r>
            <a:r>
              <a:rPr lang="en-US" b="1" dirty="0" smtClean="0"/>
              <a:t>for(</a:t>
            </a:r>
            <a:r>
              <a:rPr lang="en-US" b="1" dirty="0" err="1" smtClean="0"/>
              <a:t>int</a:t>
            </a:r>
            <a:r>
              <a:rPr lang="en-US" b="1" dirty="0" smtClean="0"/>
              <a:t> </a:t>
            </a:r>
            <a:r>
              <a:rPr lang="en-US" b="1" dirty="0" err="1" smtClean="0"/>
              <a:t>i</a:t>
            </a:r>
            <a:r>
              <a:rPr lang="en-US" b="1" dirty="0" smtClean="0"/>
              <a:t>=</a:t>
            </a:r>
            <a:r>
              <a:rPr lang="ru-RU" b="1" dirty="0"/>
              <a:t>0</a:t>
            </a:r>
            <a:r>
              <a:rPr lang="en-US" b="1" dirty="0" smtClean="0"/>
              <a:t>; </a:t>
            </a:r>
            <a:r>
              <a:rPr lang="en-US" b="1" dirty="0" err="1" smtClean="0"/>
              <a:t>i</a:t>
            </a:r>
            <a:r>
              <a:rPr lang="en-US" b="1" dirty="0" smtClean="0"/>
              <a:t>&lt;n; </a:t>
            </a:r>
            <a:r>
              <a:rPr lang="en-US" b="1" dirty="0" err="1" smtClean="0"/>
              <a:t>i</a:t>
            </a:r>
            <a:r>
              <a:rPr lang="en-US" b="1" dirty="0"/>
              <a:t>++)</a:t>
            </a:r>
            <a:endParaRPr lang="ru-RU" b="1" dirty="0"/>
          </a:p>
          <a:p>
            <a:r>
              <a:rPr lang="ru-RU" b="1" dirty="0" smtClean="0"/>
              <a:t>     </a:t>
            </a:r>
            <a:r>
              <a:rPr lang="en-US" b="1" dirty="0" smtClean="0"/>
              <a:t>{</a:t>
            </a:r>
            <a:r>
              <a:rPr lang="ru-RU" b="1" dirty="0" smtClean="0"/>
              <a:t> </a:t>
            </a:r>
          </a:p>
          <a:p>
            <a:r>
              <a:rPr lang="ru-RU" b="1" dirty="0"/>
              <a:t> </a:t>
            </a:r>
            <a:r>
              <a:rPr lang="ru-RU" b="1" dirty="0" smtClean="0"/>
              <a:t>       </a:t>
            </a:r>
            <a:r>
              <a:rPr lang="en-US" b="1" dirty="0" err="1" smtClean="0"/>
              <a:t>cout</a:t>
            </a:r>
            <a:r>
              <a:rPr lang="en-US" b="1" dirty="0"/>
              <a:t>&lt;&lt;”Enter </a:t>
            </a:r>
            <a:r>
              <a:rPr lang="en-US" b="1" dirty="0" err="1" smtClean="0"/>
              <a:t>koef</a:t>
            </a:r>
            <a:r>
              <a:rPr lang="en-US" b="1" dirty="0" smtClean="0"/>
              <a:t>”&lt;&lt;</a:t>
            </a:r>
            <a:r>
              <a:rPr lang="en-US" b="1" dirty="0" err="1" smtClean="0"/>
              <a:t>endl</a:t>
            </a:r>
            <a:r>
              <a:rPr lang="en-US" b="1" dirty="0" smtClean="0"/>
              <a:t>;</a:t>
            </a:r>
            <a:endParaRPr lang="ru-RU" b="1" dirty="0"/>
          </a:p>
          <a:p>
            <a:r>
              <a:rPr lang="ru-RU" b="1" dirty="0" smtClean="0"/>
              <a:t>        </a:t>
            </a:r>
            <a:r>
              <a:rPr lang="en-US" b="1" dirty="0" err="1" smtClean="0"/>
              <a:t>cin</a:t>
            </a:r>
            <a:r>
              <a:rPr lang="en-US" b="1" dirty="0"/>
              <a:t>&gt;&gt;</a:t>
            </a:r>
            <a:r>
              <a:rPr lang="en-US" b="1" dirty="0" err="1"/>
              <a:t>koef</a:t>
            </a:r>
            <a:r>
              <a:rPr lang="en-US" b="1" dirty="0"/>
              <a:t>;</a:t>
            </a:r>
            <a:endParaRPr lang="ru-RU" b="1" dirty="0"/>
          </a:p>
          <a:p>
            <a:r>
              <a:rPr lang="ru-RU" b="1" dirty="0" smtClean="0"/>
              <a:t>        </a:t>
            </a:r>
            <a:r>
              <a:rPr lang="en-US" b="1" dirty="0" err="1" smtClean="0"/>
              <a:t>cout</a:t>
            </a:r>
            <a:r>
              <a:rPr lang="en-US" b="1" dirty="0"/>
              <a:t>&lt;&lt;”Enter </a:t>
            </a:r>
            <a:r>
              <a:rPr lang="en-US" b="1" dirty="0" smtClean="0"/>
              <a:t>power”&lt;&lt;</a:t>
            </a:r>
            <a:r>
              <a:rPr lang="en-US" b="1" dirty="0" err="1" smtClean="0"/>
              <a:t>endl</a:t>
            </a:r>
            <a:r>
              <a:rPr lang="en-US" b="1" dirty="0" smtClean="0"/>
              <a:t>;</a:t>
            </a:r>
            <a:endParaRPr lang="ru-RU" b="1" dirty="0"/>
          </a:p>
          <a:p>
            <a:r>
              <a:rPr lang="ru-RU" b="1" dirty="0" smtClean="0"/>
              <a:t>        </a:t>
            </a:r>
            <a:r>
              <a:rPr lang="en-US" b="1" dirty="0" err="1" smtClean="0"/>
              <a:t>cin</a:t>
            </a:r>
            <a:r>
              <a:rPr lang="en-US" b="1" dirty="0"/>
              <a:t>&gt;&gt;power;</a:t>
            </a:r>
            <a:endParaRPr lang="ru-RU" b="1" dirty="0"/>
          </a:p>
          <a:p>
            <a:r>
              <a:rPr lang="ru-RU" b="1" dirty="0" smtClean="0"/>
              <a:t>        </a:t>
            </a:r>
            <a:r>
              <a:rPr lang="en-US" b="1" dirty="0" err="1" smtClean="0"/>
              <a:t>pushPolinom</a:t>
            </a:r>
            <a:r>
              <a:rPr lang="en-US" b="1" dirty="0" smtClean="0"/>
              <a:t>(</a:t>
            </a:r>
            <a:r>
              <a:rPr lang="en-US" b="1" dirty="0" err="1" smtClean="0"/>
              <a:t>top,end,koef,power</a:t>
            </a:r>
            <a:r>
              <a:rPr lang="en-US" b="1" dirty="0"/>
              <a:t>);</a:t>
            </a:r>
            <a:endParaRPr lang="ru-RU" b="1" dirty="0"/>
          </a:p>
          <a:p>
            <a:r>
              <a:rPr lang="ru-RU" b="1" dirty="0" smtClean="0"/>
              <a:t>     </a:t>
            </a:r>
            <a:r>
              <a:rPr lang="en-US" b="1" dirty="0" smtClean="0"/>
              <a:t>}</a:t>
            </a:r>
            <a:endParaRPr lang="ru-RU" b="1" dirty="0" smtClean="0"/>
          </a:p>
          <a:p>
            <a:r>
              <a:rPr lang="en-US" b="1" dirty="0"/>
              <a:t>}</a:t>
            </a:r>
            <a:endParaRPr lang="ru-RU" b="1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057469"/>
              </p:ext>
            </p:extLst>
          </p:nvPr>
        </p:nvGraphicFramePr>
        <p:xfrm>
          <a:off x="8307977" y="1385409"/>
          <a:ext cx="3724385" cy="4767198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3724385"/>
              </a:tblGrid>
              <a:tr h="476719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4">
                            <a:shade val="30000"/>
                            <a:satMod val="115000"/>
                          </a:schemeClr>
                        </a:gs>
                        <a:gs pos="50000">
                          <a:schemeClr val="accent4">
                            <a:shade val="67500"/>
                            <a:satMod val="115000"/>
                          </a:schemeClr>
                        </a:gs>
                        <a:gs pos="100000">
                          <a:schemeClr val="accent4"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07977" y="1430715"/>
            <a:ext cx="1397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Enter </a:t>
            </a:r>
            <a:r>
              <a:rPr lang="en-US" b="1" dirty="0" err="1"/>
              <a:t>koef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8307977" y="986496"/>
            <a:ext cx="1397726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 smtClean="0"/>
              <a:t>Экран: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8307977" y="2071905"/>
            <a:ext cx="159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Enter power</a:t>
            </a:r>
            <a:endParaRPr lang="ru-RU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98148"/>
              </p:ext>
            </p:extLst>
          </p:nvPr>
        </p:nvGraphicFramePr>
        <p:xfrm>
          <a:off x="6636079" y="2946386"/>
          <a:ext cx="9497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738"/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04214" y="2523322"/>
            <a:ext cx="985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power</a:t>
            </a:r>
            <a:endParaRPr lang="ru-RU" sz="2000" b="1" dirty="0"/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958440"/>
              </p:ext>
            </p:extLst>
          </p:nvPr>
        </p:nvGraphicFramePr>
        <p:xfrm>
          <a:off x="6615055" y="2008027"/>
          <a:ext cx="9497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738"/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504215" y="1599992"/>
            <a:ext cx="985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/>
              <a:t>koef</a:t>
            </a:r>
            <a:endParaRPr lang="ru-RU" sz="20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620829" y="2026245"/>
            <a:ext cx="75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6079" y="2946386"/>
            <a:ext cx="75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9249" y="4673890"/>
            <a:ext cx="985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end</a:t>
            </a:r>
            <a:endParaRPr lang="ru-RU" sz="2000" b="1" dirty="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098843"/>
              </p:ext>
            </p:extLst>
          </p:nvPr>
        </p:nvGraphicFramePr>
        <p:xfrm>
          <a:off x="3063471" y="5026032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796379" y="4675185"/>
            <a:ext cx="63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top</a:t>
            </a:r>
            <a:endParaRPr lang="ru-RU" sz="20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3117038" y="5107999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8</a:t>
            </a:r>
            <a:endParaRPr lang="ru-RU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3117596" y="5659877"/>
            <a:ext cx="75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graphicFrame>
        <p:nvGraphicFramePr>
          <p:cNvPr id="22" name="Таблица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363732"/>
              </p:ext>
            </p:extLst>
          </p:nvPr>
        </p:nvGraphicFramePr>
        <p:xfrm>
          <a:off x="4506082" y="5025213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544563" y="5087153"/>
            <a:ext cx="75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2" y="5659877"/>
            <a:ext cx="75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5136" y="6232602"/>
            <a:ext cx="921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</a:rPr>
              <a:t>NULL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07977" y="2737152"/>
            <a:ext cx="1397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Enter </a:t>
            </a:r>
            <a:r>
              <a:rPr lang="en-US" b="1" dirty="0" err="1"/>
              <a:t>koef</a:t>
            </a:r>
            <a:endParaRPr lang="ru-RU" dirty="0"/>
          </a:p>
        </p:txBody>
      </p:sp>
      <p:sp>
        <p:nvSpPr>
          <p:cNvPr id="28" name="TextBox 27"/>
          <p:cNvSpPr txBox="1"/>
          <p:nvPr/>
        </p:nvSpPr>
        <p:spPr>
          <a:xfrm>
            <a:off x="8307977" y="3426261"/>
            <a:ext cx="159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Enter power</a:t>
            </a:r>
            <a:endParaRPr lang="ru-RU" dirty="0"/>
          </a:p>
        </p:txBody>
      </p:sp>
      <p:sp>
        <p:nvSpPr>
          <p:cNvPr id="29" name="TextBox 28"/>
          <p:cNvSpPr txBox="1"/>
          <p:nvPr/>
        </p:nvSpPr>
        <p:spPr>
          <a:xfrm>
            <a:off x="8307977" y="4977841"/>
            <a:ext cx="159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Enter power</a:t>
            </a:r>
            <a:endParaRPr lang="ru-RU" dirty="0"/>
          </a:p>
        </p:txBody>
      </p:sp>
      <p:sp>
        <p:nvSpPr>
          <p:cNvPr id="30" name="TextBox 29"/>
          <p:cNvSpPr txBox="1"/>
          <p:nvPr/>
        </p:nvSpPr>
        <p:spPr>
          <a:xfrm>
            <a:off x="8307977" y="4162394"/>
            <a:ext cx="1397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Enter </a:t>
            </a:r>
            <a:r>
              <a:rPr lang="en-US" b="1" dirty="0" err="1"/>
              <a:t>koef</a:t>
            </a:r>
            <a:endParaRPr lang="ru-RU" dirty="0"/>
          </a:p>
        </p:txBody>
      </p:sp>
      <p:sp>
        <p:nvSpPr>
          <p:cNvPr id="31" name="TextBox 30"/>
          <p:cNvSpPr txBox="1"/>
          <p:nvPr/>
        </p:nvSpPr>
        <p:spPr>
          <a:xfrm>
            <a:off x="8370456" y="1745918"/>
            <a:ext cx="63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0456" y="2377209"/>
            <a:ext cx="63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2322" y="3089830"/>
            <a:ext cx="63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/>
              <a:t>6</a:t>
            </a:r>
            <a:endParaRPr lang="ru-RU" sz="20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8370456" y="3778878"/>
            <a:ext cx="63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2322" y="4554728"/>
            <a:ext cx="63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/>
              <a:t>7</a:t>
            </a:r>
            <a:endParaRPr lang="ru-RU" sz="2000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8392322" y="5354516"/>
            <a:ext cx="63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/>
              <a:t>1</a:t>
            </a:r>
            <a:endParaRPr lang="ru-RU" sz="2000" b="1" dirty="0"/>
          </a:p>
        </p:txBody>
      </p:sp>
      <p:graphicFrame>
        <p:nvGraphicFramePr>
          <p:cNvPr id="38" name="Таблица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77724"/>
              </p:ext>
            </p:extLst>
          </p:nvPr>
        </p:nvGraphicFramePr>
        <p:xfrm>
          <a:off x="5970900" y="5025213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3174518" y="6186921"/>
            <a:ext cx="921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</a:rPr>
              <a:t>NULL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40" name="Стрелка вправо 39"/>
          <p:cNvSpPr/>
          <p:nvPr/>
        </p:nvSpPr>
        <p:spPr>
          <a:xfrm>
            <a:off x="5443630" y="6345402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/>
          <p:cNvSpPr txBox="1"/>
          <p:nvPr/>
        </p:nvSpPr>
        <p:spPr>
          <a:xfrm>
            <a:off x="6043560" y="6232602"/>
            <a:ext cx="921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</a:rPr>
              <a:t>NULL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8" name="Стрелка вправо 17"/>
          <p:cNvSpPr/>
          <p:nvPr/>
        </p:nvSpPr>
        <p:spPr>
          <a:xfrm>
            <a:off x="4006753" y="6369134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/>
          <p:cNvSpPr txBox="1"/>
          <p:nvPr/>
        </p:nvSpPr>
        <p:spPr>
          <a:xfrm>
            <a:off x="6024790" y="5056375"/>
            <a:ext cx="63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/>
              <a:t>7</a:t>
            </a:r>
            <a:endParaRPr lang="ru-RU" sz="20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5999695" y="5647671"/>
            <a:ext cx="63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solidFill>
                  <a:schemeClr val="bg1"/>
                </a:solidFill>
              </a:rPr>
              <a:t>1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433358" y="4777786"/>
            <a:ext cx="63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/>
              <a:t>1</a:t>
            </a:r>
            <a:endParaRPr lang="ru-RU" sz="2000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7414409" y="4407018"/>
            <a:ext cx="63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/>
              <a:t>7</a:t>
            </a:r>
            <a:endParaRPr lang="ru-RU" sz="2000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7401048" y="3458350"/>
            <a:ext cx="63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/>
              <a:t>6</a:t>
            </a:r>
            <a:endParaRPr lang="ru-RU" sz="2000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7414409" y="3821524"/>
            <a:ext cx="63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56680" y="5233817"/>
            <a:ext cx="921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</a:rPr>
              <a:t>NULL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468810" y="5244150"/>
            <a:ext cx="921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</a:rPr>
              <a:t>NULL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51" name="Стрелка вниз 50"/>
          <p:cNvSpPr/>
          <p:nvPr/>
        </p:nvSpPr>
        <p:spPr>
          <a:xfrm>
            <a:off x="3727945" y="5008633"/>
            <a:ext cx="150253" cy="32459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Стрелка вниз 51"/>
          <p:cNvSpPr/>
          <p:nvPr/>
        </p:nvSpPr>
        <p:spPr>
          <a:xfrm>
            <a:off x="2929464" y="5008633"/>
            <a:ext cx="150253" cy="32459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257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9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6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6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7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0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1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3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3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6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6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6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6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6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8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8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8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8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8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9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53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3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3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4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6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7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7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8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8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8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" fill="hold">
                      <p:stCondLst>
                        <p:cond delay="indefinite"/>
                      </p:stCondLst>
                      <p:childTnLst>
                        <p:par>
                          <p:cTn id="391" fill="hold">
                            <p:stCondLst>
                              <p:cond delay="0"/>
                            </p:stCondLst>
                            <p:childTnLst>
                              <p:par>
                                <p:cTn id="392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93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94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95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96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97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fill="hold">
                      <p:stCondLst>
                        <p:cond delay="indefinite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" fill="hold">
                      <p:stCondLst>
                        <p:cond delay="indefinite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1.85185E-6 L 0.06849 0.00139 " pathEditMode="relative" rAng="0" ptsTypes="AA">
                                      <p:cBhvr>
                                        <p:cTn id="40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24" y="69"/>
                                    </p:animMotion>
                                  </p:childTnLst>
                                </p:cTn>
                              </p:par>
                              <p:par>
                                <p:cTn id="40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>
                      <p:stCondLst>
                        <p:cond delay="indefinite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8" fill="hold">
                      <p:stCondLst>
                        <p:cond delay="indefinite"/>
                      </p:stCondLst>
                      <p:childTnLst>
                        <p:par>
                          <p:cTn id="429" fill="hold">
                            <p:stCondLst>
                              <p:cond delay="0"/>
                            </p:stCondLst>
                            <p:childTnLst>
                              <p:par>
                                <p:cTn id="43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fill="hold">
                      <p:stCondLst>
                        <p:cond delay="indefinite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5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indefinite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8" fill="hold">
                      <p:stCondLst>
                        <p:cond delay="indefinite"/>
                      </p:stCondLst>
                      <p:childTnLst>
                        <p:par>
                          <p:cTn id="459" fill="hold">
                            <p:stCondLst>
                              <p:cond delay="0"/>
                            </p:stCondLst>
                            <p:childTnLst>
                              <p:par>
                                <p:cTn id="46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4" fill="hold">
                      <p:stCondLst>
                        <p:cond delay="indefinite"/>
                      </p:stCondLst>
                      <p:childTnLst>
                        <p:par>
                          <p:cTn id="465" fill="hold">
                            <p:stCondLst>
                              <p:cond delay="0"/>
                            </p:stCondLst>
                            <p:childTnLst>
                              <p:par>
                                <p:cTn id="46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4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7" fill="hold">
                      <p:stCondLst>
                        <p:cond delay="indefinite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8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3" fill="hold">
                      <p:stCondLst>
                        <p:cond delay="indefinite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49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49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0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0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0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3" fill="hold">
                      <p:stCondLst>
                        <p:cond delay="indefinite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id="50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0" fill="hold">
                      <p:stCondLst>
                        <p:cond delay="indefinite"/>
                      </p:stCondLst>
                      <p:childTnLst>
                        <p:par>
                          <p:cTn id="511" fill="hold">
                            <p:stCondLst>
                              <p:cond delay="0"/>
                            </p:stCondLst>
                            <p:childTnLst>
                              <p:par>
                                <p:cTn id="512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513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514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15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16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17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8" fill="hold">
                      <p:stCondLst>
                        <p:cond delay="indefinite"/>
                      </p:stCondLst>
                      <p:childTnLst>
                        <p:par>
                          <p:cTn id="519" fill="hold">
                            <p:stCondLst>
                              <p:cond delay="0"/>
                            </p:stCondLst>
                            <p:childTnLst>
                              <p:par>
                                <p:cTn id="5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5" fill="hold">
                      <p:stCondLst>
                        <p:cond delay="indefinite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0" fill="hold">
                      <p:stCondLst>
                        <p:cond delay="indefinite"/>
                      </p:stCondLst>
                      <p:childTnLst>
                        <p:par>
                          <p:cTn id="531" fill="hold">
                            <p:stCondLst>
                              <p:cond delay="0"/>
                            </p:stCondLst>
                            <p:childTnLst>
                              <p:par>
                                <p:cTn id="5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7" fill="hold">
                      <p:stCondLst>
                        <p:cond delay="indefinite"/>
                      </p:stCondLst>
                      <p:childTnLst>
                        <p:par>
                          <p:cTn id="538" fill="hold">
                            <p:stCondLst>
                              <p:cond delay="0"/>
                            </p:stCondLst>
                            <p:childTnLst>
                              <p:par>
                                <p:cTn id="539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849 0.00139 L 0.20912 -0.00116 " pathEditMode="relative" rAng="0" ptsTypes="AA">
                                      <p:cBhvr>
                                        <p:cTn id="54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4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 animBg="1"/>
      <p:bldP spid="7" grpId="0"/>
      <p:bldP spid="10" grpId="0"/>
      <p:bldP spid="12" grpId="0"/>
      <p:bldP spid="13" grpId="0"/>
      <p:bldP spid="13" grpId="1"/>
      <p:bldP spid="13" grpId="2"/>
      <p:bldP spid="14" grpId="0"/>
      <p:bldP spid="14" grpId="1"/>
      <p:bldP spid="14" grpId="2"/>
      <p:bldP spid="15" grpId="0"/>
      <p:bldP spid="15" grpId="1"/>
      <p:bldP spid="15" grpId="2"/>
      <p:bldP spid="19" grpId="0"/>
      <p:bldP spid="20" grpId="0"/>
      <p:bldP spid="21" grpId="0"/>
      <p:bldP spid="24" grpId="0"/>
      <p:bldP spid="25" grpId="0"/>
      <p:bldP spid="26" grpId="0"/>
      <p:bldP spid="26" grpId="1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9" grpId="0"/>
      <p:bldP spid="39" grpId="1"/>
      <p:bldP spid="40" grpId="0" animBg="1"/>
      <p:bldP spid="41" grpId="0"/>
      <p:bldP spid="18" grpId="0" animBg="1"/>
      <p:bldP spid="43" grpId="0"/>
      <p:bldP spid="44" grpId="0"/>
      <p:bldP spid="45" grpId="0"/>
      <p:bldP spid="45" grpId="1"/>
      <p:bldP spid="46" grpId="0"/>
      <p:bldP spid="46" grpId="1"/>
      <p:bldP spid="47" grpId="0"/>
      <p:bldP spid="47" grpId="1"/>
      <p:bldP spid="47" grpId="2" build="allAtOnce"/>
      <p:bldP spid="48" grpId="0"/>
      <p:bldP spid="48" grpId="1"/>
      <p:bldP spid="48" grpId="2"/>
      <p:bldP spid="49" grpId="0"/>
      <p:bldP spid="49" grpId="1"/>
      <p:bldP spid="50" grpId="0"/>
      <p:bldP spid="50" grpId="1"/>
      <p:bldP spid="51" grpId="0" animBg="1"/>
      <p:bldP spid="51" grpId="1" animBg="1"/>
      <p:bldP spid="52" grpId="0" animBg="1"/>
      <p:bldP spid="52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6729" y="169053"/>
            <a:ext cx="8345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5</a:t>
            </a:r>
            <a:r>
              <a:rPr lang="ru-RU" dirty="0" smtClean="0"/>
              <a:t>. </a:t>
            </a:r>
            <a:r>
              <a:rPr lang="ru-RU" i="1" u="sng" dirty="0" smtClean="0"/>
              <a:t>Функция вывода </a:t>
            </a:r>
            <a:r>
              <a:rPr lang="ru-RU" i="1" u="sng" dirty="0"/>
              <a:t>списка </a:t>
            </a:r>
            <a:r>
              <a:rPr lang="ru-RU" i="1" u="sng" dirty="0" smtClean="0"/>
              <a:t>(полинома) на экран.</a:t>
            </a:r>
            <a:endParaRPr lang="ru-RU" i="1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196729" y="732954"/>
            <a:ext cx="472654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void </a:t>
            </a:r>
            <a:r>
              <a:rPr lang="en-US" b="1" dirty="0" err="1" smtClean="0"/>
              <a:t>showPolinom</a:t>
            </a:r>
            <a:r>
              <a:rPr lang="ru-RU" b="1" dirty="0" smtClean="0"/>
              <a:t> </a:t>
            </a:r>
            <a:r>
              <a:rPr lang="en-US" b="1" dirty="0" smtClean="0"/>
              <a:t>(</a:t>
            </a:r>
            <a:r>
              <a:rPr lang="ru-RU" b="1" dirty="0" smtClean="0"/>
              <a:t> </a:t>
            </a:r>
            <a:r>
              <a:rPr lang="en-US" b="1" dirty="0" smtClean="0"/>
              <a:t>node*top</a:t>
            </a:r>
            <a:r>
              <a:rPr lang="ru-RU" b="1" dirty="0" smtClean="0"/>
              <a:t> </a:t>
            </a:r>
            <a:r>
              <a:rPr lang="en-US" b="1" dirty="0" smtClean="0"/>
              <a:t>)</a:t>
            </a:r>
            <a:endParaRPr lang="ru-RU" b="1" dirty="0"/>
          </a:p>
          <a:p>
            <a:r>
              <a:rPr lang="en-US" b="1" dirty="0"/>
              <a:t>{ </a:t>
            </a:r>
            <a:r>
              <a:rPr lang="ru-RU" b="1" dirty="0" smtClean="0"/>
              <a:t> </a:t>
            </a:r>
          </a:p>
          <a:p>
            <a:r>
              <a:rPr lang="ru-RU" b="1" dirty="0"/>
              <a:t> </a:t>
            </a:r>
            <a:r>
              <a:rPr lang="ru-RU" b="1" dirty="0" smtClean="0"/>
              <a:t>   </a:t>
            </a:r>
            <a:r>
              <a:rPr lang="en-US" b="1" dirty="0" smtClean="0"/>
              <a:t>node*p</a:t>
            </a:r>
            <a:r>
              <a:rPr lang="en-US" b="1" dirty="0"/>
              <a:t>;</a:t>
            </a:r>
            <a:endParaRPr lang="ru-RU" b="1" dirty="0"/>
          </a:p>
          <a:p>
            <a:r>
              <a:rPr lang="ru-RU" b="1" dirty="0" smtClean="0"/>
              <a:t>    </a:t>
            </a:r>
            <a:r>
              <a:rPr lang="en-US" b="1" dirty="0" smtClean="0"/>
              <a:t>p=top</a:t>
            </a:r>
            <a:r>
              <a:rPr lang="en-US" b="1" dirty="0"/>
              <a:t>;</a:t>
            </a:r>
            <a:endParaRPr lang="ru-RU" b="1" dirty="0"/>
          </a:p>
          <a:p>
            <a:r>
              <a:rPr lang="en-US" b="1" dirty="0"/>
              <a:t> </a:t>
            </a:r>
            <a:r>
              <a:rPr lang="ru-RU" b="1" dirty="0" smtClean="0"/>
              <a:t>   </a:t>
            </a:r>
            <a:r>
              <a:rPr lang="en-US" b="1" dirty="0" smtClean="0"/>
              <a:t>while(p</a:t>
            </a:r>
            <a:r>
              <a:rPr lang="en-US" b="1" dirty="0"/>
              <a:t>)</a:t>
            </a:r>
            <a:endParaRPr lang="ru-RU" b="1" dirty="0"/>
          </a:p>
          <a:p>
            <a:r>
              <a:rPr lang="ru-RU" b="1" dirty="0" smtClean="0"/>
              <a:t>      </a:t>
            </a:r>
            <a:r>
              <a:rPr lang="en-US" b="1" dirty="0" smtClean="0"/>
              <a:t>{</a:t>
            </a:r>
            <a:endParaRPr lang="ru-RU" b="1" dirty="0"/>
          </a:p>
          <a:p>
            <a:r>
              <a:rPr lang="en-US" b="1" dirty="0"/>
              <a:t>    </a:t>
            </a:r>
            <a:r>
              <a:rPr lang="ru-RU" b="1" dirty="0" smtClean="0"/>
              <a:t>      </a:t>
            </a:r>
            <a:r>
              <a:rPr lang="en-US" b="1" dirty="0" err="1" smtClean="0"/>
              <a:t>cout</a:t>
            </a:r>
            <a:r>
              <a:rPr lang="en-US" b="1" dirty="0"/>
              <a:t>&lt;&lt;p-&gt;</a:t>
            </a:r>
            <a:r>
              <a:rPr lang="en-US" b="1" dirty="0" err="1"/>
              <a:t>koef</a:t>
            </a:r>
            <a:r>
              <a:rPr lang="en-US" b="1" dirty="0"/>
              <a:t>&lt;&lt;"*X^"&lt;&lt;p-&gt;power;</a:t>
            </a:r>
            <a:endParaRPr lang="ru-RU" b="1" dirty="0"/>
          </a:p>
          <a:p>
            <a:r>
              <a:rPr lang="en-US" b="1" dirty="0"/>
              <a:t>    </a:t>
            </a:r>
            <a:r>
              <a:rPr lang="ru-RU" b="1" dirty="0" smtClean="0"/>
              <a:t>      </a:t>
            </a:r>
            <a:r>
              <a:rPr lang="en-US" b="1" dirty="0" smtClean="0"/>
              <a:t>p=p-</a:t>
            </a:r>
            <a:r>
              <a:rPr lang="en-US" b="1" dirty="0"/>
              <a:t>&gt;next;</a:t>
            </a:r>
            <a:endParaRPr lang="ru-RU" b="1" dirty="0"/>
          </a:p>
          <a:p>
            <a:r>
              <a:rPr lang="en-US" b="1" dirty="0" smtClean="0"/>
              <a:t>    </a:t>
            </a:r>
            <a:r>
              <a:rPr lang="ru-RU" b="1" dirty="0" smtClean="0"/>
              <a:t>      </a:t>
            </a:r>
            <a:r>
              <a:rPr lang="en-US" b="1" dirty="0" smtClean="0"/>
              <a:t>if</a:t>
            </a:r>
            <a:r>
              <a:rPr lang="ru-RU" b="1" dirty="0" smtClean="0"/>
              <a:t> </a:t>
            </a:r>
            <a:r>
              <a:rPr lang="en-US" b="1" dirty="0" smtClean="0"/>
              <a:t>(</a:t>
            </a:r>
            <a:r>
              <a:rPr lang="ru-RU" b="1" dirty="0" smtClean="0"/>
              <a:t> </a:t>
            </a:r>
            <a:r>
              <a:rPr lang="en-US" b="1" dirty="0" smtClean="0"/>
              <a:t>p!=NULL</a:t>
            </a:r>
            <a:r>
              <a:rPr lang="ru-RU" b="1" dirty="0" smtClean="0"/>
              <a:t> </a:t>
            </a:r>
            <a:r>
              <a:rPr lang="en-US" b="1" dirty="0" smtClean="0"/>
              <a:t>) </a:t>
            </a:r>
            <a:endParaRPr lang="ru-RU" b="1" dirty="0" smtClean="0"/>
          </a:p>
          <a:p>
            <a:r>
              <a:rPr lang="ru-RU" b="1" dirty="0" smtClean="0"/>
              <a:t>              </a:t>
            </a:r>
            <a:r>
              <a:rPr lang="en-US" b="1" dirty="0" err="1" smtClean="0"/>
              <a:t>cout</a:t>
            </a:r>
            <a:r>
              <a:rPr lang="en-US" b="1" dirty="0" smtClean="0"/>
              <a:t>&lt;&lt;"+";</a:t>
            </a:r>
            <a:endParaRPr lang="ru-RU" b="1" dirty="0" smtClean="0"/>
          </a:p>
          <a:p>
            <a:r>
              <a:rPr lang="ru-RU" b="1" dirty="0" smtClean="0"/>
              <a:t>      </a:t>
            </a:r>
            <a:r>
              <a:rPr lang="en-US" b="1" dirty="0" smtClean="0"/>
              <a:t>}</a:t>
            </a:r>
            <a:endParaRPr lang="ru-RU" b="1" dirty="0"/>
          </a:p>
          <a:p>
            <a:r>
              <a:rPr lang="ru-RU" b="1" dirty="0" smtClean="0"/>
              <a:t>    </a:t>
            </a:r>
            <a:r>
              <a:rPr lang="en-US" b="1" dirty="0" err="1" smtClean="0"/>
              <a:t>cout</a:t>
            </a:r>
            <a:r>
              <a:rPr lang="en-US" b="1" dirty="0"/>
              <a:t>&lt;&lt;</a:t>
            </a:r>
            <a:r>
              <a:rPr lang="en-US" b="1" dirty="0" err="1"/>
              <a:t>endl</a:t>
            </a:r>
            <a:r>
              <a:rPr lang="en-US" b="1" dirty="0"/>
              <a:t>;</a:t>
            </a:r>
            <a:endParaRPr lang="ru-RU" b="1" dirty="0"/>
          </a:p>
          <a:p>
            <a:r>
              <a:rPr lang="en-US" b="1" dirty="0"/>
              <a:t>}</a:t>
            </a:r>
            <a:endParaRPr lang="ru-RU" b="1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647626"/>
              </p:ext>
            </p:extLst>
          </p:nvPr>
        </p:nvGraphicFramePr>
        <p:xfrm>
          <a:off x="6028602" y="1197117"/>
          <a:ext cx="5623467" cy="2421294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5623467"/>
              </a:tblGrid>
              <a:tr h="24212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chemeClr val="accent4">
                            <a:shade val="30000"/>
                            <a:satMod val="115000"/>
                          </a:schemeClr>
                        </a:gs>
                        <a:gs pos="50000">
                          <a:schemeClr val="accent4">
                            <a:shade val="67500"/>
                            <a:satMod val="115000"/>
                          </a:schemeClr>
                        </a:gs>
                        <a:gs pos="100000">
                          <a:schemeClr val="accent4"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28603" y="814958"/>
            <a:ext cx="1397726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 smtClean="0"/>
              <a:t>Экран:</a:t>
            </a:r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553380"/>
              </p:ext>
            </p:extLst>
          </p:nvPr>
        </p:nvGraphicFramePr>
        <p:xfrm>
          <a:off x="2863284" y="4807339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496014"/>
              </p:ext>
            </p:extLst>
          </p:nvPr>
        </p:nvGraphicFramePr>
        <p:xfrm>
          <a:off x="4387378" y="4807339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08474"/>
              </p:ext>
            </p:extLst>
          </p:nvPr>
        </p:nvGraphicFramePr>
        <p:xfrm>
          <a:off x="5920428" y="4807339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Стрелка вправо 9"/>
          <p:cNvSpPr/>
          <p:nvPr/>
        </p:nvSpPr>
        <p:spPr>
          <a:xfrm>
            <a:off x="3810785" y="6124893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 вправо 10"/>
          <p:cNvSpPr/>
          <p:nvPr/>
        </p:nvSpPr>
        <p:spPr>
          <a:xfrm>
            <a:off x="5313507" y="6158022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2863283" y="4268608"/>
            <a:ext cx="63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top</a:t>
            </a:r>
            <a:endParaRPr lang="ru-RU" sz="20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2863285" y="4804951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8</a:t>
            </a:r>
            <a:endParaRPr lang="ru-RU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2863283" y="5426074"/>
            <a:ext cx="75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09428" y="3147241"/>
            <a:ext cx="63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p</a:t>
            </a:r>
            <a:endParaRPr lang="ru-RU" sz="2000" b="1" dirty="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558469"/>
              </p:ext>
            </p:extLst>
          </p:nvPr>
        </p:nvGraphicFramePr>
        <p:xfrm>
          <a:off x="4186635" y="3600704"/>
          <a:ext cx="72445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4452"/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028603" y="1198783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8</a:t>
            </a:r>
            <a:endParaRPr lang="ru-RU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6202716" y="1218590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*X^</a:t>
            </a:r>
            <a:endParaRPr lang="ru-RU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6618142" y="1218590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0359" y="1218590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9999" y="1204097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2097" y="1198783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*X^</a:t>
            </a:r>
            <a:endParaRPr lang="ru-RU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8213397" y="1234073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*X^</a:t>
            </a:r>
            <a:endParaRPr lang="ru-RU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8079505" y="1214266"/>
            <a:ext cx="296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30838" y="1214266"/>
            <a:ext cx="37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51200" y="1187378"/>
            <a:ext cx="362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2736" y="4791699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2736" y="5426074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981524" y="4833538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7</a:t>
            </a:r>
            <a:endParaRPr lang="ru-RU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5974806" y="5439829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9538" y="1206030"/>
            <a:ext cx="307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2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87063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6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7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4.44444E-6 L -0.04883 0.1926 " pathEditMode="relative" rAng="0" ptsTypes="AA">
                                      <p:cBhvr>
                                        <p:cTn id="18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48" y="96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9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9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0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07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08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09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10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11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23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24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25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26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27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883 0.1926 L 0.04883 0.1926 " pathEditMode="relative" rAng="0" ptsTypes="AA">
                                      <p:cBhvr>
                                        <p:cTn id="24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8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4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5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7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7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7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7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7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87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88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89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90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91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9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63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883 0.1926 L 0.17331 0.19167 " pathEditMode="relative" rAng="0" ptsTypes="AA">
                                      <p:cBhvr>
                                        <p:cTn id="30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24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2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2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2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2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2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4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4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4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4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4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indefinite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>
                      <p:stCondLst>
                        <p:cond delay="indefinite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5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>
                      <p:stCondLst>
                        <p:cond delay="indefinite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id="358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5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6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10" grpId="0" animBg="1"/>
      <p:bldP spid="11" grpId="0" animBg="1"/>
      <p:bldP spid="13" grpId="0"/>
      <p:bldP spid="14" grpId="0"/>
      <p:bldP spid="14" grpId="1"/>
      <p:bldP spid="15" grpId="0"/>
      <p:bldP spid="15" grpId="1"/>
      <p:bldP spid="16" grpId="0"/>
      <p:bldP spid="16" grpId="1"/>
      <p:bldP spid="16" grpId="2"/>
      <p:bldP spid="16" grpId="3"/>
      <p:bldP spid="18" grpId="0"/>
      <p:bldP spid="19" grpId="0"/>
      <p:bldP spid="20" grpId="0"/>
      <p:bldP spid="21" grpId="0"/>
      <p:bldP spid="22" grpId="0"/>
      <p:bldP spid="23" grpId="0"/>
      <p:bldP spid="25" grpId="0"/>
      <p:bldP spid="26" grpId="0"/>
      <p:bldP spid="27" grpId="0"/>
      <p:bldP spid="28" grpId="0"/>
      <p:bldP spid="31" grpId="0"/>
      <p:bldP spid="31" grpId="1"/>
      <p:bldP spid="32" grpId="0"/>
      <p:bldP spid="32" grpId="1"/>
      <p:bldP spid="33" grpId="0"/>
      <p:bldP spid="33" grpId="1"/>
      <p:bldP spid="34" grpId="0"/>
      <p:bldP spid="34" grpId="1"/>
      <p:bldP spid="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031" y="141668"/>
            <a:ext cx="9208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6</a:t>
            </a:r>
            <a:r>
              <a:rPr lang="ru-RU" dirty="0" smtClean="0"/>
              <a:t>. </a:t>
            </a:r>
            <a:r>
              <a:rPr lang="ru-RU" i="1" u="sng" dirty="0" smtClean="0"/>
              <a:t>Функция упорядочивания списка(многочлена). </a:t>
            </a:r>
            <a:r>
              <a:rPr lang="ru-RU" i="1" dirty="0" smtClean="0"/>
              <a:t>Упорядочивает полином по степеням.</a:t>
            </a:r>
            <a:endParaRPr lang="ru-RU" i="1" dirty="0"/>
          </a:p>
        </p:txBody>
      </p:sp>
      <p:sp>
        <p:nvSpPr>
          <p:cNvPr id="3" name="TextBox 2"/>
          <p:cNvSpPr txBox="1"/>
          <p:nvPr/>
        </p:nvSpPr>
        <p:spPr>
          <a:xfrm>
            <a:off x="103031" y="825579"/>
            <a:ext cx="4842457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void </a:t>
            </a:r>
            <a:r>
              <a:rPr lang="en-US" sz="1600" b="1" dirty="0" err="1" smtClean="0"/>
              <a:t>orderPolinom</a:t>
            </a:r>
            <a:r>
              <a:rPr lang="ru-RU" sz="1600" b="1" dirty="0" smtClean="0"/>
              <a:t> </a:t>
            </a:r>
            <a:r>
              <a:rPr lang="en-US" sz="1600" b="1" dirty="0" smtClean="0"/>
              <a:t>(</a:t>
            </a:r>
            <a:r>
              <a:rPr lang="en-US" sz="1600" b="1" dirty="0"/>
              <a:t>node*</a:t>
            </a:r>
            <a:r>
              <a:rPr lang="en-US" sz="1600" b="1" dirty="0" err="1"/>
              <a:t>top,node</a:t>
            </a:r>
            <a:r>
              <a:rPr lang="en-US" sz="1600" b="1" dirty="0"/>
              <a:t>*end</a:t>
            </a:r>
            <a:r>
              <a:rPr lang="en-US" sz="1600" b="1" dirty="0" smtClean="0"/>
              <a:t>)</a:t>
            </a:r>
            <a:endParaRPr lang="ru-RU" sz="1600" b="1" dirty="0"/>
          </a:p>
          <a:p>
            <a:r>
              <a:rPr lang="en-US" sz="1600" b="1" dirty="0" smtClean="0"/>
              <a:t>{</a:t>
            </a:r>
            <a:endParaRPr lang="ru-RU" sz="1600" b="1" dirty="0" smtClean="0"/>
          </a:p>
          <a:p>
            <a:r>
              <a:rPr lang="ru-RU" sz="1600" b="1" dirty="0"/>
              <a:t> </a:t>
            </a:r>
            <a:r>
              <a:rPr lang="ru-RU" sz="1600" b="1" dirty="0" smtClean="0"/>
              <a:t>   </a:t>
            </a:r>
            <a:r>
              <a:rPr lang="en-US" sz="1600" b="1" dirty="0" smtClean="0"/>
              <a:t> </a:t>
            </a:r>
            <a:r>
              <a:rPr lang="en-US" sz="1600" b="1" dirty="0" err="1"/>
              <a:t>int</a:t>
            </a:r>
            <a:r>
              <a:rPr lang="en-US" sz="1600" b="1" dirty="0"/>
              <a:t> </a:t>
            </a:r>
            <a:r>
              <a:rPr lang="en-US" sz="1600" b="1" dirty="0" err="1"/>
              <a:t>koef,power</a:t>
            </a:r>
            <a:r>
              <a:rPr lang="en-US" sz="1600" b="1" dirty="0"/>
              <a:t>;</a:t>
            </a:r>
            <a:endParaRPr lang="ru-RU" sz="1600" b="1" dirty="0"/>
          </a:p>
          <a:p>
            <a:r>
              <a:rPr lang="ru-RU" sz="1600" b="1" dirty="0" smtClean="0"/>
              <a:t>     </a:t>
            </a:r>
            <a:r>
              <a:rPr lang="en-US" sz="1600" b="1" dirty="0" smtClean="0"/>
              <a:t>node*p</a:t>
            </a:r>
            <a:r>
              <a:rPr lang="en-US" sz="1600" b="1" dirty="0"/>
              <a:t>,*q</a:t>
            </a:r>
            <a:r>
              <a:rPr lang="en-US" sz="1600" b="1" dirty="0" smtClean="0"/>
              <a:t>;</a:t>
            </a:r>
          </a:p>
          <a:p>
            <a:r>
              <a:rPr lang="en-US" sz="1600" b="1" dirty="0"/>
              <a:t> </a:t>
            </a:r>
            <a:r>
              <a:rPr lang="en-US" sz="1600" b="1" dirty="0" smtClean="0"/>
              <a:t>    p=top;</a:t>
            </a:r>
            <a:endParaRPr lang="ru-RU" sz="1600" b="1" dirty="0"/>
          </a:p>
          <a:p>
            <a:r>
              <a:rPr lang="ru-RU" sz="1600" b="1" dirty="0" smtClean="0"/>
              <a:t>     </a:t>
            </a:r>
            <a:r>
              <a:rPr lang="en-US" sz="1600" b="1" dirty="0" smtClean="0"/>
              <a:t>while(p</a:t>
            </a:r>
            <a:r>
              <a:rPr lang="en-US" sz="1600" b="1" dirty="0"/>
              <a:t>!=end)</a:t>
            </a:r>
            <a:endParaRPr lang="ru-RU" sz="1600" b="1" dirty="0"/>
          </a:p>
          <a:p>
            <a:r>
              <a:rPr lang="en-US" sz="1600" b="1" dirty="0"/>
              <a:t> </a:t>
            </a:r>
            <a:r>
              <a:rPr lang="ru-RU" sz="1600" b="1" dirty="0" smtClean="0"/>
              <a:t>       </a:t>
            </a:r>
            <a:r>
              <a:rPr lang="en-US" sz="1600" b="1" dirty="0" smtClean="0"/>
              <a:t>{</a:t>
            </a:r>
            <a:endParaRPr lang="ru-RU" sz="1600" b="1" dirty="0"/>
          </a:p>
          <a:p>
            <a:r>
              <a:rPr lang="en-US" sz="1600" b="1" dirty="0"/>
              <a:t>     </a:t>
            </a:r>
            <a:r>
              <a:rPr lang="ru-RU" sz="1600" b="1" dirty="0" smtClean="0"/>
              <a:t>       </a:t>
            </a:r>
            <a:r>
              <a:rPr lang="en-US" sz="1600" b="1" dirty="0" smtClean="0"/>
              <a:t>q=p-</a:t>
            </a:r>
            <a:r>
              <a:rPr lang="en-US" sz="1600" b="1" dirty="0"/>
              <a:t>&gt;next;</a:t>
            </a:r>
            <a:endParaRPr lang="ru-RU" sz="1600" b="1" dirty="0"/>
          </a:p>
          <a:p>
            <a:r>
              <a:rPr lang="en-US" sz="1600" b="1" dirty="0"/>
              <a:t>      </a:t>
            </a:r>
            <a:r>
              <a:rPr lang="ru-RU" sz="1600" b="1" dirty="0" smtClean="0"/>
              <a:t>      </a:t>
            </a:r>
            <a:r>
              <a:rPr lang="en-US" sz="1600" b="1" dirty="0" smtClean="0"/>
              <a:t>while(q</a:t>
            </a:r>
            <a:r>
              <a:rPr lang="en-US" sz="1600" b="1" dirty="0"/>
              <a:t>)</a:t>
            </a:r>
            <a:endParaRPr lang="ru-RU" sz="1600" b="1" dirty="0"/>
          </a:p>
          <a:p>
            <a:r>
              <a:rPr lang="en-US" sz="1600" b="1" dirty="0"/>
              <a:t>      </a:t>
            </a:r>
            <a:r>
              <a:rPr lang="ru-RU" sz="1600" b="1" dirty="0" smtClean="0"/>
              <a:t>         </a:t>
            </a:r>
            <a:r>
              <a:rPr lang="en-US" sz="1600" b="1" dirty="0" smtClean="0"/>
              <a:t>{</a:t>
            </a:r>
            <a:endParaRPr lang="ru-RU" sz="1600" b="1" dirty="0"/>
          </a:p>
          <a:p>
            <a:r>
              <a:rPr lang="en-US" sz="1600" b="1" dirty="0"/>
              <a:t>          </a:t>
            </a:r>
            <a:r>
              <a:rPr lang="ru-RU" sz="1600" b="1" dirty="0" smtClean="0"/>
              <a:t>        </a:t>
            </a:r>
            <a:r>
              <a:rPr lang="en-US" sz="1600" b="1" dirty="0" smtClean="0"/>
              <a:t>if</a:t>
            </a:r>
            <a:r>
              <a:rPr lang="ru-RU" sz="1600" b="1" dirty="0" smtClean="0"/>
              <a:t> </a:t>
            </a:r>
            <a:r>
              <a:rPr lang="en-US" sz="1600" b="1" dirty="0" smtClean="0"/>
              <a:t>(p-</a:t>
            </a:r>
            <a:r>
              <a:rPr lang="en-US" sz="1600" b="1" dirty="0"/>
              <a:t>&gt;power&lt;q-&gt;power) </a:t>
            </a:r>
            <a:endParaRPr lang="ru-RU" sz="1600" b="1" dirty="0" smtClean="0"/>
          </a:p>
          <a:p>
            <a:r>
              <a:rPr lang="ru-RU" sz="1600" b="1" dirty="0"/>
              <a:t> </a:t>
            </a:r>
            <a:r>
              <a:rPr lang="ru-RU" sz="1600" b="1" dirty="0" smtClean="0"/>
              <a:t>                       </a:t>
            </a:r>
            <a:r>
              <a:rPr lang="en-US" sz="1600" b="1" dirty="0" smtClean="0"/>
              <a:t>{ </a:t>
            </a:r>
            <a:endParaRPr lang="ru-RU" sz="1600" b="1" dirty="0" smtClean="0"/>
          </a:p>
          <a:p>
            <a:r>
              <a:rPr lang="ru-RU" sz="1600" b="1" dirty="0"/>
              <a:t> </a:t>
            </a:r>
            <a:r>
              <a:rPr lang="ru-RU" sz="1600" b="1" dirty="0" smtClean="0"/>
              <a:t>                               </a:t>
            </a:r>
            <a:r>
              <a:rPr lang="en-US" sz="1600" b="1" dirty="0" smtClean="0"/>
              <a:t>power=p-</a:t>
            </a:r>
            <a:r>
              <a:rPr lang="en-US" sz="1600" b="1" dirty="0"/>
              <a:t>&gt;power;</a:t>
            </a:r>
            <a:endParaRPr lang="ru-RU" sz="1600" b="1" dirty="0"/>
          </a:p>
          <a:p>
            <a:r>
              <a:rPr lang="en-US" sz="1600" b="1" dirty="0"/>
              <a:t>                                p-&gt;power=q-&gt;power;</a:t>
            </a:r>
            <a:endParaRPr lang="ru-RU" sz="1600" b="1" dirty="0"/>
          </a:p>
          <a:p>
            <a:r>
              <a:rPr lang="en-US" sz="1600" b="1" dirty="0"/>
              <a:t>                                q-&gt;power=power;</a:t>
            </a:r>
            <a:endParaRPr lang="ru-RU" sz="1600" b="1" dirty="0"/>
          </a:p>
          <a:p>
            <a:r>
              <a:rPr lang="en-US" sz="1600" b="1" dirty="0"/>
              <a:t>                                </a:t>
            </a:r>
            <a:r>
              <a:rPr lang="en-US" sz="1600" b="1" dirty="0" err="1"/>
              <a:t>koef</a:t>
            </a:r>
            <a:r>
              <a:rPr lang="en-US" sz="1600" b="1" dirty="0"/>
              <a:t>=p-&gt;</a:t>
            </a:r>
            <a:r>
              <a:rPr lang="en-US" sz="1600" b="1" dirty="0" err="1"/>
              <a:t>koef</a:t>
            </a:r>
            <a:r>
              <a:rPr lang="en-US" sz="1600" b="1" dirty="0"/>
              <a:t>;</a:t>
            </a:r>
            <a:endParaRPr lang="ru-RU" sz="1600" b="1" dirty="0"/>
          </a:p>
          <a:p>
            <a:r>
              <a:rPr lang="en-US" sz="1600" b="1" dirty="0"/>
              <a:t>                                p-&gt;</a:t>
            </a:r>
            <a:r>
              <a:rPr lang="en-US" sz="1600" b="1" dirty="0" err="1"/>
              <a:t>koef</a:t>
            </a:r>
            <a:r>
              <a:rPr lang="en-US" sz="1600" b="1" dirty="0"/>
              <a:t>=q-&gt;</a:t>
            </a:r>
            <a:r>
              <a:rPr lang="en-US" sz="1600" b="1" dirty="0" err="1"/>
              <a:t>koef</a:t>
            </a:r>
            <a:r>
              <a:rPr lang="en-US" sz="1600" b="1" dirty="0"/>
              <a:t>;</a:t>
            </a:r>
            <a:endParaRPr lang="ru-RU" sz="1600" b="1" dirty="0"/>
          </a:p>
          <a:p>
            <a:r>
              <a:rPr lang="en-US" sz="1600" b="1" dirty="0"/>
              <a:t>                                q-&gt;</a:t>
            </a:r>
            <a:r>
              <a:rPr lang="en-US" sz="1600" b="1" dirty="0" err="1"/>
              <a:t>koef</a:t>
            </a:r>
            <a:r>
              <a:rPr lang="en-US" sz="1600" b="1" dirty="0"/>
              <a:t>=</a:t>
            </a:r>
            <a:r>
              <a:rPr lang="en-US" sz="1600" b="1" dirty="0" err="1"/>
              <a:t>koef</a:t>
            </a:r>
            <a:r>
              <a:rPr lang="en-US" sz="1600" b="1" dirty="0"/>
              <a:t>;</a:t>
            </a:r>
            <a:endParaRPr lang="ru-RU" sz="1600" b="1" dirty="0"/>
          </a:p>
          <a:p>
            <a:r>
              <a:rPr lang="en-US" sz="1600" b="1" dirty="0"/>
              <a:t>                         </a:t>
            </a:r>
            <a:r>
              <a:rPr lang="en-US" sz="1600" b="1" dirty="0" smtClean="0"/>
              <a:t>}</a:t>
            </a:r>
            <a:endParaRPr lang="ru-RU" sz="1600" b="1" dirty="0"/>
          </a:p>
          <a:p>
            <a:r>
              <a:rPr lang="en-US" sz="1600" b="1" dirty="0"/>
              <a:t>        </a:t>
            </a:r>
            <a:r>
              <a:rPr lang="ru-RU" sz="1600" b="1" dirty="0" smtClean="0"/>
              <a:t>           </a:t>
            </a:r>
            <a:r>
              <a:rPr lang="en-US" sz="1600" b="1" dirty="0" smtClean="0"/>
              <a:t>q=q-</a:t>
            </a:r>
            <a:r>
              <a:rPr lang="en-US" sz="1600" b="1" dirty="0"/>
              <a:t>&gt;next;</a:t>
            </a:r>
            <a:endParaRPr lang="ru-RU" sz="1600" b="1" dirty="0"/>
          </a:p>
          <a:p>
            <a:r>
              <a:rPr lang="en-US" sz="1600" b="1" dirty="0"/>
              <a:t>      </a:t>
            </a:r>
            <a:r>
              <a:rPr lang="ru-RU" sz="1600" b="1" dirty="0" smtClean="0"/>
              <a:t>          </a:t>
            </a:r>
            <a:r>
              <a:rPr lang="en-US" sz="1600" b="1" dirty="0" smtClean="0"/>
              <a:t>}</a:t>
            </a:r>
            <a:r>
              <a:rPr lang="ru-RU" sz="1600" b="1" dirty="0" smtClean="0"/>
              <a:t> </a:t>
            </a:r>
            <a:endParaRPr lang="ru-RU" sz="1600" b="1" dirty="0"/>
          </a:p>
          <a:p>
            <a:r>
              <a:rPr lang="en-US" sz="1600" b="1" dirty="0"/>
              <a:t>    </a:t>
            </a:r>
            <a:r>
              <a:rPr lang="ru-RU" sz="1600" b="1" dirty="0" smtClean="0"/>
              <a:t>           </a:t>
            </a:r>
            <a:r>
              <a:rPr lang="en-US" sz="1600" b="1" dirty="0" smtClean="0"/>
              <a:t>p=p-</a:t>
            </a:r>
            <a:r>
              <a:rPr lang="en-US" sz="1600" b="1" dirty="0"/>
              <a:t>&gt;next;</a:t>
            </a:r>
            <a:endParaRPr lang="ru-RU" sz="1600" b="1" dirty="0"/>
          </a:p>
          <a:p>
            <a:r>
              <a:rPr lang="ru-RU" sz="1600" b="1" dirty="0" smtClean="0"/>
              <a:t>        </a:t>
            </a:r>
            <a:r>
              <a:rPr lang="en-US" sz="1600" b="1" dirty="0" smtClean="0"/>
              <a:t> </a:t>
            </a:r>
            <a:r>
              <a:rPr lang="en-US" sz="1600" b="1" dirty="0"/>
              <a:t>}</a:t>
            </a:r>
            <a:endParaRPr lang="ru-RU" sz="1600" b="1" dirty="0"/>
          </a:p>
          <a:p>
            <a:r>
              <a:rPr lang="en-US" sz="1600" b="1" dirty="0"/>
              <a:t>}</a:t>
            </a:r>
            <a:endParaRPr lang="ru-RU" sz="1600" b="1" dirty="0"/>
          </a:p>
          <a:p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474796"/>
              </p:ext>
            </p:extLst>
          </p:nvPr>
        </p:nvGraphicFramePr>
        <p:xfrm>
          <a:off x="5503453" y="5000522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392396"/>
              </p:ext>
            </p:extLst>
          </p:nvPr>
        </p:nvGraphicFramePr>
        <p:xfrm>
          <a:off x="7027547" y="5000522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719009"/>
              </p:ext>
            </p:extLst>
          </p:nvPr>
        </p:nvGraphicFramePr>
        <p:xfrm>
          <a:off x="8560597" y="5000522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Стрелка вправо 6"/>
          <p:cNvSpPr/>
          <p:nvPr/>
        </p:nvSpPr>
        <p:spPr>
          <a:xfrm>
            <a:off x="6450954" y="6318076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трелка вправо 7"/>
          <p:cNvSpPr/>
          <p:nvPr/>
        </p:nvSpPr>
        <p:spPr>
          <a:xfrm>
            <a:off x="7953676" y="6351205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5422872" y="4011217"/>
            <a:ext cx="63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top</a:t>
            </a:r>
            <a:endParaRPr lang="ru-RU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061117" y="5062790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8</a:t>
            </a:r>
            <a:endParaRPr lang="ru-RU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7061116" y="5633012"/>
            <a:ext cx="75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529578" y="5062790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1527" y="5633012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21693" y="5026721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7</a:t>
            </a:r>
            <a:endParaRPr lang="ru-RU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8614975" y="5633012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</a:t>
            </a:r>
          </a:p>
        </p:txBody>
      </p:sp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406492"/>
              </p:ext>
            </p:extLst>
          </p:nvPr>
        </p:nvGraphicFramePr>
        <p:xfrm>
          <a:off x="8753558" y="2671796"/>
          <a:ext cx="9497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738"/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621693" y="2248732"/>
            <a:ext cx="985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power</a:t>
            </a:r>
            <a:endParaRPr lang="ru-RU" sz="2000" b="1" dirty="0"/>
          </a:p>
        </p:txBody>
      </p:sp>
      <p:graphicFrame>
        <p:nvGraphicFramePr>
          <p:cNvPr id="18" name="Таблица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719495"/>
              </p:ext>
            </p:extLst>
          </p:nvPr>
        </p:nvGraphicFramePr>
        <p:xfrm>
          <a:off x="8732534" y="1733437"/>
          <a:ext cx="9497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738"/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621694" y="1325402"/>
            <a:ext cx="985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/>
              <a:t>koef</a:t>
            </a:r>
            <a:endParaRPr lang="ru-RU" sz="20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8738306" y="1720883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8306" y="2656507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2</a:t>
            </a:r>
            <a:endParaRPr lang="ru-RU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6005980" y="2904767"/>
            <a:ext cx="63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p</a:t>
            </a:r>
            <a:endParaRPr lang="ru-RU" sz="20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194080" y="2899901"/>
            <a:ext cx="63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q</a:t>
            </a:r>
            <a:endParaRPr lang="ru-RU" sz="2000" b="1" dirty="0"/>
          </a:p>
        </p:txBody>
      </p:sp>
      <p:graphicFrame>
        <p:nvGraphicFramePr>
          <p:cNvPr id="26" name="Таблица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896963"/>
              </p:ext>
            </p:extLst>
          </p:nvPr>
        </p:nvGraphicFramePr>
        <p:xfrm>
          <a:off x="5810164" y="3296898"/>
          <a:ext cx="9497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738"/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7" name="Таблица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010981"/>
              </p:ext>
            </p:extLst>
          </p:nvPr>
        </p:nvGraphicFramePr>
        <p:xfrm>
          <a:off x="7261207" y="3300011"/>
          <a:ext cx="9497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738"/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8957943" y="4589707"/>
            <a:ext cx="7069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end</a:t>
            </a:r>
            <a:endParaRPr lang="ru-RU" sz="20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7085386" y="5646724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61116" y="5042581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121182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3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3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4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95 -0.0007 L -0.00339 0.25625 " pathEditMode="relative" rAng="0" ptsTypes="AA">
                                      <p:cBhvr>
                                        <p:cTn id="27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" y="12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8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8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9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30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1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1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2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2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2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3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3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3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3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3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3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3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4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4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5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35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3.95833E-6 1.85185E-6 L -0.12552 -1.48148E-6 " pathEditMode="relative" rAng="0" ptsTypes="AA">
                                      <p:cBhvr>
                                        <p:cTn id="36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26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72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3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4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7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7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8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8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8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" fill="hold">
                      <p:stCondLst>
                        <p:cond delay="indefinite"/>
                      </p:stCondLst>
                      <p:childTnLst>
                        <p:par>
                          <p:cTn id="391" fill="hold">
                            <p:stCondLst>
                              <p:cond delay="0"/>
                            </p:stCondLst>
                            <p:childTnLst>
                              <p:par>
                                <p:cTn id="392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93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4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5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6" fill="hold">
                      <p:stCondLst>
                        <p:cond delay="indefinite"/>
                      </p:stCondLst>
                      <p:childTnLst>
                        <p:par>
                          <p:cTn id="397" fill="hold">
                            <p:stCondLst>
                              <p:cond delay="0"/>
                            </p:stCondLst>
                            <p:childTnLst>
                              <p:par>
                                <p:cTn id="398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99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400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01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02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03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4" fill="hold">
                      <p:stCondLst>
                        <p:cond delay="indefinite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14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5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6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>
                      <p:stCondLst>
                        <p:cond delay="indefinite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4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2" fill="hold">
                      <p:stCondLst>
                        <p:cond delay="indefinite"/>
                      </p:stCondLst>
                      <p:childTnLst>
                        <p:par>
                          <p:cTn id="423" fill="hold">
                            <p:stCondLst>
                              <p:cond delay="0"/>
                            </p:stCondLst>
                            <p:childTnLst>
                              <p:par>
                                <p:cTn id="424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3.7037E-6 L -0.12565 2.22222E-6 " pathEditMode="relative" rAng="0" ptsTypes="AA">
                                      <p:cBhvr>
                                        <p:cTn id="42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5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fill="hold">
                      <p:stCondLst>
                        <p:cond delay="indefinite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29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0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1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33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4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5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6" fill="hold">
                      <p:stCondLst>
                        <p:cond delay="indefinite"/>
                      </p:stCondLst>
                      <p:childTnLst>
                        <p:par>
                          <p:cTn id="437" fill="hold">
                            <p:stCondLst>
                              <p:cond delay="0"/>
                            </p:stCondLst>
                            <p:childTnLst>
                              <p:par>
                                <p:cTn id="438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439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440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41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42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43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4" fill="hold">
                      <p:stCondLst>
                        <p:cond delay="indefinite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id="4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fill="hold">
                      <p:stCondLst>
                        <p:cond delay="indefinite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54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5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6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58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9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0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1" fill="hold">
                      <p:stCondLst>
                        <p:cond delay="indefinite"/>
                      </p:stCondLst>
                      <p:childTnLst>
                        <p:par>
                          <p:cTn id="462" fill="hold">
                            <p:stCondLst>
                              <p:cond delay="0"/>
                            </p:stCondLst>
                            <p:childTnLst>
                              <p:par>
                                <p:cTn id="463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0.25 L 0.10052 0.24861 " pathEditMode="relative" rAng="0" ptsTypes="AA">
                                      <p:cBhvr>
                                        <p:cTn id="46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26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fill="hold">
                      <p:stCondLst>
                        <p:cond delay="indefinite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fill="hold">
                      <p:stCondLst>
                        <p:cond delay="indefinite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74" dur="5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5" dur="5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6" dur="5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78" dur="500" fill="hold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9" dur="500" fill="hold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0" dur="500" fill="hold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1" fill="hold">
                      <p:stCondLst>
                        <p:cond delay="indefinite"/>
                      </p:stCondLst>
                      <p:childTnLst>
                        <p:par>
                          <p:cTn id="482" fill="hold">
                            <p:stCondLst>
                              <p:cond delay="0"/>
                            </p:stCondLst>
                            <p:childTnLst>
                              <p:par>
                                <p:cTn id="483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39 0.25625 L 0.09752 0.24931 " pathEditMode="relative" rAng="0" ptsTypes="AA">
                                      <p:cBhvr>
                                        <p:cTn id="48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49" y="-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8" grpId="0" animBg="1"/>
      <p:bldP spid="9" grpId="0"/>
      <p:bldP spid="10" grpId="0"/>
      <p:bldP spid="10" grpId="1"/>
      <p:bldP spid="11" grpId="0"/>
      <p:bldP spid="11" grpId="1"/>
      <p:bldP spid="11" grpId="2"/>
      <p:bldP spid="12" grpId="0"/>
      <p:bldP spid="12" grpId="1"/>
      <p:bldP spid="12" grpId="2"/>
      <p:bldP spid="13" grpId="0"/>
      <p:bldP spid="13" grpId="1"/>
      <p:bldP spid="13" grpId="2"/>
      <p:bldP spid="14" grpId="0"/>
      <p:bldP spid="15" grpId="0"/>
      <p:bldP spid="17" grpId="0"/>
      <p:bldP spid="19" grpId="0"/>
      <p:bldP spid="22" grpId="0"/>
      <p:bldP spid="22" grpId="1"/>
      <p:bldP spid="23" grpId="0"/>
      <p:bldP spid="23" grpId="1"/>
      <p:bldP spid="24" grpId="0"/>
      <p:bldP spid="24" grpId="1"/>
      <p:bldP spid="24" grpId="2"/>
      <p:bldP spid="25" grpId="0"/>
      <p:bldP spid="25" grpId="1"/>
      <p:bldP spid="25" grpId="2"/>
      <p:bldP spid="28" grpId="0"/>
      <p:bldP spid="29" grpId="0"/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5073" y="201955"/>
            <a:ext cx="9697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7</a:t>
            </a:r>
            <a:r>
              <a:rPr lang="ru-RU" dirty="0" smtClean="0"/>
              <a:t>. </a:t>
            </a:r>
            <a:r>
              <a:rPr lang="ru-RU" i="1" u="sng" dirty="0" smtClean="0"/>
              <a:t>Функция поиска предыдущего элемента. </a:t>
            </a:r>
            <a:r>
              <a:rPr lang="ru-RU" i="1" dirty="0" smtClean="0"/>
              <a:t>Функция возвращает адрес элемента, который предшествует текущему  (</a:t>
            </a:r>
            <a:r>
              <a:rPr lang="en-US" i="1" dirty="0" smtClean="0"/>
              <a:t>“p”</a:t>
            </a:r>
            <a:r>
              <a:rPr lang="ru-RU" i="1" dirty="0"/>
              <a:t>-</a:t>
            </a:r>
            <a:r>
              <a:rPr lang="ru-RU" i="1" dirty="0" smtClean="0"/>
              <a:t>адрес текущего).</a:t>
            </a:r>
            <a:endParaRPr lang="ru-RU" i="1" dirty="0"/>
          </a:p>
        </p:txBody>
      </p:sp>
      <p:sp>
        <p:nvSpPr>
          <p:cNvPr id="3" name="TextBox 2"/>
          <p:cNvSpPr txBox="1"/>
          <p:nvPr/>
        </p:nvSpPr>
        <p:spPr>
          <a:xfrm>
            <a:off x="175073" y="1100077"/>
            <a:ext cx="426290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node*previous (node*top</a:t>
            </a:r>
            <a:r>
              <a:rPr lang="en-US" b="1" dirty="0" smtClean="0"/>
              <a:t>, node*p</a:t>
            </a:r>
            <a:r>
              <a:rPr lang="en-US" b="1" dirty="0"/>
              <a:t>)</a:t>
            </a:r>
            <a:endParaRPr lang="ru-RU" b="1" dirty="0"/>
          </a:p>
          <a:p>
            <a:r>
              <a:rPr lang="en-US" b="1" dirty="0" smtClean="0"/>
              <a:t>{</a:t>
            </a:r>
            <a:endParaRPr lang="ru-RU" b="1" dirty="0" smtClean="0"/>
          </a:p>
          <a:p>
            <a:r>
              <a:rPr lang="ru-RU" b="1" dirty="0"/>
              <a:t> </a:t>
            </a:r>
            <a:r>
              <a:rPr lang="ru-RU" b="1" dirty="0" smtClean="0"/>
              <a:t>   </a:t>
            </a:r>
            <a:r>
              <a:rPr lang="en-US" b="1" dirty="0" smtClean="0"/>
              <a:t>node*</a:t>
            </a:r>
            <a:r>
              <a:rPr lang="en-US" b="1" dirty="0" err="1" smtClean="0"/>
              <a:t>pr</a:t>
            </a:r>
            <a:r>
              <a:rPr lang="en-US" b="1" dirty="0"/>
              <a:t>,*q;</a:t>
            </a:r>
            <a:endParaRPr lang="ru-RU" b="1" dirty="0"/>
          </a:p>
          <a:p>
            <a:r>
              <a:rPr lang="ru-RU" b="1" dirty="0" smtClean="0"/>
              <a:t>    </a:t>
            </a:r>
            <a:r>
              <a:rPr lang="en-US" b="1" dirty="0" smtClean="0"/>
              <a:t>q=top</a:t>
            </a:r>
            <a:r>
              <a:rPr lang="en-US" b="1" dirty="0"/>
              <a:t>;</a:t>
            </a:r>
            <a:endParaRPr lang="ru-RU" b="1" dirty="0"/>
          </a:p>
          <a:p>
            <a:r>
              <a:rPr lang="ru-RU" b="1" dirty="0" smtClean="0"/>
              <a:t>     </a:t>
            </a:r>
            <a:r>
              <a:rPr lang="en-US" b="1" dirty="0" smtClean="0"/>
              <a:t>while(q</a:t>
            </a:r>
            <a:r>
              <a:rPr lang="en-US" b="1" dirty="0"/>
              <a:t>!=p&amp;&amp;q!=NULL)</a:t>
            </a:r>
            <a:endParaRPr lang="ru-RU" b="1" dirty="0"/>
          </a:p>
          <a:p>
            <a:r>
              <a:rPr lang="ru-RU" b="1" dirty="0" smtClean="0"/>
              <a:t>         </a:t>
            </a:r>
            <a:r>
              <a:rPr lang="en-US" b="1" dirty="0" smtClean="0"/>
              <a:t>{</a:t>
            </a:r>
            <a:endParaRPr lang="ru-RU" b="1" dirty="0" smtClean="0"/>
          </a:p>
          <a:p>
            <a:r>
              <a:rPr lang="ru-RU" b="1" dirty="0"/>
              <a:t> </a:t>
            </a:r>
            <a:r>
              <a:rPr lang="ru-RU" b="1" dirty="0" smtClean="0"/>
              <a:t>           </a:t>
            </a:r>
            <a:r>
              <a:rPr lang="en-US" b="1" dirty="0" err="1" smtClean="0"/>
              <a:t>pr</a:t>
            </a:r>
            <a:r>
              <a:rPr lang="en-US" b="1" dirty="0" smtClean="0"/>
              <a:t>=q</a:t>
            </a:r>
            <a:r>
              <a:rPr lang="en-US" b="1" dirty="0"/>
              <a:t>;</a:t>
            </a:r>
            <a:endParaRPr lang="ru-RU" b="1" dirty="0"/>
          </a:p>
          <a:p>
            <a:r>
              <a:rPr lang="ru-RU" b="1" dirty="0" smtClean="0"/>
              <a:t>            </a:t>
            </a:r>
            <a:r>
              <a:rPr lang="en-US" b="1" dirty="0" smtClean="0"/>
              <a:t>q=q-</a:t>
            </a:r>
            <a:r>
              <a:rPr lang="en-US" b="1" dirty="0"/>
              <a:t>&gt;next;</a:t>
            </a:r>
            <a:endParaRPr lang="ru-RU" b="1" dirty="0"/>
          </a:p>
          <a:p>
            <a:r>
              <a:rPr lang="ru-RU" b="1" dirty="0" smtClean="0"/>
              <a:t>            </a:t>
            </a:r>
            <a:r>
              <a:rPr lang="en-US" b="1" dirty="0" smtClean="0"/>
              <a:t>if(q</a:t>
            </a:r>
            <a:r>
              <a:rPr lang="en-US" b="1" dirty="0"/>
              <a:t>==top) </a:t>
            </a:r>
            <a:endParaRPr lang="ru-RU" b="1" dirty="0" smtClean="0"/>
          </a:p>
          <a:p>
            <a:r>
              <a:rPr lang="ru-RU" b="1" dirty="0"/>
              <a:t> </a:t>
            </a:r>
            <a:r>
              <a:rPr lang="ru-RU" b="1" dirty="0" smtClean="0"/>
              <a:t>                  </a:t>
            </a:r>
            <a:r>
              <a:rPr lang="en-US" b="1" dirty="0" smtClean="0"/>
              <a:t>return </a:t>
            </a:r>
            <a:r>
              <a:rPr lang="en-US" b="1" dirty="0"/>
              <a:t>NULL;</a:t>
            </a:r>
            <a:endParaRPr lang="ru-RU" b="1" dirty="0"/>
          </a:p>
          <a:p>
            <a:r>
              <a:rPr lang="ru-RU" b="1" dirty="0" smtClean="0"/>
              <a:t>            </a:t>
            </a:r>
            <a:r>
              <a:rPr lang="en-US" b="1" dirty="0" smtClean="0"/>
              <a:t>if(q</a:t>
            </a:r>
            <a:r>
              <a:rPr lang="en-US" b="1" dirty="0"/>
              <a:t>==p) </a:t>
            </a:r>
            <a:endParaRPr lang="ru-RU" b="1" dirty="0" smtClean="0"/>
          </a:p>
          <a:p>
            <a:r>
              <a:rPr lang="ru-RU" b="1" dirty="0"/>
              <a:t> </a:t>
            </a:r>
            <a:r>
              <a:rPr lang="ru-RU" b="1" dirty="0" smtClean="0"/>
              <a:t>                  </a:t>
            </a:r>
            <a:r>
              <a:rPr lang="en-US" b="1" dirty="0" smtClean="0"/>
              <a:t>return </a:t>
            </a:r>
            <a:r>
              <a:rPr lang="en-US" b="1" dirty="0" err="1"/>
              <a:t>pr</a:t>
            </a:r>
            <a:r>
              <a:rPr lang="en-US" b="1" dirty="0"/>
              <a:t>;</a:t>
            </a:r>
            <a:endParaRPr lang="ru-RU" b="1" dirty="0"/>
          </a:p>
          <a:p>
            <a:r>
              <a:rPr lang="ru-RU" b="1" dirty="0" smtClean="0"/>
              <a:t>            </a:t>
            </a:r>
            <a:r>
              <a:rPr lang="en-US" b="1" dirty="0" smtClean="0"/>
              <a:t>if(q</a:t>
            </a:r>
            <a:r>
              <a:rPr lang="en-US" b="1" dirty="0"/>
              <a:t>==NULL) </a:t>
            </a:r>
            <a:endParaRPr lang="ru-RU" b="1" dirty="0" smtClean="0"/>
          </a:p>
          <a:p>
            <a:r>
              <a:rPr lang="ru-RU" b="1" dirty="0"/>
              <a:t> </a:t>
            </a:r>
            <a:r>
              <a:rPr lang="ru-RU" b="1" dirty="0" smtClean="0"/>
              <a:t>                  </a:t>
            </a:r>
            <a:r>
              <a:rPr lang="en-US" b="1" dirty="0" smtClean="0"/>
              <a:t>return </a:t>
            </a:r>
            <a:r>
              <a:rPr lang="en-US" b="1" dirty="0"/>
              <a:t>NULL;</a:t>
            </a:r>
            <a:endParaRPr lang="ru-RU" b="1" dirty="0"/>
          </a:p>
          <a:p>
            <a:r>
              <a:rPr lang="ru-RU" b="1" dirty="0" smtClean="0"/>
              <a:t>          </a:t>
            </a:r>
            <a:r>
              <a:rPr lang="en-US" b="1" dirty="0" smtClean="0"/>
              <a:t>}</a:t>
            </a:r>
            <a:endParaRPr lang="ru-RU" b="1" dirty="0" smtClean="0"/>
          </a:p>
          <a:p>
            <a:r>
              <a:rPr lang="en-US" b="1" dirty="0" smtClean="0"/>
              <a:t>}</a:t>
            </a:r>
            <a:endParaRPr lang="ru-RU" b="1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274853"/>
              </p:ext>
            </p:extLst>
          </p:nvPr>
        </p:nvGraphicFramePr>
        <p:xfrm>
          <a:off x="5750325" y="4723282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405348"/>
              </p:ext>
            </p:extLst>
          </p:nvPr>
        </p:nvGraphicFramePr>
        <p:xfrm>
          <a:off x="7274419" y="4723282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317317"/>
              </p:ext>
            </p:extLst>
          </p:nvPr>
        </p:nvGraphicFramePr>
        <p:xfrm>
          <a:off x="8807469" y="4723282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255581"/>
              </p:ext>
            </p:extLst>
          </p:nvPr>
        </p:nvGraphicFramePr>
        <p:xfrm>
          <a:off x="10313370" y="4720894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Стрелка вправо 7"/>
          <p:cNvSpPr/>
          <p:nvPr/>
        </p:nvSpPr>
        <p:spPr>
          <a:xfrm>
            <a:off x="6697826" y="6040836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трелка вправо 8"/>
          <p:cNvSpPr/>
          <p:nvPr/>
        </p:nvSpPr>
        <p:spPr>
          <a:xfrm>
            <a:off x="8200548" y="6073965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 вправо 9"/>
          <p:cNvSpPr/>
          <p:nvPr/>
        </p:nvSpPr>
        <p:spPr>
          <a:xfrm>
            <a:off x="9776155" y="6040835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557925" y="3614056"/>
            <a:ext cx="63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top</a:t>
            </a:r>
            <a:endParaRPr lang="ru-RU" sz="20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5750326" y="4720894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8</a:t>
            </a:r>
            <a:endParaRPr lang="ru-RU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750324" y="5342017"/>
            <a:ext cx="75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69777" y="4707642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777" y="5342017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868565" y="4749481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7</a:t>
            </a:r>
            <a:endParaRPr lang="ru-RU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8861847" y="5355772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50451" y="5346726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50451" y="4749481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10</a:t>
            </a:r>
            <a:endParaRPr lang="ru-RU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8717383" y="4230892"/>
            <a:ext cx="3607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p</a:t>
            </a:r>
            <a:endParaRPr lang="ru-RU" sz="20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4726218" y="2051691"/>
            <a:ext cx="10241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/>
              <a:t>p</a:t>
            </a:r>
            <a:r>
              <a:rPr lang="en-US" sz="2000" b="1" dirty="0" err="1"/>
              <a:t>r</a:t>
            </a:r>
            <a:endParaRPr lang="ru-RU" sz="20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194740" y="2051691"/>
            <a:ext cx="3607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q</a:t>
            </a:r>
            <a:endParaRPr lang="ru-RU" sz="2000" b="1" dirty="0"/>
          </a:p>
        </p:txBody>
      </p:sp>
      <p:graphicFrame>
        <p:nvGraphicFramePr>
          <p:cNvPr id="23" name="Таблица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988716"/>
              </p:ext>
            </p:extLst>
          </p:nvPr>
        </p:nvGraphicFramePr>
        <p:xfrm>
          <a:off x="4788335" y="2451801"/>
          <a:ext cx="9497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738"/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Таблица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654714"/>
              </p:ext>
            </p:extLst>
          </p:nvPr>
        </p:nvGraphicFramePr>
        <p:xfrm>
          <a:off x="6239378" y="2454914"/>
          <a:ext cx="9497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738"/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9352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9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9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9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7.40741E-7 L 0.01054 0.32338 " pathEditMode="relative" rAng="0" ptsTypes="AA">
                                      <p:cBhvr>
                                        <p:cTn id="23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1" y="16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4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2.70833E-6 -7.40741E-7 L 0.0789 0.32338 " pathEditMode="relative" rAng="0" ptsTypes="AA">
                                      <p:cBhvr>
                                        <p:cTn id="25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45" y="16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054 0.32338 L 0.1207 0.32153 " pathEditMode="relative" rAng="0" ptsTypes="AA">
                                      <p:cBhvr>
                                        <p:cTn id="26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08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0" dur="250" autoRev="1" fill="remov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71" dur="250" autoRev="1" fill="remov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2" dur="250" autoRev="1" fill="remov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3" dur="250" autoRev="1" fill="remov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77" dur="250" autoRev="1" fill="remove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78" dur="250" autoRev="1" fill="remove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9" dur="250" autoRev="1" fill="remove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0" dur="250" autoRev="1" fill="remove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4" dur="250" autoRev="1" fill="remove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85" dur="250" autoRev="1" fill="remove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6" dur="250" autoRev="1" fill="remove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7" dur="250" autoRev="1" fill="remove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89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0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1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9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0.0789 0.32338 L 0.20508 0.32338 " pathEditMode="relative" rAng="0" ptsTypes="AA">
                                      <p:cBhvr>
                                        <p:cTn id="30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0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63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07 0.32153 L 0.2664 0.32361 " pathEditMode="relative" rAng="0" ptsTypes="AA">
                                      <p:cBhvr>
                                        <p:cTn id="31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79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5" dur="250" autoRev="1" fill="remov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16" dur="250" autoRev="1" fill="remov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7" dur="250" autoRev="1" fill="remov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8" dur="250" autoRev="1" fill="remov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2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2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28" presetClass="emph" presetSubtype="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3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3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3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36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37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8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9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  <p:bldP spid="9" grpId="0" animBg="1"/>
      <p:bldP spid="10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36" grpId="0"/>
      <p:bldP spid="21" grpId="0"/>
      <p:bldP spid="21" grpId="1"/>
      <p:bldP spid="21" grpId="2"/>
      <p:bldP spid="21" grpId="3"/>
      <p:bldP spid="22" grpId="0"/>
      <p:bldP spid="22" grpId="1"/>
      <p:bldP spid="22" grpId="2"/>
      <p:bldP spid="22" grpId="3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Таблица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886101"/>
              </p:ext>
            </p:extLst>
          </p:nvPr>
        </p:nvGraphicFramePr>
        <p:xfrm>
          <a:off x="7144148" y="4922894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6" name="Таблица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528779"/>
              </p:ext>
            </p:extLst>
          </p:nvPr>
        </p:nvGraphicFramePr>
        <p:xfrm>
          <a:off x="5626905" y="4912522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0" y="35563"/>
            <a:ext cx="9333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u="sng" dirty="0" smtClean="0"/>
              <a:t>8</a:t>
            </a:r>
            <a:r>
              <a:rPr lang="ru-RU" i="1" u="sng" dirty="0" smtClean="0"/>
              <a:t>. Функция приведения подобных </a:t>
            </a:r>
            <a:r>
              <a:rPr lang="ru-RU" i="1" dirty="0" smtClean="0"/>
              <a:t>в многочлене. Складываем переменные при одинаковых степенях. </a:t>
            </a:r>
            <a:endParaRPr lang="ru-RU" i="1" dirty="0"/>
          </a:p>
        </p:txBody>
      </p:sp>
      <p:sp>
        <p:nvSpPr>
          <p:cNvPr id="3" name="TextBox 2"/>
          <p:cNvSpPr txBox="1"/>
          <p:nvPr/>
        </p:nvSpPr>
        <p:spPr>
          <a:xfrm>
            <a:off x="33151" y="410992"/>
            <a:ext cx="5687008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void </a:t>
            </a:r>
            <a:r>
              <a:rPr lang="en-US" sz="1600" b="1" dirty="0" err="1"/>
              <a:t>collectingTermsInPolinom</a:t>
            </a:r>
            <a:r>
              <a:rPr lang="en-US" sz="1600" b="1" dirty="0"/>
              <a:t>(node*&amp;top, node*&amp;end</a:t>
            </a:r>
            <a:r>
              <a:rPr lang="en-US" sz="1600" b="1" dirty="0" smtClean="0"/>
              <a:t>)</a:t>
            </a:r>
            <a:endParaRPr lang="ru-RU" sz="1600" b="1" dirty="0"/>
          </a:p>
          <a:p>
            <a:r>
              <a:rPr lang="en-US" sz="1600" b="1" dirty="0" smtClean="0"/>
              <a:t>{</a:t>
            </a:r>
            <a:r>
              <a:rPr lang="ru-RU" sz="1600" b="1" dirty="0" smtClean="0"/>
              <a:t> </a:t>
            </a:r>
          </a:p>
          <a:p>
            <a:r>
              <a:rPr lang="ru-RU" sz="1600" b="1" dirty="0"/>
              <a:t> </a:t>
            </a:r>
            <a:r>
              <a:rPr lang="ru-RU" sz="1600" b="1" dirty="0" smtClean="0"/>
              <a:t>     </a:t>
            </a:r>
            <a:r>
              <a:rPr lang="en-US" sz="1600" b="1" dirty="0" err="1"/>
              <a:t>orderPolinom</a:t>
            </a:r>
            <a:r>
              <a:rPr lang="en-US" sz="1600" b="1" dirty="0"/>
              <a:t>();</a:t>
            </a:r>
            <a:endParaRPr lang="ru-RU" sz="1600" b="1" dirty="0"/>
          </a:p>
          <a:p>
            <a:r>
              <a:rPr lang="en-US" sz="1600" b="1" dirty="0" smtClean="0"/>
              <a:t>     </a:t>
            </a:r>
            <a:r>
              <a:rPr lang="ru-RU" sz="1600" b="1" dirty="0" smtClean="0"/>
              <a:t> </a:t>
            </a:r>
            <a:r>
              <a:rPr lang="en-US" sz="1600" b="1" dirty="0" err="1" smtClean="0"/>
              <a:t>int</a:t>
            </a:r>
            <a:r>
              <a:rPr lang="en-US" sz="1600" b="1" dirty="0" smtClean="0"/>
              <a:t> </a:t>
            </a:r>
            <a:r>
              <a:rPr lang="en-US" sz="1600" b="1" dirty="0" err="1"/>
              <a:t>koef,power</a:t>
            </a:r>
            <a:r>
              <a:rPr lang="en-US" sz="1600" b="1" dirty="0"/>
              <a:t>;</a:t>
            </a:r>
            <a:endParaRPr lang="ru-RU" sz="1600" b="1" dirty="0"/>
          </a:p>
          <a:p>
            <a:r>
              <a:rPr lang="en-US" sz="1600" b="1" dirty="0" smtClean="0"/>
              <a:t>      node*p</a:t>
            </a:r>
            <a:r>
              <a:rPr lang="en-US" sz="1600" b="1" dirty="0"/>
              <a:t>,*q,*</a:t>
            </a:r>
            <a:r>
              <a:rPr lang="en-US" sz="1600" b="1" dirty="0" err="1"/>
              <a:t>pr</a:t>
            </a:r>
            <a:r>
              <a:rPr lang="en-US" sz="1600" b="1" dirty="0"/>
              <a:t>;</a:t>
            </a:r>
            <a:endParaRPr lang="ru-RU" sz="1600" b="1" dirty="0"/>
          </a:p>
          <a:p>
            <a:r>
              <a:rPr lang="en-US" sz="1600" b="1" dirty="0"/>
              <a:t>    </a:t>
            </a:r>
            <a:r>
              <a:rPr lang="ru-RU" sz="1600" b="1" dirty="0" smtClean="0"/>
              <a:t> </a:t>
            </a:r>
            <a:r>
              <a:rPr lang="en-US" sz="1600" b="1" dirty="0" smtClean="0"/>
              <a:t> p=top;</a:t>
            </a:r>
            <a:r>
              <a:rPr lang="ru-RU" sz="1600" b="1" dirty="0"/>
              <a:t> </a:t>
            </a:r>
            <a:r>
              <a:rPr lang="ru-RU" sz="1600" b="1" dirty="0" smtClean="0"/>
              <a:t> </a:t>
            </a:r>
            <a:r>
              <a:rPr lang="en-US" sz="1600" b="1" dirty="0" smtClean="0"/>
              <a:t>q=p-</a:t>
            </a:r>
            <a:r>
              <a:rPr lang="en-US" sz="1600" b="1" dirty="0"/>
              <a:t>&gt;next;</a:t>
            </a:r>
            <a:endParaRPr lang="ru-RU" sz="1600" b="1" dirty="0"/>
          </a:p>
          <a:p>
            <a:r>
              <a:rPr lang="en-US" sz="1600" b="1" dirty="0"/>
              <a:t>    </a:t>
            </a:r>
            <a:r>
              <a:rPr lang="ru-RU" sz="1600" b="1" dirty="0" smtClean="0"/>
              <a:t>  </a:t>
            </a:r>
            <a:r>
              <a:rPr lang="en-US" sz="1600" b="1" dirty="0" smtClean="0"/>
              <a:t>while(q</a:t>
            </a:r>
            <a:r>
              <a:rPr lang="en-US" sz="1600" b="1" dirty="0"/>
              <a:t>!=NULL</a:t>
            </a:r>
            <a:r>
              <a:rPr lang="en-US" sz="1600" b="1" dirty="0" smtClean="0"/>
              <a:t>)</a:t>
            </a:r>
            <a:endParaRPr lang="en-US" sz="1600" b="1" dirty="0"/>
          </a:p>
          <a:p>
            <a:r>
              <a:rPr lang="ru-RU" sz="1600" b="1" dirty="0" smtClean="0"/>
              <a:t>       </a:t>
            </a:r>
            <a:r>
              <a:rPr lang="en-US" sz="1600" b="1" dirty="0" smtClean="0"/>
              <a:t>{</a:t>
            </a:r>
            <a:endParaRPr lang="ru-RU" sz="1600" b="1" dirty="0"/>
          </a:p>
          <a:p>
            <a:r>
              <a:rPr lang="en-US" sz="1600" b="1" dirty="0" smtClean="0"/>
              <a:t>  </a:t>
            </a:r>
            <a:r>
              <a:rPr lang="ru-RU" sz="1600" b="1" dirty="0" smtClean="0"/>
              <a:t>         </a:t>
            </a:r>
            <a:r>
              <a:rPr lang="en-US" sz="1600" b="1" dirty="0" smtClean="0"/>
              <a:t>if </a:t>
            </a:r>
            <a:r>
              <a:rPr lang="en-US" sz="1600" b="1" dirty="0"/>
              <a:t>(p-&gt;power==q-&gt;power</a:t>
            </a:r>
            <a:r>
              <a:rPr lang="en-US" sz="1600" b="1" dirty="0" smtClean="0"/>
              <a:t>)</a:t>
            </a:r>
            <a:endParaRPr lang="ru-RU" sz="1600" b="1" dirty="0" smtClean="0"/>
          </a:p>
          <a:p>
            <a:r>
              <a:rPr lang="ru-RU" sz="1600" b="1" dirty="0"/>
              <a:t> </a:t>
            </a:r>
            <a:r>
              <a:rPr lang="ru-RU" sz="1600" b="1" dirty="0" smtClean="0"/>
              <a:t>           </a:t>
            </a:r>
            <a:r>
              <a:rPr lang="en-US" sz="1600" b="1" dirty="0" smtClean="0"/>
              <a:t> {</a:t>
            </a:r>
            <a:endParaRPr lang="ru-RU" sz="1600" b="1" dirty="0" smtClean="0"/>
          </a:p>
          <a:p>
            <a:r>
              <a:rPr lang="ru-RU" sz="1600" b="1" dirty="0" smtClean="0"/>
              <a:t>                </a:t>
            </a:r>
            <a:r>
              <a:rPr lang="en-US" sz="1600" b="1" dirty="0" smtClean="0"/>
              <a:t>q-</a:t>
            </a:r>
            <a:r>
              <a:rPr lang="en-US" sz="1600" b="1" dirty="0"/>
              <a:t>&gt;</a:t>
            </a:r>
            <a:r>
              <a:rPr lang="en-US" sz="1600" b="1" dirty="0" err="1"/>
              <a:t>koef</a:t>
            </a:r>
            <a:r>
              <a:rPr lang="en-US" sz="1600" b="1" dirty="0"/>
              <a:t>=q-&gt;</a:t>
            </a:r>
            <a:r>
              <a:rPr lang="en-US" sz="1600" b="1" dirty="0" err="1"/>
              <a:t>koef+p</a:t>
            </a:r>
            <a:r>
              <a:rPr lang="en-US" sz="1600" b="1" dirty="0"/>
              <a:t>-&gt;</a:t>
            </a:r>
            <a:r>
              <a:rPr lang="en-US" sz="1600" b="1" dirty="0" err="1"/>
              <a:t>koef</a:t>
            </a:r>
            <a:r>
              <a:rPr lang="en-US" sz="1600" b="1" dirty="0"/>
              <a:t>;</a:t>
            </a:r>
            <a:endParaRPr lang="ru-RU" sz="1600" b="1" dirty="0"/>
          </a:p>
          <a:p>
            <a:r>
              <a:rPr lang="en-US" sz="1600" b="1" dirty="0"/>
              <a:t>  </a:t>
            </a:r>
            <a:r>
              <a:rPr lang="en-US" sz="1600" b="1" dirty="0" smtClean="0"/>
              <a:t>               if(p</a:t>
            </a:r>
            <a:r>
              <a:rPr lang="en-US" sz="1600" b="1" dirty="0"/>
              <a:t>==top</a:t>
            </a:r>
            <a:r>
              <a:rPr lang="en-US" sz="1600" b="1" dirty="0" smtClean="0"/>
              <a:t>)</a:t>
            </a:r>
            <a:endParaRPr lang="ru-RU" sz="1600" b="1" dirty="0" smtClean="0"/>
          </a:p>
          <a:p>
            <a:r>
              <a:rPr lang="ru-RU" sz="1600" b="1" dirty="0"/>
              <a:t> </a:t>
            </a:r>
            <a:r>
              <a:rPr lang="ru-RU" sz="1600" b="1" dirty="0" smtClean="0"/>
              <a:t>                 </a:t>
            </a:r>
            <a:r>
              <a:rPr lang="en-US" sz="1600" b="1" dirty="0" smtClean="0"/>
              <a:t> {</a:t>
            </a:r>
            <a:r>
              <a:rPr lang="ru-RU" sz="1600" b="1" dirty="0" smtClean="0"/>
              <a:t> 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popPolinom</a:t>
            </a:r>
            <a:r>
              <a:rPr lang="en-US" sz="1600" b="1" dirty="0" smtClean="0"/>
              <a:t>(p,</a:t>
            </a:r>
            <a:r>
              <a:rPr lang="en-US" sz="1600" b="1" dirty="0"/>
              <a:t> </a:t>
            </a:r>
            <a:r>
              <a:rPr lang="en-US" sz="1600" b="1" dirty="0" err="1" smtClean="0"/>
              <a:t>koef</a:t>
            </a:r>
            <a:r>
              <a:rPr lang="ru-RU" sz="1600" b="1" dirty="0"/>
              <a:t>,</a:t>
            </a:r>
            <a:r>
              <a:rPr lang="en-US" sz="1600" b="1" dirty="0" smtClean="0"/>
              <a:t> power); p=top;</a:t>
            </a:r>
            <a:r>
              <a:rPr lang="ru-RU" sz="1600" b="1" dirty="0" smtClean="0"/>
              <a:t> </a:t>
            </a:r>
            <a:r>
              <a:rPr lang="en-US" sz="1600" b="1" dirty="0" smtClean="0"/>
              <a:t> }</a:t>
            </a:r>
            <a:endParaRPr lang="ru-RU" sz="1600" b="1" dirty="0"/>
          </a:p>
          <a:p>
            <a:r>
              <a:rPr lang="en-US" sz="1600" b="1" dirty="0"/>
              <a:t>    </a:t>
            </a:r>
            <a:r>
              <a:rPr lang="en-US" sz="1600" b="1" dirty="0" smtClean="0"/>
              <a:t>            </a:t>
            </a:r>
            <a:r>
              <a:rPr lang="en-US" sz="1600" b="1" dirty="0"/>
              <a:t>else </a:t>
            </a:r>
            <a:endParaRPr lang="ru-RU" sz="1600" b="1" dirty="0" smtClean="0"/>
          </a:p>
          <a:p>
            <a:r>
              <a:rPr lang="ru-RU" sz="1600" b="1" dirty="0"/>
              <a:t> </a:t>
            </a:r>
            <a:r>
              <a:rPr lang="ru-RU" sz="1600" b="1" dirty="0" smtClean="0"/>
              <a:t>                   </a:t>
            </a:r>
            <a:r>
              <a:rPr lang="en-US" sz="1600" b="1" dirty="0" smtClean="0"/>
              <a:t>{</a:t>
            </a:r>
            <a:endParaRPr lang="ru-RU" sz="1600" b="1" dirty="0" smtClean="0"/>
          </a:p>
          <a:p>
            <a:r>
              <a:rPr lang="ru-RU" sz="1600" b="1" dirty="0"/>
              <a:t> </a:t>
            </a:r>
            <a:r>
              <a:rPr lang="ru-RU" sz="1600" b="1" dirty="0" smtClean="0"/>
              <a:t>                      </a:t>
            </a:r>
            <a:r>
              <a:rPr lang="en-US" sz="1600" b="1" dirty="0" err="1" smtClean="0"/>
              <a:t>pr</a:t>
            </a:r>
            <a:r>
              <a:rPr lang="en-US" sz="1600" b="1" dirty="0" smtClean="0"/>
              <a:t>=previous(top</a:t>
            </a:r>
            <a:r>
              <a:rPr lang="en-US" sz="1600" b="1" dirty="0"/>
              <a:t>, p);</a:t>
            </a:r>
            <a:endParaRPr lang="ru-RU" sz="1600" b="1" dirty="0"/>
          </a:p>
          <a:p>
            <a:r>
              <a:rPr lang="en-US" sz="1600" b="1" dirty="0"/>
              <a:t>    </a:t>
            </a:r>
            <a:r>
              <a:rPr lang="en-US" sz="1600" b="1" dirty="0" smtClean="0"/>
              <a:t>                   </a:t>
            </a:r>
            <a:r>
              <a:rPr lang="en-US" sz="1600" b="1" dirty="0" err="1" smtClean="0"/>
              <a:t>pr</a:t>
            </a:r>
            <a:r>
              <a:rPr lang="en-US" sz="1600" b="1" dirty="0" smtClean="0"/>
              <a:t>-</a:t>
            </a:r>
            <a:r>
              <a:rPr lang="en-US" sz="1600" b="1" dirty="0"/>
              <a:t>&gt;next=q;</a:t>
            </a:r>
            <a:endParaRPr lang="ru-RU" sz="1600" b="1" dirty="0"/>
          </a:p>
          <a:p>
            <a:r>
              <a:rPr lang="en-US" sz="1600" b="1" dirty="0"/>
              <a:t>    </a:t>
            </a:r>
            <a:r>
              <a:rPr lang="en-US" sz="1600" b="1" dirty="0" smtClean="0"/>
              <a:t>                   delete </a:t>
            </a:r>
            <a:r>
              <a:rPr lang="en-US" sz="1600" b="1" dirty="0"/>
              <a:t>p;</a:t>
            </a:r>
            <a:endParaRPr lang="ru-RU" sz="1600" b="1" dirty="0"/>
          </a:p>
          <a:p>
            <a:r>
              <a:rPr lang="en-US" sz="1600" b="1" dirty="0"/>
              <a:t>    </a:t>
            </a:r>
            <a:r>
              <a:rPr lang="en-US" sz="1600" b="1" dirty="0" smtClean="0"/>
              <a:t>                   </a:t>
            </a:r>
            <a:r>
              <a:rPr lang="en-US" sz="1600" b="1" dirty="0"/>
              <a:t>p=q</a:t>
            </a:r>
            <a:r>
              <a:rPr lang="en-US" sz="1600" b="1" dirty="0" smtClean="0"/>
              <a:t>;</a:t>
            </a:r>
            <a:endParaRPr lang="ru-RU" sz="1600" b="1" dirty="0" smtClean="0"/>
          </a:p>
          <a:p>
            <a:r>
              <a:rPr lang="ru-RU" sz="1600" b="1" dirty="0"/>
              <a:t> </a:t>
            </a:r>
            <a:r>
              <a:rPr lang="ru-RU" sz="1600" b="1" dirty="0" smtClean="0"/>
              <a:t>                    </a:t>
            </a:r>
            <a:r>
              <a:rPr lang="en-US" sz="1600" b="1" dirty="0" smtClean="0"/>
              <a:t>}</a:t>
            </a:r>
            <a:endParaRPr lang="ru-RU" sz="1600" b="1" dirty="0" smtClean="0"/>
          </a:p>
          <a:p>
            <a:r>
              <a:rPr lang="ru-RU" sz="1600" b="1" dirty="0"/>
              <a:t> </a:t>
            </a:r>
            <a:r>
              <a:rPr lang="ru-RU" sz="1600" b="1" dirty="0" smtClean="0"/>
              <a:t>   </a:t>
            </a:r>
            <a:r>
              <a:rPr lang="en-US" sz="1600" b="1" dirty="0" smtClean="0"/>
              <a:t>           </a:t>
            </a:r>
            <a:r>
              <a:rPr lang="ru-RU" sz="1600" b="1" dirty="0" smtClean="0"/>
              <a:t> </a:t>
            </a:r>
            <a:r>
              <a:rPr lang="en-US" sz="1600" b="1" dirty="0" smtClean="0"/>
              <a:t>q=q-</a:t>
            </a:r>
            <a:r>
              <a:rPr lang="en-US" sz="1600" b="1" dirty="0"/>
              <a:t>&gt;next;</a:t>
            </a:r>
            <a:endParaRPr lang="ru-RU" sz="1600" b="1" dirty="0"/>
          </a:p>
          <a:p>
            <a:r>
              <a:rPr lang="en-US" sz="1600" b="1" dirty="0"/>
              <a:t>    </a:t>
            </a:r>
            <a:r>
              <a:rPr lang="ru-RU" sz="1600" b="1" dirty="0" smtClean="0"/>
              <a:t>  </a:t>
            </a:r>
            <a:r>
              <a:rPr lang="en-US" sz="1600" b="1" dirty="0" smtClean="0"/>
              <a:t>       }</a:t>
            </a:r>
            <a:endParaRPr lang="ru-RU" sz="1600" b="1" dirty="0"/>
          </a:p>
          <a:p>
            <a:r>
              <a:rPr lang="en-US" sz="1600" b="1" dirty="0"/>
              <a:t>    </a:t>
            </a:r>
            <a:r>
              <a:rPr lang="ru-RU" sz="1600" b="1" dirty="0" smtClean="0"/>
              <a:t>  </a:t>
            </a:r>
            <a:r>
              <a:rPr lang="en-US" sz="1600" b="1" dirty="0" smtClean="0"/>
              <a:t>   </a:t>
            </a:r>
            <a:r>
              <a:rPr lang="en-US" sz="1600" b="1" dirty="0"/>
              <a:t>else </a:t>
            </a:r>
            <a:endParaRPr lang="ru-RU" sz="1600" b="1" dirty="0" smtClean="0"/>
          </a:p>
          <a:p>
            <a:r>
              <a:rPr lang="ru-RU" sz="1600" b="1" dirty="0"/>
              <a:t> </a:t>
            </a:r>
            <a:r>
              <a:rPr lang="ru-RU" sz="1600" b="1" dirty="0" smtClean="0"/>
              <a:t>          </a:t>
            </a:r>
            <a:r>
              <a:rPr lang="en-US" sz="1600" b="1" dirty="0" smtClean="0"/>
              <a:t>{</a:t>
            </a:r>
            <a:r>
              <a:rPr lang="ru-RU" sz="1600" b="1" dirty="0" smtClean="0"/>
              <a:t>  </a:t>
            </a:r>
            <a:r>
              <a:rPr lang="en-US" sz="1600" b="1" dirty="0" smtClean="0"/>
              <a:t>p=q;    </a:t>
            </a:r>
            <a:r>
              <a:rPr lang="en-US" sz="1600" b="1" dirty="0"/>
              <a:t>q</a:t>
            </a:r>
            <a:r>
              <a:rPr lang="ru-RU" sz="1600" b="1" dirty="0"/>
              <a:t>=</a:t>
            </a:r>
            <a:r>
              <a:rPr lang="en-US" sz="1600" b="1" dirty="0"/>
              <a:t>q</a:t>
            </a:r>
            <a:r>
              <a:rPr lang="ru-RU" sz="1600" b="1" dirty="0"/>
              <a:t>-&gt;</a:t>
            </a:r>
            <a:r>
              <a:rPr lang="en-US" sz="1600" b="1" dirty="0"/>
              <a:t>next</a:t>
            </a:r>
            <a:r>
              <a:rPr lang="ru-RU" sz="1600" b="1" dirty="0" smtClean="0"/>
              <a:t>; }</a:t>
            </a:r>
          </a:p>
          <a:p>
            <a:r>
              <a:rPr lang="ru-RU" sz="1600" b="1" dirty="0" smtClean="0"/>
              <a:t> </a:t>
            </a:r>
            <a:r>
              <a:rPr lang="en-US" sz="1600" b="1" dirty="0" smtClean="0"/>
              <a:t>      </a:t>
            </a:r>
            <a:r>
              <a:rPr lang="ru-RU" sz="1600" b="1" dirty="0" smtClean="0"/>
              <a:t>}</a:t>
            </a:r>
            <a:endParaRPr lang="en-US" sz="1600" b="1" dirty="0" smtClean="0"/>
          </a:p>
          <a:p>
            <a:r>
              <a:rPr lang="en-US" sz="1600" b="1" dirty="0" smtClean="0"/>
              <a:t>}</a:t>
            </a:r>
            <a:endParaRPr lang="ru-RU" sz="1600" b="1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749741"/>
              </p:ext>
            </p:extLst>
          </p:nvPr>
        </p:nvGraphicFramePr>
        <p:xfrm>
          <a:off x="5626906" y="4936597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642392"/>
              </p:ext>
            </p:extLst>
          </p:nvPr>
        </p:nvGraphicFramePr>
        <p:xfrm>
          <a:off x="7151000" y="4936597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722577"/>
              </p:ext>
            </p:extLst>
          </p:nvPr>
        </p:nvGraphicFramePr>
        <p:xfrm>
          <a:off x="8684050" y="4936597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309852"/>
              </p:ext>
            </p:extLst>
          </p:nvPr>
        </p:nvGraphicFramePr>
        <p:xfrm>
          <a:off x="10189951" y="4934209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Стрелка вправо 7"/>
          <p:cNvSpPr/>
          <p:nvPr/>
        </p:nvSpPr>
        <p:spPr>
          <a:xfrm>
            <a:off x="6574407" y="6254151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трелка вправо 8"/>
          <p:cNvSpPr/>
          <p:nvPr/>
        </p:nvSpPr>
        <p:spPr>
          <a:xfrm>
            <a:off x="8077129" y="6287280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 вправо 9"/>
          <p:cNvSpPr/>
          <p:nvPr/>
        </p:nvSpPr>
        <p:spPr>
          <a:xfrm>
            <a:off x="9652736" y="6254150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626907" y="4934209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8</a:t>
            </a:r>
            <a:endParaRPr lang="ru-RU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5626905" y="5555332"/>
            <a:ext cx="75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46358" y="4920957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</a:t>
            </a:r>
            <a:endParaRPr lang="ru-RU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7146358" y="5555332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745146" y="4962796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  <a:endParaRPr lang="ru-RU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8738428" y="5569087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86184" y="5527610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27032" y="4965970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10</a:t>
            </a:r>
            <a:endParaRPr lang="ru-RU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5558785" y="4137859"/>
            <a:ext cx="63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top</a:t>
            </a:r>
            <a:endParaRPr lang="ru-RU" sz="20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10169571" y="4188886"/>
            <a:ext cx="985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end</a:t>
            </a:r>
            <a:endParaRPr lang="ru-RU" sz="20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6097749" y="4446485"/>
            <a:ext cx="2818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p</a:t>
            </a:r>
            <a:endParaRPr lang="ru-RU" sz="20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598586" y="4520847"/>
            <a:ext cx="28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q</a:t>
            </a:r>
            <a:endParaRPr lang="ru-RU" sz="20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6452315" y="2054998"/>
            <a:ext cx="537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/>
              <a:t>pr</a:t>
            </a:r>
            <a:endParaRPr lang="ru-RU" sz="2000" b="1" dirty="0"/>
          </a:p>
        </p:txBody>
      </p:sp>
      <p:graphicFrame>
        <p:nvGraphicFramePr>
          <p:cNvPr id="32" name="Таблица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115127"/>
              </p:ext>
            </p:extLst>
          </p:nvPr>
        </p:nvGraphicFramePr>
        <p:xfrm>
          <a:off x="6491006" y="2461017"/>
          <a:ext cx="72445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4452"/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0" name="Таблица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456111"/>
              </p:ext>
            </p:extLst>
          </p:nvPr>
        </p:nvGraphicFramePr>
        <p:xfrm>
          <a:off x="7647515" y="2478062"/>
          <a:ext cx="9497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738"/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7515650" y="2054998"/>
            <a:ext cx="985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power</a:t>
            </a:r>
            <a:endParaRPr lang="ru-RU" sz="2000" b="1" dirty="0"/>
          </a:p>
        </p:txBody>
      </p:sp>
      <p:graphicFrame>
        <p:nvGraphicFramePr>
          <p:cNvPr id="42" name="Таблица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11145"/>
              </p:ext>
            </p:extLst>
          </p:nvPr>
        </p:nvGraphicFramePr>
        <p:xfrm>
          <a:off x="7626491" y="1539703"/>
          <a:ext cx="9497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738"/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7515651" y="1131668"/>
            <a:ext cx="985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/>
              <a:t>koef</a:t>
            </a:r>
            <a:endParaRPr lang="ru-RU" sz="2000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8753266" y="4962796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7</a:t>
            </a:r>
            <a:endParaRPr lang="ru-RU" b="1" dirty="0"/>
          </a:p>
        </p:txBody>
      </p:sp>
      <p:sp>
        <p:nvSpPr>
          <p:cNvPr id="47" name="Стрелка вправо 46"/>
          <p:cNvSpPr/>
          <p:nvPr/>
        </p:nvSpPr>
        <p:spPr>
          <a:xfrm>
            <a:off x="6588807" y="6208019"/>
            <a:ext cx="2019557" cy="3426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11396013" y="5228782"/>
            <a:ext cx="921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NULL</a:t>
            </a:r>
            <a:endParaRPr lang="ru-RU" sz="2000" b="1" dirty="0"/>
          </a:p>
        </p:txBody>
      </p:sp>
      <p:sp>
        <p:nvSpPr>
          <p:cNvPr id="49" name="Стрелка вниз 48"/>
          <p:cNvSpPr/>
          <p:nvPr/>
        </p:nvSpPr>
        <p:spPr>
          <a:xfrm>
            <a:off x="11833940" y="4951862"/>
            <a:ext cx="150253" cy="32459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кругленная прямоугольная выноска 20"/>
          <p:cNvSpPr/>
          <p:nvPr/>
        </p:nvSpPr>
        <p:spPr>
          <a:xfrm>
            <a:off x="690497" y="90755"/>
            <a:ext cx="4130287" cy="2733545"/>
          </a:xfrm>
          <a:prstGeom prst="wedgeRoundRectCallou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951001" y="284448"/>
            <a:ext cx="363907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Если данное условие выполнится в какой-то момент цикла, то функция </a:t>
            </a:r>
            <a:r>
              <a:rPr lang="en-US" b="1" dirty="0" err="1">
                <a:solidFill>
                  <a:schemeClr val="bg1"/>
                </a:solidFill>
              </a:rPr>
              <a:t>popPolinom</a:t>
            </a:r>
            <a:r>
              <a:rPr lang="ru-RU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“</a:t>
            </a:r>
            <a:r>
              <a:rPr lang="ru-RU" dirty="0" smtClean="0">
                <a:solidFill>
                  <a:schemeClr val="bg1"/>
                </a:solidFill>
              </a:rPr>
              <a:t>заберет</a:t>
            </a:r>
            <a:r>
              <a:rPr lang="en-US" dirty="0" smtClean="0">
                <a:solidFill>
                  <a:schemeClr val="bg1"/>
                </a:solidFill>
              </a:rPr>
              <a:t>”</a:t>
            </a:r>
            <a:r>
              <a:rPr lang="ru-RU" dirty="0" smtClean="0">
                <a:solidFill>
                  <a:schemeClr val="bg1"/>
                </a:solidFill>
              </a:rPr>
              <a:t> элемент из списка. То есть удалит элемент, а данные скопирует в переменные </a:t>
            </a:r>
            <a:r>
              <a:rPr lang="en-US" b="1" dirty="0" err="1" smtClean="0">
                <a:solidFill>
                  <a:schemeClr val="bg1"/>
                </a:solidFill>
              </a:rPr>
              <a:t>koef</a:t>
            </a:r>
            <a:r>
              <a:rPr lang="ru-RU" b="1" dirty="0" smtClean="0">
                <a:solidFill>
                  <a:schemeClr val="bg1"/>
                </a:solidFill>
              </a:rPr>
              <a:t> ,</a:t>
            </a:r>
            <a:r>
              <a:rPr lang="en-US" b="1" dirty="0" smtClean="0">
                <a:solidFill>
                  <a:schemeClr val="bg1"/>
                </a:solidFill>
              </a:rPr>
              <a:t> power</a:t>
            </a:r>
            <a:r>
              <a:rPr lang="ru-RU" b="1" dirty="0" smtClean="0">
                <a:solidFill>
                  <a:schemeClr val="bg1"/>
                </a:solidFill>
              </a:rPr>
              <a:t>.</a:t>
            </a:r>
            <a:endParaRPr lang="ru-RU" b="1" dirty="0">
              <a:solidFill>
                <a:schemeClr val="bg1"/>
              </a:solidFill>
            </a:endParaRPr>
          </a:p>
          <a:p>
            <a:endParaRPr lang="ru-RU" b="1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632263" y="1532547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8</a:t>
            </a:r>
            <a:endParaRPr lang="ru-RU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7672274" y="2450210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26442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7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4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6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>
                      <p:stCondLst>
                        <p:cond delay="indefinite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7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>
                      <p:stCondLst>
                        <p:cond delay="indefinite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8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7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8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8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8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8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8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0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9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9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9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9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9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6" fill="hold">
                      <p:stCondLst>
                        <p:cond delay="indefinite"/>
                      </p:stCondLst>
                      <p:childTnLst>
                        <p:par>
                          <p:cTn id="397" fill="hold">
                            <p:stCondLst>
                              <p:cond delay="0"/>
                            </p:stCondLst>
                            <p:childTnLst>
                              <p:par>
                                <p:cTn id="398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99" dur="500" fill="hold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0" dur="500" fill="hold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1" dur="500" fill="hold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fill="hold">
                      <p:stCondLst>
                        <p:cond delay="indefinite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05" dur="500" fill="hold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6" dur="500" fill="hold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7" dur="500" fill="hold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>
                      <p:stCondLst>
                        <p:cond delay="indefinite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11" dur="500" fill="hold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2" dur="500" fill="hold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3" dur="500" fill="hold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4" fill="hold">
                      <p:stCondLst>
                        <p:cond delay="indefinite"/>
                      </p:stCondLst>
                      <p:childTnLst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3.7037E-6 L 0.08724 0.00139 " pathEditMode="relative" rAng="0" ptsTypes="AA">
                                      <p:cBhvr>
                                        <p:cTn id="41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62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>
                      <p:stCondLst>
                        <p:cond delay="indefinite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4.07407E-6 L 0.11158 0.00069 " pathEditMode="relative" rAng="0" ptsTypes="AA">
                                      <p:cBhvr>
                                        <p:cTn id="421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73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2" fill="hold">
                      <p:stCondLst>
                        <p:cond delay="indefinite"/>
                      </p:stCondLst>
                      <p:childTnLst>
                        <p:par>
                          <p:cTn id="423" fill="hold">
                            <p:stCondLst>
                              <p:cond delay="0"/>
                            </p:stCondLst>
                            <p:childTnLst>
                              <p:par>
                                <p:cTn id="424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425" dur="250" autoRev="1" fill="remov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26" dur="250" autoRev="1" fill="remov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7" dur="250" autoRev="1" fill="remov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8" dur="250" autoRev="1" fill="remov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34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43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43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3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3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3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7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43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43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4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4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4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>
                      <p:stCondLst>
                        <p:cond delay="indefinite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4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9" fill="hold">
                      <p:stCondLst>
                        <p:cond delay="indefinite"/>
                      </p:stCondLst>
                      <p:childTnLst>
                        <p:par>
                          <p:cTn id="450" fill="hold">
                            <p:stCondLst>
                              <p:cond delay="0"/>
                            </p:stCondLst>
                            <p:childTnLst>
                              <p:par>
                                <p:cTn id="45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5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5" fill="hold">
                      <p:stCondLst>
                        <p:cond delay="indefinite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4.44444E-6 L 0.12864 0.00764 " pathEditMode="relative" rAng="0" ptsTypes="AA">
                                      <p:cBhvr>
                                        <p:cTn id="45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32" y="370"/>
                                    </p:animMotion>
                                  </p:childTnLst>
                                </p:cTn>
                              </p:par>
                              <p:par>
                                <p:cTn id="45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8" fill="hold">
                      <p:stCondLst>
                        <p:cond delay="indefinite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id="47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7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4" fill="hold">
                      <p:stCondLst>
                        <p:cond delay="indefinite"/>
                      </p:stCondLst>
                      <p:childTnLst>
                        <p:par>
                          <p:cTn id="475" fill="hold">
                            <p:stCondLst>
                              <p:cond delay="0"/>
                            </p:stCondLst>
                            <p:childTnLst>
                              <p:par>
                                <p:cTn id="47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7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0" fill="hold">
                      <p:stCondLst>
                        <p:cond delay="indefinite"/>
                      </p:stCondLst>
                      <p:childTnLst>
                        <p:par>
                          <p:cTn id="481" fill="hold">
                            <p:stCondLst>
                              <p:cond delay="0"/>
                            </p:stCondLst>
                            <p:childTnLst>
                              <p:par>
                                <p:cTn id="482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83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4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5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6" fill="hold">
                      <p:stCondLst>
                        <p:cond delay="indefinite"/>
                      </p:stCondLst>
                      <p:childTnLst>
                        <p:par>
                          <p:cTn id="487" fill="hold">
                            <p:stCondLst>
                              <p:cond delay="0"/>
                            </p:stCondLst>
                            <p:childTnLst>
                              <p:par>
                                <p:cTn id="488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89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0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1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2" fill="hold">
                      <p:stCondLst>
                        <p:cond delay="indefinite"/>
                      </p:stCondLst>
                      <p:childTnLst>
                        <p:par>
                          <p:cTn id="493" fill="hold">
                            <p:stCondLst>
                              <p:cond delay="0"/>
                            </p:stCondLst>
                            <p:childTnLst>
                              <p:par>
                                <p:cTn id="49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3.7037E-6 L -0.03945 0.34884 " pathEditMode="relative" rAng="0" ptsTypes="AA">
                                      <p:cBhvr>
                                        <p:cTn id="49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3" y="17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fill="hold">
                      <p:stCondLst>
                        <p:cond delay="indefinite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02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03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04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5" fill="hold">
                      <p:stCondLst>
                        <p:cond delay="indefinite"/>
                      </p:stCondLst>
                      <p:childTnLst>
                        <p:par>
                          <p:cTn id="506" fill="hold">
                            <p:stCondLst>
                              <p:cond delay="0"/>
                            </p:stCondLst>
                            <p:childTnLst>
                              <p:par>
                                <p:cTn id="50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0" fill="hold">
                      <p:stCondLst>
                        <p:cond delay="indefinite"/>
                      </p:stCondLst>
                      <p:childTnLst>
                        <p:par>
                          <p:cTn id="511" fill="hold">
                            <p:stCondLst>
                              <p:cond delay="0"/>
                            </p:stCondLst>
                            <p:childTnLst>
                              <p:par>
                                <p:cTn id="5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5" fill="hold">
                      <p:stCondLst>
                        <p:cond delay="indefinite"/>
                      </p:stCondLst>
                      <p:childTnLst>
                        <p:par>
                          <p:cTn id="516" fill="hold">
                            <p:stCondLst>
                              <p:cond delay="0"/>
                            </p:stCondLst>
                            <p:childTnLst>
                              <p:par>
                                <p:cTn id="51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18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19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20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1" fill="hold">
                      <p:stCondLst>
                        <p:cond delay="indefinite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id="5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5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5" fill="hold">
                      <p:stCondLst>
                        <p:cond delay="indefinite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38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9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0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1" fill="hold">
                      <p:stCondLst>
                        <p:cond delay="indefinite"/>
                      </p:stCondLst>
                      <p:childTnLst>
                        <p:par>
                          <p:cTn id="542" fill="hold">
                            <p:stCondLst>
                              <p:cond delay="0"/>
                            </p:stCondLst>
                            <p:childTnLst>
                              <p:par>
                                <p:cTn id="543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44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5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6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7" fill="hold">
                      <p:stCondLst>
                        <p:cond delay="indefinite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id="549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724 0.00139 L 0.1944 0.01736 " pathEditMode="relative" rAng="0" ptsTypes="AA">
                                      <p:cBhvr>
                                        <p:cTn id="550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52" y="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1" fill="hold">
                      <p:stCondLst>
                        <p:cond delay="indefinite"/>
                      </p:stCondLst>
                      <p:childTnLst>
                        <p:par>
                          <p:cTn id="552" fill="hold">
                            <p:stCondLst>
                              <p:cond delay="0"/>
                            </p:stCondLst>
                            <p:childTnLst>
                              <p:par>
                                <p:cTn id="553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54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55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56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7" fill="hold">
                      <p:stCondLst>
                        <p:cond delay="indefinite"/>
                      </p:stCondLst>
                      <p:childTnLst>
                        <p:par>
                          <p:cTn id="558" fill="hold">
                            <p:stCondLst>
                              <p:cond delay="0"/>
                            </p:stCondLst>
                            <p:childTnLst>
                              <p:par>
                                <p:cTn id="55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60" dur="5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61" dur="5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62" dur="5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3" fill="hold">
                      <p:stCondLst>
                        <p:cond delay="indefinite"/>
                      </p:stCondLst>
                      <p:childTnLst>
                        <p:par>
                          <p:cTn id="564" fill="hold">
                            <p:stCondLst>
                              <p:cond delay="0"/>
                            </p:stCondLst>
                            <p:childTnLst>
                              <p:par>
                                <p:cTn id="565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159 0.0007 L 0.25 4.07407E-6 " pathEditMode="relative" rAng="0" ptsTypes="AA">
                                      <p:cBhvr>
                                        <p:cTn id="56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72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7" fill="hold">
                      <p:stCondLst>
                        <p:cond delay="indefinite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570" dur="250" autoRev="1" fill="remov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animClr clrSpc="rgb" dir="cw">
                                      <p:cBhvr>
                                        <p:cTn id="571" dur="250" autoRev="1" fill="remov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572" dur="250" autoRev="1" fill="remov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3" dur="250" autoRev="1" fill="remov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4" fill="hold">
                      <p:stCondLst>
                        <p:cond delay="indefinite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id="57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77" dur="500" fill="hold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78" dur="500" fill="hold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79" dur="500" fill="hold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0" fill="hold">
                      <p:stCondLst>
                        <p:cond delay="indefinite"/>
                      </p:stCondLst>
                      <p:childTnLst>
                        <p:par>
                          <p:cTn id="581" fill="hold">
                            <p:stCondLst>
                              <p:cond delay="0"/>
                            </p:stCondLst>
                            <p:childTnLst>
                              <p:par>
                                <p:cTn id="582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83" dur="500" fill="hold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4" dur="500" fill="hold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5" dur="500" fill="hold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6" fill="hold">
                      <p:stCondLst>
                        <p:cond delay="indefinite"/>
                      </p:stCondLst>
                      <p:childTnLst>
                        <p:par>
                          <p:cTn id="587" fill="hold">
                            <p:stCondLst>
                              <p:cond delay="0"/>
                            </p:stCondLst>
                            <p:childTnLst>
                              <p:par>
                                <p:cTn id="588" presetID="63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463 0.01157 L 0.32708 0.01157 " pathEditMode="relative" rAng="0" ptsTypes="AA">
                                      <p:cBhvr>
                                        <p:cTn id="589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2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0" fill="hold">
                      <p:stCondLst>
                        <p:cond delay="indefinite"/>
                      </p:stCondLst>
                      <p:childTnLst>
                        <p:par>
                          <p:cTn id="591" fill="hold">
                            <p:stCondLst>
                              <p:cond delay="0"/>
                            </p:stCondLst>
                            <p:childTnLst>
                              <p:par>
                                <p:cTn id="592" presetID="63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 4.07407E-6 L 0.325 0.00763 " pathEditMode="relative" rAng="0" ptsTypes="AA">
                                      <p:cBhvr>
                                        <p:cTn id="593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50" y="370"/>
                                    </p:animMotion>
                                  </p:childTnLst>
                                </p:cTn>
                              </p:par>
                              <p:par>
                                <p:cTn id="59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0" fill="hold">
                      <p:stCondLst>
                        <p:cond delay="indefinite"/>
                      </p:stCondLst>
                      <p:childTnLst>
                        <p:par>
                          <p:cTn id="601" fill="hold">
                            <p:stCondLst>
                              <p:cond delay="0"/>
                            </p:stCondLst>
                            <p:childTnLst>
                              <p:par>
                                <p:cTn id="602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03" dur="500" fill="hold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04" dur="500" fill="hold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05" dur="500" fill="hold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6" fill="hold">
                      <p:stCondLst>
                        <p:cond delay="indefinite"/>
                      </p:stCondLst>
                      <p:childTnLst>
                        <p:par>
                          <p:cTn id="607" fill="hold">
                            <p:stCondLst>
                              <p:cond delay="0"/>
                            </p:stCondLst>
                            <p:childTnLst>
                              <p:par>
                                <p:cTn id="60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24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3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0" fill="hold">
                      <p:stCondLst>
                        <p:cond delay="indefinite"/>
                      </p:stCondLst>
                      <p:childTnLst>
                        <p:par>
                          <p:cTn id="641" fill="hold">
                            <p:stCondLst>
                              <p:cond delay="0"/>
                            </p:stCondLst>
                            <p:childTnLst>
                              <p:par>
                                <p:cTn id="642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4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animClr clrSpc="rgb" dir="cw">
                                      <p:cBhvr>
                                        <p:cTn id="64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64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64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7" fill="hold">
                      <p:stCondLst>
                        <p:cond delay="indefinite"/>
                      </p:stCondLst>
                      <p:childTnLst>
                        <p:par>
                          <p:cTn id="648" fill="hold">
                            <p:stCondLst>
                              <p:cond delay="0"/>
                            </p:stCondLst>
                            <p:childTnLst>
                              <p:par>
                                <p:cTn id="649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5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animClr clrSpc="rgb" dir="cw">
                                      <p:cBhvr>
                                        <p:cTn id="65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65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65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4" fill="hold">
                      <p:stCondLst>
                        <p:cond delay="indefinite"/>
                      </p:stCondLst>
                      <p:childTnLst>
                        <p:par>
                          <p:cTn id="655" fill="hold">
                            <p:stCondLst>
                              <p:cond delay="0"/>
                            </p:stCondLst>
                            <p:childTnLst>
                              <p:par>
                                <p:cTn id="65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5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8" fill="hold">
                      <p:stCondLst>
                        <p:cond delay="indefinite"/>
                      </p:stCondLst>
                      <p:childTnLst>
                        <p:par>
                          <p:cTn id="659" fill="hold">
                            <p:stCondLst>
                              <p:cond delay="0"/>
                            </p:stCondLst>
                            <p:childTnLst>
                              <p:par>
                                <p:cTn id="66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6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6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7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7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7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8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9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  <p:bldP spid="8" grpId="1" animBg="1"/>
      <p:bldP spid="9" grpId="0" animBg="1"/>
      <p:bldP spid="9" grpId="1" animBg="1"/>
      <p:bldP spid="10" grpId="0" animBg="1"/>
      <p:bldP spid="11" grpId="0"/>
      <p:bldP spid="12" grpId="0"/>
      <p:bldP spid="12" grpId="1"/>
      <p:bldP spid="13" grpId="0"/>
      <p:bldP spid="13" grpId="1"/>
      <p:bldP spid="13" grpId="2"/>
      <p:bldP spid="13" grpId="3"/>
      <p:bldP spid="14" grpId="0"/>
      <p:bldP spid="14" grpId="1"/>
      <p:bldP spid="14" grpId="2"/>
      <p:bldP spid="14" grpId="3"/>
      <p:bldP spid="15" grpId="0"/>
      <p:bldP spid="15" grpId="1"/>
      <p:bldP spid="16" grpId="0"/>
      <p:bldP spid="16" grpId="1"/>
      <p:bldP spid="17" grpId="0"/>
      <p:bldP spid="18" grpId="0"/>
      <p:bldP spid="19" grpId="0"/>
      <p:bldP spid="20" grpId="0"/>
      <p:bldP spid="27" grpId="0"/>
      <p:bldP spid="27" grpId="1"/>
      <p:bldP spid="27" grpId="2"/>
      <p:bldP spid="27" grpId="3"/>
      <p:bldP spid="28" grpId="0"/>
      <p:bldP spid="28" grpId="1"/>
      <p:bldP spid="28" grpId="2"/>
      <p:bldP spid="28" grpId="3"/>
      <p:bldP spid="31" grpId="0"/>
      <p:bldP spid="31" grpId="1"/>
      <p:bldP spid="41" grpId="0"/>
      <p:bldP spid="43" grpId="0"/>
      <p:bldP spid="46" grpId="0"/>
      <p:bldP spid="47" grpId="0" animBg="1"/>
      <p:bldP spid="48" grpId="0"/>
      <p:bldP spid="49" grpId="0" animBg="1"/>
      <p:bldP spid="21" grpId="0" animBg="1"/>
      <p:bldP spid="22" grpId="0"/>
      <p:bldP spid="37" grpId="0"/>
      <p:bldP spid="3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909" y="193183"/>
            <a:ext cx="10277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u="sng" dirty="0" smtClean="0"/>
              <a:t>9</a:t>
            </a:r>
            <a:r>
              <a:rPr lang="ru-RU" i="1" u="sng" dirty="0" smtClean="0"/>
              <a:t>. Функция сложения двух полиномов</a:t>
            </a:r>
            <a:r>
              <a:rPr lang="ru-RU" dirty="0" smtClean="0"/>
              <a:t>, </a:t>
            </a:r>
            <a:r>
              <a:rPr lang="ru-RU" i="1" dirty="0" smtClean="0"/>
              <a:t>использующая функцию приведения подобных.</a:t>
            </a:r>
            <a:endParaRPr lang="ru-RU" i="1" dirty="0"/>
          </a:p>
        </p:txBody>
      </p:sp>
      <p:sp>
        <p:nvSpPr>
          <p:cNvPr id="3" name="TextBox 2"/>
          <p:cNvSpPr txBox="1"/>
          <p:nvPr/>
        </p:nvSpPr>
        <p:spPr>
          <a:xfrm>
            <a:off x="115909" y="624658"/>
            <a:ext cx="89250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void </a:t>
            </a:r>
            <a:r>
              <a:rPr lang="en-US" b="1" dirty="0" err="1"/>
              <a:t>additonOfPolinoms</a:t>
            </a:r>
            <a:r>
              <a:rPr lang="en-US" b="1" dirty="0"/>
              <a:t>(node*&amp;top</a:t>
            </a:r>
            <a:r>
              <a:rPr lang="en-US" b="1" dirty="0" smtClean="0"/>
              <a:t>,</a:t>
            </a:r>
            <a:r>
              <a:rPr lang="ru-RU" b="1" dirty="0" smtClean="0"/>
              <a:t> </a:t>
            </a:r>
            <a:r>
              <a:rPr lang="en-US" b="1" dirty="0" smtClean="0"/>
              <a:t>node</a:t>
            </a:r>
            <a:r>
              <a:rPr lang="en-US" b="1" dirty="0"/>
              <a:t>*&amp;end, node*&amp;top1,node*&amp;end1)</a:t>
            </a:r>
            <a:endParaRPr lang="ru-RU" b="1" dirty="0"/>
          </a:p>
          <a:p>
            <a:r>
              <a:rPr lang="en-US" b="1" dirty="0" smtClean="0"/>
              <a:t>{</a:t>
            </a:r>
            <a:endParaRPr lang="ru-RU" b="1" dirty="0" smtClean="0"/>
          </a:p>
          <a:p>
            <a:r>
              <a:rPr lang="ru-RU" b="1" dirty="0"/>
              <a:t> </a:t>
            </a:r>
            <a:r>
              <a:rPr lang="ru-RU" b="1" dirty="0" smtClean="0"/>
              <a:t>   </a:t>
            </a:r>
            <a:r>
              <a:rPr lang="en-US" b="1" dirty="0" smtClean="0"/>
              <a:t>end-</a:t>
            </a:r>
            <a:r>
              <a:rPr lang="en-US" b="1" dirty="0"/>
              <a:t>&gt;next=top1;</a:t>
            </a:r>
            <a:endParaRPr lang="ru-RU" b="1" dirty="0"/>
          </a:p>
          <a:p>
            <a:r>
              <a:rPr lang="en-US" b="1" dirty="0"/>
              <a:t>  </a:t>
            </a:r>
            <a:r>
              <a:rPr lang="ru-RU" b="1" dirty="0" smtClean="0"/>
              <a:t>  </a:t>
            </a:r>
            <a:r>
              <a:rPr lang="en-US" b="1" dirty="0" smtClean="0"/>
              <a:t>end=end1</a:t>
            </a:r>
            <a:r>
              <a:rPr lang="en-US" b="1" dirty="0"/>
              <a:t>;</a:t>
            </a:r>
            <a:endParaRPr lang="ru-RU" b="1" dirty="0"/>
          </a:p>
          <a:p>
            <a:r>
              <a:rPr lang="en-US" b="1" dirty="0"/>
              <a:t>  </a:t>
            </a:r>
            <a:r>
              <a:rPr lang="ru-RU" b="1" dirty="0" smtClean="0"/>
              <a:t>  </a:t>
            </a:r>
            <a:r>
              <a:rPr lang="en-US" b="1" dirty="0" err="1" smtClean="0"/>
              <a:t>collectingTermsInPolinom</a:t>
            </a:r>
            <a:r>
              <a:rPr lang="ru-RU" b="1" dirty="0" smtClean="0"/>
              <a:t>(</a:t>
            </a:r>
            <a:r>
              <a:rPr lang="en-US" b="1" dirty="0" smtClean="0"/>
              <a:t>top, end</a:t>
            </a:r>
            <a:r>
              <a:rPr lang="ru-RU" b="1" dirty="0" smtClean="0"/>
              <a:t>);</a:t>
            </a:r>
            <a:endParaRPr lang="ru-RU" b="1" dirty="0"/>
          </a:p>
          <a:p>
            <a:r>
              <a:rPr lang="ru-RU" b="1" dirty="0" smtClean="0"/>
              <a:t>}</a:t>
            </a:r>
            <a:endParaRPr lang="ru-RU" b="1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605966"/>
              </p:ext>
            </p:extLst>
          </p:nvPr>
        </p:nvGraphicFramePr>
        <p:xfrm>
          <a:off x="467813" y="4524004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633396"/>
              </p:ext>
            </p:extLst>
          </p:nvPr>
        </p:nvGraphicFramePr>
        <p:xfrm>
          <a:off x="1991907" y="4524004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902999"/>
              </p:ext>
            </p:extLst>
          </p:nvPr>
        </p:nvGraphicFramePr>
        <p:xfrm>
          <a:off x="3524957" y="4524004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Стрелка вправо 6"/>
          <p:cNvSpPr/>
          <p:nvPr/>
        </p:nvSpPr>
        <p:spPr>
          <a:xfrm>
            <a:off x="1415314" y="5841558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трелка вправо 7"/>
          <p:cNvSpPr/>
          <p:nvPr/>
        </p:nvSpPr>
        <p:spPr>
          <a:xfrm>
            <a:off x="2918036" y="5874687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467814" y="4521616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8</a:t>
            </a:r>
            <a:endParaRPr lang="ru-RU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67812" y="5142739"/>
            <a:ext cx="75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87265" y="4508364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7265" y="5142739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86053" y="4550203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7</a:t>
            </a:r>
            <a:endParaRPr lang="ru-RU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3579335" y="5156494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6053" y="5743894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NULL</a:t>
            </a:r>
            <a:endParaRPr lang="ru-RU" dirty="0">
              <a:solidFill>
                <a:schemeClr val="bg1"/>
              </a:solidFill>
            </a:endParaRPr>
          </a:p>
        </p:txBody>
      </p:sp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857459"/>
              </p:ext>
            </p:extLst>
          </p:nvPr>
        </p:nvGraphicFramePr>
        <p:xfrm>
          <a:off x="5112010" y="2804139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7" name="Таблица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57945"/>
              </p:ext>
            </p:extLst>
          </p:nvPr>
        </p:nvGraphicFramePr>
        <p:xfrm>
          <a:off x="6645060" y="2804139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Стрелка вправо 17"/>
          <p:cNvSpPr/>
          <p:nvPr/>
        </p:nvSpPr>
        <p:spPr>
          <a:xfrm>
            <a:off x="6038139" y="4154822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/>
          <p:cNvSpPr txBox="1"/>
          <p:nvPr/>
        </p:nvSpPr>
        <p:spPr>
          <a:xfrm>
            <a:off x="5107368" y="2788499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</a:t>
            </a:r>
            <a:endParaRPr lang="ru-RU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107368" y="3422874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06156" y="2830338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</a:t>
            </a:r>
            <a:endParaRPr lang="ru-RU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699438" y="3436629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6156" y="4024029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NULL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7812" y="4028226"/>
            <a:ext cx="63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top</a:t>
            </a:r>
            <a:endParaRPr lang="ru-RU" sz="20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3469439" y="4028226"/>
            <a:ext cx="985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end</a:t>
            </a:r>
            <a:endParaRPr lang="ru-RU" sz="20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5064926" y="2315721"/>
            <a:ext cx="795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top1</a:t>
            </a:r>
            <a:endParaRPr lang="ru-RU" sz="20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6699438" y="2344795"/>
            <a:ext cx="985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end1</a:t>
            </a:r>
            <a:endParaRPr lang="ru-RU" sz="2000" b="1" dirty="0"/>
          </a:p>
        </p:txBody>
      </p:sp>
      <p:sp>
        <p:nvSpPr>
          <p:cNvPr id="28" name="Стрелка вправо 27"/>
          <p:cNvSpPr/>
          <p:nvPr/>
        </p:nvSpPr>
        <p:spPr>
          <a:xfrm>
            <a:off x="4455326" y="5841558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/>
          <p:cNvSpPr txBox="1"/>
          <p:nvPr/>
        </p:nvSpPr>
        <p:spPr>
          <a:xfrm>
            <a:off x="1987265" y="4508364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9</a:t>
            </a:r>
            <a:endParaRPr lang="ru-RU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3506716" y="4558622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12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054014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A63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A63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A63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A631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7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3.7037E-7 L -2.08333E-7 0.25 " pathEditMode="relative" rAng="0" ptsTypes="AA">
                                      <p:cBhvr>
                                        <p:cTn id="19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9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3.7037E-7 L -1.45833E-6 0.25 " pathEditMode="relative" rAng="0" ptsTypes="AA">
                                      <p:cBhvr>
                                        <p:cTn id="19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9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1.85185E-6 L 3.75E-6 0.25 " pathEditMode="relative" rAng="0" ptsTypes="AA">
                                      <p:cBhvr>
                                        <p:cTn id="19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4.81481E-6 L 4.16667E-7 0.25 " pathEditMode="relative" rAng="0" ptsTypes="AA">
                                      <p:cBhvr>
                                        <p:cTn id="20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20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4.07407E-6 L 4.16667E-7 0.25 " pathEditMode="relative" rAng="0" ptsTypes="AA">
                                      <p:cBhvr>
                                        <p:cTn id="20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20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3.33333E-6 L 6.25E-7 0.25 " pathEditMode="relative" rAng="0" ptsTypes="AA">
                                      <p:cBhvr>
                                        <p:cTn id="20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20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7.40741E-7 L 1.45833E-6 0.25 " pathEditMode="relative" rAng="0" ptsTypes="AA">
                                      <p:cBhvr>
                                        <p:cTn id="207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20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2.59259E-6 L 6.25E-7 0.25 " pathEditMode="relative" rAng="0" ptsTypes="AA">
                                      <p:cBhvr>
                                        <p:cTn id="20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1.85185E-6 L 3.125E-6 0.25 " pathEditMode="relative" rAng="0" ptsTypes="AA">
                                      <p:cBhvr>
                                        <p:cTn id="211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21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4.81481E-6 L -3.75E-6 0.25 " pathEditMode="relative" rAng="0" ptsTypes="AA">
                                      <p:cBhvr>
                                        <p:cTn id="213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4.81481E-6 L 0.26341 -0.08357 " pathEditMode="relative" rAng="0" ptsTypes="AA">
                                      <p:cBhvr>
                                        <p:cTn id="223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372" y="-27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35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0.25 L -0.25521 0.25069 " pathEditMode="relative" rAng="0" ptsTypes="AA">
                                      <p:cBhvr>
                                        <p:cTn id="237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760" y="23"/>
                                    </p:animMotion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xit" presetSubtype="0" fill="hold" grpId="3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35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0.25 L -0.25586 0.24838 " pathEditMode="relative" rAng="0" ptsTypes="AA">
                                      <p:cBhvr>
                                        <p:cTn id="25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799" y="-93"/>
                                    </p:animMotion>
                                  </p:childTnLst>
                                </p:cTn>
                              </p:par>
                              <p:par>
                                <p:cTn id="251" presetID="10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0" presetClass="exit" presetSubtype="0" fill="hold" grpId="3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35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341 -0.08357 L 4.79167E-6 1.48148E-6 " pathEditMode="relative" rAng="0" ptsTypes="AA">
                                      <p:cBhvr>
                                        <p:cTn id="28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08" y="3032"/>
                                    </p:animMotion>
                                  </p:childTnLst>
                                </p:cTn>
                              </p:par>
                              <p:par>
                                <p:cTn id="29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8" grpId="0" animBg="1"/>
      <p:bldP spid="9" grpId="0"/>
      <p:bldP spid="10" grpId="0"/>
      <p:bldP spid="11" grpId="0"/>
      <p:bldP spid="11" grpId="1"/>
      <p:bldP spid="12" grpId="0"/>
      <p:bldP spid="13" grpId="0"/>
      <p:bldP spid="13" grpId="1"/>
      <p:bldP spid="14" grpId="0"/>
      <p:bldP spid="15" grpId="0"/>
      <p:bldP spid="15" grpId="1"/>
      <p:bldP spid="15" grpId="2"/>
      <p:bldP spid="18" grpId="0" animBg="1"/>
      <p:bldP spid="18" grpId="1" animBg="1"/>
      <p:bldP spid="18" grpId="2" animBg="1"/>
      <p:bldP spid="19" grpId="0"/>
      <p:bldP spid="19" grpId="1"/>
      <p:bldP spid="19" grpId="2"/>
      <p:bldP spid="19" grpId="3"/>
      <p:bldP spid="19" grpId="4"/>
      <p:bldP spid="20" grpId="0"/>
      <p:bldP spid="20" grpId="1"/>
      <p:bldP spid="20" grpId="2"/>
      <p:bldP spid="21" grpId="0"/>
      <p:bldP spid="21" grpId="1"/>
      <p:bldP spid="21" grpId="2"/>
      <p:bldP spid="21" grpId="3"/>
      <p:bldP spid="21" grpId="4"/>
      <p:bldP spid="22" grpId="0"/>
      <p:bldP spid="22" grpId="1"/>
      <p:bldP spid="22" grpId="2"/>
      <p:bldP spid="23" grpId="0"/>
      <p:bldP spid="23" grpId="1"/>
      <p:bldP spid="23" grpId="2"/>
      <p:bldP spid="24" grpId="0"/>
      <p:bldP spid="25" grpId="0"/>
      <p:bldP spid="25" grpId="1"/>
      <p:bldP spid="25" grpId="2"/>
      <p:bldP spid="26" grpId="0"/>
      <p:bldP spid="26" grpId="1"/>
      <p:bldP spid="26" grpId="2"/>
      <p:bldP spid="27" grpId="0"/>
      <p:bldP spid="27" grpId="1"/>
      <p:bldP spid="27" grpId="2"/>
      <p:bldP spid="28" grpId="0" animBg="1"/>
      <p:bldP spid="28" grpId="1" animBg="1"/>
      <p:bldP spid="29" grpId="0"/>
      <p:bldP spid="3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424" y="173585"/>
            <a:ext cx="977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10</a:t>
            </a:r>
            <a:r>
              <a:rPr lang="ru-RU" dirty="0" smtClean="0"/>
              <a:t>. </a:t>
            </a:r>
            <a:r>
              <a:rPr lang="ru-RU" i="1" u="sng" dirty="0" smtClean="0"/>
              <a:t>Функция умножения </a:t>
            </a:r>
            <a:r>
              <a:rPr lang="ru-RU" i="1" dirty="0" smtClean="0"/>
              <a:t>полинома на число</a:t>
            </a:r>
            <a:r>
              <a:rPr lang="ru-RU" dirty="0" smtClean="0"/>
              <a:t>.</a:t>
            </a:r>
            <a:r>
              <a:rPr lang="en-US" dirty="0" smtClean="0"/>
              <a:t> </a:t>
            </a:r>
            <a:r>
              <a:rPr lang="ru-RU" i="1" dirty="0" smtClean="0"/>
              <a:t>Один из параметров « х »</a:t>
            </a:r>
            <a:r>
              <a:rPr lang="ru-RU" dirty="0" smtClean="0"/>
              <a:t> </a:t>
            </a:r>
            <a:r>
              <a:rPr lang="ru-RU" i="1" dirty="0" smtClean="0"/>
              <a:t>- это переменная, хранящая число на которое мы хотим умножить многочлен.</a:t>
            </a:r>
            <a:endParaRPr lang="ru-RU" i="1" dirty="0"/>
          </a:p>
        </p:txBody>
      </p:sp>
      <p:sp>
        <p:nvSpPr>
          <p:cNvPr id="3" name="TextBox 2"/>
          <p:cNvSpPr txBox="1"/>
          <p:nvPr/>
        </p:nvSpPr>
        <p:spPr>
          <a:xfrm>
            <a:off x="167424" y="922639"/>
            <a:ext cx="652958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void </a:t>
            </a:r>
            <a:r>
              <a:rPr lang="en-US" b="1" dirty="0" err="1"/>
              <a:t>multPolinomNumber</a:t>
            </a:r>
            <a:r>
              <a:rPr lang="en-US" b="1" dirty="0"/>
              <a:t>(node*&amp;top, 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smtClean="0"/>
              <a:t>x)</a:t>
            </a:r>
            <a:endParaRPr lang="ru-RU" b="1" dirty="0"/>
          </a:p>
          <a:p>
            <a:r>
              <a:rPr lang="en-US" b="1" dirty="0" smtClean="0"/>
              <a:t>{</a:t>
            </a:r>
            <a:endParaRPr lang="ru-RU" b="1" dirty="0" smtClean="0"/>
          </a:p>
          <a:p>
            <a:r>
              <a:rPr lang="ru-RU" b="1" dirty="0"/>
              <a:t> </a:t>
            </a:r>
            <a:r>
              <a:rPr lang="ru-RU" b="1" dirty="0" smtClean="0"/>
              <a:t>   </a:t>
            </a:r>
            <a:r>
              <a:rPr lang="en-US" b="1" dirty="0" smtClean="0"/>
              <a:t>node*p</a:t>
            </a:r>
            <a:r>
              <a:rPr lang="en-US" b="1" dirty="0"/>
              <a:t>;</a:t>
            </a:r>
            <a:endParaRPr lang="ru-RU" b="1" dirty="0"/>
          </a:p>
          <a:p>
            <a:r>
              <a:rPr lang="ru-RU" b="1" dirty="0" smtClean="0"/>
              <a:t>    </a:t>
            </a:r>
            <a:r>
              <a:rPr lang="en-US" b="1" dirty="0" smtClean="0"/>
              <a:t>p=top</a:t>
            </a:r>
            <a:r>
              <a:rPr lang="en-US" b="1" dirty="0"/>
              <a:t>;</a:t>
            </a:r>
            <a:endParaRPr lang="ru-RU" b="1" dirty="0"/>
          </a:p>
          <a:p>
            <a:r>
              <a:rPr lang="en-US" b="1" dirty="0"/>
              <a:t>    while(p)</a:t>
            </a:r>
            <a:endParaRPr lang="ru-RU" b="1" dirty="0"/>
          </a:p>
          <a:p>
            <a:r>
              <a:rPr lang="en-US" b="1" dirty="0"/>
              <a:t>    </a:t>
            </a:r>
            <a:r>
              <a:rPr lang="ru-RU" b="1" dirty="0" smtClean="0"/>
              <a:t>   </a:t>
            </a:r>
            <a:r>
              <a:rPr lang="en-US" b="1" dirty="0" smtClean="0"/>
              <a:t>{</a:t>
            </a:r>
            <a:endParaRPr lang="ru-RU" b="1" dirty="0"/>
          </a:p>
          <a:p>
            <a:r>
              <a:rPr lang="en-US" b="1" dirty="0"/>
              <a:t>       </a:t>
            </a:r>
            <a:r>
              <a:rPr lang="ru-RU" b="1" dirty="0" smtClean="0"/>
              <a:t>   </a:t>
            </a:r>
            <a:r>
              <a:rPr lang="en-US" b="1" dirty="0" smtClean="0"/>
              <a:t> </a:t>
            </a:r>
            <a:r>
              <a:rPr lang="en-US" b="1" dirty="0"/>
              <a:t>p-&gt;</a:t>
            </a:r>
            <a:r>
              <a:rPr lang="en-US" b="1" dirty="0" err="1"/>
              <a:t>koef</a:t>
            </a:r>
            <a:r>
              <a:rPr lang="en-US" b="1" dirty="0"/>
              <a:t>=x*p-&gt;</a:t>
            </a:r>
            <a:r>
              <a:rPr lang="en-US" b="1" dirty="0" err="1"/>
              <a:t>koef</a:t>
            </a:r>
            <a:r>
              <a:rPr lang="en-US" b="1" dirty="0"/>
              <a:t>;</a:t>
            </a:r>
            <a:endParaRPr lang="ru-RU" b="1" dirty="0"/>
          </a:p>
          <a:p>
            <a:r>
              <a:rPr lang="en-US" b="1" dirty="0"/>
              <a:t>        </a:t>
            </a:r>
            <a:r>
              <a:rPr lang="ru-RU" b="1" dirty="0" smtClean="0"/>
              <a:t>   </a:t>
            </a:r>
            <a:r>
              <a:rPr lang="en-US" b="1" dirty="0" smtClean="0"/>
              <a:t>p</a:t>
            </a:r>
            <a:r>
              <a:rPr lang="ru-RU" b="1" dirty="0"/>
              <a:t>=</a:t>
            </a:r>
            <a:r>
              <a:rPr lang="en-US" b="1" dirty="0"/>
              <a:t>p</a:t>
            </a:r>
            <a:r>
              <a:rPr lang="ru-RU" b="1" dirty="0"/>
              <a:t>-&gt;</a:t>
            </a:r>
            <a:r>
              <a:rPr lang="en-US" b="1" dirty="0"/>
              <a:t>next</a:t>
            </a:r>
            <a:r>
              <a:rPr lang="ru-RU" b="1" dirty="0"/>
              <a:t>;</a:t>
            </a:r>
          </a:p>
          <a:p>
            <a:r>
              <a:rPr lang="ru-RU" b="1" dirty="0"/>
              <a:t>    </a:t>
            </a:r>
            <a:r>
              <a:rPr lang="ru-RU" b="1" dirty="0" smtClean="0"/>
              <a:t>    }</a:t>
            </a:r>
            <a:endParaRPr lang="ru-RU" b="1" dirty="0"/>
          </a:p>
          <a:p>
            <a:r>
              <a:rPr lang="ru-RU" b="1" dirty="0" smtClean="0"/>
              <a:t>}</a:t>
            </a:r>
            <a:endParaRPr lang="ru-RU" b="1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904630"/>
              </p:ext>
            </p:extLst>
          </p:nvPr>
        </p:nvGraphicFramePr>
        <p:xfrm>
          <a:off x="5750325" y="4723282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092878"/>
              </p:ext>
            </p:extLst>
          </p:nvPr>
        </p:nvGraphicFramePr>
        <p:xfrm>
          <a:off x="7274419" y="4723282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118084"/>
              </p:ext>
            </p:extLst>
          </p:nvPr>
        </p:nvGraphicFramePr>
        <p:xfrm>
          <a:off x="8807469" y="4723282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539992"/>
              </p:ext>
            </p:extLst>
          </p:nvPr>
        </p:nvGraphicFramePr>
        <p:xfrm>
          <a:off x="10313370" y="4720894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Стрелка вправо 7"/>
          <p:cNvSpPr/>
          <p:nvPr/>
        </p:nvSpPr>
        <p:spPr>
          <a:xfrm>
            <a:off x="6697826" y="6040836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трелка вправо 8"/>
          <p:cNvSpPr/>
          <p:nvPr/>
        </p:nvSpPr>
        <p:spPr>
          <a:xfrm>
            <a:off x="8200548" y="6073965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 вправо 9"/>
          <p:cNvSpPr/>
          <p:nvPr/>
        </p:nvSpPr>
        <p:spPr>
          <a:xfrm>
            <a:off x="9776155" y="6040835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750325" y="4771023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8</a:t>
            </a:r>
            <a:endParaRPr lang="ru-RU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5750324" y="5342017"/>
            <a:ext cx="75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69777" y="4707642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777" y="5342017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868565" y="4749481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7</a:t>
            </a:r>
            <a:endParaRPr lang="ru-RU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8861847" y="5355772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50451" y="5346726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50451" y="4749481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10</a:t>
            </a:r>
            <a:endParaRPr lang="ru-RU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6360401" y="4202762"/>
            <a:ext cx="3607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p</a:t>
            </a:r>
            <a:endParaRPr lang="ru-RU" sz="20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750324" y="3650000"/>
            <a:ext cx="6083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top</a:t>
            </a:r>
            <a:endParaRPr lang="ru-RU" sz="20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6452315" y="2054998"/>
            <a:ext cx="537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х</a:t>
            </a:r>
          </a:p>
        </p:txBody>
      </p:sp>
      <p:graphicFrame>
        <p:nvGraphicFramePr>
          <p:cNvPr id="22" name="Таблица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857906"/>
              </p:ext>
            </p:extLst>
          </p:nvPr>
        </p:nvGraphicFramePr>
        <p:xfrm>
          <a:off x="6491006" y="2461017"/>
          <a:ext cx="72445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4452"/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521216" y="2455108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50325" y="4749481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16</a:t>
            </a:r>
            <a:endParaRPr lang="ru-RU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10376300" y="4739463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2</a:t>
            </a:r>
            <a:r>
              <a:rPr lang="ru-RU" b="1" dirty="0" smtClean="0"/>
              <a:t>0</a:t>
            </a:r>
            <a:endParaRPr lang="ru-RU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269777" y="4707642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12</a:t>
            </a:r>
            <a:endParaRPr lang="ru-RU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8856848" y="4749481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14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10967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7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7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0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0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1.66667E-6 1.85185E-6 L 1.66667E-6 -0.07222 " pathEditMode="relative" rAng="0" ptsTypes="AA">
                                      <p:cBhvr>
                                        <p:cTn id="21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21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1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1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1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2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2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2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2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2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9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3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3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3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3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3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1.66667E-6 1.85185E-6 L 0.09401 0.00579 " pathEditMode="relative" rAng="0" ptsTypes="AA">
                                      <p:cBhvr>
                                        <p:cTn id="25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01" y="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6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6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6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6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7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1" presetID="34" presetClass="emph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7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7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7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7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7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8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8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63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0.09401 0.00579 L 0.21354 0.00579 " pathEditMode="relative" rAng="0" ptsTypes="AA">
                                      <p:cBhvr>
                                        <p:cTn id="29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7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9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0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0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0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0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0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34" presetClass="emph" presetSubtype="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1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1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1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1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1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63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0.21354 0.00579 L 0.34075 0.00162 " pathEditMode="relative" rAng="0" ptsTypes="AA">
                                      <p:cBhvr>
                                        <p:cTn id="33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54" y="-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4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4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4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4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5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1" presetID="34" presetClass="emph" presetSubtype="0" fill="hold" grpId="4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5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5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5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5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5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>
                      <p:stCondLst>
                        <p:cond delay="indefinite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id="3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7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63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0.34075 0.00162 L 0.44401 0.00579 " pathEditMode="relative" rAng="0" ptsTypes="AA">
                                      <p:cBhvr>
                                        <p:cTn id="37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82" y="394"/>
                                    </p:animMotion>
                                  </p:childTnLst>
                                </p:cTn>
                              </p:par>
                              <p:par>
                                <p:cTn id="377" presetID="10" presetClass="exit" presetSubtype="0" fill="hold" grpId="6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0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8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  <p:bldP spid="9" grpId="0" animBg="1"/>
      <p:bldP spid="10" grpId="0" animBg="1"/>
      <p:bldP spid="11" grpId="0"/>
      <p:bldP spid="11" grpId="1"/>
      <p:bldP spid="11" grpId="2"/>
      <p:bldP spid="12" grpId="0"/>
      <p:bldP spid="13" grpId="0"/>
      <p:bldP spid="13" grpId="1"/>
      <p:bldP spid="13" grpId="2"/>
      <p:bldP spid="14" grpId="0"/>
      <p:bldP spid="15" grpId="0"/>
      <p:bldP spid="15" grpId="1"/>
      <p:bldP spid="15" grpId="2"/>
      <p:bldP spid="16" grpId="0"/>
      <p:bldP spid="17" grpId="0"/>
      <p:bldP spid="18" grpId="0"/>
      <p:bldP spid="18" grpId="1"/>
      <p:bldP spid="18" grpId="2"/>
      <p:bldP spid="19" grpId="0"/>
      <p:bldP spid="19" grpId="1"/>
      <p:bldP spid="19" grpId="2"/>
      <p:bldP spid="19" grpId="3"/>
      <p:bldP spid="19" grpId="4"/>
      <p:bldP spid="19" grpId="5"/>
      <p:bldP spid="19" grpId="6"/>
      <p:bldP spid="20" grpId="0"/>
      <p:bldP spid="21" grpId="0"/>
      <p:bldP spid="25" grpId="0"/>
      <p:bldP spid="25" grpId="1"/>
      <p:bldP spid="25" grpId="2"/>
      <p:bldP spid="25" grpId="3"/>
      <p:bldP spid="25" grpId="4"/>
      <p:bldP spid="26" grpId="0"/>
      <p:bldP spid="27" grpId="0"/>
      <p:bldP spid="28" grpId="0"/>
      <p:bldP spid="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155541"/>
            <a:ext cx="92985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void </a:t>
            </a:r>
            <a:r>
              <a:rPr lang="en-US" b="1" dirty="0" err="1" smtClean="0"/>
              <a:t>substructionOfPolnom</a:t>
            </a:r>
            <a:r>
              <a:rPr lang="ru-RU" b="1" dirty="0" smtClean="0"/>
              <a:t> </a:t>
            </a:r>
            <a:r>
              <a:rPr lang="en-US" b="1" dirty="0" smtClean="0"/>
              <a:t>(</a:t>
            </a:r>
            <a:r>
              <a:rPr lang="en-US" b="1" dirty="0"/>
              <a:t>node*&amp;top</a:t>
            </a:r>
            <a:r>
              <a:rPr lang="en-US" b="1" dirty="0" smtClean="0"/>
              <a:t>,</a:t>
            </a:r>
            <a:r>
              <a:rPr lang="ru-RU" b="1" dirty="0" smtClean="0"/>
              <a:t> </a:t>
            </a:r>
            <a:r>
              <a:rPr lang="en-US" b="1" dirty="0" smtClean="0"/>
              <a:t>node</a:t>
            </a:r>
            <a:r>
              <a:rPr lang="en-US" b="1" dirty="0"/>
              <a:t>*&amp;</a:t>
            </a:r>
            <a:r>
              <a:rPr lang="en-US" b="1" dirty="0" smtClean="0"/>
              <a:t>end,</a:t>
            </a:r>
            <a:r>
              <a:rPr lang="ru-RU" b="1" dirty="0" smtClean="0"/>
              <a:t> </a:t>
            </a:r>
            <a:r>
              <a:rPr lang="en-US" b="1" dirty="0" smtClean="0"/>
              <a:t>node</a:t>
            </a:r>
            <a:r>
              <a:rPr lang="en-US" b="1" dirty="0"/>
              <a:t>*&amp;top1,node*&amp;end1)</a:t>
            </a:r>
            <a:endParaRPr lang="ru-RU" b="1" dirty="0"/>
          </a:p>
          <a:p>
            <a:r>
              <a:rPr lang="en-US" b="1" dirty="0"/>
              <a:t>{ </a:t>
            </a:r>
            <a:endParaRPr lang="ru-RU" b="1" dirty="0" smtClean="0"/>
          </a:p>
          <a:p>
            <a:r>
              <a:rPr lang="ru-RU" b="1" dirty="0"/>
              <a:t> </a:t>
            </a:r>
            <a:r>
              <a:rPr lang="ru-RU" b="1" dirty="0" smtClean="0"/>
              <a:t>   </a:t>
            </a:r>
            <a:r>
              <a:rPr lang="en-US" b="1" dirty="0" err="1" smtClean="0"/>
              <a:t>multPolinomNumbers</a:t>
            </a:r>
            <a:r>
              <a:rPr lang="en-US" b="1" dirty="0" smtClean="0"/>
              <a:t>(top1</a:t>
            </a:r>
            <a:r>
              <a:rPr lang="en-US" b="1" dirty="0"/>
              <a:t>,-1);</a:t>
            </a:r>
            <a:endParaRPr lang="ru-RU" b="1" dirty="0"/>
          </a:p>
          <a:p>
            <a:r>
              <a:rPr lang="ru-RU" b="1" dirty="0" smtClean="0"/>
              <a:t>   </a:t>
            </a:r>
            <a:r>
              <a:rPr lang="en-US" b="1" dirty="0" smtClean="0"/>
              <a:t> </a:t>
            </a:r>
            <a:r>
              <a:rPr lang="en-US" b="1" dirty="0" err="1"/>
              <a:t>addition_of_polinom</a:t>
            </a:r>
            <a:r>
              <a:rPr lang="en-US" b="1" dirty="0"/>
              <a:t>(top,end,top1,end1</a:t>
            </a:r>
            <a:r>
              <a:rPr lang="en-US" b="1" dirty="0" smtClean="0"/>
              <a:t>);</a:t>
            </a:r>
            <a:endParaRPr lang="ru-RU" b="1" dirty="0" smtClean="0"/>
          </a:p>
          <a:p>
            <a:r>
              <a:rPr lang="en-US" b="1" dirty="0" smtClean="0"/>
              <a:t>}</a:t>
            </a:r>
            <a:endParaRPr lang="ru-RU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41666" y="206062"/>
            <a:ext cx="99167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11</a:t>
            </a:r>
            <a:r>
              <a:rPr lang="ru-RU" dirty="0" smtClean="0"/>
              <a:t>. </a:t>
            </a:r>
            <a:r>
              <a:rPr lang="ru-RU" i="1" u="sng" dirty="0" smtClean="0"/>
              <a:t>Функция разности полиномов</a:t>
            </a:r>
            <a:r>
              <a:rPr lang="ru-RU" i="1" dirty="0" smtClean="0"/>
              <a:t>. Используем две функции: умножение на число и сложение полиномов. Умножаем на -1 тот полином который вычитаем и складываем со вторым.</a:t>
            </a:r>
            <a:endParaRPr lang="ru-RU" i="1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381128"/>
              </p:ext>
            </p:extLst>
          </p:nvPr>
        </p:nvGraphicFramePr>
        <p:xfrm>
          <a:off x="467813" y="4524004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811937"/>
              </p:ext>
            </p:extLst>
          </p:nvPr>
        </p:nvGraphicFramePr>
        <p:xfrm>
          <a:off x="1991907" y="4524004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747166"/>
              </p:ext>
            </p:extLst>
          </p:nvPr>
        </p:nvGraphicFramePr>
        <p:xfrm>
          <a:off x="3524957" y="4524004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Стрелка вправо 6"/>
          <p:cNvSpPr/>
          <p:nvPr/>
        </p:nvSpPr>
        <p:spPr>
          <a:xfrm>
            <a:off x="1415314" y="5841558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трелка вправо 7"/>
          <p:cNvSpPr/>
          <p:nvPr/>
        </p:nvSpPr>
        <p:spPr>
          <a:xfrm>
            <a:off x="2918036" y="5874687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467814" y="4521616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8</a:t>
            </a:r>
            <a:endParaRPr lang="ru-RU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67812" y="5142739"/>
            <a:ext cx="75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87265" y="4508364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7265" y="5142739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86053" y="4550203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7</a:t>
            </a:r>
            <a:endParaRPr lang="ru-RU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3579335" y="5156494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6053" y="5743894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NULL</a:t>
            </a:r>
            <a:endParaRPr lang="ru-RU" dirty="0">
              <a:solidFill>
                <a:schemeClr val="bg1"/>
              </a:solidFill>
            </a:endParaRPr>
          </a:p>
        </p:txBody>
      </p:sp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259113"/>
              </p:ext>
            </p:extLst>
          </p:nvPr>
        </p:nvGraphicFramePr>
        <p:xfrm>
          <a:off x="5112010" y="2804139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7" name="Таблица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453238"/>
              </p:ext>
            </p:extLst>
          </p:nvPr>
        </p:nvGraphicFramePr>
        <p:xfrm>
          <a:off x="6645060" y="2804139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Стрелка вправо 17"/>
          <p:cNvSpPr/>
          <p:nvPr/>
        </p:nvSpPr>
        <p:spPr>
          <a:xfrm>
            <a:off x="6038139" y="4154822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/>
          <p:cNvSpPr txBox="1"/>
          <p:nvPr/>
        </p:nvSpPr>
        <p:spPr>
          <a:xfrm>
            <a:off x="5223189" y="2809791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</a:t>
            </a:r>
            <a:endParaRPr lang="ru-RU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198809" y="3445871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16051" y="2819803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</a:t>
            </a:r>
            <a:endParaRPr lang="ru-RU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816051" y="3452791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6156" y="4024029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NULL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7812" y="4028226"/>
            <a:ext cx="63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top</a:t>
            </a:r>
            <a:endParaRPr lang="ru-RU" sz="20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3469439" y="4028226"/>
            <a:ext cx="985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end</a:t>
            </a:r>
            <a:endParaRPr lang="ru-RU" sz="20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6699438" y="2344795"/>
            <a:ext cx="985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end1</a:t>
            </a:r>
            <a:endParaRPr lang="ru-RU" sz="2000" b="1" dirty="0"/>
          </a:p>
        </p:txBody>
      </p:sp>
      <p:sp>
        <p:nvSpPr>
          <p:cNvPr id="27" name="Стрелка вправо 26"/>
          <p:cNvSpPr/>
          <p:nvPr/>
        </p:nvSpPr>
        <p:spPr>
          <a:xfrm>
            <a:off x="4455326" y="5841558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/>
          <p:cNvSpPr txBox="1"/>
          <p:nvPr/>
        </p:nvSpPr>
        <p:spPr>
          <a:xfrm>
            <a:off x="1987265" y="4521616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79335" y="4550203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81216" y="2768533"/>
            <a:ext cx="413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-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9438" y="2811665"/>
            <a:ext cx="376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-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64926" y="2315721"/>
            <a:ext cx="795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top1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1028750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7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9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9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20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21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21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21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21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21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22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22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3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22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4.44444E-6 L -3.95833E-6 0.25 " pathEditMode="relative" rAng="0" ptsTypes="AA">
                                      <p:cBhvr>
                                        <p:cTn id="22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22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22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230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35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0.25 L -0.25833 0.24769 " pathEditMode="relative" rAng="0" ptsTypes="AA">
                                      <p:cBhvr>
                                        <p:cTn id="23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917" y="-116"/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35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0.25 L -0.25625 0.2537 " pathEditMode="relative" rAng="0" ptsTypes="AA">
                                      <p:cBhvr>
                                        <p:cTn id="23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812" y="185"/>
                                    </p:animMotion>
                                  </p:childTnLst>
                                </p:cTn>
                              </p:par>
                              <p:par>
                                <p:cTn id="237" presetID="10" presetClass="exit" presetSubtype="0" fill="hold" grpId="3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0" presetClass="exit" presetSubtype="0" fill="hold" grpId="3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0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35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0.25 L -0.26445 0.25648 " pathEditMode="relative" rAng="0" ptsTypes="AA">
                                      <p:cBhvr>
                                        <p:cTn id="25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229" y="324"/>
                                    </p:animMotion>
                                  </p:childTnLst>
                                </p:cTn>
                              </p:par>
                              <p:par>
                                <p:cTn id="253" presetID="35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25 L -0.26067 0.25023 " pathEditMode="relative" rAng="0" ptsTypes="AA">
                                      <p:cBhvr>
                                        <p:cTn id="25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34" y="0"/>
                                    </p:animMotion>
                                  </p:childTnLst>
                                </p:cTn>
                              </p:par>
                              <p:par>
                                <p:cTn id="255" presetID="10" presetClass="exit" presetSubtype="0" fill="hold" grpId="4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0" presetClass="exit" presetSubtype="0" fill="hold" grpId="3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0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0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0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0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animBg="1"/>
      <p:bldP spid="8" grpId="0" animBg="1"/>
      <p:bldP spid="9" grpId="0"/>
      <p:bldP spid="10" grpId="0"/>
      <p:bldP spid="11" grpId="0"/>
      <p:bldP spid="11" grpId="1"/>
      <p:bldP spid="12" grpId="0"/>
      <p:bldP spid="13" grpId="0"/>
      <p:bldP spid="13" grpId="1"/>
      <p:bldP spid="14" grpId="0"/>
      <p:bldP spid="15" grpId="0"/>
      <p:bldP spid="15" grpId="1"/>
      <p:bldP spid="15" grpId="2"/>
      <p:bldP spid="18" grpId="0" animBg="1"/>
      <p:bldP spid="18" grpId="1" animBg="1"/>
      <p:bldP spid="18" grpId="2" animBg="1"/>
      <p:bldP spid="19" grpId="0"/>
      <p:bldP spid="19" grpId="1"/>
      <p:bldP spid="19" grpId="2"/>
      <p:bldP spid="19" grpId="3"/>
      <p:bldP spid="19" grpId="4"/>
      <p:bldP spid="20" grpId="0"/>
      <p:bldP spid="20" grpId="1"/>
      <p:bldP spid="20" grpId="2"/>
      <p:bldP spid="21" grpId="0"/>
      <p:bldP spid="21" grpId="1"/>
      <p:bldP spid="21" grpId="2"/>
      <p:bldP spid="21" grpId="3"/>
      <p:bldP spid="21" grpId="4"/>
      <p:bldP spid="22" grpId="0"/>
      <p:bldP spid="22" grpId="1"/>
      <p:bldP spid="22" grpId="2"/>
      <p:bldP spid="23" grpId="0"/>
      <p:bldP spid="23" grpId="1"/>
      <p:bldP spid="23" grpId="2"/>
      <p:bldP spid="24" grpId="0"/>
      <p:bldP spid="25" grpId="0"/>
      <p:bldP spid="26" grpId="0"/>
      <p:bldP spid="26" grpId="1"/>
      <p:bldP spid="26" grpId="2"/>
      <p:bldP spid="27" grpId="0" animBg="1"/>
      <p:bldP spid="27" grpId="1" animBg="1"/>
      <p:bldP spid="28" grpId="0"/>
      <p:bldP spid="29" grpId="0"/>
      <p:bldP spid="30" grpId="0"/>
      <p:bldP spid="30" grpId="1"/>
      <p:bldP spid="30" grpId="2"/>
      <p:bldP spid="30" grpId="3"/>
      <p:bldP spid="30" grpId="4"/>
      <p:bldP spid="31" grpId="1"/>
      <p:bldP spid="31" grpId="2"/>
      <p:bldP spid="31" grpId="3"/>
      <p:bldP spid="31" grpId="4"/>
      <p:bldP spid="31" grpId="5"/>
      <p:bldP spid="32" grpId="0"/>
      <p:bldP spid="32" grpId="1"/>
      <p:bldP spid="32" grpId="2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032" y="549636"/>
            <a:ext cx="1026446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void </a:t>
            </a:r>
            <a:r>
              <a:rPr lang="en-US" sz="1600" b="1" dirty="0" err="1" smtClean="0"/>
              <a:t>multPolinomPolinom</a:t>
            </a:r>
            <a:r>
              <a:rPr lang="ru-RU" sz="1600" b="1" dirty="0" smtClean="0"/>
              <a:t> </a:t>
            </a:r>
            <a:r>
              <a:rPr lang="en-US" sz="1600" b="1" dirty="0" smtClean="0"/>
              <a:t>(</a:t>
            </a:r>
            <a:r>
              <a:rPr lang="en-US" sz="1600" b="1" dirty="0"/>
              <a:t>node*&amp;</a:t>
            </a:r>
            <a:r>
              <a:rPr lang="en-US" sz="1600" b="1" dirty="0" err="1"/>
              <a:t>top,node</a:t>
            </a:r>
            <a:r>
              <a:rPr lang="en-US" sz="1600" b="1" dirty="0"/>
              <a:t>*&amp;</a:t>
            </a:r>
            <a:r>
              <a:rPr lang="en-US" sz="1600" b="1" dirty="0" err="1"/>
              <a:t>end,node</a:t>
            </a:r>
            <a:r>
              <a:rPr lang="en-US" sz="1600" b="1" dirty="0"/>
              <a:t>*&amp;top1,node*&amp;end1,node*&amp;top2,node*&amp;end2)</a:t>
            </a:r>
            <a:endParaRPr lang="ru-RU" sz="1600" b="1" dirty="0"/>
          </a:p>
          <a:p>
            <a:r>
              <a:rPr lang="en-US" sz="1600" b="1" dirty="0" smtClean="0"/>
              <a:t>{</a:t>
            </a:r>
            <a:endParaRPr lang="ru-RU" sz="1600" b="1" dirty="0" smtClean="0"/>
          </a:p>
          <a:p>
            <a:r>
              <a:rPr lang="ru-RU" sz="1600" b="1" dirty="0"/>
              <a:t> </a:t>
            </a:r>
            <a:r>
              <a:rPr lang="ru-RU" sz="1600" b="1" dirty="0" smtClean="0"/>
              <a:t>    </a:t>
            </a:r>
            <a:r>
              <a:rPr lang="en-US" sz="1600" b="1" dirty="0" smtClean="0"/>
              <a:t>top2=NULL</a:t>
            </a:r>
            <a:r>
              <a:rPr lang="en-US" sz="1600" b="1" dirty="0"/>
              <a:t>;</a:t>
            </a:r>
            <a:endParaRPr lang="ru-RU" sz="1600" b="1" dirty="0"/>
          </a:p>
          <a:p>
            <a:r>
              <a:rPr lang="ru-RU" sz="1600" b="1" dirty="0" smtClean="0"/>
              <a:t>     </a:t>
            </a:r>
            <a:r>
              <a:rPr lang="en-US" sz="1600" b="1" dirty="0" smtClean="0"/>
              <a:t>end2=NULL</a:t>
            </a:r>
            <a:r>
              <a:rPr lang="en-US" sz="1600" b="1" dirty="0"/>
              <a:t>;</a:t>
            </a:r>
            <a:endParaRPr lang="ru-RU" sz="1600" b="1" dirty="0"/>
          </a:p>
          <a:p>
            <a:r>
              <a:rPr lang="ru-RU" sz="1600" b="1" dirty="0" smtClean="0"/>
              <a:t>     </a:t>
            </a:r>
            <a:r>
              <a:rPr lang="en-US" sz="1600" b="1" dirty="0" smtClean="0"/>
              <a:t>node*p2</a:t>
            </a:r>
            <a:r>
              <a:rPr lang="en-US" sz="1600" b="1" dirty="0"/>
              <a:t>;</a:t>
            </a:r>
            <a:endParaRPr lang="ru-RU" sz="1600" b="1" dirty="0"/>
          </a:p>
          <a:p>
            <a:r>
              <a:rPr lang="ru-RU" sz="1600" b="1" dirty="0" smtClean="0"/>
              <a:t>     </a:t>
            </a:r>
            <a:r>
              <a:rPr lang="en-US" sz="1600" b="1" dirty="0" err="1" smtClean="0"/>
              <a:t>int</a:t>
            </a:r>
            <a:r>
              <a:rPr lang="en-US" sz="1600" b="1" dirty="0" smtClean="0"/>
              <a:t> </a:t>
            </a:r>
            <a:r>
              <a:rPr lang="en-US" sz="1600" b="1" dirty="0" err="1"/>
              <a:t>koef,power</a:t>
            </a:r>
            <a:r>
              <a:rPr lang="en-US" sz="1600" b="1" dirty="0"/>
              <a:t>;</a:t>
            </a:r>
            <a:endParaRPr lang="ru-RU" sz="1600" b="1" dirty="0"/>
          </a:p>
          <a:p>
            <a:r>
              <a:rPr lang="ru-RU" sz="1600" b="1" dirty="0" smtClean="0"/>
              <a:t>     </a:t>
            </a:r>
            <a:r>
              <a:rPr lang="en-US" sz="1600" b="1" dirty="0" smtClean="0"/>
              <a:t>while(</a:t>
            </a:r>
            <a:r>
              <a:rPr lang="ru-RU" sz="1600" b="1" dirty="0" smtClean="0"/>
              <a:t> </a:t>
            </a:r>
            <a:r>
              <a:rPr lang="en-US" sz="1600" b="1" dirty="0" smtClean="0"/>
              <a:t>!</a:t>
            </a:r>
            <a:r>
              <a:rPr lang="en-US" sz="1600" b="1" dirty="0" err="1"/>
              <a:t>emptyPolinom</a:t>
            </a:r>
            <a:r>
              <a:rPr lang="en-US" sz="1600" b="1" dirty="0"/>
              <a:t>(top</a:t>
            </a:r>
            <a:r>
              <a:rPr lang="en-US" sz="1600" b="1" dirty="0" smtClean="0"/>
              <a:t>)</a:t>
            </a:r>
            <a:r>
              <a:rPr lang="ru-RU" sz="1600" b="1" dirty="0" smtClean="0"/>
              <a:t> </a:t>
            </a:r>
            <a:r>
              <a:rPr lang="en-US" sz="1600" b="1" dirty="0" smtClean="0"/>
              <a:t>)</a:t>
            </a:r>
            <a:endParaRPr lang="ru-RU" sz="1600" b="1" dirty="0"/>
          </a:p>
          <a:p>
            <a:r>
              <a:rPr lang="ru-RU" sz="1600" b="1" dirty="0" smtClean="0"/>
              <a:t>       </a:t>
            </a:r>
            <a:r>
              <a:rPr lang="en-US" sz="1600" b="1" dirty="0" smtClean="0"/>
              <a:t>{</a:t>
            </a:r>
            <a:endParaRPr lang="ru-RU" sz="1600" b="1" dirty="0" smtClean="0"/>
          </a:p>
          <a:p>
            <a:r>
              <a:rPr lang="ru-RU" sz="1600" b="1" dirty="0"/>
              <a:t> </a:t>
            </a:r>
            <a:r>
              <a:rPr lang="ru-RU" sz="1600" b="1" dirty="0" smtClean="0"/>
              <a:t>          </a:t>
            </a:r>
            <a:r>
              <a:rPr lang="en-US" sz="1600" b="1" dirty="0" err="1" smtClean="0"/>
              <a:t>popPolinom</a:t>
            </a:r>
            <a:r>
              <a:rPr lang="en-US" sz="1600" b="1" dirty="0" smtClean="0"/>
              <a:t>(</a:t>
            </a:r>
            <a:r>
              <a:rPr lang="en-US" sz="1600" b="1" dirty="0" err="1" smtClean="0"/>
              <a:t>top,koef,power</a:t>
            </a:r>
            <a:r>
              <a:rPr lang="en-US" sz="1600" b="1" dirty="0"/>
              <a:t>);</a:t>
            </a:r>
            <a:endParaRPr lang="ru-RU" sz="1600" b="1" dirty="0"/>
          </a:p>
          <a:p>
            <a:r>
              <a:rPr lang="ru-RU" sz="1600" b="1" dirty="0" smtClean="0"/>
              <a:t>           </a:t>
            </a:r>
            <a:r>
              <a:rPr lang="en-US" sz="1600" b="1" dirty="0" smtClean="0"/>
              <a:t>p2=top1</a:t>
            </a:r>
            <a:r>
              <a:rPr lang="en-US" sz="1600" b="1" dirty="0"/>
              <a:t>;</a:t>
            </a:r>
            <a:endParaRPr lang="ru-RU" sz="1600" b="1" dirty="0"/>
          </a:p>
          <a:p>
            <a:r>
              <a:rPr lang="ru-RU" sz="1600" b="1" dirty="0" smtClean="0"/>
              <a:t>           </a:t>
            </a:r>
            <a:r>
              <a:rPr lang="en-US" sz="1600" b="1" dirty="0" smtClean="0"/>
              <a:t>while(p2</a:t>
            </a:r>
            <a:r>
              <a:rPr lang="en-US" sz="1600" b="1" dirty="0"/>
              <a:t>)</a:t>
            </a:r>
            <a:endParaRPr lang="ru-RU" sz="1600" b="1" dirty="0"/>
          </a:p>
          <a:p>
            <a:r>
              <a:rPr lang="ru-RU" sz="1600" b="1" dirty="0" smtClean="0"/>
              <a:t>            </a:t>
            </a:r>
            <a:r>
              <a:rPr lang="en-US" sz="1600" b="1" dirty="0" smtClean="0"/>
              <a:t>{</a:t>
            </a:r>
            <a:endParaRPr lang="ru-RU" sz="1600" b="1" dirty="0" smtClean="0"/>
          </a:p>
          <a:p>
            <a:r>
              <a:rPr lang="ru-RU" sz="1600" b="1" dirty="0"/>
              <a:t> </a:t>
            </a:r>
            <a:r>
              <a:rPr lang="ru-RU" sz="1600" b="1" dirty="0" smtClean="0"/>
              <a:t>               </a:t>
            </a:r>
            <a:r>
              <a:rPr lang="en-US" sz="1600" b="1" dirty="0" err="1" smtClean="0"/>
              <a:t>pushPolinom</a:t>
            </a:r>
            <a:r>
              <a:rPr lang="en-US" sz="1600" b="1" dirty="0" smtClean="0"/>
              <a:t>(top2,end2,koef*p2-</a:t>
            </a:r>
            <a:r>
              <a:rPr lang="en-US" sz="1600" b="1" dirty="0"/>
              <a:t>&gt;</a:t>
            </a:r>
            <a:r>
              <a:rPr lang="en-US" sz="1600" b="1" dirty="0" err="1"/>
              <a:t>koef</a:t>
            </a:r>
            <a:r>
              <a:rPr lang="en-US" sz="1600" b="1" dirty="0"/>
              <a:t>, </a:t>
            </a:r>
            <a:r>
              <a:rPr lang="en-US" sz="1600" b="1" dirty="0" smtClean="0"/>
              <a:t>power</a:t>
            </a:r>
            <a:r>
              <a:rPr lang="ru-RU" sz="1600" b="1" dirty="0"/>
              <a:t>+</a:t>
            </a:r>
            <a:r>
              <a:rPr lang="en-US" sz="1600" b="1" dirty="0" smtClean="0"/>
              <a:t>p2-</a:t>
            </a:r>
            <a:r>
              <a:rPr lang="en-US" sz="1600" b="1" dirty="0"/>
              <a:t>&gt;power);</a:t>
            </a:r>
            <a:endParaRPr lang="ru-RU" sz="1600" b="1" dirty="0"/>
          </a:p>
          <a:p>
            <a:r>
              <a:rPr lang="ru-RU" sz="1600" b="1" dirty="0" smtClean="0"/>
              <a:t>                </a:t>
            </a:r>
            <a:r>
              <a:rPr lang="en-US" sz="1600" b="1" dirty="0" smtClean="0"/>
              <a:t>p2=p2-</a:t>
            </a:r>
            <a:r>
              <a:rPr lang="en-US" sz="1600" b="1" dirty="0"/>
              <a:t>&gt;next;</a:t>
            </a:r>
            <a:endParaRPr lang="ru-RU" sz="1600" b="1" dirty="0"/>
          </a:p>
          <a:p>
            <a:r>
              <a:rPr lang="ru-RU" sz="1600" b="1" dirty="0" smtClean="0"/>
              <a:t>             </a:t>
            </a:r>
            <a:r>
              <a:rPr lang="en-US" sz="1600" b="1" dirty="0" smtClean="0"/>
              <a:t>}</a:t>
            </a:r>
            <a:endParaRPr lang="ru-RU" sz="1600" b="1" dirty="0"/>
          </a:p>
          <a:p>
            <a:r>
              <a:rPr lang="ru-RU" sz="1600" b="1" dirty="0" smtClean="0"/>
              <a:t>       </a:t>
            </a:r>
            <a:r>
              <a:rPr lang="en-US" sz="1600" b="1" dirty="0"/>
              <a:t>}</a:t>
            </a:r>
            <a:r>
              <a:rPr lang="ru-RU" sz="1600" b="1" dirty="0" smtClean="0"/>
              <a:t> </a:t>
            </a:r>
            <a:endParaRPr lang="ru-RU" sz="1600" b="1" dirty="0"/>
          </a:p>
          <a:p>
            <a:r>
              <a:rPr lang="ru-RU" sz="1600" b="1" dirty="0" smtClean="0"/>
              <a:t>       </a:t>
            </a:r>
            <a:r>
              <a:rPr lang="en-US" sz="1600" b="1" dirty="0" err="1" smtClean="0"/>
              <a:t>collectingTermsInPolinom</a:t>
            </a:r>
            <a:r>
              <a:rPr lang="en-US" sz="1600" b="1" dirty="0" smtClean="0"/>
              <a:t>(top2,end2</a:t>
            </a:r>
            <a:r>
              <a:rPr lang="en-US" sz="1600" b="1" dirty="0"/>
              <a:t>);</a:t>
            </a:r>
            <a:endParaRPr lang="ru-RU" sz="1600" b="1" dirty="0"/>
          </a:p>
          <a:p>
            <a:r>
              <a:rPr lang="en-US" sz="1600" b="1" dirty="0" smtClean="0"/>
              <a:t>}</a:t>
            </a:r>
            <a:endParaRPr lang="ru-RU" sz="1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03031" y="180304"/>
            <a:ext cx="8860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12</a:t>
            </a:r>
            <a:r>
              <a:rPr lang="ru-RU" i="1" u="sng" dirty="0" smtClean="0"/>
              <a:t>. Функция умножения многочлена на многочлен.</a:t>
            </a:r>
            <a:endParaRPr lang="ru-RU" i="1" u="sng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236848"/>
              </p:ext>
            </p:extLst>
          </p:nvPr>
        </p:nvGraphicFramePr>
        <p:xfrm>
          <a:off x="6101260" y="1643456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414588"/>
              </p:ext>
            </p:extLst>
          </p:nvPr>
        </p:nvGraphicFramePr>
        <p:xfrm>
          <a:off x="7634310" y="1643456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Стрелка вправо 5"/>
          <p:cNvSpPr/>
          <p:nvPr/>
        </p:nvSpPr>
        <p:spPr>
          <a:xfrm>
            <a:off x="7027389" y="2994139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6096618" y="1627816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</a:t>
            </a:r>
            <a:endParaRPr lang="ru-RU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096618" y="2262191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95406" y="1669655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</a:t>
            </a:r>
            <a:endParaRPr lang="ru-RU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688688" y="2275946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5406" y="2863346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NULL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54176" y="1155038"/>
            <a:ext cx="795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top</a:t>
            </a:r>
            <a:endParaRPr lang="ru-RU" sz="20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8190963" y="1185501"/>
            <a:ext cx="985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end</a:t>
            </a:r>
            <a:endParaRPr lang="ru-RU" sz="2000" b="1" dirty="0"/>
          </a:p>
        </p:txBody>
      </p:sp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314099"/>
              </p:ext>
            </p:extLst>
          </p:nvPr>
        </p:nvGraphicFramePr>
        <p:xfrm>
          <a:off x="9372493" y="1659096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221296"/>
              </p:ext>
            </p:extLst>
          </p:nvPr>
        </p:nvGraphicFramePr>
        <p:xfrm>
          <a:off x="10905543" y="1659096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Стрелка вправо 15"/>
          <p:cNvSpPr/>
          <p:nvPr/>
        </p:nvSpPr>
        <p:spPr>
          <a:xfrm>
            <a:off x="10298622" y="3009779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9367851" y="1643456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67851" y="2277831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66639" y="1685295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59921" y="2291586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66639" y="2878986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NULL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92500" y="954983"/>
            <a:ext cx="795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top1</a:t>
            </a:r>
            <a:endParaRPr lang="ru-RU" sz="2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1117797" y="860936"/>
            <a:ext cx="985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end1</a:t>
            </a:r>
            <a:endParaRPr lang="ru-RU" sz="2000" b="1" dirty="0"/>
          </a:p>
        </p:txBody>
      </p:sp>
      <p:graphicFrame>
        <p:nvGraphicFramePr>
          <p:cNvPr id="24" name="Таблица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327177"/>
              </p:ext>
            </p:extLst>
          </p:nvPr>
        </p:nvGraphicFramePr>
        <p:xfrm>
          <a:off x="4479312" y="2722172"/>
          <a:ext cx="9497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738"/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347447" y="2299108"/>
            <a:ext cx="985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power</a:t>
            </a:r>
            <a:endParaRPr lang="ru-RU" sz="2000" b="1" dirty="0"/>
          </a:p>
        </p:txBody>
      </p:sp>
      <p:graphicFrame>
        <p:nvGraphicFramePr>
          <p:cNvPr id="26" name="Таблица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54306"/>
              </p:ext>
            </p:extLst>
          </p:nvPr>
        </p:nvGraphicFramePr>
        <p:xfrm>
          <a:off x="4458288" y="1783813"/>
          <a:ext cx="9497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738"/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347448" y="1375778"/>
            <a:ext cx="985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/>
              <a:t>koef</a:t>
            </a:r>
            <a:endParaRPr lang="ru-RU" sz="20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472697" y="2716214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4060" y="1769123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3</a:t>
            </a:r>
          </a:p>
        </p:txBody>
      </p:sp>
      <p:graphicFrame>
        <p:nvGraphicFramePr>
          <p:cNvPr id="30" name="Таблица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909455"/>
              </p:ext>
            </p:extLst>
          </p:nvPr>
        </p:nvGraphicFramePr>
        <p:xfrm>
          <a:off x="5037688" y="4864950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1" name="Таблица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492176"/>
              </p:ext>
            </p:extLst>
          </p:nvPr>
        </p:nvGraphicFramePr>
        <p:xfrm>
          <a:off x="6561782" y="4864950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2" name="Таблица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286077"/>
              </p:ext>
            </p:extLst>
          </p:nvPr>
        </p:nvGraphicFramePr>
        <p:xfrm>
          <a:off x="8094832" y="4864950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3" name="Таблица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75041"/>
              </p:ext>
            </p:extLst>
          </p:nvPr>
        </p:nvGraphicFramePr>
        <p:xfrm>
          <a:off x="9600733" y="4862562"/>
          <a:ext cx="1058930" cy="1701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930"/>
              </a:tblGrid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67187"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4" name="Стрелка вправо 33"/>
          <p:cNvSpPr/>
          <p:nvPr/>
        </p:nvSpPr>
        <p:spPr>
          <a:xfrm>
            <a:off x="5985189" y="6182504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Стрелка вправо 34"/>
          <p:cNvSpPr/>
          <p:nvPr/>
        </p:nvSpPr>
        <p:spPr>
          <a:xfrm>
            <a:off x="7487911" y="6215633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Стрелка вправо 35"/>
          <p:cNvSpPr/>
          <p:nvPr/>
        </p:nvSpPr>
        <p:spPr>
          <a:xfrm>
            <a:off x="9063518" y="6182503"/>
            <a:ext cx="516835" cy="2385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/>
          <p:cNvSpPr txBox="1"/>
          <p:nvPr/>
        </p:nvSpPr>
        <p:spPr>
          <a:xfrm>
            <a:off x="5037688" y="4912691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37687" y="5483685"/>
            <a:ext cx="75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57140" y="4849310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12</a:t>
            </a:r>
            <a:endParaRPr lang="ru-RU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6557140" y="5483685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55928" y="4891149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5</a:t>
            </a:r>
            <a:endParaRPr lang="ru-RU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8149210" y="5497440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637814" y="5488394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637814" y="4891149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2</a:t>
            </a:r>
            <a:r>
              <a:rPr lang="ru-RU" b="1" dirty="0" smtClean="0"/>
              <a:t>0</a:t>
            </a:r>
            <a:endParaRPr lang="ru-RU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10026348" y="3544301"/>
            <a:ext cx="6669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p</a:t>
            </a:r>
            <a:r>
              <a:rPr lang="ru-RU" sz="2000" b="1" dirty="0" smtClean="0"/>
              <a:t>2</a:t>
            </a:r>
            <a:endParaRPr lang="ru-RU" sz="2000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4746263" y="4205682"/>
            <a:ext cx="795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top</a:t>
            </a:r>
            <a:r>
              <a:rPr lang="ru-RU" sz="2000" b="1" dirty="0" smtClean="0"/>
              <a:t>2</a:t>
            </a:r>
            <a:endParaRPr lang="ru-RU" sz="2000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5603674" y="4205682"/>
            <a:ext cx="985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end</a:t>
            </a:r>
            <a:r>
              <a:rPr lang="ru-RU" sz="2000" b="1" dirty="0" smtClean="0"/>
              <a:t>2</a:t>
            </a:r>
            <a:endParaRPr lang="ru-RU" sz="2000" b="1" dirty="0"/>
          </a:p>
        </p:txBody>
      </p:sp>
      <p:graphicFrame>
        <p:nvGraphicFramePr>
          <p:cNvPr id="53" name="Таблица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203702"/>
              </p:ext>
            </p:extLst>
          </p:nvPr>
        </p:nvGraphicFramePr>
        <p:xfrm>
          <a:off x="10144848" y="3920229"/>
          <a:ext cx="56990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909"/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4" name="Стрелка вниз 53"/>
          <p:cNvSpPr/>
          <p:nvPr/>
        </p:nvSpPr>
        <p:spPr>
          <a:xfrm>
            <a:off x="4915799" y="4566557"/>
            <a:ext cx="150253" cy="32459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Стрелка вниз 54"/>
          <p:cNvSpPr/>
          <p:nvPr/>
        </p:nvSpPr>
        <p:spPr>
          <a:xfrm>
            <a:off x="5889586" y="4591406"/>
            <a:ext cx="150253" cy="32459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TextBox 56"/>
          <p:cNvSpPr txBox="1"/>
          <p:nvPr/>
        </p:nvSpPr>
        <p:spPr>
          <a:xfrm>
            <a:off x="4589725" y="4840836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NULL</a:t>
            </a:r>
            <a:endParaRPr lang="ru-RU" b="1" dirty="0"/>
          </a:p>
        </p:txBody>
      </p:sp>
      <p:sp>
        <p:nvSpPr>
          <p:cNvPr id="58" name="TextBox 57"/>
          <p:cNvSpPr txBox="1"/>
          <p:nvPr/>
        </p:nvSpPr>
        <p:spPr>
          <a:xfrm>
            <a:off x="5603674" y="4832803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NULL</a:t>
            </a:r>
            <a:endParaRPr lang="ru-RU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5037687" y="6076651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NULL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621678" y="6076651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NULL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211036" y="6084840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NULL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791486" y="1256871"/>
            <a:ext cx="6669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p</a:t>
            </a:r>
            <a:r>
              <a:rPr lang="ru-RU" sz="2000" b="1" dirty="0" smtClean="0"/>
              <a:t>2</a:t>
            </a:r>
            <a:endParaRPr lang="ru-RU" sz="2000" b="1" dirty="0"/>
          </a:p>
        </p:txBody>
      </p:sp>
      <p:sp>
        <p:nvSpPr>
          <p:cNvPr id="62" name="TextBox 61"/>
          <p:cNvSpPr txBox="1"/>
          <p:nvPr/>
        </p:nvSpPr>
        <p:spPr>
          <a:xfrm>
            <a:off x="5003312" y="1778452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</a:t>
            </a:r>
            <a:endParaRPr lang="ru-RU" b="1" dirty="0"/>
          </a:p>
        </p:txBody>
      </p:sp>
      <p:sp>
        <p:nvSpPr>
          <p:cNvPr id="63" name="TextBox 62"/>
          <p:cNvSpPr txBox="1"/>
          <p:nvPr/>
        </p:nvSpPr>
        <p:spPr>
          <a:xfrm>
            <a:off x="5012590" y="2708985"/>
            <a:ext cx="75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20815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5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3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3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9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2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25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6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7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3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3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3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3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3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3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0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1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4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4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4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4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4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>
                      <p:stCondLst>
                        <p:cond delay="indefinite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6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6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6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6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6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>
                      <p:stCondLst>
                        <p:cond delay="indefinite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7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8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6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3.33333E-6 4.81481E-6 L 0.11588 4.81481E-6 " pathEditMode="relative" rAng="0" ptsTypes="AA">
                                      <p:cBhvr>
                                        <p:cTn id="38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9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indefinite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91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2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3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indefinite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4.16667E-7 -4.81481E-6 L -0.0056 -0.34537 " pathEditMode="relative" rAng="0" ptsTypes="AA">
                                      <p:cBhvr>
                                        <p:cTn id="400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6" y="-172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1" fill="hold">
                      <p:stCondLst>
                        <p:cond delay="indefinite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id="403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04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5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6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08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9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0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34" presetClass="emph" presetSubtype="0" fill="hold" grpId="4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0.0056 -0.34537 L -0.0056 -0.41759 " pathEditMode="relative" rAng="0" ptsTypes="AA">
                                      <p:cBhvr>
                                        <p:cTn id="41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41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1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1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1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>
                      <p:stCondLst>
                        <p:cond delay="indefinite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id="42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22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3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4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>
                      <p:stCondLst>
                        <p:cond delay="indefinite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9" fill="hold">
                      <p:stCondLst>
                        <p:cond delay="indefinite"/>
                      </p:stCondLst>
                      <p:childTnLst>
                        <p:par>
                          <p:cTn id="450" fill="hold">
                            <p:stCondLst>
                              <p:cond delay="0"/>
                            </p:stCondLst>
                            <p:childTnLst>
                              <p:par>
                                <p:cTn id="451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45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45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5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5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5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7" fill="hold">
                      <p:stCondLst>
                        <p:cond delay="indefinite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46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46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6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6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6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fill="hold">
                      <p:stCondLst>
                        <p:cond delay="indefinite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2" fill="hold">
                      <p:stCondLst>
                        <p:cond delay="indefinite"/>
                      </p:stCondLst>
                      <p:childTnLst>
                        <p:par>
                          <p:cTn id="473" fill="hold">
                            <p:stCondLst>
                              <p:cond delay="0"/>
                            </p:stCondLst>
                            <p:childTnLst>
                              <p:par>
                                <p:cTn id="474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47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47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7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7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7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0" fill="hold">
                      <p:stCondLst>
                        <p:cond delay="indefinite"/>
                      </p:stCondLst>
                      <p:childTnLst>
                        <p:par>
                          <p:cTn id="481" fill="hold">
                            <p:stCondLst>
                              <p:cond delay="0"/>
                            </p:stCondLst>
                            <p:childTnLst>
                              <p:par>
                                <p:cTn id="482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483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484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85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86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87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8" fill="hold">
                      <p:stCondLst>
                        <p:cond delay="indefinite"/>
                      </p:stCondLst>
                      <p:childTnLst>
                        <p:par>
                          <p:cTn id="489" fill="hold">
                            <p:stCondLst>
                              <p:cond delay="0"/>
                            </p:stCondLst>
                            <p:childTnLst>
                              <p:par>
                                <p:cTn id="49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98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9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00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02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03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04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5" fill="hold">
                      <p:stCondLst>
                        <p:cond delay="indefinite"/>
                      </p:stCondLst>
                      <p:childTnLst>
                        <p:par>
                          <p:cTn id="506" fill="hold">
                            <p:stCondLst>
                              <p:cond delay="0"/>
                            </p:stCondLst>
                            <p:childTnLst>
                              <p:par>
                                <p:cTn id="507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-0.0056 -0.34537 L 0.11094 -0.34351 " pathEditMode="relative" rAng="0" ptsTypes="AA">
                                      <p:cBhvr>
                                        <p:cTn id="50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20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9" fill="hold">
                      <p:stCondLst>
                        <p:cond delay="indefinite"/>
                      </p:stCondLst>
                      <p:childTnLst>
                        <p:par>
                          <p:cTn id="510" fill="hold">
                            <p:stCondLst>
                              <p:cond delay="0"/>
                            </p:stCondLst>
                            <p:childTnLst>
                              <p:par>
                                <p:cTn id="51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12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13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14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5" fill="hold">
                      <p:stCondLst>
                        <p:cond delay="indefinite"/>
                      </p:stCondLst>
                      <p:childTnLst>
                        <p:par>
                          <p:cTn id="516" fill="hold">
                            <p:stCondLst>
                              <p:cond delay="0"/>
                            </p:stCondLst>
                            <p:childTnLst>
                              <p:par>
                                <p:cTn id="5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5" fill="hold">
                      <p:stCondLst>
                        <p:cond delay="indefinite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presetID="34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53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53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4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4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4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3" fill="hold">
                      <p:stCondLst>
                        <p:cond delay="indefinite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54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54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4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4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5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1" fill="hold">
                      <p:stCondLst>
                        <p:cond delay="indefinite"/>
                      </p:stCondLst>
                      <p:childTnLst>
                        <p:par>
                          <p:cTn id="552" fill="hold">
                            <p:stCondLst>
                              <p:cond delay="0"/>
                            </p:stCondLst>
                            <p:childTnLst>
                              <p:par>
                                <p:cTn id="5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8" fill="hold">
                      <p:stCondLst>
                        <p:cond delay="indefinite"/>
                      </p:stCondLst>
                      <p:childTnLst>
                        <p:par>
                          <p:cTn id="559" fill="hold">
                            <p:stCondLst>
                              <p:cond delay="0"/>
                            </p:stCondLst>
                            <p:childTnLst>
                              <p:par>
                                <p:cTn id="560" presetID="34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56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56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6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6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6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6" fill="hold">
                      <p:stCondLst>
                        <p:cond delay="indefinite"/>
                      </p:stCondLst>
                      <p:childTnLst>
                        <p:par>
                          <p:cTn id="567" fill="hold">
                            <p:stCondLst>
                              <p:cond delay="0"/>
                            </p:stCondLst>
                            <p:childTnLst>
                              <p:par>
                                <p:cTn id="568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569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570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71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72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73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4" fill="hold">
                      <p:stCondLst>
                        <p:cond delay="indefinite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id="5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1" fill="hold">
                      <p:stCondLst>
                        <p:cond delay="indefinite"/>
                      </p:stCondLst>
                      <p:childTnLst>
                        <p:par>
                          <p:cTn id="582" fill="hold">
                            <p:stCondLst>
                              <p:cond delay="0"/>
                            </p:stCondLst>
                            <p:childTnLst>
                              <p:par>
                                <p:cTn id="583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11111E-6 L 0.09023 0.00185 " pathEditMode="relative" rAng="0" ptsTypes="AA">
                                      <p:cBhvr>
                                        <p:cTn id="584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05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5" fill="hold">
                      <p:stCondLst>
                        <p:cond delay="indefinite"/>
                      </p:stCondLst>
                      <p:childTnLst>
                        <p:par>
                          <p:cTn id="586" fill="hold">
                            <p:stCondLst>
                              <p:cond delay="0"/>
                            </p:stCondLst>
                            <p:childTnLst>
                              <p:par>
                                <p:cTn id="58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88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9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90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1" fill="hold">
                      <p:stCondLst>
                        <p:cond delay="indefinite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63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0.11094 -0.34351 L 0.1763 -0.34537 " pathEditMode="relative" rAng="0" ptsTypes="AA">
                                      <p:cBhvr>
                                        <p:cTn id="594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68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5" fill="hold">
                      <p:stCondLst>
                        <p:cond delay="indefinite"/>
                      </p:stCondLst>
                      <p:childTnLst>
                        <p:par>
                          <p:cTn id="596" fill="hold">
                            <p:stCondLst>
                              <p:cond delay="0"/>
                            </p:stCondLst>
                            <p:childTnLst>
                              <p:par>
                                <p:cTn id="59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98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9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00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1" fill="hold">
                      <p:stCondLst>
                        <p:cond delay="indefinite"/>
                      </p:stCondLst>
                      <p:childTnLst>
                        <p:par>
                          <p:cTn id="602" fill="hold">
                            <p:stCondLst>
                              <p:cond delay="0"/>
                            </p:stCondLst>
                            <p:childTnLst>
                              <p:par>
                                <p:cTn id="603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0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60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0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0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60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9" fill="hold">
                      <p:stCondLst>
                        <p:cond delay="indefinite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id="611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7" fill="hold">
                      <p:stCondLst>
                        <p:cond delay="indefinite"/>
                      </p:stCondLst>
                      <p:childTnLst>
                        <p:par>
                          <p:cTn id="618" fill="hold">
                            <p:stCondLst>
                              <p:cond delay="0"/>
                            </p:stCondLst>
                            <p:childTnLst>
                              <p:par>
                                <p:cTn id="619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2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62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2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2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62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5" fill="hold">
                      <p:stCondLst>
                        <p:cond delay="indefinite"/>
                      </p:stCondLst>
                      <p:childTnLst>
                        <p:par>
                          <p:cTn id="626" fill="hold">
                            <p:stCondLst>
                              <p:cond delay="0"/>
                            </p:stCondLst>
                            <p:childTnLst>
                              <p:par>
                                <p:cTn id="627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3" fill="hold">
                      <p:stCondLst>
                        <p:cond delay="indefinite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0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3" fill="hold">
                      <p:stCondLst>
                        <p:cond delay="indefinite"/>
                      </p:stCondLst>
                      <p:childTnLst>
                        <p:par>
                          <p:cTn id="654" fill="hold">
                            <p:stCondLst>
                              <p:cond delay="0"/>
                            </p:stCondLst>
                            <p:childTnLst>
                              <p:par>
                                <p:cTn id="65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56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57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58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9" fill="hold">
                      <p:stCondLst>
                        <p:cond delay="indefinite"/>
                      </p:stCondLst>
                      <p:childTnLst>
                        <p:par>
                          <p:cTn id="660" fill="hold">
                            <p:stCondLst>
                              <p:cond delay="0"/>
                            </p:stCondLst>
                            <p:childTnLst>
                              <p:par>
                                <p:cTn id="6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6" fill="hold">
                      <p:stCondLst>
                        <p:cond delay="indefinite"/>
                      </p:stCondLst>
                      <p:childTnLst>
                        <p:par>
                          <p:cTn id="667" fill="hold">
                            <p:stCondLst>
                              <p:cond delay="0"/>
                            </p:stCondLst>
                            <p:childTnLst>
                              <p:par>
                                <p:cTn id="668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69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70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71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73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74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75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6" fill="hold">
                      <p:stCondLst>
                        <p:cond delay="indefinite"/>
                      </p:stCondLst>
                      <p:childTnLst>
                        <p:par>
                          <p:cTn id="677" fill="hold">
                            <p:stCondLst>
                              <p:cond delay="0"/>
                            </p:stCondLst>
                            <p:childTnLst>
                              <p:par>
                                <p:cTn id="678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79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680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81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82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683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4" fill="hold">
                      <p:stCondLst>
                        <p:cond delay="indefinite"/>
                      </p:stCondLst>
                      <p:childTnLst>
                        <p:par>
                          <p:cTn id="685" fill="hold">
                            <p:stCondLst>
                              <p:cond delay="0"/>
                            </p:stCondLst>
                            <p:childTnLst>
                              <p:par>
                                <p:cTn id="68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87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88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89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0" fill="hold">
                      <p:stCondLst>
                        <p:cond delay="indefinite"/>
                      </p:stCondLst>
                      <p:childTnLst>
                        <p:par>
                          <p:cTn id="691" fill="hold">
                            <p:stCondLst>
                              <p:cond delay="0"/>
                            </p:stCondLst>
                            <p:childTnLst>
                              <p:par>
                                <p:cTn id="69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8" fill="hold">
                      <p:stCondLst>
                        <p:cond delay="indefinite"/>
                      </p:stCondLst>
                      <p:childTnLst>
                        <p:par>
                          <p:cTn id="709" fill="hold">
                            <p:stCondLst>
                              <p:cond delay="0"/>
                            </p:stCondLst>
                            <p:childTnLst>
                              <p:par>
                                <p:cTn id="710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71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1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71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71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71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6" fill="hold">
                      <p:stCondLst>
                        <p:cond delay="indefinite"/>
                      </p:stCondLst>
                      <p:childTnLst>
                        <p:par>
                          <p:cTn id="717" fill="hold">
                            <p:stCondLst>
                              <p:cond delay="0"/>
                            </p:stCondLst>
                            <p:childTnLst>
                              <p:par>
                                <p:cTn id="718" presetID="34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719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20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721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722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723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4" fill="hold">
                      <p:stCondLst>
                        <p:cond delay="indefinite"/>
                      </p:stCondLst>
                      <p:childTnLst>
                        <p:par>
                          <p:cTn id="725" fill="hold">
                            <p:stCondLst>
                              <p:cond delay="0"/>
                            </p:stCondLst>
                            <p:childTnLst>
                              <p:par>
                                <p:cTn id="7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1" fill="hold">
                      <p:stCondLst>
                        <p:cond delay="indefinite"/>
                      </p:stCondLst>
                      <p:childTnLst>
                        <p:par>
                          <p:cTn id="732" fill="hold">
                            <p:stCondLst>
                              <p:cond delay="0"/>
                            </p:stCondLst>
                            <p:childTnLst>
                              <p:par>
                                <p:cTn id="733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73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3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73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73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73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9" fill="hold">
                      <p:stCondLst>
                        <p:cond delay="indefinite"/>
                      </p:stCondLst>
                      <p:childTnLst>
                        <p:par>
                          <p:cTn id="740" fill="hold">
                            <p:stCondLst>
                              <p:cond delay="0"/>
                            </p:stCondLst>
                            <p:childTnLst>
                              <p:par>
                                <p:cTn id="741" presetID="34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74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4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74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74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74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7" fill="hold">
                      <p:stCondLst>
                        <p:cond delay="indefinite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id="7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4" fill="hold">
                      <p:stCondLst>
                        <p:cond delay="indefinite"/>
                      </p:stCondLst>
                      <p:childTnLst>
                        <p:par>
                          <p:cTn id="755" fill="hold">
                            <p:stCondLst>
                              <p:cond delay="0"/>
                            </p:stCondLst>
                            <p:childTnLst>
                              <p:par>
                                <p:cTn id="75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757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58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59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0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761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62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63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4" fill="hold">
                      <p:stCondLst>
                        <p:cond delay="indefinite"/>
                      </p:stCondLst>
                      <p:childTnLst>
                        <p:par>
                          <p:cTn id="765" fill="hold">
                            <p:stCondLst>
                              <p:cond delay="0"/>
                            </p:stCondLst>
                            <p:childTnLst>
                              <p:par>
                                <p:cTn id="766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1.25E-6 2.77556E-17 L 0.13021 -0.00995 " pathEditMode="relative" rAng="0" ptsTypes="AA">
                                      <p:cBhvr>
                                        <p:cTn id="767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26" y="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8" fill="hold">
                      <p:stCondLst>
                        <p:cond delay="indefinite"/>
                      </p:stCondLst>
                      <p:childTnLst>
                        <p:par>
                          <p:cTn id="769" fill="hold">
                            <p:stCondLst>
                              <p:cond delay="0"/>
                            </p:stCondLst>
                            <p:childTnLst>
                              <p:par>
                                <p:cTn id="77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771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72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73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4" fill="hold">
                      <p:stCondLst>
                        <p:cond delay="indefinite"/>
                      </p:stCondLst>
                      <p:childTnLst>
                        <p:par>
                          <p:cTn id="775" fill="hold">
                            <p:stCondLst>
                              <p:cond delay="0"/>
                            </p:stCondLst>
                            <p:childTnLst>
                              <p:par>
                                <p:cTn id="77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9" fill="hold">
                      <p:stCondLst>
                        <p:cond delay="indefinite"/>
                      </p:stCondLst>
                      <p:childTnLst>
                        <p:par>
                          <p:cTn id="790" fill="hold">
                            <p:stCondLst>
                              <p:cond delay="0"/>
                            </p:stCondLst>
                            <p:childTnLst>
                              <p:par>
                                <p:cTn id="791" presetID="34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79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9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79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79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79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7" fill="hold">
                      <p:stCondLst>
                        <p:cond delay="indefinite"/>
                      </p:stCondLst>
                      <p:childTnLst>
                        <p:par>
                          <p:cTn id="798" fill="hold">
                            <p:stCondLst>
                              <p:cond delay="0"/>
                            </p:stCondLst>
                            <p:childTnLst>
                              <p:par>
                                <p:cTn id="799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80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80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0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0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80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5" fill="hold">
                      <p:stCondLst>
                        <p:cond delay="indefinite"/>
                      </p:stCondLst>
                      <p:childTnLst>
                        <p:par>
                          <p:cTn id="806" fill="hold">
                            <p:stCondLst>
                              <p:cond delay="0"/>
                            </p:stCondLst>
                            <p:childTnLst>
                              <p:par>
                                <p:cTn id="80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2" fill="hold">
                      <p:stCondLst>
                        <p:cond delay="indefinite"/>
                      </p:stCondLst>
                      <p:childTnLst>
                        <p:par>
                          <p:cTn id="813" fill="hold">
                            <p:stCondLst>
                              <p:cond delay="0"/>
                            </p:stCondLst>
                            <p:childTnLst>
                              <p:par>
                                <p:cTn id="814" presetID="34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81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81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1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1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81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0" fill="hold">
                      <p:stCondLst>
                        <p:cond delay="indefinite"/>
                      </p:stCondLst>
                      <p:childTnLst>
                        <p:par>
                          <p:cTn id="821" fill="hold">
                            <p:stCondLst>
                              <p:cond delay="0"/>
                            </p:stCondLst>
                            <p:childTnLst>
                              <p:par>
                                <p:cTn id="822" presetID="34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823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824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25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26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827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8" fill="hold">
                      <p:stCondLst>
                        <p:cond delay="indefinite"/>
                      </p:stCondLst>
                      <p:childTnLst>
                        <p:par>
                          <p:cTn id="829" fill="hold">
                            <p:stCondLst>
                              <p:cond delay="0"/>
                            </p:stCondLst>
                            <p:childTnLst>
                              <p:par>
                                <p:cTn id="8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5" fill="hold">
                      <p:stCondLst>
                        <p:cond delay="indefinite"/>
                      </p:stCondLst>
                      <p:childTnLst>
                        <p:par>
                          <p:cTn id="836" fill="hold">
                            <p:stCondLst>
                              <p:cond delay="0"/>
                            </p:stCondLst>
                            <p:childTnLst>
                              <p:par>
                                <p:cTn id="837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023 0.00185 L 0.32734 0.0044 " pathEditMode="relative" rAng="0" ptsTypes="AA">
                                      <p:cBhvr>
                                        <p:cTn id="838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49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9" fill="hold">
                      <p:stCondLst>
                        <p:cond delay="indefinite"/>
                      </p:stCondLst>
                      <p:childTnLst>
                        <p:par>
                          <p:cTn id="840" fill="hold">
                            <p:stCondLst>
                              <p:cond delay="0"/>
                            </p:stCondLst>
                            <p:childTnLst>
                              <p:par>
                                <p:cTn id="84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42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43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44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5" fill="hold">
                      <p:stCondLst>
                        <p:cond delay="indefinite"/>
                      </p:stCondLst>
                      <p:childTnLst>
                        <p:par>
                          <p:cTn id="846" fill="hold">
                            <p:stCondLst>
                              <p:cond delay="0"/>
                            </p:stCondLst>
                            <p:childTnLst>
                              <p:par>
                                <p:cTn id="847" presetID="63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0 0 L 0.25 0 E" pathEditMode="relative" ptsTypes="">
                                      <p:cBhvr>
                                        <p:cTn id="848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9" fill="hold">
                      <p:stCondLst>
                        <p:cond delay="indefinite"/>
                      </p:stCondLst>
                      <p:childTnLst>
                        <p:par>
                          <p:cTn id="850" fill="hold">
                            <p:stCondLst>
                              <p:cond delay="0"/>
                            </p:stCondLst>
                            <p:childTnLst>
                              <p:par>
                                <p:cTn id="85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52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53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54" dur="5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5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56" dur="50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57" dur="50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58" dur="500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60" dur="500" fill="hold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61" dur="500" fill="hold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62" dur="500" fill="hold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6" grpId="1" animBg="1"/>
      <p:bldP spid="7" grpId="0"/>
      <p:bldP spid="7" grpId="1"/>
      <p:bldP spid="7" grpId="2"/>
      <p:bldP spid="8" grpId="0"/>
      <p:bldP spid="8" grpId="1"/>
      <p:bldP spid="8" grpId="2"/>
      <p:bldP spid="9" grpId="0"/>
      <p:bldP spid="9" grpId="1"/>
      <p:bldP spid="9" grpId="2"/>
      <p:bldP spid="10" grpId="0"/>
      <p:bldP spid="10" grpId="1"/>
      <p:bldP spid="10" grpId="2"/>
      <p:bldP spid="11" grpId="0"/>
      <p:bldP spid="11" grpId="1"/>
      <p:bldP spid="12" grpId="0"/>
      <p:bldP spid="12" grpId="1"/>
      <p:bldP spid="12" grpId="2"/>
      <p:bldP spid="12" grpId="3"/>
      <p:bldP spid="13" grpId="0"/>
      <p:bldP spid="13" grpId="1"/>
      <p:bldP spid="16" grpId="0" animBg="1"/>
      <p:bldP spid="17" grpId="0"/>
      <p:bldP spid="17" grpId="1"/>
      <p:bldP spid="17" grpId="2"/>
      <p:bldP spid="18" grpId="0"/>
      <p:bldP spid="18" grpId="1"/>
      <p:bldP spid="18" grpId="2"/>
      <p:bldP spid="19" grpId="0"/>
      <p:bldP spid="19" grpId="1" build="allAtOnce"/>
      <p:bldP spid="19" grpId="2" build="allAtOnce"/>
      <p:bldP spid="20" grpId="0"/>
      <p:bldP spid="20" grpId="1"/>
      <p:bldP spid="20" grpId="2"/>
      <p:bldP spid="21" grpId="0"/>
      <p:bldP spid="22" grpId="0"/>
      <p:bldP spid="23" grpId="0"/>
      <p:bldP spid="25" grpId="0"/>
      <p:bldP spid="27" grpId="0"/>
      <p:bldP spid="28" grpId="0"/>
      <p:bldP spid="28" grpId="1"/>
      <p:bldP spid="28" grpId="2"/>
      <p:bldP spid="28" grpId="3"/>
      <p:bldP spid="29" grpId="0"/>
      <p:bldP spid="29" grpId="1"/>
      <p:bldP spid="29" grpId="2"/>
      <p:bldP spid="29" grpId="3"/>
      <p:bldP spid="34" grpId="0" animBg="1"/>
      <p:bldP spid="35" grpId="0" animBg="1"/>
      <p:bldP spid="36" grpId="0" animBg="1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5" grpId="1"/>
      <p:bldP spid="45" grpId="2"/>
      <p:bldP spid="45" grpId="3"/>
      <p:bldP spid="45" grpId="4"/>
      <p:bldP spid="50" grpId="0"/>
      <p:bldP spid="51" grpId="0"/>
      <p:bldP spid="51" grpId="1"/>
      <p:bldP spid="51" grpId="2"/>
      <p:bldP spid="54" grpId="0" animBg="1"/>
      <p:bldP spid="54" grpId="1" animBg="1"/>
      <p:bldP spid="55" grpId="0" animBg="1"/>
      <p:bldP spid="55" grpId="1" animBg="1"/>
      <p:bldP spid="57" grpId="0"/>
      <p:bldP spid="57" grpId="1"/>
      <p:bldP spid="58" grpId="0"/>
      <p:bldP spid="58" grpId="1"/>
      <p:bldP spid="56" grpId="0"/>
      <p:bldP spid="56" grpId="1"/>
      <p:bldP spid="59" grpId="0"/>
      <p:bldP spid="59" grpId="1"/>
      <p:bldP spid="60" grpId="0"/>
      <p:bldP spid="60" grpId="1"/>
      <p:bldP spid="61" grpId="0"/>
      <p:bldP spid="61" grpId="1"/>
      <p:bldP spid="61" grpId="2"/>
      <p:bldP spid="61" grpId="3"/>
      <p:bldP spid="62" grpId="0"/>
      <p:bldP spid="62" grpId="1"/>
      <p:bldP spid="62" grpId="2"/>
      <p:bldP spid="63" grpId="0"/>
      <p:bldP spid="63" grpId="1"/>
      <p:bldP spid="63" grpId="2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2900</TotalTime>
  <Words>1327</Words>
  <Application>Microsoft Office PowerPoint</Application>
  <PresentationFormat>Широкоэкранный</PresentationFormat>
  <Paragraphs>433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Arial</vt:lpstr>
      <vt:lpstr>Calibri</vt:lpstr>
      <vt:lpstr>Century Gothic</vt:lpstr>
      <vt:lpstr>Times New Roman</vt:lpstr>
      <vt:lpstr>Wingdings 3</vt:lpstr>
      <vt:lpstr>Ион</vt:lpstr>
      <vt:lpstr>Алгебра многочленов </vt:lpstr>
      <vt:lpstr>Общий вид полинома.</vt:lpstr>
      <vt:lpstr>Представим полином в виде очереди.</vt:lpstr>
      <vt:lpstr>Презентация PowerPoint</vt:lpstr>
      <vt:lpstr>Функции для реализации полинома с помощью списка(очереди).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Алгебра многочленов</dc:title>
  <dc:creator>DASHA</dc:creator>
  <cp:lastModifiedBy>DASHA</cp:lastModifiedBy>
  <cp:revision>143</cp:revision>
  <dcterms:created xsi:type="dcterms:W3CDTF">2016-01-29T10:26:11Z</dcterms:created>
  <dcterms:modified xsi:type="dcterms:W3CDTF">2016-02-09T15:35:35Z</dcterms:modified>
</cp:coreProperties>
</file>